
<file path=[Content_Types].xml><?xml version="1.0" encoding="utf-8"?>
<Types xmlns="http://schemas.openxmlformats.org/package/2006/content-types">
  <Default ContentType="application/x-fontdata" Extension="fntdata"/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8287542" cy="10287000" type="screen4x3"/>
  <p:notesSz cx="6858000" cy="9144000"/>
  <p:embeddedFontLst>
    <p:embeddedFont>
      <p:font typeface="Alike Italics" pitchFamily="2" charset="0"/>
      <p:regular r:id="rId46"/>
    </p:embeddedFont>
    <p:embeddedFont>
      <p:font typeface="Ibarra Real Nova Italics" pitchFamily="2" charset="0"/>
      <p:regular r:id="rId47"/>
    </p:embeddedFont>
    <p:embeddedFont>
      <p:font typeface="TT Commons Pro" pitchFamily="2" charset="0"/>
      <p:regular r:id="rId48"/>
    </p:embeddedFont>
    <p:embeddedFont>
      <p:font typeface="TT Commons Pro Bold" pitchFamily="2" charset="0"/>
      <p:regular r:id="rId4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font" Target="fonts/font1.fntdata"/><Relationship Id="rId47" Type="http://schemas.openxmlformats.org/officeDocument/2006/relationships/font" Target="fonts/font2.fntdata"/><Relationship Id="rId48" Type="http://schemas.openxmlformats.org/officeDocument/2006/relationships/font" Target="fonts/font3.fntdata"/><Relationship Id="rId49" Type="http://schemas.openxmlformats.org/officeDocument/2006/relationships/font" Target="fonts/font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Rivr is a social network for local life.</a:t>
            </a:r>
          </a:p>
          <a:p>
            <a:r>
              <a:t>[pause]</a:t>
            </a:r>
          </a:p>
          <a:p>
            <a:r>
              <a:t>Everything a community needs is mostly already inside it. What's missing is the ability to see it and act on it.</a:t>
            </a:r>
          </a:p>
          <a:p>
            <a:r>
              <a:t>That's the whole company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 at what your town already contains. Skills, tools, food, space, knowledge, money, care.</a:t>
            </a:r>
          </a:p>
          <a:p>
            <a:r>
              <a:t>[pause]</a:t>
            </a:r>
          </a:p>
          <a:p>
            <a:r>
              <a:t>None of this is missing. It's within a few miles of everyone here.</a:t>
            </a:r>
          </a:p>
          <a:p>
            <a:r>
              <a:t>A need and a resource can sit three blocks apart for years and never meet. That's not a scarcity problem. It's a visibility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they do meet. You still have to agree, assign, schedule, verify, record, and pay.</a:t>
            </a:r>
          </a:p>
          <a:p>
            <a:r>
              <a:t>[pause]</a:t>
            </a:r>
          </a:p>
          <a:p>
            <a:r>
              <a:t>People assemble that entire chain by hand, out of a dozen apps, every single time.</a:t>
            </a:r>
          </a:p>
          <a:p>
            <a:r>
              <a:t>That overhead is why most good ideas die in the group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the tools meant to fix it are themselves scattered — events here, payments there, projects somewhere else.</a:t>
            </a:r>
          </a:p>
          <a:p>
            <a:r>
              <a:t>[pause]</a:t>
            </a:r>
          </a:p>
          <a:p>
            <a:r>
              <a:t>We spend our time coordinating the tools that were supposed to coordinate us.</a:t>
            </a:r>
          </a:p>
          <a:p>
            <a:r>
              <a:t>Social media did evolve toward coordination. The expansion wasn't the problem — the incentives underneath it were.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Meanwhile we can search the whole planet and miss the thing down the street.</a:t>
            </a:r>
          </a:p>
          <a:p>
            <a:r>
              <a:t>[pause]</a:t>
            </a:r>
          </a:p>
          <a:p>
            <a:r>
              <a:t>Someone orders what a neighbor already has. A business starves while its customers shop elsewhere.</a:t>
            </a:r>
          </a:p>
          <a:p>
            <a:r>
              <a:t>Every one of those is value leaving a place that didn't have to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here's the flip. What happens when a community can actually see itself?</a:t>
            </a:r>
          </a:p>
          <a:p>
            <a:r>
              <a:t>[pause]</a:t>
            </a:r>
          </a:p>
          <a:p>
            <a:r>
              <a:t>Needs find resources. Skills find work. Projects find people.</a:t>
            </a:r>
          </a:p>
          <a:p>
            <a:r>
              <a:t>Notice what that doesn't require: creating anything new. Most of the time these things only need to be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Rivr is a place-based social and economic network — one environment where a community can see and use what it has.</a:t>
            </a:r>
          </a:p>
          <a:p>
            <a:r>
              <a:t>[pause]</a:t>
            </a:r>
          </a:p>
          <a:p>
            <a:r>
              <a:t>Find what's nearby. Offer and ask. Build projects. Exchange value. Coordinate action.</a:t>
            </a:r>
          </a:p>
          <a:p>
            <a:r>
              <a:t>Less searching. More doing.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surface it's deliberately familiar — profiles, feeds, events, groups, messages.</a:t>
            </a:r>
          </a:p>
          <a:p>
            <a:r>
              <a:t>[pause]</a:t>
            </a:r>
          </a:p>
          <a:p>
            <a:r>
              <a:t>That's the doorway, and it should feel alive, because economic relationships almost always start as human ones.</a:t>
            </a:r>
          </a:p>
          <a:p>
            <a:r>
              <a:t>Underneath it is real coordination infrastructure. That's the part nobody else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it works without trust, and trust is a coordination problem too.</a:t>
            </a:r>
          </a:p>
          <a:p>
            <a:r>
              <a:t>[pause]</a:t>
            </a:r>
          </a:p>
          <a:p>
            <a:r>
              <a:t>Who is this person? Have they done this before? Do we know anyone in common?</a:t>
            </a:r>
          </a:p>
          <a:p>
            <a:r>
              <a:t>Rivr can answer that from what the network already knows — history, references, verified claims, real contribution. Enough context to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Organizations need more than a group chat about the organization.</a:t>
            </a:r>
          </a:p>
          <a:p>
            <a:r>
              <a:t>[pause]</a:t>
            </a:r>
          </a:p>
          <a:p>
            <a:r>
              <a:t>Documents, projects, roles, tasks, governance, treasury, payments, membership — today that's a dozen products that don't know about each other.</a:t>
            </a:r>
          </a:p>
          <a:p>
            <a:r>
              <a:t>Rivr puts them in one shared environment where they finally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collaboration problems are boring ones. Who agreed to this? Did it happen? What are they owed?</a:t>
            </a:r>
          </a:p>
          <a:p>
            <a:r>
              <a:t>[pause]</a:t>
            </a:r>
          </a:p>
          <a:p>
            <a:r>
              <a:t>In a chat thread, cooperation depends on chasing people. In a shared record, it doesn't.</a:t>
            </a:r>
          </a:p>
          <a:p>
            <a:r>
              <a:t>The ledger is social infrastructure before it's financial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not every useful exchange starts with money.</a:t>
            </a:r>
          </a:p>
          <a:p>
            <a:r>
              <a:t>[pause]</a:t>
            </a:r>
          </a:p>
          <a:p>
            <a:r>
              <a:t>People have time, skills, tools, space. Things can be sold, rented, lent, traded, gifted, or run on mutual credit.</a:t>
            </a:r>
          </a:p>
          <a:p>
            <a:r>
              <a:t>A community holds far more value than the dollars currently moving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reframes what it means to be short on cash.</a:t>
            </a:r>
          </a:p>
          <a:p>
            <a:r>
              <a:t>[pause]</a:t>
            </a:r>
          </a:p>
          <a:p>
            <a:r>
              <a:t>This isn't about abandoning money. It's about having more than one door.</a:t>
            </a:r>
          </a:p>
          <a:p>
            <a:r>
              <a:t>If someone has no dollars but has time, skill, or labor — the useful thing can still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it together and it compounds.</a:t>
            </a:r>
          </a:p>
          <a:p>
            <a:r>
              <a:t>[pause]</a:t>
            </a:r>
          </a:p>
          <a:p>
            <a:r>
              <a:t>Visibility creates coordination. Coordination creates exchange. Exchange creates relationships and information. Information reveals demand — and visible demand makes new local businesses viable.</a:t>
            </a:r>
          </a:p>
          <a:p>
            <a:r>
              <a:t>The goal was never to circulate what already exists. It's to create capacity that wasn't there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Architecturally, all of this is one thing wearing different clothes.</a:t>
            </a:r>
          </a:p>
          <a:p>
            <a:r>
              <a:t>[pause]</a:t>
            </a:r>
          </a:p>
          <a:p>
            <a:r>
              <a:t>Communication, commerce, projects, events, payments, governance — they're all views of the same relationships between people, resources, and agreements.</a:t>
            </a:r>
          </a:p>
          <a:p>
            <a:r>
              <a:t>The social network is the doorway. Coordination infrastructure is the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connected shouldn't require being exposed.</a:t>
            </a:r>
          </a:p>
          <a:p>
            <a:r>
              <a:t>[pause]</a:t>
            </a:r>
          </a:p>
          <a:p>
            <a:r>
              <a:t>A neighbor sees your name. Your group sees your history. An employer sees your skills. The wider network sees almost nothing.</a:t>
            </a:r>
          </a:p>
          <a:p>
            <a:r>
              <a:t>And often the honest answer is just yes or no — qualified, nearby, eligible — without opening the file. Not secrecy. Appropriate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raises the stakes on every bit of this.</a:t>
            </a:r>
          </a:p>
          <a:p>
            <a:r>
              <a:t>[pause]</a:t>
            </a:r>
          </a:p>
          <a:p>
            <a:r>
              <a:t>It can become another centralized layer that acts on your behalf and reports elsewhere. Or it can help a community find resources, coordinate work, and care for its place.</a:t>
            </a:r>
          </a:p>
          <a:p>
            <a:r>
              <a:t>The question is whether AI makes us more dependent on distant infrastructure, or more capable where we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is decided by ownership, not by intentions.</a:t>
            </a:r>
          </a:p>
          <a:p>
            <a:r>
              <a:t>[pause]</a:t>
            </a:r>
          </a:p>
          <a:p>
            <a:r>
              <a:t>Most platforms capture attention, data, and transactions, and the value concentrates upward.</a:t>
            </a:r>
          </a:p>
          <a:p>
            <a:r>
              <a:t>Here the people who create the value participate in it. Serving the community is how Rivr succeeds — not a thing we add once it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'trust us' is exactly what every platform said before it turned.</a:t>
            </a:r>
          </a:p>
          <a:p>
            <a:r>
              <a:t>[pause]</a:t>
            </a:r>
          </a:p>
          <a:p>
            <a:r>
              <a:t>So it's structural instead: users own the institution, the outcomes are in the Articles, the network federates, communities keep their data, and leaving is always possible.</a:t>
            </a:r>
          </a:p>
          <a:p>
            <a:r>
              <a:t>Build it so capture is hard even if the people running it stop being nice.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competition isn't one company. It's the stack.</a:t>
            </a:r>
          </a:p>
          <a:p>
            <a:r>
              <a:t>[pause]</a:t>
            </a:r>
          </a:p>
          <a:p>
            <a:r>
              <a:t>For a five-seat organization that recognizable pile runs about three hundred twenty-eight dollars a month. The same organization on Rivr is about forty-six.</a:t>
            </a:r>
          </a:p>
          <a:p>
            <a:r>
              <a:t>Roughly thirty-five hundred a year back to a small organization — and one context instead of twelve.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this is not a mockup.</a:t>
            </a:r>
          </a:p>
          <a:p>
            <a:r>
              <a:t>[pause]</a:t>
            </a:r>
          </a:p>
          <a:p>
            <a:r>
              <a:t>The network is live. The full economic loop is proven end to end on Stripe rails, cent-exact. Governance is running in real groups today. Tax is registered and computed. It's AI-native down to the tooling.</a:t>
            </a:r>
          </a:p>
          <a:p>
            <a:r>
              <a:t>The build risk is behind us. This round buys go-to-market.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grow one place deep at a time — seed, anchor, density, then replicate.</a:t>
            </a:r>
          </a:p>
          <a:p>
            <a:r>
              <a:t>[pause]</a:t>
            </a:r>
          </a:p>
          <a:p>
            <a:r>
              <a:t>We've done it before. ONE Boulder reached nearly forty-eight hundred users on one locale's events, and forty-two percent of the active ones paid.</a:t>
            </a:r>
          </a:p>
          <a:p>
            <a:r>
              <a:t>That playbook is now the software. We start in Boulder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is membership velocity, not fee inflation.</a:t>
            </a:r>
          </a:p>
          <a:p>
            <a:r>
              <a:t>[pause]</a:t>
            </a:r>
          </a:p>
          <a:p>
            <a:r>
              <a:t>Tiered memberships, one unified transaction fee, plus local advertising and reserves.</a:t>
            </a:r>
          </a:p>
          <a:p>
            <a:r>
              <a:t>That forty-two percent conversion isn't a hope — it's what Boulder actually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detail: fee surplus splits fifty to the Association, twenty-five to the member who generated it, twenty-five to their chapter. Non-fee surplus funds the mission.</a:t>
            </a:r>
          </a:p>
          <a:p>
            <a:r>
              <a:t>[pause]</a:t>
            </a:r>
          </a:p>
          <a:p>
            <a:r>
              <a:t>Retained profit splits three ways — stewards, workers, reserves.</a:t>
            </a:r>
          </a:p>
          <a:p>
            <a:r>
              <a:t>And every patronage refund is twenty percent cash, eighty percent member capital. Members build equity with every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raising five hundred thousand dollars to take a built platform live.</a:t>
            </a:r>
          </a:p>
          <a:p>
            <a:r>
              <a:t>[pause]</a:t>
            </a:r>
          </a:p>
          <a:p>
            <a:r>
              <a:t>Cooperative SAFE at a four million cap with a twenty percent discount, converting to Class D. Colorado residents can buy Class R directly.</a:t>
            </a:r>
          </a:p>
          <a:p>
            <a:r>
              <a:t>It funds the live-money cutover, the team, Boulder, and runway into the 2027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us building both the software and the institution.</a:t>
            </a:r>
          </a:p>
          <a:p>
            <a:r>
              <a:t>[pause]</a:t>
            </a:r>
          </a:p>
          <a:p>
            <a:r>
              <a:t>Beta opens in Boulder in Q3. Mobile and bioregional expansion through 2027.</a:t>
            </a:r>
          </a:p>
          <a:p>
            <a:r>
              <a:t>By the end of 2027: about thirty bioregions, two hundred organizations, five thousand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a public benefit corporation these outcomes are obligations in our Articles, not marketing copy.</a:t>
            </a:r>
          </a:p>
          <a:p>
            <a:r>
              <a:t>[pause]</a:t>
            </a:r>
          </a:p>
          <a:p>
            <a:r>
              <a:t>Local economic resilience. Regenerative practice. Civic participation. Data sovereignty. The vitality of each place.</a:t>
            </a:r>
          </a:p>
          <a:p>
            <a:r>
              <a:t>The vision is simply capable places — able to see and care for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I'll leave you with the strangest thing about this product.</a:t>
            </a:r>
          </a:p>
          <a:p>
            <a:r>
              <a:t>[pause]</a:t>
            </a:r>
          </a:p>
          <a:p>
            <a:r>
              <a:t>The best session on Rivr ends with you closing it. Find the person, make the agreement, go do the work, put the phone away.</a:t>
            </a:r>
          </a:p>
          <a:p>
            <a:r>
              <a:t>[pause]</a:t>
            </a:r>
          </a:p>
          <a:p>
            <a:r>
              <a:t>We don't have to abandon modern technology to remember how to live together. We can build better technology for it.</a:t>
            </a:r>
          </a:p>
          <a:p>
            <a:r>
              <a:t>Flow local. Connect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tell that this isn't a feed: every feature runs in both directions.</a:t>
            </a:r>
          </a:p>
          <a:p>
            <a:r>
              <a:t>[pause]</a:t>
            </a:r>
          </a:p>
          <a:p>
            <a:r>
              <a:t>Find a gig or offer paid work. Borrow a tool or share one. Ask for help or give it.</a:t>
            </a:r>
          </a:p>
          <a:p>
            <a:r>
              <a:t>A network isn't a place you get shown things. It's something you do with other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that looks like in a real week.</a:t>
            </a:r>
          </a:p>
          <a:p>
            <a:r>
              <a:t>[pause]</a:t>
            </a:r>
          </a:p>
          <a:p>
            <a:r>
              <a:t>Maya names a need — a tool library. An offer arrives. A project forms with four paid gigs. Tools stay local.</a:t>
            </a:r>
          </a:p>
          <a:p>
            <a:r>
              <a:t>Emily starts a creek cleanup and it ends with a healthier watershed.</a:t>
            </a:r>
          </a:p>
          <a:p>
            <a:r>
              <a:t>[pause]</a:t>
            </a:r>
          </a:p>
          <a:p>
            <a:r>
              <a:t>Same pattern every time: a need becomes a project becomes capacity that stays in town.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hand, it's four moves: discover, coordinate, gather, exchange.</a:t>
            </a:r>
          </a:p>
          <a:p>
            <a:r>
              <a:t>[pause]</a:t>
            </a:r>
          </a:p>
          <a:p>
            <a:r>
              <a:t>The basics are free for everyone — profile, feed, map, messaging, directory, marketplace, groups.</a:t>
            </a:r>
          </a:p>
          <a:p>
            <a:r>
              <a:t>Join a locale, see what's around you, and start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you choose what you want to make happen.</a:t>
            </a:r>
          </a:p>
          <a:p>
            <a:r>
              <a:t>[pause]</a:t>
            </a:r>
          </a:p>
          <a:p>
            <a:r>
              <a:t>Eleven dollars if you're getting paid for work. Twenty-two to host events or to sell. Thirty-three to do both. Forty-four to run an organization.</a:t>
            </a:r>
          </a:p>
          <a:p>
            <a:r>
              <a:t>One subscription instead of a stack of them — and free until you need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where money is the point, the rails are already live.</a:t>
            </a:r>
          </a:p>
          <a:p>
            <a:r>
              <a:t>[pause]</a:t>
            </a:r>
          </a:p>
          <a:p>
            <a:r>
              <a:t>Accept a tap-to-pay payment. Settle it with payouts and receipts in one place. Reserve your taxes automatically. Control the funds in a subgroup treasury with its own card.</a:t>
            </a:r>
          </a:p>
          <a:p>
            <a:r>
              <a:t>One fee across every rail — 3.3% plus a dollar forty-nine — and that fee is the patronage-eligible revenue that comes back to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the structure is the product.</a:t>
            </a:r>
          </a:p>
          <a:p>
            <a:r>
              <a:t>[pause]</a:t>
            </a:r>
          </a:p>
          <a:p>
            <a:r>
              <a:t>One legal entity — a cooperative association and a public benefit corporation. Four member classes: the people using it, the chapters running on it, the workers building it, and the stewards funding it.</a:t>
            </a:r>
          </a:p>
          <a:p>
            <a:r>
              <a:t>One member, one vote, regardless of capital. Capital is decoupled from governance, and that's the whole anti-capture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whole machine in one picture.</a:t>
            </a:r>
          </a:p>
          <a:p>
            <a:r>
              <a:t>[pause]</a:t>
            </a:r>
          </a:p>
          <a:p>
            <a:r>
              <a:t>Revenue splits into fees and everything else. Fees are patronage-eligible — they come back to the members who generated them. The rest funds operations, tax, and reserves.</a:t>
            </a:r>
          </a:p>
          <a:p>
            <a:r>
              <a:t>Steward capital comes in on its own rail. Nobody's money gets quietly repurposed.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Twenty-one million over five years, and the shape matters more than the total.</a:t>
            </a:r>
          </a:p>
          <a:p>
            <a:r>
              <a:t>[pause]</a:t>
            </a:r>
          </a:p>
          <a:p>
            <a:r>
              <a:t>Twenty twenty-six runs lean — four hundred thousand. Spend scales behind revenue, never ahead of it.</a:t>
            </a:r>
          </a:p>
          <a:p>
            <a:r>
              <a:t>First profitable year is 2029.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round is the first step of four.</a:t>
            </a:r>
          </a:p>
          <a:p>
            <a:r>
              <a:t>[pause]</a:t>
            </a:r>
          </a:p>
          <a:p>
            <a:r>
              <a:t>Seed at a four million cap. Crowd at twenty. Growth at seventy. Scale at two-fifty.</a:t>
            </a:r>
          </a:p>
          <a:p>
            <a:r>
              <a:t>Each round gates the next — no new issuance until network value has at least tripled. A hundred million raised, and fifty-eight million treasury shares still unissued at the end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here's the part that's different from anything else you'll see this year.</a:t>
            </a:r>
          </a:p>
          <a:p>
            <a:r>
              <a:t>[pause]</a:t>
            </a:r>
          </a:p>
          <a:p>
            <a:r>
              <a:t>You invest. You earn a pro-rata share of a third of after-tax profit. And then the cooperative buys the shares back over time.</a:t>
            </a:r>
          </a:p>
          <a:p>
            <a:r>
              <a:t>Rivr does not sell the company. The community buys it back. That's the exit — and it's the opposite of an enclosure.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2.png"/><Relationship Id="rId8" Type="http://schemas.openxmlformats.org/officeDocument/2006/relationships/image" Target="../media/image24.png"/><Relationship Id="rId9" Type="http://schemas.openxmlformats.org/officeDocument/2006/relationships/image" Target="../media/image9.png"/><Relationship Id="rId10" Type="http://schemas.openxmlformats.org/officeDocument/2006/relationships/image" Target="../media/image25.png"/><Relationship Id="rId11" Type="http://schemas.openxmlformats.org/officeDocument/2006/relationships/image" Target="../media/image10.png"/><Relationship Id="rId12" Type="http://schemas.openxmlformats.org/officeDocument/2006/relationships/image" Target="../media/image26.png"/><Relationship Id="rId1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2.png"/><Relationship Id="rId12" Type="http://schemas.openxmlformats.org/officeDocument/2006/relationships/notesSlide" Target="../notesSlides/notesSlide2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31.png"/><Relationship Id="rId9" Type="http://schemas.openxmlformats.org/officeDocument/2006/relationships/image" Target="../media/image24.png"/><Relationship Id="rId10" Type="http://schemas.openxmlformats.org/officeDocument/2006/relationships/image" Target="../media/image21.png"/><Relationship Id="rId11" Type="http://schemas.openxmlformats.org/officeDocument/2006/relationships/image" Target="../media/image8.png"/><Relationship Id="rId12" Type="http://schemas.openxmlformats.org/officeDocument/2006/relationships/image" Target="../media/image29.png"/><Relationship Id="rId13" Type="http://schemas.openxmlformats.org/officeDocument/2006/relationships/image" Target="../media/image13.png"/><Relationship Id="rId14" Type="http://schemas.openxmlformats.org/officeDocument/2006/relationships/image" Target="../media/image2.png"/><Relationship Id="rId15" Type="http://schemas.openxmlformats.org/officeDocument/2006/relationships/notesSlide" Target="../notesSlides/notesSlide3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13.png"/><Relationship Id="rId8" Type="http://schemas.openxmlformats.org/officeDocument/2006/relationships/image" Target="../media/image2.png"/><Relationship Id="rId9" Type="http://schemas.openxmlformats.org/officeDocument/2006/relationships/notesSlide" Target="../notesSlides/notesSlide3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5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10.png"/><Relationship Id="rId13" Type="http://schemas.openxmlformats.org/officeDocument/2006/relationships/image" Target="../media/image4.png"/><Relationship Id="rId14" Type="http://schemas.openxmlformats.org/officeDocument/2006/relationships/image" Target="../media/image22.png"/><Relationship Id="rId15" Type="http://schemas.openxmlformats.org/officeDocument/2006/relationships/image" Target="../media/image31.png"/><Relationship Id="rId16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0.png"/><Relationship Id="rId5" Type="http://schemas.openxmlformats.org/officeDocument/2006/relationships/image" Target="../media/image46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10.png"/><Relationship Id="rId4" Type="http://schemas.openxmlformats.org/officeDocument/2006/relationships/image" Target="../media/image48.png"/><Relationship Id="rId5" Type="http://schemas.openxmlformats.org/officeDocument/2006/relationships/image" Target="../media/image42.png"/><Relationship Id="rId6" Type="http://schemas.openxmlformats.org/officeDocument/2006/relationships/image" Target="../media/image41.png"/><Relationship Id="rId7" Type="http://schemas.openxmlformats.org/officeDocument/2006/relationships/image" Target="../media/image49.png"/><Relationship Id="rId8" Type="http://schemas.openxmlformats.org/officeDocument/2006/relationships/image" Target="../media/image15.png"/><Relationship Id="rId9" Type="http://schemas.openxmlformats.org/officeDocument/2006/relationships/image" Target="../media/image5.png"/><Relationship Id="rId10" Type="http://schemas.openxmlformats.org/officeDocument/2006/relationships/image" Target="../media/image2.png"/><Relationship Id="rId11" Type="http://schemas.openxmlformats.org/officeDocument/2006/relationships/notesSlide" Target="../notesSlides/notesSlide3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34.png"/><Relationship Id="rId5" Type="http://schemas.openxmlformats.org/officeDocument/2006/relationships/image" Target="../media/image26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13.png"/><Relationship Id="rId11" Type="http://schemas.openxmlformats.org/officeDocument/2006/relationships/image" Target="../media/image40.png"/><Relationship Id="rId1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9.png"/><Relationship Id="rId7" Type="http://schemas.openxmlformats.org/officeDocument/2006/relationships/image" Target="../media/image22.png"/><Relationship Id="rId8" Type="http://schemas.openxmlformats.org/officeDocument/2006/relationships/image" Target="../media/image10.png"/><Relationship Id="rId9" Type="http://schemas.openxmlformats.org/officeDocument/2006/relationships/image" Target="../media/image46.png"/><Relationship Id="rId10" Type="http://schemas.openxmlformats.org/officeDocument/2006/relationships/image" Target="../media/image41.png"/><Relationship Id="rId11" Type="http://schemas.openxmlformats.org/officeDocument/2006/relationships/image" Target="../media/image8.png"/><Relationship Id="rId12" Type="http://schemas.openxmlformats.org/officeDocument/2006/relationships/image" Target="../media/image14.png"/><Relationship Id="rId13" Type="http://schemas.openxmlformats.org/officeDocument/2006/relationships/image" Target="../media/image54.png"/><Relationship Id="rId1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38.png"/><Relationship Id="rId9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38.png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24.png"/><Relationship Id="rId5" Type="http://schemas.openxmlformats.org/officeDocument/2006/relationships/image" Target="../media/image38.png"/><Relationship Id="rId6" Type="http://schemas.openxmlformats.org/officeDocument/2006/relationships/image" Target="../media/image54.png"/><Relationship Id="rId7" Type="http://schemas.openxmlformats.org/officeDocument/2006/relationships/image" Target="../media/image8.png"/><Relationship Id="rId8" Type="http://schemas.openxmlformats.org/officeDocument/2006/relationships/image" Target="../media/image48.png"/><Relationship Id="rId9" Type="http://schemas.openxmlformats.org/officeDocument/2006/relationships/image" Target="../media/image39.png"/><Relationship Id="rId10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54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Relationship Id="rId7" Type="http://schemas.openxmlformats.org/officeDocument/2006/relationships/image" Target="../media/image41.png"/><Relationship Id="rId8" Type="http://schemas.openxmlformats.org/officeDocument/2006/relationships/image" Target="../media/image40.png"/><Relationship Id="rId9" Type="http://schemas.openxmlformats.org/officeDocument/2006/relationships/image" Target="../media/image14.png"/><Relationship Id="rId10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3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40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10.png"/><Relationship Id="rId5" Type="http://schemas.openxmlformats.org/officeDocument/2006/relationships/image" Target="../media/image21.png"/><Relationship Id="rId6" Type="http://schemas.openxmlformats.org/officeDocument/2006/relationships/image" Target="../media/image41.png"/><Relationship Id="rId7" Type="http://schemas.openxmlformats.org/officeDocument/2006/relationships/image" Target="../media/image39.png"/><Relationship Id="rId8" Type="http://schemas.openxmlformats.org/officeDocument/2006/relationships/image" Target="../media/image11.png"/><Relationship Id="rId9" Type="http://schemas.openxmlformats.org/officeDocument/2006/relationships/image" Target="../media/image54.png"/><Relationship Id="rId10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pic>
        <p:nvPicPr>
          <p:cNvPr id="3" name="Picture 2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795527"/>
            <a:ext cx="1234440" cy="123444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13578840" y="2674620"/>
            <a:ext cx="1662158" cy="800453"/>
          </a:xfrm>
          <a:prstGeom prst="line">
            <a:avLst/>
          </a:prstGeom>
          <a:ln w="9525">
            <a:solidFill>
              <a:srgbClr val="1C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240998" y="3475073"/>
            <a:ext cx="410519" cy="1798602"/>
          </a:xfrm>
          <a:prstGeom prst="line">
            <a:avLst/>
          </a:prstGeom>
          <a:ln w="9525">
            <a:solidFill>
              <a:srgbClr val="1C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4501268" y="5273675"/>
            <a:ext cx="1150249" cy="1442366"/>
          </a:xfrm>
          <a:prstGeom prst="line">
            <a:avLst/>
          </a:prstGeom>
          <a:ln w="9525">
            <a:solidFill>
              <a:srgbClr val="1C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2656411" y="6716041"/>
            <a:ext cx="1844857" cy="0"/>
          </a:xfrm>
          <a:prstGeom prst="line">
            <a:avLst/>
          </a:prstGeom>
          <a:ln w="9525">
            <a:solidFill>
              <a:srgbClr val="1C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11506162" y="5273675"/>
            <a:ext cx="1150249" cy="1442366"/>
          </a:xfrm>
          <a:prstGeom prst="line">
            <a:avLst/>
          </a:prstGeom>
          <a:ln w="9525">
            <a:solidFill>
              <a:srgbClr val="1C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506162" y="3475073"/>
            <a:ext cx="410519" cy="1798602"/>
          </a:xfrm>
          <a:prstGeom prst="line">
            <a:avLst/>
          </a:prstGeom>
          <a:ln w="9525">
            <a:solidFill>
              <a:srgbClr val="1C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16681" y="2674620"/>
            <a:ext cx="1662159" cy="800453"/>
          </a:xfrm>
          <a:prstGeom prst="line">
            <a:avLst/>
          </a:prstGeom>
          <a:ln w="9525">
            <a:solidFill>
              <a:srgbClr val="1C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3373100" y="2468880"/>
            <a:ext cx="411479" cy="411479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035258" y="3269333"/>
            <a:ext cx="411479" cy="411479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445777" y="5067935"/>
            <a:ext cx="411479" cy="411479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295528" y="6510301"/>
            <a:ext cx="411479" cy="411479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450671" y="6510301"/>
            <a:ext cx="411479" cy="411479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00422" y="5067935"/>
            <a:ext cx="411479" cy="411479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710941" y="3269333"/>
            <a:ext cx="411479" cy="411479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497579"/>
            <a:ext cx="1124711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00" spc="-130">
                <a:solidFill>
                  <a:srgbClr val="F4EAD8"/>
                </a:solidFill>
                <a:latin typeface="TT Commons Pro Bold"/>
              </a:rPr>
              <a:t>RIVR</a:t>
            </a:r>
          </a:p>
          <a:p>
            <a:pPr algn="l">
              <a:lnSpc>
                <a:spcPct val="125000"/>
              </a:lnSpc>
            </a:pPr>
            <a:r>
              <a:rPr sz="4500" spc="-75">
                <a:solidFill>
                  <a:srgbClr val="F2ECDD"/>
                </a:solidFill>
                <a:latin typeface="Ibarra Real Nova Italics"/>
              </a:rPr>
              <a:t>A social network for </a:t>
            </a:r>
            <a:r>
              <a:rPr sz="4500" spc="-75">
                <a:solidFill>
                  <a:srgbClr val="EBCF9E"/>
                </a:solidFill>
                <a:latin typeface="Ibarra Real Nova Italics"/>
              </a:rPr>
              <a:t>local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6515100"/>
            <a:ext cx="115214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>
                <a:solidFill>
                  <a:srgbClr val="F2ECDD"/>
                </a:solidFill>
                <a:latin typeface="TT Commons Pro"/>
              </a:rPr>
              <a:t>Rivr makes the capacity of a place </a:t>
            </a:r>
            <a:r>
              <a:rPr sz="2100">
                <a:solidFill>
                  <a:srgbClr val="9FE8DC"/>
                </a:solidFill>
                <a:latin typeface="TT Commons Pro Bold"/>
              </a:rPr>
              <a:t>visible enough to act on</a:t>
            </a:r>
          </a:p>
          <a:p>
            <a:pPr algn="l">
              <a:lnSpc>
                <a:spcPct val="150000"/>
              </a:lnSpc>
            </a:pPr>
            <a:r>
              <a:rPr sz="2100">
                <a:solidFill>
                  <a:srgbClr val="F2ECDD"/>
                </a:solidFill>
                <a:latin typeface="TT Commons Pro"/>
              </a:rPr>
              <a:t>— so more of what we need can be found, shared,</a:t>
            </a:r>
          </a:p>
          <a:p>
            <a:pPr algn="l">
              <a:lnSpc>
                <a:spcPct val="150000"/>
              </a:lnSpc>
            </a:pPr>
            <a:r>
              <a:rPr sz="2100">
                <a:solidFill>
                  <a:srgbClr val="F2ECDD"/>
                </a:solidFill>
                <a:latin typeface="TT Commons Pro"/>
              </a:rPr>
              <a:t>coordinated, exchanged, and created together.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8435340"/>
            <a:ext cx="15773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330">
                <a:solidFill>
                  <a:srgbClr val="9FE8DC"/>
                </a:solidFill>
                <a:latin typeface="TT Commons Pro"/>
              </a:rPr>
              <a:t>REGENERATIVE · INTERCONNECTED · VIBRANT · REGIONS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8983980"/>
            <a:ext cx="1618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spc="20">
                <a:solidFill>
                  <a:srgbClr val="EBCF9E"/>
                </a:solidFill>
                <a:latin typeface="Alike Italics"/>
              </a:rPr>
              <a:t>Flow local. Connect global.  </a:t>
            </a:r>
            <a:r>
              <a:rPr sz="2100" spc="20">
                <a:solidFill>
                  <a:srgbClr val="AFC4C2"/>
                </a:solidFill>
                <a:latin typeface="Alike Italics"/>
              </a:rPr>
              <a:t>A Rivr made of many rivers.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9683496"/>
            <a:ext cx="1234440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AFC4C2"/>
                </a:solidFill>
                <a:latin typeface="TT Commons Pro"/>
              </a:rPr>
              <a:t>Seed Round 2026   ·   rivr.social   ·   app.rivr.social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THE PROBLEM · LATENT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8526780" cy="9778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309" spc="-72">
                <a:solidFill>
                  <a:srgbClr val="F4EAD8"/>
                </a:solidFill>
                <a:latin typeface="TT Commons Pro Bold"/>
              </a:rPr>
              <a:t>Every place is already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79792" y="1645919"/>
            <a:ext cx="7587615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5">
                <a:solidFill>
                  <a:srgbClr val="99E6D9"/>
                </a:solidFill>
                <a:latin typeface="Ibarra Real Nova Italics"/>
              </a:rPr>
              <a:t>full of what it needs.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34856" y="3977639"/>
            <a:ext cx="1042416" cy="279315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177272" y="4256954"/>
            <a:ext cx="763101" cy="763102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40373" y="5020056"/>
            <a:ext cx="279315" cy="1042416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940373" y="6062472"/>
            <a:ext cx="279315" cy="1042416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177272" y="7104888"/>
            <a:ext cx="763101" cy="763101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134856" y="7867989"/>
            <a:ext cx="1042416" cy="279315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8092440" y="7867989"/>
            <a:ext cx="1042416" cy="279315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7329338" y="7104888"/>
            <a:ext cx="763102" cy="763101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7050024" y="6062472"/>
            <a:ext cx="279314" cy="1042416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050024" y="5020055"/>
            <a:ext cx="279314" cy="1042417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29338" y="4256954"/>
            <a:ext cx="763102" cy="763101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92440" y="3977639"/>
            <a:ext cx="1042416" cy="279315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134856" y="3977639"/>
            <a:ext cx="0" cy="2084833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134856" y="4256954"/>
            <a:ext cx="1042416" cy="1805518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34856" y="5020056"/>
            <a:ext cx="1805517" cy="1042416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34856" y="6062472"/>
            <a:ext cx="2084832" cy="0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34856" y="6062472"/>
            <a:ext cx="1805517" cy="1042416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34856" y="6062472"/>
            <a:ext cx="1042416" cy="1805517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34856" y="6062472"/>
            <a:ext cx="0" cy="2084832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092440" y="6062472"/>
            <a:ext cx="1042416" cy="1805517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329338" y="6062472"/>
            <a:ext cx="1805518" cy="1042416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050024" y="6062472"/>
            <a:ext cx="2084832" cy="0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7329338" y="5020055"/>
            <a:ext cx="1805518" cy="1042417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8092440" y="4256954"/>
            <a:ext cx="1042416" cy="1805518"/>
          </a:xfrm>
          <a:prstGeom prst="line">
            <a:avLst/>
          </a:prstGeom>
          <a:ln w="9525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412022" y="5339638"/>
            <a:ext cx="1445666" cy="1445666"/>
          </a:xfrm>
          <a:prstGeom prst="ellipse">
            <a:avLst/>
          </a:prstGeom>
          <a:solidFill>
            <a:srgbClr val="084B4D"/>
          </a:solidFill>
          <a:ln w="1778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022" y="5843016"/>
            <a:ext cx="1445666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spc="330">
                <a:solidFill>
                  <a:srgbClr val="EBCF9E"/>
                </a:solidFill>
                <a:latin typeface="TT Commons Pro"/>
              </a:rPr>
              <a:t>A PLACE</a:t>
            </a:r>
          </a:p>
        </p:txBody>
      </p:sp>
      <p:sp>
        <p:nvSpPr>
          <p:cNvPr id="32" name="Oval 31"/>
          <p:cNvSpPr/>
          <p:nvPr/>
        </p:nvSpPr>
        <p:spPr>
          <a:xfrm>
            <a:off x="8709660" y="3552444"/>
            <a:ext cx="850392" cy="850392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1684" y="3744468"/>
            <a:ext cx="466344" cy="4663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626096" y="2990088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skills</a:t>
            </a:r>
          </a:p>
        </p:txBody>
      </p:sp>
      <p:sp>
        <p:nvSpPr>
          <p:cNvPr id="35" name="Oval 34"/>
          <p:cNvSpPr/>
          <p:nvPr/>
        </p:nvSpPr>
        <p:spPr>
          <a:xfrm>
            <a:off x="9752076" y="3831758"/>
            <a:ext cx="850392" cy="850392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to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0" y="4023782"/>
            <a:ext cx="466344" cy="4663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086850" y="3381495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unused tools</a:t>
            </a:r>
          </a:p>
        </p:txBody>
      </p:sp>
      <p:sp>
        <p:nvSpPr>
          <p:cNvPr id="38" name="Oval 37"/>
          <p:cNvSpPr/>
          <p:nvPr/>
        </p:nvSpPr>
        <p:spPr>
          <a:xfrm>
            <a:off x="10515177" y="4594860"/>
            <a:ext cx="850392" cy="850392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oo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7201" y="4786884"/>
            <a:ext cx="466344" cy="46634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156196" y="4450842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food</a:t>
            </a:r>
          </a:p>
        </p:txBody>
      </p:sp>
      <p:sp>
        <p:nvSpPr>
          <p:cNvPr id="41" name="Oval 40"/>
          <p:cNvSpPr/>
          <p:nvPr/>
        </p:nvSpPr>
        <p:spPr>
          <a:xfrm>
            <a:off x="10794492" y="5637276"/>
            <a:ext cx="850392" cy="850392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pa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6516" y="5829300"/>
            <a:ext cx="466344" cy="4663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547604" y="5911596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spaces</a:t>
            </a:r>
          </a:p>
        </p:txBody>
      </p:sp>
      <p:sp>
        <p:nvSpPr>
          <p:cNvPr id="44" name="Oval 43"/>
          <p:cNvSpPr/>
          <p:nvPr/>
        </p:nvSpPr>
        <p:spPr>
          <a:xfrm>
            <a:off x="10515177" y="6679692"/>
            <a:ext cx="850392" cy="850392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do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7201" y="6871716"/>
            <a:ext cx="466344" cy="4663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156196" y="7372349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knowledge</a:t>
            </a:r>
          </a:p>
        </p:txBody>
      </p:sp>
      <p:sp>
        <p:nvSpPr>
          <p:cNvPr id="47" name="Oval 46"/>
          <p:cNvSpPr/>
          <p:nvPr/>
        </p:nvSpPr>
        <p:spPr>
          <a:xfrm>
            <a:off x="9752076" y="7442793"/>
            <a:ext cx="850392" cy="850392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projec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4100" y="7634817"/>
            <a:ext cx="466344" cy="4663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086850" y="8441696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projects</a:t>
            </a:r>
          </a:p>
        </p:txBody>
      </p:sp>
      <p:sp>
        <p:nvSpPr>
          <p:cNvPr id="50" name="Oval 49"/>
          <p:cNvSpPr/>
          <p:nvPr/>
        </p:nvSpPr>
        <p:spPr>
          <a:xfrm>
            <a:off x="8709660" y="7722108"/>
            <a:ext cx="850392" cy="850392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mone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1684" y="7914131"/>
            <a:ext cx="466344" cy="46634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626096" y="8833104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money</a:t>
            </a:r>
          </a:p>
        </p:txBody>
      </p:sp>
      <p:sp>
        <p:nvSpPr>
          <p:cNvPr id="53" name="Oval 52"/>
          <p:cNvSpPr/>
          <p:nvPr/>
        </p:nvSpPr>
        <p:spPr>
          <a:xfrm>
            <a:off x="7667244" y="7442793"/>
            <a:ext cx="850392" cy="850392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car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9268" y="7634817"/>
            <a:ext cx="466344" cy="46634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165342" y="8441696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care</a:t>
            </a:r>
          </a:p>
        </p:txBody>
      </p:sp>
      <p:sp>
        <p:nvSpPr>
          <p:cNvPr id="56" name="Oval 55"/>
          <p:cNvSpPr/>
          <p:nvPr/>
        </p:nvSpPr>
        <p:spPr>
          <a:xfrm>
            <a:off x="6904142" y="6679692"/>
            <a:ext cx="850392" cy="850392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wor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96166" y="6871716"/>
            <a:ext cx="466344" cy="46634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095995" y="7372349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labor</a:t>
            </a:r>
          </a:p>
        </p:txBody>
      </p:sp>
      <p:sp>
        <p:nvSpPr>
          <p:cNvPr id="59" name="Oval 58"/>
          <p:cNvSpPr/>
          <p:nvPr/>
        </p:nvSpPr>
        <p:spPr>
          <a:xfrm>
            <a:off x="6624828" y="5637276"/>
            <a:ext cx="850392" cy="850392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or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6852" y="5829300"/>
            <a:ext cx="466344" cy="46634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4704588" y="5911596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organizations</a:t>
            </a:r>
          </a:p>
        </p:txBody>
      </p:sp>
      <p:sp>
        <p:nvSpPr>
          <p:cNvPr id="62" name="Oval 61"/>
          <p:cNvSpPr/>
          <p:nvPr/>
        </p:nvSpPr>
        <p:spPr>
          <a:xfrm>
            <a:off x="6904142" y="4594859"/>
            <a:ext cx="850392" cy="850392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de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96166" y="4786883"/>
            <a:ext cx="466344" cy="46634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5095995" y="4450842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ideas</a:t>
            </a:r>
          </a:p>
        </p:txBody>
      </p:sp>
      <p:sp>
        <p:nvSpPr>
          <p:cNvPr id="65" name="Oval 64"/>
          <p:cNvSpPr/>
          <p:nvPr/>
        </p:nvSpPr>
        <p:spPr>
          <a:xfrm>
            <a:off x="7667244" y="3831758"/>
            <a:ext cx="850392" cy="850392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gif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59267" y="4023782"/>
            <a:ext cx="466344" cy="46634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165341" y="3381495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things to give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59" y="891540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The problem is not that these things don't exist — it is finding them, trusting them, and coordinating around them.</a:t>
            </a:r>
          </a:p>
          <a:p>
            <a:pPr algn="ctr">
              <a:lnSpc>
                <a:spcPct val="140000"/>
              </a:lnSpc>
            </a:pPr>
            <a:r>
              <a:rPr sz="2100" spc="20">
                <a:solidFill>
                  <a:srgbClr val="EBCF9E"/>
                </a:solidFill>
                <a:latin typeface="Alike Italics"/>
              </a:rPr>
              <a:t>A need and a resource can exist blocks apart without ever meeting.</a:t>
            </a:r>
          </a:p>
        </p:txBody>
      </p:sp>
      <p:pic>
        <p:nvPicPr>
          <p:cNvPr id="69" name="Picture 68" descr="rivr-symbol-ligh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THE PROBLEM ·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10792221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6">
                <a:solidFill>
                  <a:srgbClr val="F4EAD8"/>
                </a:solidFill>
                <a:latin typeface="TT Commons Pro Bold"/>
              </a:rPr>
              <a:t>Finding each other is only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2145" y="1645919"/>
            <a:ext cx="5861208" cy="1140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195" spc="-75">
                <a:solidFill>
                  <a:srgbClr val="99E6D9"/>
                </a:solidFill>
                <a:latin typeface="Ibarra Real Nova Italics"/>
              </a:rPr>
              <a:t>the beginning.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360420"/>
            <a:ext cx="15773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180">
                <a:solidFill>
                  <a:srgbClr val="9FE8DC"/>
                </a:solidFill>
                <a:latin typeface="TT Commons Pro"/>
              </a:rPr>
              <a:t>THE FULL ARC OF WORKING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3977639"/>
            <a:ext cx="3693033" cy="126187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9664"/>
            <a:ext cx="40222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4581144"/>
            <a:ext cx="341871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AFC4C2"/>
                </a:solidFill>
                <a:latin typeface="TT Commons Pro"/>
              </a:rPr>
              <a:t>find each other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53153" y="4505705"/>
            <a:ext cx="356616" cy="205739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46929" y="3977639"/>
            <a:ext cx="3693033" cy="126187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2337" y="4169664"/>
            <a:ext cx="40222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4089" y="4581144"/>
            <a:ext cx="341871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AFC4C2"/>
                </a:solidFill>
                <a:latin typeface="TT Commons Pro"/>
              </a:rPr>
              <a:t>enough context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77122" y="4505705"/>
            <a:ext cx="356616" cy="205739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70897" y="3977639"/>
            <a:ext cx="3693033" cy="126187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6305" y="4169664"/>
            <a:ext cx="40222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AGREE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8057" y="4581144"/>
            <a:ext cx="341871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AFC4C2"/>
                </a:solidFill>
                <a:latin typeface="TT Commons Pro"/>
              </a:rPr>
              <a:t>terms + roles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3301091" y="4505705"/>
            <a:ext cx="356616" cy="205739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794867" y="3977639"/>
            <a:ext cx="3693033" cy="126187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630275" y="4169664"/>
            <a:ext cx="40222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ORGANIZE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32026" y="4581144"/>
            <a:ext cx="341871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AFC4C2"/>
                </a:solidFill>
                <a:latin typeface="TT Commons Pro"/>
              </a:rPr>
              <a:t>schedule + assign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" y="5513831"/>
            <a:ext cx="3693033" cy="126187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705855"/>
            <a:ext cx="40222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" y="6117335"/>
            <a:ext cx="341871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AFC4C2"/>
                </a:solidFill>
                <a:latin typeface="TT Commons Pro"/>
              </a:rPr>
              <a:t>do the work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653153" y="6041897"/>
            <a:ext cx="356616" cy="205739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46929" y="5513831"/>
            <a:ext cx="3693033" cy="126187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2337" y="5705855"/>
            <a:ext cx="40222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4089" y="6117335"/>
            <a:ext cx="341871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AFC4C2"/>
                </a:solidFill>
                <a:latin typeface="TT Commons Pro"/>
              </a:rPr>
              <a:t>confirm it happened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977122" y="6041897"/>
            <a:ext cx="356616" cy="205739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70897" y="5513831"/>
            <a:ext cx="3693033" cy="126187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06305" y="5705855"/>
            <a:ext cx="40222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ACCOUNT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8057" y="6117335"/>
            <a:ext cx="341871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AFC4C2"/>
                </a:solidFill>
                <a:latin typeface="TT Commons Pro"/>
              </a:rPr>
              <a:t>record it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3301091" y="6041897"/>
            <a:ext cx="356616" cy="205739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794867" y="5513831"/>
            <a:ext cx="3693033" cy="126187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630275" y="5705855"/>
            <a:ext cx="40222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COMPENSATE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32026" y="6117335"/>
            <a:ext cx="341871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AFC4C2"/>
                </a:solidFill>
                <a:latin typeface="TT Commons Pro"/>
              </a:rPr>
              <a:t>value moves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7050023"/>
            <a:ext cx="15773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180">
                <a:solidFill>
                  <a:srgbClr val="EBCF9E"/>
                </a:solidFill>
                <a:latin typeface="TT Commons Pro"/>
              </a:rPr>
              <a:t>WHAT PEOPLE ASSEMBLE BY HAND, EVERY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7626096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spc="20">
                <a:solidFill>
                  <a:srgbClr val="F0CC8B"/>
                </a:solidFill>
                <a:latin typeface="Alike Italics"/>
              </a:rPr>
              <a:t>?  </a:t>
            </a:r>
            <a:r>
              <a:rPr sz="1950" spc="20">
                <a:solidFill>
                  <a:srgbClr val="F2ECDD"/>
                </a:solidFill>
                <a:latin typeface="Alike Italics"/>
              </a:rPr>
              <a:t>Who is doing what?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19" y="7626096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spc="20">
                <a:solidFill>
                  <a:srgbClr val="F0CC8B"/>
                </a:solidFill>
                <a:latin typeface="Alike Italics"/>
              </a:rPr>
              <a:t>?  </a:t>
            </a:r>
            <a:r>
              <a:rPr sz="1950" spc="20">
                <a:solidFill>
                  <a:srgbClr val="F2ECDD"/>
                </a:solidFill>
                <a:latin typeface="Alike Italics"/>
              </a:rPr>
              <a:t>What was agreed to?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70080" y="7626096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spc="20">
                <a:solidFill>
                  <a:srgbClr val="F0CC8B"/>
                </a:solidFill>
                <a:latin typeface="Alike Italics"/>
              </a:rPr>
              <a:t>?  </a:t>
            </a:r>
            <a:r>
              <a:rPr sz="1950" spc="20">
                <a:solidFill>
                  <a:srgbClr val="F2ECDD"/>
                </a:solidFill>
                <a:latin typeface="Alike Italics"/>
              </a:rPr>
              <a:t>What resources are needed?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" y="8257031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spc="20">
                <a:solidFill>
                  <a:srgbClr val="F0CC8B"/>
                </a:solidFill>
                <a:latin typeface="Alike Italics"/>
              </a:rPr>
              <a:t>?  </a:t>
            </a:r>
            <a:r>
              <a:rPr sz="1950" spc="20">
                <a:solidFill>
                  <a:srgbClr val="F2ECDD"/>
                </a:solidFill>
                <a:latin typeface="Alike Italics"/>
              </a:rPr>
              <a:t>How does someone participate?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19" y="8257031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spc="20">
                <a:solidFill>
                  <a:srgbClr val="F0CC8B"/>
                </a:solidFill>
                <a:latin typeface="Alike Italics"/>
              </a:rPr>
              <a:t>?  </a:t>
            </a:r>
            <a:r>
              <a:rPr sz="1950" spc="20">
                <a:solidFill>
                  <a:srgbClr val="F2ECDD"/>
                </a:solidFill>
                <a:latin typeface="Alike Italics"/>
              </a:rPr>
              <a:t>Who contributed?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070080" y="8257031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spc="20">
                <a:solidFill>
                  <a:srgbClr val="F0CC8B"/>
                </a:solidFill>
                <a:latin typeface="Alike Italics"/>
              </a:rPr>
              <a:t>?  </a:t>
            </a:r>
            <a:r>
              <a:rPr sz="1950" spc="20">
                <a:solidFill>
                  <a:srgbClr val="F2ECDD"/>
                </a:solidFill>
                <a:latin typeface="Alike Italics"/>
              </a:rPr>
              <a:t>What is owed?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" y="9079992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Coordination overhead prevents useful activity from happening. </a:t>
            </a:r>
            <a:r>
              <a:rPr sz="2025" spc="20">
                <a:solidFill>
                  <a:srgbClr val="9FE8DC"/>
                </a:solidFill>
                <a:latin typeface="Alike Italics"/>
              </a:rPr>
              <a:t>Rivr lowers the friction between wanting to do something together and doing it.</a:t>
            </a:r>
          </a:p>
        </p:txBody>
      </p:sp>
      <p:pic>
        <p:nvPicPr>
          <p:cNvPr id="45" name="Picture 44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THE PROBLEM · DIGITAL 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12068651" cy="9778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309" spc="-72">
                <a:solidFill>
                  <a:srgbClr val="F4EAD8"/>
                </a:solidFill>
                <a:latin typeface="TT Commons Pro Bold"/>
              </a:rPr>
              <a:t>Our digital lives are split across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3288" y="1645919"/>
            <a:ext cx="6218396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5">
                <a:solidFill>
                  <a:srgbClr val="D3B7A5"/>
                </a:solidFill>
                <a:latin typeface="Ibarra Real Nova Italics"/>
              </a:rPr>
              <a:t>too many places.</a:t>
            </a:r>
          </a:p>
        </p:txBody>
      </p:sp>
      <p:sp>
        <p:nvSpPr>
          <p:cNvPr id="6" name="Oval 5"/>
          <p:cNvSpPr/>
          <p:nvPr/>
        </p:nvSpPr>
        <p:spPr>
          <a:xfrm>
            <a:off x="809244" y="3346704"/>
            <a:ext cx="850392" cy="850392"/>
          </a:xfrm>
          <a:prstGeom prst="ellipse">
            <a:avLst/>
          </a:prstGeom>
          <a:solidFill>
            <a:srgbClr val="084B4D"/>
          </a:solidFill>
          <a:ln w="1016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68579" y="426567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events</a:t>
            </a:r>
          </a:p>
        </p:txBody>
      </p:sp>
      <p:sp>
        <p:nvSpPr>
          <p:cNvPr id="8" name="Oval 7"/>
          <p:cNvSpPr/>
          <p:nvPr/>
        </p:nvSpPr>
        <p:spPr>
          <a:xfrm>
            <a:off x="3826764" y="4032504"/>
            <a:ext cx="850392" cy="850392"/>
          </a:xfrm>
          <a:prstGeom prst="ellipse">
            <a:avLst/>
          </a:prstGeom>
          <a:solidFill>
            <a:srgbClr val="084B4D"/>
          </a:solidFill>
          <a:ln w="1016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8940" y="495147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payments</a:t>
            </a:r>
          </a:p>
        </p:txBody>
      </p:sp>
      <p:sp>
        <p:nvSpPr>
          <p:cNvPr id="10" name="Oval 9"/>
          <p:cNvSpPr/>
          <p:nvPr/>
        </p:nvSpPr>
        <p:spPr>
          <a:xfrm>
            <a:off x="6432804" y="3209544"/>
            <a:ext cx="850392" cy="850392"/>
          </a:xfrm>
          <a:prstGeom prst="ellipse">
            <a:avLst/>
          </a:prstGeom>
          <a:solidFill>
            <a:srgbClr val="084B4D"/>
          </a:solidFill>
          <a:ln w="1016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4979" y="4128515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projects</a:t>
            </a:r>
          </a:p>
        </p:txBody>
      </p:sp>
      <p:sp>
        <p:nvSpPr>
          <p:cNvPr id="12" name="Oval 11"/>
          <p:cNvSpPr/>
          <p:nvPr/>
        </p:nvSpPr>
        <p:spPr>
          <a:xfrm>
            <a:off x="9313164" y="4169664"/>
            <a:ext cx="850392" cy="850392"/>
          </a:xfrm>
          <a:prstGeom prst="ellipse">
            <a:avLst/>
          </a:prstGeom>
          <a:solidFill>
            <a:srgbClr val="084B4D"/>
          </a:solidFill>
          <a:ln w="1016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5340" y="508863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messages</a:t>
            </a:r>
          </a:p>
        </p:txBody>
      </p:sp>
      <p:sp>
        <p:nvSpPr>
          <p:cNvPr id="14" name="Oval 13"/>
          <p:cNvSpPr/>
          <p:nvPr/>
        </p:nvSpPr>
        <p:spPr>
          <a:xfrm>
            <a:off x="11919204" y="3278124"/>
            <a:ext cx="850392" cy="850392"/>
          </a:xfrm>
          <a:prstGeom prst="ellipse">
            <a:avLst/>
          </a:prstGeom>
          <a:solidFill>
            <a:srgbClr val="084B4D"/>
          </a:solidFill>
          <a:ln w="1016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41380" y="419709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markets</a:t>
            </a:r>
          </a:p>
        </p:txBody>
      </p:sp>
      <p:sp>
        <p:nvSpPr>
          <p:cNvPr id="16" name="Oval 15"/>
          <p:cNvSpPr/>
          <p:nvPr/>
        </p:nvSpPr>
        <p:spPr>
          <a:xfrm>
            <a:off x="14525244" y="4101083"/>
            <a:ext cx="850392" cy="850392"/>
          </a:xfrm>
          <a:prstGeom prst="ellipse">
            <a:avLst/>
          </a:prstGeom>
          <a:solidFill>
            <a:srgbClr val="084B4D"/>
          </a:solidFill>
          <a:ln w="1016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647420" y="5020055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documents</a:t>
            </a:r>
          </a:p>
        </p:txBody>
      </p:sp>
      <p:sp>
        <p:nvSpPr>
          <p:cNvPr id="18" name="Oval 17"/>
          <p:cNvSpPr/>
          <p:nvPr/>
        </p:nvSpPr>
        <p:spPr>
          <a:xfrm>
            <a:off x="2318004" y="5266944"/>
            <a:ext cx="850392" cy="850392"/>
          </a:xfrm>
          <a:prstGeom prst="ellipse">
            <a:avLst/>
          </a:prstGeom>
          <a:solidFill>
            <a:srgbClr val="084B4D"/>
          </a:solidFill>
          <a:ln w="1016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0180" y="618591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scheduling</a:t>
            </a:r>
          </a:p>
        </p:txBody>
      </p:sp>
      <p:sp>
        <p:nvSpPr>
          <p:cNvPr id="20" name="Oval 19"/>
          <p:cNvSpPr/>
          <p:nvPr/>
        </p:nvSpPr>
        <p:spPr>
          <a:xfrm>
            <a:off x="10547604" y="5335524"/>
            <a:ext cx="850392" cy="850392"/>
          </a:xfrm>
          <a:prstGeom prst="ellipse">
            <a:avLst/>
          </a:prstGeom>
          <a:solidFill>
            <a:srgbClr val="084B4D"/>
          </a:solidFill>
          <a:ln w="1016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69780" y="625449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governance</a:t>
            </a:r>
          </a:p>
        </p:txBody>
      </p:sp>
      <p:sp>
        <p:nvSpPr>
          <p:cNvPr id="22" name="Oval 21"/>
          <p:cNvSpPr/>
          <p:nvPr/>
        </p:nvSpPr>
        <p:spPr>
          <a:xfrm>
            <a:off x="7667244" y="5541264"/>
            <a:ext cx="850392" cy="850392"/>
          </a:xfrm>
          <a:prstGeom prst="ellipse">
            <a:avLst/>
          </a:prstGeom>
          <a:solidFill>
            <a:srgbClr val="084B4D"/>
          </a:solidFill>
          <a:ln w="1016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9420" y="646023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identity</a:t>
            </a:r>
          </a:p>
        </p:txBody>
      </p:sp>
      <p:sp>
        <p:nvSpPr>
          <p:cNvPr id="24" name="Oval 23"/>
          <p:cNvSpPr/>
          <p:nvPr/>
        </p:nvSpPr>
        <p:spPr>
          <a:xfrm>
            <a:off x="15073884" y="5404104"/>
            <a:ext cx="850392" cy="850392"/>
          </a:xfrm>
          <a:prstGeom prst="ellipse">
            <a:avLst/>
          </a:prstGeom>
          <a:solidFill>
            <a:srgbClr val="084B4D"/>
          </a:solidFill>
          <a:ln w="1016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96060" y="632307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payouts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6926579"/>
            <a:ext cx="165963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50" spc="20">
                <a:solidFill>
                  <a:srgbClr val="F2ECDD"/>
                </a:solidFill>
                <a:latin typeface="Alike Italics"/>
              </a:rPr>
              <a:t>We spend too much time coordinating the tools meant to help us coordinate.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59" y="7680959"/>
            <a:ext cx="16664940" cy="1577339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20955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7927848"/>
            <a:ext cx="1591055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Social media evolved toward coordination — </a:t>
            </a:r>
            <a:r>
              <a:rPr sz="1875">
                <a:solidFill>
                  <a:srgbClr val="EBCF9E"/>
                </a:solidFill>
                <a:latin typeface="TT Commons Pro Bold"/>
              </a:rPr>
              <a:t>under extractive incentives.</a:t>
            </a:r>
          </a:p>
          <a:p>
            <a:pPr algn="l">
              <a:lnSpc>
                <a:spcPct val="14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The problem was never that social networks expanded into groups, events, marketplaces, and business tools.</a:t>
            </a:r>
          </a:p>
          <a:p>
            <a:pPr algn="l">
              <a:lnSpc>
                <a:spcPct val="14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The problem was the incentive structure underneath them.</a:t>
            </a:r>
          </a:p>
        </p:txBody>
      </p:sp>
      <p:pic>
        <p:nvPicPr>
          <p:cNvPr id="29" name="Picture 28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PLACE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45919"/>
            <a:ext cx="12414329" cy="921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2" spc="-68">
                <a:solidFill>
                  <a:srgbClr val="F4EAD8"/>
                </a:solidFill>
                <a:latin typeface="TT Commons Pro Bold"/>
              </a:rPr>
              <a:t>We can search the whole planet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575236"/>
            <a:ext cx="6911101" cy="921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2" spc="-68">
                <a:solidFill>
                  <a:srgbClr val="F4EAD8"/>
                </a:solidFill>
                <a:latin typeface="TT Commons Pro Bold"/>
              </a:rPr>
              <a:t>and miss the thing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7249" y="2522658"/>
            <a:ext cx="5599271" cy="10165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20" spc="-75">
                <a:solidFill>
                  <a:srgbClr val="EBCF9E"/>
                </a:solidFill>
                <a:latin typeface="Ibarra Real Nova Italics"/>
              </a:rPr>
              <a:t>down the street.</a:t>
            </a:r>
          </a:p>
        </p:txBody>
      </p:sp>
      <p:sp>
        <p:nvSpPr>
          <p:cNvPr id="7" name="Oval 6"/>
          <p:cNvSpPr/>
          <p:nvPr/>
        </p:nvSpPr>
        <p:spPr>
          <a:xfrm>
            <a:off x="2811780" y="5623559"/>
            <a:ext cx="3154679" cy="3154679"/>
          </a:xfrm>
          <a:prstGeom prst="ellipse">
            <a:avLst/>
          </a:prstGeom>
          <a:noFill/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046220" y="6858000"/>
            <a:ext cx="685800" cy="685800"/>
          </a:xfrm>
          <a:prstGeom prst="ellipse">
            <a:avLst/>
          </a:prstGeom>
          <a:solidFill>
            <a:srgbClr val="084B4D"/>
          </a:solidFill>
          <a:ln w="1397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7667244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330">
                <a:solidFill>
                  <a:srgbClr val="9FE8DC"/>
                </a:solidFill>
                <a:latin typeface="TT Commons Pro"/>
              </a:rPr>
              <a:t>YOUR PLACE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800600" y="5924104"/>
            <a:ext cx="3479527" cy="1276796"/>
          </a:xfrm>
          <a:prstGeom prst="line">
            <a:avLst/>
          </a:prstGeom>
          <a:ln w="11430">
            <a:solidFill>
              <a:srgbClr val="D3B7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129251" y="5773228"/>
            <a:ext cx="301752" cy="301752"/>
          </a:xfrm>
          <a:prstGeom prst="ellipse">
            <a:avLst/>
          </a:prstGeom>
          <a:solidFill>
            <a:srgbClr val="D3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4800600" y="6864170"/>
            <a:ext cx="5293177" cy="336730"/>
          </a:xfrm>
          <a:prstGeom prst="line">
            <a:avLst/>
          </a:prstGeom>
          <a:ln w="11430">
            <a:solidFill>
              <a:srgbClr val="D3B7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942901" y="6713294"/>
            <a:ext cx="301752" cy="301752"/>
          </a:xfrm>
          <a:prstGeom prst="ellipse">
            <a:avLst/>
          </a:prstGeom>
          <a:solidFill>
            <a:srgbClr val="D3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800600" y="7200900"/>
            <a:ext cx="4486273" cy="748707"/>
          </a:xfrm>
          <a:prstGeom prst="line">
            <a:avLst/>
          </a:prstGeom>
          <a:ln w="11430">
            <a:solidFill>
              <a:srgbClr val="D3B7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35997" y="7798731"/>
            <a:ext cx="301752" cy="301752"/>
          </a:xfrm>
          <a:prstGeom prst="ellipse">
            <a:avLst/>
          </a:prstGeom>
          <a:solidFill>
            <a:srgbClr val="D3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800600" y="7200900"/>
            <a:ext cx="2542179" cy="1284613"/>
          </a:xfrm>
          <a:prstGeom prst="line">
            <a:avLst/>
          </a:prstGeom>
          <a:ln w="11430">
            <a:solidFill>
              <a:srgbClr val="D3B7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191903" y="8334637"/>
            <a:ext cx="301752" cy="301752"/>
          </a:xfrm>
          <a:prstGeom prst="ellipse">
            <a:avLst/>
          </a:prstGeom>
          <a:solidFill>
            <a:srgbClr val="D3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8709659"/>
            <a:ext cx="576072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D3B7A5"/>
                </a:solidFill>
                <a:latin typeface="TT Commons Pro"/>
              </a:rPr>
              <a:t>value leaving the 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29000"/>
            <a:ext cx="8503920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Someone buys from across the country what a neighbor already has.</a:t>
            </a:r>
          </a:p>
          <a:p>
            <a:pPr algn="l">
              <a:lnSpc>
                <a:spcPct val="150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A business struggles to find customers while nearby residents</a:t>
            </a:r>
          </a:p>
          <a:p>
            <a:pPr algn="l">
              <a:lnSpc>
                <a:spcPct val="150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search elsewhere for exactly what it offers.</a:t>
            </a:r>
          </a:p>
          <a:p>
            <a:pPr algn="l">
              <a:lnSpc>
                <a:spcPct val="150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Organizations duplicate work because they cannot see one another.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658600" y="4937760"/>
            <a:ext cx="5829300" cy="342900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0" y="5280660"/>
            <a:ext cx="52120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9FE8DC"/>
                </a:solidFill>
                <a:latin typeface="TT Commons Pro"/>
              </a:rPr>
              <a:t>RIVR BRINGS PLACE 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0" y="5897879"/>
            <a:ext cx="50749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Not as a wall around a community.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As context.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0" y="7063740"/>
            <a:ext cx="507492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spc="20">
                <a:solidFill>
                  <a:srgbClr val="F2ECDD"/>
                </a:solidFill>
                <a:latin typeface="Alike Italics"/>
              </a:rPr>
              <a:t>Local when possible.</a:t>
            </a:r>
          </a:p>
          <a:p>
            <a:pPr algn="l">
              <a:lnSpc>
                <a:spcPct val="145000"/>
              </a:lnSpc>
            </a:pPr>
            <a:r>
              <a:rPr sz="1950" spc="20">
                <a:solidFill>
                  <a:srgbClr val="F2ECDD"/>
                </a:solidFill>
                <a:latin typeface="Alike Italics"/>
              </a:rPr>
              <a:t>Wider network when needed.</a:t>
            </a:r>
          </a:p>
        </p:txBody>
      </p:sp>
      <p:pic>
        <p:nvPicPr>
          <p:cNvPr id="24" name="Picture 23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p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THE POSSIBILITY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14221063" cy="945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133" spc="-69">
                <a:solidFill>
                  <a:srgbClr val="F4EAD8"/>
                </a:solidFill>
                <a:latin typeface="TT Commons Pro Bold"/>
              </a:rPr>
              <a:t>What happens when a community can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35218" y="1645919"/>
            <a:ext cx="3396615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5">
                <a:solidFill>
                  <a:srgbClr val="EBCF9E"/>
                </a:solidFill>
                <a:latin typeface="Ibarra Real Nova Italics"/>
              </a:rPr>
              <a:t>see itself?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566160"/>
            <a:ext cx="15773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AFC4C2"/>
                </a:solidFill>
                <a:latin typeface="TT Commons Pro"/>
              </a:rPr>
              <a:t>TODAY — LATENT, UNCONNECTED</a:t>
            </a:r>
          </a:p>
        </p:txBody>
      </p:sp>
      <p:sp>
        <p:nvSpPr>
          <p:cNvPr id="7" name="Oval 6"/>
          <p:cNvSpPr/>
          <p:nvPr/>
        </p:nvSpPr>
        <p:spPr>
          <a:xfrm>
            <a:off x="1961388" y="4567428"/>
            <a:ext cx="466344" cy="466344"/>
          </a:xfrm>
          <a:prstGeom prst="ellipse">
            <a:avLst/>
          </a:prstGeom>
          <a:solidFill>
            <a:srgbClr val="084B4D"/>
          </a:solidFill>
          <a:ln w="889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44468" y="4087368"/>
            <a:ext cx="466344" cy="466344"/>
          </a:xfrm>
          <a:prstGeom prst="ellipse">
            <a:avLst/>
          </a:prstGeom>
          <a:solidFill>
            <a:srgbClr val="084B4D"/>
          </a:solidFill>
          <a:ln w="889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4708" y="4841748"/>
            <a:ext cx="466344" cy="466344"/>
          </a:xfrm>
          <a:prstGeom prst="ellipse">
            <a:avLst/>
          </a:prstGeom>
          <a:solidFill>
            <a:srgbClr val="084B4D"/>
          </a:solidFill>
          <a:ln w="889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47188" y="5939028"/>
            <a:ext cx="466344" cy="466344"/>
          </a:xfrm>
          <a:prstGeom prst="ellipse">
            <a:avLst/>
          </a:prstGeom>
          <a:solidFill>
            <a:srgbClr val="084B4D"/>
          </a:solidFill>
          <a:ln w="889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4588" y="6487668"/>
            <a:ext cx="466344" cy="466344"/>
          </a:xfrm>
          <a:prstGeom prst="ellipse">
            <a:avLst/>
          </a:prstGeom>
          <a:solidFill>
            <a:srgbClr val="084B4D"/>
          </a:solidFill>
          <a:ln w="889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4828" y="5664708"/>
            <a:ext cx="466344" cy="466344"/>
          </a:xfrm>
          <a:prstGeom prst="ellipse">
            <a:avLst/>
          </a:prstGeom>
          <a:solidFill>
            <a:srgbClr val="084B4D"/>
          </a:solidFill>
          <a:ln w="889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87068" y="7036308"/>
            <a:ext cx="466344" cy="466344"/>
          </a:xfrm>
          <a:prstGeom prst="ellipse">
            <a:avLst/>
          </a:prstGeom>
          <a:solidFill>
            <a:srgbClr val="084B4D"/>
          </a:solidFill>
          <a:ln w="889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76188" y="7310628"/>
            <a:ext cx="466344" cy="466344"/>
          </a:xfrm>
          <a:prstGeom prst="ellipse">
            <a:avLst/>
          </a:prstGeom>
          <a:solidFill>
            <a:srgbClr val="084B4D"/>
          </a:solidFill>
          <a:ln w="8890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435340" y="5692140"/>
            <a:ext cx="1165860" cy="301752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9" y="3566160"/>
            <a:ext cx="15773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9FE8DC"/>
                </a:solidFill>
                <a:latin typeface="TT Commons Pro"/>
              </a:rPr>
              <a:t>WITH RIVR — VISIBLE, COORDINATED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716000" y="4347972"/>
            <a:ext cx="1406308" cy="582511"/>
          </a:xfrm>
          <a:prstGeom prst="line">
            <a:avLst/>
          </a:prstGeom>
          <a:ln w="9525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122308" y="4930483"/>
            <a:ext cx="582511" cy="1406309"/>
          </a:xfrm>
          <a:prstGeom prst="line">
            <a:avLst/>
          </a:prstGeom>
          <a:ln w="9525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5122308" y="6336792"/>
            <a:ext cx="582511" cy="1406308"/>
          </a:xfrm>
          <a:prstGeom prst="line">
            <a:avLst/>
          </a:prstGeom>
          <a:ln w="9525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3716000" y="7743100"/>
            <a:ext cx="1406308" cy="582512"/>
          </a:xfrm>
          <a:prstGeom prst="line">
            <a:avLst/>
          </a:prstGeom>
          <a:ln w="9525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2309691" y="7743100"/>
            <a:ext cx="1406309" cy="582512"/>
          </a:xfrm>
          <a:prstGeom prst="line">
            <a:avLst/>
          </a:prstGeom>
          <a:ln w="9525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1727180" y="6336792"/>
            <a:ext cx="582511" cy="1406308"/>
          </a:xfrm>
          <a:prstGeom prst="line">
            <a:avLst/>
          </a:prstGeom>
          <a:ln w="9525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727180" y="4930483"/>
            <a:ext cx="582511" cy="1406309"/>
          </a:xfrm>
          <a:prstGeom prst="line">
            <a:avLst/>
          </a:prstGeom>
          <a:ln w="9525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309691" y="4347972"/>
            <a:ext cx="1406309" cy="582511"/>
          </a:xfrm>
          <a:prstGeom prst="line">
            <a:avLst/>
          </a:prstGeom>
          <a:ln w="9525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3482828" y="4114800"/>
            <a:ext cx="466344" cy="466344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889136" y="4697311"/>
            <a:ext cx="466344" cy="466344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471647" y="6103620"/>
            <a:ext cx="466344" cy="466344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889136" y="7509928"/>
            <a:ext cx="466344" cy="466344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482828" y="8092440"/>
            <a:ext cx="466344" cy="466344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076519" y="7509928"/>
            <a:ext cx="466344" cy="466344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494008" y="6103620"/>
            <a:ext cx="466344" cy="466344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2076519" y="4697311"/>
            <a:ext cx="466344" cy="466344"/>
          </a:xfrm>
          <a:prstGeom prst="ellipse">
            <a:avLst/>
          </a:prstGeom>
          <a:solidFill>
            <a:srgbClr val="0D3E40"/>
          </a:solidFill>
          <a:ln w="1397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884682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250" spc="20">
                <a:solidFill>
                  <a:srgbClr val="9FE8DC"/>
                </a:solidFill>
                <a:latin typeface="Alike Italics"/>
              </a:rPr>
              <a:t>The resources don't always need to be created — sometimes they simply need to be connected.</a:t>
            </a:r>
          </a:p>
        </p:txBody>
      </p:sp>
      <p:pic>
        <p:nvPicPr>
          <p:cNvPr id="34" name="Picture 33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13228796" cy="945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133" spc="-69">
                <a:solidFill>
                  <a:srgbClr val="F4EAD8"/>
                </a:solidFill>
                <a:latin typeface="TT Commons Pro Bold"/>
              </a:rPr>
              <a:t>Rivr makes the resources of a place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1405" y="1645919"/>
            <a:ext cx="5533786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5">
                <a:solidFill>
                  <a:srgbClr val="EBCF9E"/>
                </a:solidFill>
                <a:latin typeface="Ibarra Real Nova Italics"/>
              </a:rPr>
              <a:t>visible to itself.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429000"/>
            <a:ext cx="15773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180">
                <a:solidFill>
                  <a:srgbClr val="9FE8DC"/>
                </a:solidFill>
                <a:latin typeface="TT Commons Pro"/>
              </a:rPr>
              <a:t>A PLACE-BASED SOCIAL AND ECONOMIC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40462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" y="4485132"/>
            <a:ext cx="493776" cy="493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88819" y="4512564"/>
            <a:ext cx="3977639" cy="480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find what's nearby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19" y="40462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v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852" y="4485132"/>
            <a:ext cx="493776" cy="4937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12379" y="4512564"/>
            <a:ext cx="3977639" cy="480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discover + create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80" y="40462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ff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0411" y="4485132"/>
            <a:ext cx="493776" cy="4937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235939" y="4512564"/>
            <a:ext cx="3977639" cy="480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offer + 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566470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292" y="6103620"/>
            <a:ext cx="493776" cy="4937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988819" y="6131052"/>
            <a:ext cx="3977639" cy="480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find work · hire well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19" y="566470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ro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6852" y="6103620"/>
            <a:ext cx="493776" cy="4937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12379" y="6131052"/>
            <a:ext cx="3977639" cy="480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create groups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70080" y="566470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rojec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0411" y="6103620"/>
            <a:ext cx="493776" cy="4937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235939" y="6131052"/>
            <a:ext cx="3977639" cy="480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build projects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" y="7283196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tas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3292" y="7722108"/>
            <a:ext cx="493776" cy="4937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988819" y="7749540"/>
            <a:ext cx="3977639" cy="480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create roles + tasks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19" y="7283196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mone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6852" y="7722108"/>
            <a:ext cx="493776" cy="4937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12379" y="7749540"/>
            <a:ext cx="3977639" cy="480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exchange value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070080" y="7283196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oor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40411" y="7722108"/>
            <a:ext cx="493776" cy="4937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235939" y="7749540"/>
            <a:ext cx="3977639" cy="480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coordinate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9052559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50">
                <a:solidFill>
                  <a:srgbClr val="F2ECDD"/>
                </a:solidFill>
                <a:latin typeface="TT Commons Pro"/>
              </a:rPr>
              <a:t>Less searching through disconnected platforms. </a:t>
            </a:r>
            <a:r>
              <a:rPr sz="1950">
                <a:solidFill>
                  <a:srgbClr val="9FE8DC"/>
                </a:solidFill>
                <a:latin typeface="TT Commons Pro Bold"/>
              </a:rPr>
              <a:t>More actually doing things together.</a:t>
            </a:r>
          </a:p>
        </p:txBody>
      </p:sp>
      <p:pic>
        <p:nvPicPr>
          <p:cNvPr id="35" name="Picture 34" descr="rivr-symbol-ligh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FAMILIAR ON THE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10393521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6">
                <a:solidFill>
                  <a:srgbClr val="F4EAD8"/>
                </a:solidFill>
                <a:latin typeface="TT Commons Pro Bold"/>
              </a:rPr>
              <a:t>The social network is the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73185" y="1645919"/>
            <a:ext cx="7480458" cy="1140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195" spc="-75">
                <a:solidFill>
                  <a:srgbClr val="99E6D9"/>
                </a:solidFill>
                <a:latin typeface="Ibarra Real Nova Italics"/>
              </a:rPr>
              <a:t>familiar doorway.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497579"/>
            <a:ext cx="15773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180">
                <a:solidFill>
                  <a:srgbClr val="9FE8DC"/>
                </a:solidFill>
                <a:latin typeface="TT Commons Pro"/>
              </a:rPr>
              <a:t>WHAT YOU SEE — FAMILIAR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4046220"/>
            <a:ext cx="2578608" cy="685800"/>
          </a:xfrm>
          <a:prstGeom prst="roundRect">
            <a:avLst>
              <a:gd name="adj" fmla="val 20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4238244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F4EAD8"/>
                </a:solidFill>
                <a:latin typeface="TT Commons Pro"/>
              </a:rPr>
              <a:t>profiles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7308" y="4046220"/>
            <a:ext cx="2578608" cy="685800"/>
          </a:xfrm>
          <a:prstGeom prst="roundRect">
            <a:avLst>
              <a:gd name="adj" fmla="val 20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7308" y="4238244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F4EAD8"/>
                </a:solidFill>
                <a:latin typeface="TT Commons Pro"/>
              </a:rPr>
              <a:t>posts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1655" y="4046220"/>
            <a:ext cx="2578608" cy="685800"/>
          </a:xfrm>
          <a:prstGeom prst="roundRect">
            <a:avLst>
              <a:gd name="adj" fmla="val 20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5" y="4238244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F4EAD8"/>
                </a:solidFill>
                <a:latin typeface="TT Commons Pro"/>
              </a:rPr>
              <a:t>feeds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6004" y="4046220"/>
            <a:ext cx="2578608" cy="685800"/>
          </a:xfrm>
          <a:prstGeom prst="roundRect">
            <a:avLst>
              <a:gd name="adj" fmla="val 20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6004" y="4238244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F4EAD8"/>
                </a:solidFill>
                <a:latin typeface="TT Commons Pro"/>
              </a:rPr>
              <a:t>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960351" y="4046220"/>
            <a:ext cx="2578608" cy="685800"/>
          </a:xfrm>
          <a:prstGeom prst="roundRect">
            <a:avLst>
              <a:gd name="adj" fmla="val 20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60351" y="4238244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F4EAD8"/>
                </a:solidFill>
                <a:latin typeface="TT Commons Pro"/>
              </a:rPr>
              <a:t>groups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744699" y="4046220"/>
            <a:ext cx="2578608" cy="685800"/>
          </a:xfrm>
          <a:prstGeom prst="roundRect">
            <a:avLst>
              <a:gd name="adj" fmla="val 20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744699" y="4238244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F4EAD8"/>
                </a:solidFill>
                <a:latin typeface="TT Commons Pro"/>
              </a:rPr>
              <a:t>messages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" y="4951476"/>
            <a:ext cx="2578608" cy="685800"/>
          </a:xfrm>
          <a:prstGeom prst="roundRect">
            <a:avLst>
              <a:gd name="adj" fmla="val 20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143500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F4EAD8"/>
                </a:solidFill>
                <a:latin typeface="TT Commons Pro"/>
              </a:rPr>
              <a:t>offers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7308" y="4951476"/>
            <a:ext cx="2578608" cy="685800"/>
          </a:xfrm>
          <a:prstGeom prst="roundRect">
            <a:avLst>
              <a:gd name="adj" fmla="val 20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7308" y="5143500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F4EAD8"/>
                </a:solidFill>
                <a:latin typeface="TT Commons Pro"/>
              </a:rPr>
              <a:t>businesses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91655" y="4951476"/>
            <a:ext cx="2578608" cy="685800"/>
          </a:xfrm>
          <a:prstGeom prst="roundRect">
            <a:avLst>
              <a:gd name="adj" fmla="val 20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5" y="5143500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F4EAD8"/>
                </a:solidFill>
                <a:latin typeface="TT Commons Pro"/>
              </a:rPr>
              <a:t>products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76004" y="4951476"/>
            <a:ext cx="2578608" cy="685800"/>
          </a:xfrm>
          <a:prstGeom prst="roundRect">
            <a:avLst>
              <a:gd name="adj" fmla="val 20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6004" y="5143500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F4EAD8"/>
                </a:solidFill>
                <a:latin typeface="TT Commons Pro"/>
              </a:rPr>
              <a:t>services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960351" y="4951476"/>
            <a:ext cx="2578608" cy="685800"/>
          </a:xfrm>
          <a:prstGeom prst="roundRect">
            <a:avLst>
              <a:gd name="adj" fmla="val 20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960351" y="5143500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F4EAD8"/>
                </a:solidFill>
                <a:latin typeface="TT Commons Pro"/>
              </a:rPr>
              <a:t>jobs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744699" y="4951476"/>
            <a:ext cx="2578608" cy="685800"/>
          </a:xfrm>
          <a:prstGeom prst="roundRect">
            <a:avLst>
              <a:gd name="adj" fmla="val 20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744699" y="5143500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F4EAD8"/>
                </a:solidFill>
                <a:latin typeface="TT Commons Pro"/>
              </a:rPr>
              <a:t>local discovery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915400" y="6103620"/>
            <a:ext cx="411479" cy="576072"/>
          </a:xfrm>
          <a:prstGeom prst="down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6926579"/>
            <a:ext cx="15773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180">
                <a:solidFill>
                  <a:srgbClr val="EBCF9E"/>
                </a:solidFill>
                <a:latin typeface="TT Commons Pro"/>
              </a:rPr>
              <a:t>WHAT IT RUNS ON — COORDINATION INFRASTRUCTURE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59" y="7475220"/>
            <a:ext cx="16664940" cy="11658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20955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7708392"/>
            <a:ext cx="159105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agreements · roles · tasks · scheduling · shared records · treasury · governance · payments · attestation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898398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Rivr should still feel alive and social. </a:t>
            </a:r>
            <a:r>
              <a:rPr sz="2025" spc="20">
                <a:solidFill>
                  <a:srgbClr val="EBCF9E"/>
                </a:solidFill>
                <a:latin typeface="Alike Italics"/>
              </a:rPr>
              <a:t>Economic relationships often begin as human relationships.</a:t>
            </a:r>
          </a:p>
        </p:txBody>
      </p:sp>
      <p:pic>
        <p:nvPicPr>
          <p:cNvPr id="36" name="Picture 35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PRODUCTS IN LIFE · NETWORK IS A VERB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7418228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6">
                <a:solidFill>
                  <a:srgbClr val="F4EAD8"/>
                </a:solidFill>
                <a:latin typeface="TT Commons Pro Bold"/>
              </a:rPr>
              <a:t>Every feature has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2951" y="1645919"/>
            <a:ext cx="5962411" cy="1140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195" spc="-75">
                <a:solidFill>
                  <a:srgbClr val="99E6D9"/>
                </a:solidFill>
                <a:latin typeface="Ibarra Real Nova Italics"/>
              </a:rPr>
              <a:t>two directions.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5980" y="3593592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9FE8DC"/>
                </a:solidFill>
                <a:latin typeface="TT Commons Pro"/>
              </a:rPr>
              <a:t>RECEIVE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15700" y="3593592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EBCF9E"/>
                </a:solidFill>
                <a:latin typeface="TT Commons Pro"/>
              </a:rPr>
              <a:t>GIVE</a:t>
            </a:r>
          </a:p>
        </p:txBody>
      </p:sp>
      <p:pic>
        <p:nvPicPr>
          <p:cNvPr id="8" name="Picture 7" descr="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210812"/>
            <a:ext cx="356616" cy="3566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88819" y="4183379"/>
            <a:ext cx="589787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FIND A GIG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5340" y="4183379"/>
            <a:ext cx="13716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F0CC8B"/>
                </a:solidFill>
                <a:latin typeface="TT Commons Pro"/>
              </a:rPr>
              <a:t>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1259" y="4183379"/>
            <a:ext cx="71323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OFFER PAID WORK</a:t>
            </a:r>
          </a:p>
        </p:txBody>
      </p:sp>
      <p:pic>
        <p:nvPicPr>
          <p:cNvPr id="12" name="Picture 11" descr="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4896612"/>
            <a:ext cx="356616" cy="3566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88819" y="4869179"/>
            <a:ext cx="589787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JOIN A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5340" y="4869179"/>
            <a:ext cx="13716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F0CC8B"/>
                </a:solidFill>
                <a:latin typeface="TT Commons Pro"/>
              </a:rPr>
              <a:t>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1259" y="4869179"/>
            <a:ext cx="71323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RUN AN ORGANIZATION</a:t>
            </a:r>
          </a:p>
        </p:txBody>
      </p:sp>
      <p:pic>
        <p:nvPicPr>
          <p:cNvPr id="16" name="Picture 15" descr="ev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5582412"/>
            <a:ext cx="356616" cy="3566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88819" y="5554979"/>
            <a:ext cx="589787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FIND AN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5340" y="5554979"/>
            <a:ext cx="13716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F0CC8B"/>
                </a:solidFill>
                <a:latin typeface="TT Commons Pro"/>
              </a:rPr>
              <a:t>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1259" y="5554979"/>
            <a:ext cx="71323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HOST A GATHERING</a:t>
            </a:r>
          </a:p>
        </p:txBody>
      </p:sp>
      <p:pic>
        <p:nvPicPr>
          <p:cNvPr id="20" name="Picture 19" descr="c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" y="6268212"/>
            <a:ext cx="356616" cy="3566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88819" y="6240779"/>
            <a:ext cx="589787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ASK FOR HELP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340" y="6240779"/>
            <a:ext cx="13716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F0CC8B"/>
                </a:solidFill>
                <a:latin typeface="TT Commons Pro"/>
              </a:rPr>
              <a:t>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1259" y="6240779"/>
            <a:ext cx="71323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GIFT A SKILL</a:t>
            </a:r>
          </a:p>
        </p:txBody>
      </p:sp>
      <p:pic>
        <p:nvPicPr>
          <p:cNvPr id="24" name="Picture 23" descr="too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12" y="6954012"/>
            <a:ext cx="356616" cy="3566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988819" y="6926579"/>
            <a:ext cx="589787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BORROW A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5340" y="6926579"/>
            <a:ext cx="13716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F0CC8B"/>
                </a:solidFill>
                <a:latin typeface="TT Commons Pro"/>
              </a:rPr>
              <a:t>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1259" y="6926579"/>
            <a:ext cx="71323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SHARE A RESOURCE</a:t>
            </a:r>
          </a:p>
        </p:txBody>
      </p:sp>
      <p:pic>
        <p:nvPicPr>
          <p:cNvPr id="28" name="Picture 27" descr="list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4712" y="7639812"/>
            <a:ext cx="356616" cy="35661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988819" y="7612379"/>
            <a:ext cx="589787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BUY LOCAL ITEMS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5340" y="7612379"/>
            <a:ext cx="13716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F0CC8B"/>
                </a:solidFill>
                <a:latin typeface="TT Commons Pro"/>
              </a:rPr>
              <a:t>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81259" y="7612379"/>
            <a:ext cx="71323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SELL PRODUCTS</a:t>
            </a:r>
          </a:p>
        </p:txBody>
      </p:sp>
      <p:pic>
        <p:nvPicPr>
          <p:cNvPr id="32" name="Picture 31" descr="servi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4712" y="8325612"/>
            <a:ext cx="356616" cy="35661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88819" y="8298179"/>
            <a:ext cx="589787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FIND A PROFESSIONAL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5340" y="8298179"/>
            <a:ext cx="13716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F0CC8B"/>
                </a:solidFill>
                <a:latin typeface="TT Commons Pro"/>
              </a:rPr>
              <a:t>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1259" y="8298179"/>
            <a:ext cx="71323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GET PAID FOR A SERVICE</a:t>
            </a:r>
          </a:p>
        </p:txBody>
      </p:sp>
      <p:pic>
        <p:nvPicPr>
          <p:cNvPr id="36" name="Picture 35" descr="mess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4712" y="9011412"/>
            <a:ext cx="356616" cy="35661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988819" y="8983980"/>
            <a:ext cx="589787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ASK FOR FEEDBACK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5340" y="8983980"/>
            <a:ext cx="13716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F0CC8B"/>
                </a:solidFill>
                <a:latin typeface="TT Commons Pro"/>
              </a:rPr>
              <a:t>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1259" y="8983980"/>
            <a:ext cx="71323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SHARE YOUR VOICE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966978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025">
                <a:solidFill>
                  <a:srgbClr val="F4EAD8"/>
                </a:solidFill>
                <a:latin typeface="TT Commons Pro Bold"/>
              </a:rPr>
              <a:t>A network is something we </a:t>
            </a:r>
            <a:r>
              <a:rPr sz="2175" spc="20">
                <a:solidFill>
                  <a:srgbClr val="EBCF9E"/>
                </a:solidFill>
                <a:latin typeface="Alike Italics"/>
              </a:rPr>
              <a:t>do together</a:t>
            </a:r>
            <a:r>
              <a:rPr sz="2025">
                <a:solidFill>
                  <a:srgbClr val="F4EAD8"/>
                </a:solidFill>
                <a:latin typeface="TT Commons Pro Bold"/>
              </a:rPr>
              <a:t> — not a place we get shown things.</a:t>
            </a:r>
          </a:p>
        </p:txBody>
      </p:sp>
      <p:pic>
        <p:nvPicPr>
          <p:cNvPr id="41" name="Picture 40" descr="rivr-symbol-ligh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USER FLOWS · A TOOL OF INFINITE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7156132" cy="9778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309" spc="-72">
                <a:solidFill>
                  <a:srgbClr val="F4EAD8"/>
                </a:solidFill>
                <a:latin typeface="TT Commons Pro Bold"/>
              </a:rPr>
              <a:t>Rivr is the missing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3273" y="1645919"/>
            <a:ext cx="10349865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5">
                <a:solidFill>
                  <a:srgbClr val="EBCF9E"/>
                </a:solidFill>
                <a:latin typeface="Ibarra Real Nova Italics"/>
              </a:rPr>
              <a:t>local coordination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34975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3675887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MAYA NAMES A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4101083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neighborhood tool library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28032" y="3950208"/>
            <a:ext cx="246888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57216" y="34975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62A2C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3675887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AN OFFER ARRIVES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101083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venue + facilitation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62288" y="3950208"/>
            <a:ext cx="246888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91472" y="34975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3675887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A PROJECT 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3496" y="4101083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funding + four paid gigs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3496544" y="3950208"/>
            <a:ext cx="246888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825728" y="34975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62A2C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17752" y="3675887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RESOURCES CIRCULATE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17752" y="4101083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tools stay local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" y="48691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62A2C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3" y="50474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JOHN HOSTS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" y="5472683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community bike repair night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28032" y="5321808"/>
            <a:ext cx="246888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57216" y="48691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50474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PEOPLE FIND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5472683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fixers + tools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62288" y="5321808"/>
            <a:ext cx="246888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91472" y="48691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62A2C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83496" y="50474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CREW KEEPS MEETING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3496" y="5472683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monthly exchange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3496544" y="5321808"/>
            <a:ext cx="246888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25728" y="48691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017752" y="50474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CAPACITY BUILDS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17752" y="5472683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people + skills + trust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59" y="62407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3" y="64190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EMILY STARTS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3" y="6844284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creek cleanup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828032" y="6693408"/>
            <a:ext cx="246888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157216" y="62407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62A2C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9240" y="64190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OFFERS GATHER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6844284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plants + labor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162288" y="6693408"/>
            <a:ext cx="246888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91472" y="62407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83496" y="64190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MOMENTUM GROWS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83496" y="6844284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funding + roles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3496544" y="6693408"/>
            <a:ext cx="246888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825728" y="62407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62A2C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017752" y="64190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WATERSHED HEALS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017752" y="6844284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clean water + care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59" y="76123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62A2C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3" y="77906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DAVID OFFERS A SKILL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3" y="8215883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pottery + lessons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4828032" y="8065008"/>
            <a:ext cx="246888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157216" y="76123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49240" y="77906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REBECCA HIRES HIM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49240" y="8215883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a class for her crew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9162288" y="8065008"/>
            <a:ext cx="246888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491472" y="76123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62A2C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83496" y="77906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THE CREW KEEPS MEETING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83496" y="8215883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monthly exchange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13496544" y="8065008"/>
            <a:ext cx="246888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3825728" y="7612379"/>
            <a:ext cx="3922776" cy="1124712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017752" y="77906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VALUE CIRCULATES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017752" y="8215883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earnings stay local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59" y="9217152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People, groups, places, and work share context without collapsing into one feed —</a:t>
            </a:r>
          </a:p>
          <a:p>
            <a:pPr algn="ctr">
              <a:lnSpc>
                <a:spcPct val="140000"/>
              </a:lnSpc>
            </a:pPr>
            <a:r>
              <a:rPr sz="2100" spc="20">
                <a:solidFill>
                  <a:srgbClr val="9FE8DC"/>
                </a:solidFill>
                <a:latin typeface="Alike Italics"/>
              </a:rPr>
              <a:t>value circulates instead of leaking out.</a:t>
            </a:r>
          </a:p>
        </p:txBody>
      </p:sp>
      <p:pic>
        <p:nvPicPr>
          <p:cNvPr id="67" name="Picture 66" descr="rivr-symbol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PRODUCTS IN HAND ·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7144385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6">
                <a:solidFill>
                  <a:srgbClr val="F4EAD8"/>
                </a:solidFill>
                <a:latin typeface="TT Commons Pro Bold"/>
              </a:rPr>
              <a:t>Find your way in.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3875" y="1645919"/>
            <a:ext cx="10861833" cy="1140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195" spc="-75">
                <a:solidFill>
                  <a:srgbClr val="99E6D9"/>
                </a:solidFill>
                <a:latin typeface="Ibarra Real Nova Italics"/>
              </a:rPr>
              <a:t>Engage with what matters.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3566160"/>
            <a:ext cx="4114800" cy="1577339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" y="3936491"/>
            <a:ext cx="411479" cy="4114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20239" y="3950208"/>
            <a:ext cx="28803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9FE8DC"/>
                </a:solidFill>
                <a:latin typeface="TT Commons Pro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449884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F2ECDD"/>
                </a:solidFill>
                <a:latin typeface="TT Commons Pro"/>
              </a:rPr>
              <a:t>See the living parts of a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3566160"/>
            <a:ext cx="4114800" cy="1577339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o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412" y="3936491"/>
            <a:ext cx="411479" cy="4114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3950208"/>
            <a:ext cx="28803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9FE8DC"/>
                </a:solidFill>
                <a:latin typeface="TT Commons Pro"/>
              </a:rPr>
              <a:t>COORDINATE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3832" y="449884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F2ECDD"/>
                </a:solidFill>
                <a:latin typeface="TT Commons Pro"/>
              </a:rPr>
              <a:t>Join a group. Claim a gig. Move the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5417820"/>
            <a:ext cx="4114800" cy="1577339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v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292" y="5788152"/>
            <a:ext cx="411479" cy="4114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920239" y="5801868"/>
            <a:ext cx="28803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9FE8DC"/>
                </a:solidFill>
                <a:latin typeface="TT Commons Pro"/>
              </a:rPr>
              <a:t>GATHER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635050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F2ECDD"/>
                </a:solidFill>
                <a:latin typeface="TT Commons Pro"/>
              </a:rPr>
              <a:t>Events that lead somewhere.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5417820"/>
            <a:ext cx="4114800" cy="1577339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on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2412" y="5788152"/>
            <a:ext cx="411479" cy="4114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09360" y="5801868"/>
            <a:ext cx="28803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9FE8DC"/>
                </a:solidFill>
                <a:latin typeface="TT Commons Pro"/>
              </a:rPr>
              <a:t>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2" y="635050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F2ECDD"/>
                </a:solidFill>
                <a:latin typeface="TT Commons Pro"/>
              </a:rPr>
              <a:t>Value that can circulate nearby.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6940" y="3593592"/>
            <a:ext cx="79552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EBCF9E"/>
                </a:solidFill>
                <a:latin typeface="TT Commons Pro"/>
              </a:rPr>
              <a:t>FUNDAMENTAL IN-APP FEATURES — FREE FOR EVERY MEMBER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06940" y="4183379"/>
            <a:ext cx="2400300" cy="1069848"/>
          </a:xfrm>
          <a:prstGeom prst="roundRect">
            <a:avLst>
              <a:gd name="adj" fmla="val 14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ers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5640" y="4375403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06940" y="4841748"/>
            <a:ext cx="24003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detailed profile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412980" y="4183379"/>
            <a:ext cx="2400300" cy="1069848"/>
          </a:xfrm>
          <a:prstGeom prst="roundRect">
            <a:avLst>
              <a:gd name="adj" fmla="val 14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ess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41680" y="4375403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412980" y="4841748"/>
            <a:ext cx="24003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social feed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019019" y="4183379"/>
            <a:ext cx="2400300" cy="1069848"/>
          </a:xfrm>
          <a:prstGeom prst="roundRect">
            <a:avLst>
              <a:gd name="adj" fmla="val 14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v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47719" y="4375403"/>
            <a:ext cx="329184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019019" y="4841748"/>
            <a:ext cx="24003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events calendar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06940" y="5445252"/>
            <a:ext cx="2400300" cy="1069848"/>
          </a:xfrm>
          <a:prstGeom prst="roundRect">
            <a:avLst>
              <a:gd name="adj" fmla="val 14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gro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5640" y="5637275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06940" y="6103619"/>
            <a:ext cx="24003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community directory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412980" y="5445252"/>
            <a:ext cx="2400300" cy="1069848"/>
          </a:xfrm>
          <a:prstGeom prst="roundRect">
            <a:avLst>
              <a:gd name="adj" fmla="val 14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ma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41680" y="5637275"/>
            <a:ext cx="329184" cy="3291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412980" y="6103619"/>
            <a:ext cx="24003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interactive map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019019" y="5445252"/>
            <a:ext cx="2400300" cy="1069848"/>
          </a:xfrm>
          <a:prstGeom prst="roundRect">
            <a:avLst>
              <a:gd name="adj" fmla="val 14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mess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47719" y="5637275"/>
            <a:ext cx="329184" cy="32918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5019019" y="6103619"/>
            <a:ext cx="24003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in-app messaging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06940" y="6707123"/>
            <a:ext cx="2400300" cy="1069848"/>
          </a:xfrm>
          <a:prstGeom prst="roundRect">
            <a:avLst>
              <a:gd name="adj" fmla="val 14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do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35640" y="6899147"/>
            <a:ext cx="329184" cy="32918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806940" y="7365492"/>
            <a:ext cx="24003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bulletin board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412980" y="6707123"/>
            <a:ext cx="2400300" cy="1069848"/>
          </a:xfrm>
          <a:prstGeom prst="roundRect">
            <a:avLst>
              <a:gd name="adj" fmla="val 14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listin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41680" y="6899147"/>
            <a:ext cx="329184" cy="32918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412980" y="7365492"/>
            <a:ext cx="24003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local marketplace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019019" y="6707123"/>
            <a:ext cx="2400300" cy="1069848"/>
          </a:xfrm>
          <a:prstGeom prst="roundRect">
            <a:avLst>
              <a:gd name="adj" fmla="val 14000"/>
            </a:avLst>
          </a:prstGeom>
          <a:solidFill>
            <a:srgbClr val="084B4D"/>
          </a:solidFill>
          <a:ln w="13334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or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47719" y="6899147"/>
            <a:ext cx="329184" cy="32918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5019019" y="7365492"/>
            <a:ext cx="24003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F2ECDD"/>
                </a:solidFill>
                <a:latin typeface="TT Commons Pro"/>
              </a:rPr>
              <a:t>groups + orgs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59" y="7434071"/>
            <a:ext cx="15773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HOW IT WORKS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59" y="7955279"/>
            <a:ext cx="2828239" cy="685800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8078723"/>
            <a:ext cx="3157423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JOIN A LOCALE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3788359" y="8195309"/>
            <a:ext cx="356616" cy="205739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282135" y="7955279"/>
            <a:ext cx="2828239" cy="685800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7543" y="8078723"/>
            <a:ext cx="3157423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DISCOVER NEARBY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7247534" y="8195309"/>
            <a:ext cx="356616" cy="205739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741310" y="7955279"/>
            <a:ext cx="2828239" cy="685800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76718" y="8078723"/>
            <a:ext cx="3157423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CREATE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10706709" y="8195309"/>
            <a:ext cx="356616" cy="205739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1200485" y="7955279"/>
            <a:ext cx="2828239" cy="685800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035893" y="8078723"/>
            <a:ext cx="3157423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MATCH SKILLS + NEEDS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14165884" y="8195309"/>
            <a:ext cx="356616" cy="205739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4659660" y="7955279"/>
            <a:ext cx="2828239" cy="685800"/>
          </a:xfrm>
          <a:prstGeom prst="roundRect">
            <a:avLst>
              <a:gd name="adj" fmla="val 14000"/>
            </a:avLst>
          </a:prstGeom>
          <a:solidFill>
            <a:srgbClr val="0D3E40"/>
          </a:solidFill>
          <a:ln w="1270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495068" y="8078723"/>
            <a:ext cx="3157423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COORDINATE</a:t>
            </a:r>
          </a:p>
        </p:txBody>
      </p:sp>
      <p:pic>
        <p:nvPicPr>
          <p:cNvPr id="65" name="Picture 64" descr="rivr-symbol-ligh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FIVE PRODUCTS · ONE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10631963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6">
                <a:solidFill>
                  <a:srgbClr val="F4EAD8"/>
                </a:solidFill>
                <a:latin typeface="TT Commons Pro Bold"/>
              </a:rPr>
              <a:t>Choose what you want 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63939" y="1645919"/>
            <a:ext cx="5670708" cy="1140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195" spc="-75">
                <a:solidFill>
                  <a:srgbClr val="EBCF9E"/>
                </a:solidFill>
                <a:latin typeface="Ibarra Real Nova Italics"/>
              </a:rPr>
              <a:t>make happen.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3634739"/>
            <a:ext cx="3091586" cy="480060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581" y="3950208"/>
            <a:ext cx="466344" cy="466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59" y="4690872"/>
            <a:ext cx="3091586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50">
                <a:solidFill>
                  <a:srgbClr val="F4EAD8"/>
                </a:solidFill>
                <a:latin typeface="TT Commons Pro Bold"/>
              </a:rPr>
              <a:t>Collaborator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5266944"/>
            <a:ext cx="3091586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900" spc="20">
                <a:solidFill>
                  <a:srgbClr val="9FE8DC"/>
                </a:solidFill>
                <a:latin typeface="TT Commons Pro Bold"/>
              </a:rPr>
              <a:t>$11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966459"/>
            <a:ext cx="309158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6473952"/>
            <a:ext cx="276240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spc="330">
                <a:solidFill>
                  <a:srgbClr val="9FE8DC"/>
                </a:solidFill>
                <a:latin typeface="TT Commons Pro"/>
              </a:rPr>
              <a:t>PARTICIPANTS + CONTRIBUTORS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7104888"/>
            <a:ext cx="265267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Get paid for jobs, gigs + spaces. Bank account + digital wallet.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6298" y="3634739"/>
            <a:ext cx="3091586" cy="480060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v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919" y="3950208"/>
            <a:ext cx="466344" cy="4663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16298" y="4690872"/>
            <a:ext cx="3091586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50">
                <a:solidFill>
                  <a:srgbClr val="F4EAD8"/>
                </a:solidFill>
                <a:latin typeface="TT Commons Pro Bold"/>
              </a:rPr>
              <a:t>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6298" y="5266944"/>
            <a:ext cx="3091586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900" spc="20">
                <a:solidFill>
                  <a:srgbClr val="9FE8DC"/>
                </a:solidFill>
                <a:latin typeface="TT Commons Pro Bold"/>
              </a:rPr>
              <a:t>$22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6298" y="5966459"/>
            <a:ext cx="309158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/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0890" y="6473952"/>
            <a:ext cx="276240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spc="330">
                <a:solidFill>
                  <a:srgbClr val="9FE8DC"/>
                </a:solidFill>
                <a:latin typeface="TT Commons Pro"/>
              </a:rPr>
              <a:t>CONVENERS + EVENT MAKERS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5754" y="7104888"/>
            <a:ext cx="265267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Easy event creation, sell tickets, live events on the local map.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09636" y="3634739"/>
            <a:ext cx="3091586" cy="480060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ist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2258" y="3950208"/>
            <a:ext cx="466344" cy="4663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09636" y="4690872"/>
            <a:ext cx="3091586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50">
                <a:solidFill>
                  <a:srgbClr val="F4EAD8"/>
                </a:solidFill>
                <a:latin typeface="TT Commons Pro Bold"/>
              </a:rPr>
              <a:t>Seller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9636" y="5266944"/>
            <a:ext cx="3091586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900" spc="20">
                <a:solidFill>
                  <a:srgbClr val="9FE8DC"/>
                </a:solidFill>
                <a:latin typeface="TT Commons Pro Bold"/>
              </a:rPr>
              <a:t>$22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9636" y="5966459"/>
            <a:ext cx="309158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4228" y="6473952"/>
            <a:ext cx="276240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spc="330">
                <a:solidFill>
                  <a:srgbClr val="9FE8DC"/>
                </a:solidFill>
                <a:latin typeface="TT Commons Pro"/>
              </a:rPr>
              <a:t>MAKERS + INDEPENDENT MARTS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9092" y="7104888"/>
            <a:ext cx="265267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Flexible marketplace, offerings + vouchers, local customers.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02975" y="3634739"/>
            <a:ext cx="3091586" cy="480060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erv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5596" y="3950208"/>
            <a:ext cx="466344" cy="4663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002975" y="4690872"/>
            <a:ext cx="3091586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50">
                <a:solidFill>
                  <a:srgbClr val="F4EAD8"/>
                </a:solidFill>
                <a:latin typeface="TT Commons Pro Bold"/>
              </a:rPr>
              <a:t>Provider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5266944"/>
            <a:ext cx="3091586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900" spc="20">
                <a:solidFill>
                  <a:srgbClr val="9FE8DC"/>
                </a:solidFill>
                <a:latin typeface="TT Commons Pro Bold"/>
              </a:rPr>
              <a:t>$33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5966459"/>
            <a:ext cx="309158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/ 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67567" y="6473952"/>
            <a:ext cx="276240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spc="330">
                <a:solidFill>
                  <a:srgbClr val="9FE8DC"/>
                </a:solidFill>
                <a:latin typeface="TT Commons Pro"/>
              </a:rPr>
              <a:t>OPERATORS WHO HOST + SELL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22431" y="7104888"/>
            <a:ext cx="265267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Run events, services, and sales from one trusted presence.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96313" y="3634739"/>
            <a:ext cx="3091586" cy="480060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21907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or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08934" y="3950208"/>
            <a:ext cx="466344" cy="4663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396313" y="4690872"/>
            <a:ext cx="3091586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50">
                <a:solidFill>
                  <a:srgbClr val="F4EAD8"/>
                </a:solidFill>
                <a:latin typeface="TT Commons Pro Bold"/>
              </a:rPr>
              <a:t>Organization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396313" y="5266944"/>
            <a:ext cx="3091586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900" spc="20">
                <a:solidFill>
                  <a:srgbClr val="EBCF9E"/>
                </a:solidFill>
                <a:latin typeface="TT Commons Pro Bold"/>
              </a:rPr>
              <a:t>$44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396313" y="5966459"/>
            <a:ext cx="309158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/ month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560905" y="6473952"/>
            <a:ext cx="276240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spc="330">
                <a:solidFill>
                  <a:srgbClr val="9FE8DC"/>
                </a:solidFill>
                <a:latin typeface="TT Commons Pro"/>
              </a:rPr>
              <a:t>TEAMS + CO-OPS + PROGRAMS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15769" y="7104888"/>
            <a:ext cx="265267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Projects, jobs + events, governance, shared economy tools, transparent financials.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59" y="8709659"/>
            <a:ext cx="16664940" cy="850392"/>
          </a:xfrm>
          <a:prstGeom prst="roundRect">
            <a:avLst>
              <a:gd name="adj" fmla="val 6000"/>
            </a:avLst>
          </a:prstGeom>
          <a:solidFill>
            <a:srgbClr val="084B4D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34440" y="8942832"/>
            <a:ext cx="1591055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Basic membership is free. </a:t>
            </a:r>
            <a:r>
              <a:rPr sz="1725">
                <a:solidFill>
                  <a:srgbClr val="EBCF9E"/>
                </a:solidFill>
                <a:latin typeface="TT Commons Pro Bold"/>
              </a:rPr>
              <a:t>Start with your outcome, go deeper when you're ready — one subscription, not a stack of them.</a:t>
            </a:r>
            <a:r>
              <a:rPr sz="1575">
                <a:solidFill>
                  <a:srgbClr val="AFC4C2"/>
                </a:solidFill>
                <a:latin typeface="TT Commons Pro"/>
              </a:rPr>
              <a:t>   +$2.22 / mo processing</a:t>
            </a:r>
          </a:p>
        </p:txBody>
      </p:sp>
      <p:pic>
        <p:nvPicPr>
          <p:cNvPr id="43" name="Picture 42" descr="rivr-symbol-l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717852"/>
            <a:ext cx="6560343" cy="11082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17" spc="-81">
                <a:solidFill>
                  <a:srgbClr val="F4EAD8"/>
                </a:solidFill>
                <a:latin typeface="TT Commons Pro Bold"/>
              </a:rPr>
              <a:t>Trust is part of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6642" y="1645919"/>
            <a:ext cx="6021943" cy="123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725" spc="-75">
                <a:solidFill>
                  <a:srgbClr val="99E6D9"/>
                </a:solidFill>
                <a:latin typeface="Ibarra Real Nova Italics"/>
              </a:rPr>
              <a:t>coordination.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32020" y="4114800"/>
            <a:ext cx="7722108" cy="1851659"/>
          </a:xfrm>
          <a:prstGeom prst="line">
            <a:avLst/>
          </a:prstGeom>
          <a:ln w="10160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28700" y="3813048"/>
            <a:ext cx="3703320" cy="603504"/>
          </a:xfrm>
          <a:prstGeom prst="roundRect">
            <a:avLst>
              <a:gd name="adj" fmla="val 30000"/>
            </a:avLst>
          </a:prstGeom>
          <a:solidFill>
            <a:srgbClr val="0D3E40"/>
          </a:solidFill>
          <a:ln w="1143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3292" y="3950208"/>
            <a:ext cx="337413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relationships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32020" y="4882896"/>
            <a:ext cx="7722108" cy="1083563"/>
          </a:xfrm>
          <a:prstGeom prst="line">
            <a:avLst/>
          </a:prstGeom>
          <a:ln w="10160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28700" y="4581144"/>
            <a:ext cx="3703320" cy="603504"/>
          </a:xfrm>
          <a:prstGeom prst="roundRect">
            <a:avLst>
              <a:gd name="adj" fmla="val 30000"/>
            </a:avLst>
          </a:prstGeom>
          <a:solidFill>
            <a:srgbClr val="0D3E40"/>
          </a:solidFill>
          <a:ln w="1143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3292" y="4718304"/>
            <a:ext cx="337413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history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32020" y="5650992"/>
            <a:ext cx="7722108" cy="315467"/>
          </a:xfrm>
          <a:prstGeom prst="line">
            <a:avLst/>
          </a:prstGeom>
          <a:ln w="10160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28700" y="5349240"/>
            <a:ext cx="3703320" cy="603504"/>
          </a:xfrm>
          <a:prstGeom prst="roundRect">
            <a:avLst>
              <a:gd name="adj" fmla="val 30000"/>
            </a:avLst>
          </a:prstGeom>
          <a:solidFill>
            <a:srgbClr val="0D3E40"/>
          </a:solidFill>
          <a:ln w="1143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3292" y="5486400"/>
            <a:ext cx="337413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qualifications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732020" y="5966459"/>
            <a:ext cx="7722108" cy="452629"/>
          </a:xfrm>
          <a:prstGeom prst="line">
            <a:avLst/>
          </a:prstGeom>
          <a:ln w="10160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28700" y="6117336"/>
            <a:ext cx="3703320" cy="603504"/>
          </a:xfrm>
          <a:prstGeom prst="roundRect">
            <a:avLst>
              <a:gd name="adj" fmla="val 30000"/>
            </a:avLst>
          </a:prstGeom>
          <a:solidFill>
            <a:srgbClr val="0D3E40"/>
          </a:solidFill>
          <a:ln w="1143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3292" y="6254496"/>
            <a:ext cx="337413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references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732020" y="5966459"/>
            <a:ext cx="7722108" cy="1220725"/>
          </a:xfrm>
          <a:prstGeom prst="line">
            <a:avLst/>
          </a:prstGeom>
          <a:ln w="10160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28700" y="6885432"/>
            <a:ext cx="3703320" cy="603504"/>
          </a:xfrm>
          <a:prstGeom prst="roundRect">
            <a:avLst>
              <a:gd name="adj" fmla="val 30000"/>
            </a:avLst>
          </a:prstGeom>
          <a:solidFill>
            <a:srgbClr val="0D3E40"/>
          </a:solidFill>
          <a:ln w="1143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3292" y="7022592"/>
            <a:ext cx="337413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verified claims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732020" y="5966459"/>
            <a:ext cx="7722108" cy="1988821"/>
          </a:xfrm>
          <a:prstGeom prst="line">
            <a:avLst/>
          </a:prstGeom>
          <a:ln w="10160">
            <a:solidFill>
              <a:srgbClr val="1E5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8700" y="7653528"/>
            <a:ext cx="3703320" cy="603504"/>
          </a:xfrm>
          <a:prstGeom prst="roundRect">
            <a:avLst>
              <a:gd name="adj" fmla="val 30000"/>
            </a:avLst>
          </a:prstGeom>
          <a:solidFill>
            <a:srgbClr val="0D3E40"/>
          </a:solidFill>
          <a:ln w="1143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3292" y="7790688"/>
            <a:ext cx="337413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contribution</a:t>
            </a:r>
          </a:p>
        </p:txBody>
      </p:sp>
      <p:sp>
        <p:nvSpPr>
          <p:cNvPr id="24" name="Oval 23"/>
          <p:cNvSpPr/>
          <p:nvPr/>
        </p:nvSpPr>
        <p:spPr>
          <a:xfrm>
            <a:off x="11864340" y="4663440"/>
            <a:ext cx="2606039" cy="2606039"/>
          </a:xfrm>
          <a:prstGeom prst="ellipse">
            <a:avLst/>
          </a:prstGeom>
          <a:solidFill>
            <a:srgbClr val="084B4D"/>
          </a:solidFill>
          <a:ln w="1778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64340" y="5554979"/>
            <a:ext cx="2606039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spc="330">
                <a:solidFill>
                  <a:srgbClr val="EBCF9E"/>
                </a:solidFill>
                <a:latin typeface="TT Commons Pro"/>
              </a:rPr>
              <a:t>ENOUGH
CONTEXT
TO 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2140" y="3566160"/>
            <a:ext cx="630935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WHAT THE NETWORK ALREADY KNOWS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877824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025">
                <a:solidFill>
                  <a:srgbClr val="F4EAD8"/>
                </a:solidFill>
                <a:latin typeface="TT Commons Pro Bold"/>
              </a:rPr>
              <a:t>Finding the resource is not enough — we also need </a:t>
            </a:r>
            <a:r>
              <a:rPr sz="2175" spc="20">
                <a:solidFill>
                  <a:srgbClr val="9FE8DC"/>
                </a:solidFill>
                <a:latin typeface="Alike Italics"/>
              </a:rPr>
              <a:t>enough context to act.</a:t>
            </a:r>
          </a:p>
        </p:txBody>
      </p:sp>
      <p:pic>
        <p:nvPicPr>
          <p:cNvPr id="28" name="Picture 27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ORGANIZATIONS NEED MORE THAN A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12738576" cy="9126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956" spc="-67">
                <a:solidFill>
                  <a:srgbClr val="F4EAD8"/>
                </a:solidFill>
                <a:latin typeface="TT Commons Pro Bold"/>
              </a:rPr>
              <a:t>A place where the organization can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9228" y="1645919"/>
            <a:ext cx="5896927" cy="10104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87" spc="-75">
                <a:solidFill>
                  <a:srgbClr val="99E6D9"/>
                </a:solidFill>
                <a:latin typeface="Ibarra Real Nova Italics"/>
              </a:rPr>
              <a:t>actually operate.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429000"/>
            <a:ext cx="15773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180">
                <a:solidFill>
                  <a:srgbClr val="9FE8DC"/>
                </a:solidFill>
                <a:latin typeface="TT Commons Pro"/>
              </a:rPr>
              <a:t>NOT ANOTHER GROUP CHAT ABOUT THE ORGANIZATION 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40462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84" y="4416552"/>
            <a:ext cx="466344" cy="466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51160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40462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62A2C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oj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4416552"/>
            <a:ext cx="466344" cy="466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36976" y="51160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projects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50992" y="40462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oj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4416552"/>
            <a:ext cx="466344" cy="4663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50992" y="51160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jobs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40462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62A2C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832" y="4416552"/>
            <a:ext cx="466344" cy="4663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65008" y="51160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tasks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79024" y="40462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ad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56847" y="4416552"/>
            <a:ext cx="466344" cy="4663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479024" y="51160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qualifications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93040" y="40462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62A2C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70864" y="4416552"/>
            <a:ext cx="466344" cy="4663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893040" y="51160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roles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307056" y="40462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erif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84880" y="4416552"/>
            <a:ext cx="466344" cy="4663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307056" y="51160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contributions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59" y="61036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overnanc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0784" y="6473952"/>
            <a:ext cx="466344" cy="4663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59" y="71734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governance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36976" y="61036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62A2C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o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6473952"/>
            <a:ext cx="466344" cy="4663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236976" y="71734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permissions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50992" y="61036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treasu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8816" y="6473952"/>
            <a:ext cx="466344" cy="4663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650992" y="71734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treasury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5008" y="61036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62A2C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one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42832" y="6473952"/>
            <a:ext cx="466344" cy="4663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065008" y="71734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payments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79024" y="61036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ers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56847" y="6473952"/>
            <a:ext cx="466344" cy="4663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479024" y="71734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membership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893040" y="61036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62A2C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even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70864" y="6473952"/>
            <a:ext cx="466344" cy="46634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2893040" y="71734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events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307056" y="6103620"/>
            <a:ext cx="2221992" cy="1714500"/>
          </a:xfrm>
          <a:prstGeom prst="roundRect">
            <a:avLst>
              <a:gd name="adj" fmla="val 12000"/>
            </a:avLst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mess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184880" y="6473952"/>
            <a:ext cx="466344" cy="4663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307056" y="7173468"/>
            <a:ext cx="2221992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communications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59" y="8709659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Today those functions live across many different products. </a:t>
            </a:r>
            <a:r>
              <a:rPr sz="1950">
                <a:solidFill>
                  <a:srgbClr val="EBCF9E"/>
                </a:solidFill>
                <a:latin typeface="TT Commons Pro Bold"/>
              </a:rPr>
              <a:t>Rivr brings them into one shared relational environment.</a:t>
            </a:r>
          </a:p>
        </p:txBody>
      </p:sp>
      <p:pic>
        <p:nvPicPr>
          <p:cNvPr id="50" name="Picture 49" descr="rivr-symbol-ligh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SHARED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12713017" cy="945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133" spc="-69">
                <a:solidFill>
                  <a:srgbClr val="F4EAD8"/>
                </a:solidFill>
                <a:latin typeface="TT Commons Pro Bold"/>
              </a:rPr>
              <a:t>Shared records make cooperation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8782" y="1645919"/>
            <a:ext cx="3944302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5">
                <a:solidFill>
                  <a:srgbClr val="EBCF9E"/>
                </a:solidFill>
                <a:latin typeface="Ibarra Real Nova Italics"/>
              </a:rPr>
              <a:t>less messy.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593592"/>
            <a:ext cx="5486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COMMITMENT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3593592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3593592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07240" y="3593592"/>
            <a:ext cx="24688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3593592"/>
            <a:ext cx="26746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VALUE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59" y="4087368"/>
            <a:ext cx="16664941" cy="0"/>
          </a:xfrm>
          <a:prstGeom prst="line">
            <a:avLst/>
          </a:prstGeom>
          <a:ln w="12700">
            <a:solidFill>
              <a:srgbClr val="084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59" y="4320540"/>
            <a:ext cx="5486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build the greenhouse beds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320540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M. Rivera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320540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07240" y="4320540"/>
            <a:ext cx="24688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EBCF9E"/>
                </a:solidFill>
                <a:latin typeface="TT Commons Pr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0" y="4320540"/>
            <a:ext cx="26746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$240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59" y="4924044"/>
            <a:ext cx="16664941" cy="0"/>
          </a:xfrm>
          <a:prstGeom prst="line">
            <a:avLst/>
          </a:prstGeom>
          <a:ln w="7620">
            <a:solidFill>
              <a:srgbClr val="113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59" y="5170932"/>
            <a:ext cx="5486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run Saturday's market stall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170932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K. Osei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5170932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07240" y="5170932"/>
            <a:ext cx="24688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0" y="5170932"/>
            <a:ext cx="26746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shared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59" y="5774436"/>
            <a:ext cx="16664941" cy="0"/>
          </a:xfrm>
          <a:prstGeom prst="line">
            <a:avLst/>
          </a:prstGeom>
          <a:ln w="7620">
            <a:solidFill>
              <a:srgbClr val="113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59" y="6021323"/>
            <a:ext cx="5486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repair the shared van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6021323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T. Lindqvist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6021323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delivered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07240" y="6021323"/>
            <a:ext cx="24688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EBCF9E"/>
                </a:solidFill>
                <a:latin typeface="TT Commons Pro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0" y="6021323"/>
            <a:ext cx="26746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4 hrs credit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959" y="6624828"/>
            <a:ext cx="16664941" cy="0"/>
          </a:xfrm>
          <a:prstGeom prst="line">
            <a:avLst/>
          </a:prstGeom>
          <a:ln w="7620">
            <a:solidFill>
              <a:srgbClr val="113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2959" y="6871716"/>
            <a:ext cx="5486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host the tool library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6871716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Front Range Commons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871716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ongoing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07240" y="6871716"/>
            <a:ext cx="24688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EBCF9E"/>
                </a:solidFill>
                <a:latin typeface="TT Commons Pro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0" y="6871716"/>
            <a:ext cx="26746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in-kind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59" y="7886700"/>
            <a:ext cx="8161020" cy="11658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8161020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less dependent on memory, chasing people,</a:t>
            </a:r>
          </a:p>
          <a:p>
            <a:pPr algn="l">
              <a:lnSpc>
                <a:spcPct val="13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repeated coordination, interpersonal conflict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0" y="7886700"/>
            <a:ext cx="8161020" cy="1165860"/>
          </a:xfrm>
          <a:prstGeom prst="roundRect">
            <a:avLst>
              <a:gd name="adj" fmla="val 6000"/>
            </a:avLst>
          </a:prstGeom>
          <a:solidFill>
            <a:srgbClr val="084B4D"/>
          </a:solidFill>
          <a:ln w="20955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59" y="8161020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50" spc="20">
                <a:solidFill>
                  <a:srgbClr val="EBCF9E"/>
                </a:solidFill>
                <a:latin typeface="Alike Italics"/>
              </a:rPr>
              <a:t>Clear commitments and visible history</a:t>
            </a:r>
          </a:p>
          <a:p>
            <a:pPr algn="l">
              <a:lnSpc>
                <a:spcPct val="135000"/>
              </a:lnSpc>
            </a:pPr>
            <a:r>
              <a:rPr sz="1950" spc="20">
                <a:solidFill>
                  <a:srgbClr val="EBCF9E"/>
                </a:solidFill>
                <a:latin typeface="Alike Italics"/>
              </a:rPr>
              <a:t>make trust easier.</a:t>
            </a:r>
          </a:p>
        </p:txBody>
      </p:sp>
      <p:pic>
        <p:nvPicPr>
          <p:cNvPr id="39" name="Picture 38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PLURAL EXCHANGE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13405326" cy="9126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956" spc="-67">
                <a:solidFill>
                  <a:srgbClr val="F4EAD8"/>
                </a:solidFill>
                <a:latin typeface="TT Commons Pro Bold"/>
              </a:rPr>
              <a:t>Not every exchange begins and ends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2628" y="1645919"/>
            <a:ext cx="4503896" cy="10104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87" spc="-75">
                <a:solidFill>
                  <a:srgbClr val="F0CC8B"/>
                </a:solidFill>
                <a:latin typeface="Ibarra Real Nova Italics"/>
              </a:rPr>
              <a:t>with money.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3881628"/>
            <a:ext cx="24140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9FE8DC"/>
                </a:solidFill>
                <a:latin typeface="TT Commons Pro"/>
              </a:rPr>
              <a:t>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68696" y="3881628"/>
            <a:ext cx="24140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9FE8DC"/>
                </a:solidFill>
                <a:latin typeface="TT Commons Pro"/>
              </a:rPr>
              <a:t>rented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34071" y="3881628"/>
            <a:ext cx="24140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9FE8DC"/>
                </a:solidFill>
                <a:latin typeface="TT Commons Pro"/>
              </a:rPr>
              <a:t>traded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9448" y="3881628"/>
            <a:ext cx="24140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9FE8DC"/>
                </a:solidFill>
                <a:latin typeface="TT Commons Pro"/>
              </a:rPr>
              <a:t>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4824" y="3881628"/>
            <a:ext cx="24140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9FE8DC"/>
                </a:solidFill>
                <a:latin typeface="TT Commons Pro"/>
              </a:rPr>
              <a:t>shared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0200" y="3881628"/>
            <a:ext cx="24140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9FE8DC"/>
                </a:solidFill>
                <a:latin typeface="TT Commons Pro"/>
              </a:rPr>
              <a:t>gifted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95576" y="3881628"/>
            <a:ext cx="241401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>
                <a:solidFill>
                  <a:srgbClr val="9FE8DC"/>
                </a:solidFill>
                <a:latin typeface="TT Commons Pro"/>
              </a:rPr>
              <a:t>mutual 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718304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time</a:t>
            </a:r>
          </a:p>
        </p:txBody>
      </p:sp>
      <p:sp>
        <p:nvSpPr>
          <p:cNvPr id="14" name="Oval 13"/>
          <p:cNvSpPr/>
          <p:nvPr/>
        </p:nvSpPr>
        <p:spPr>
          <a:xfrm>
            <a:off x="4457700" y="47183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23075" y="47183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84464" y="48143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3828" y="47183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919204" y="47183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880592" y="48143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649956" y="47183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700" y="5404104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skills</a:t>
            </a:r>
          </a:p>
        </p:txBody>
      </p:sp>
      <p:sp>
        <p:nvSpPr>
          <p:cNvPr id="22" name="Oval 21"/>
          <p:cNvSpPr/>
          <p:nvPr/>
        </p:nvSpPr>
        <p:spPr>
          <a:xfrm>
            <a:off x="4457700" y="54041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9088" y="55001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88452" y="54041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3828" y="54041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015216" y="55001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784580" y="54041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649956" y="54041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" y="6089903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tools</a:t>
            </a:r>
          </a:p>
        </p:txBody>
      </p:sp>
      <p:sp>
        <p:nvSpPr>
          <p:cNvPr id="30" name="Oval 29"/>
          <p:cNvSpPr/>
          <p:nvPr/>
        </p:nvSpPr>
        <p:spPr>
          <a:xfrm>
            <a:off x="4553712" y="61859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23075" y="6089903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88452" y="6089903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49840" y="61859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919204" y="6089903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784580" y="6089903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5745967" y="61859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" y="6775703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food</a:t>
            </a:r>
          </a:p>
        </p:txBody>
      </p:sp>
      <p:sp>
        <p:nvSpPr>
          <p:cNvPr id="38" name="Oval 37"/>
          <p:cNvSpPr/>
          <p:nvPr/>
        </p:nvSpPr>
        <p:spPr>
          <a:xfrm>
            <a:off x="4457700" y="6775703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23075" y="6775703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84464" y="68717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3828" y="6775703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19204" y="6775703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3880592" y="68717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5649956" y="6775703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8700" y="7461504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space</a:t>
            </a:r>
          </a:p>
        </p:txBody>
      </p:sp>
      <p:sp>
        <p:nvSpPr>
          <p:cNvPr id="46" name="Oval 45"/>
          <p:cNvSpPr/>
          <p:nvPr/>
        </p:nvSpPr>
        <p:spPr>
          <a:xfrm>
            <a:off x="4457700" y="74615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19088" y="75575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188452" y="74615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53828" y="74615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2015216" y="75575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3784580" y="74615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5649956" y="74615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8700" y="8147304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knowledge</a:t>
            </a:r>
          </a:p>
        </p:txBody>
      </p:sp>
      <p:sp>
        <p:nvSpPr>
          <p:cNvPr id="54" name="Oval 53"/>
          <p:cNvSpPr/>
          <p:nvPr/>
        </p:nvSpPr>
        <p:spPr>
          <a:xfrm>
            <a:off x="4553712" y="82433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23075" y="81473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88452" y="81473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149840" y="82433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919204" y="81473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3784580" y="8147304"/>
            <a:ext cx="356616" cy="356616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5745967" y="8243316"/>
            <a:ext cx="164592" cy="164592"/>
          </a:xfrm>
          <a:prstGeom prst="ellipse">
            <a:avLst/>
          </a:prstGeom>
          <a:solidFill>
            <a:srgbClr val="144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8700" y="3593592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EBCF9E"/>
                </a:solidFill>
                <a:latin typeface="TT Commons Pro"/>
              </a:rPr>
              <a:t>WHAT PEOPLE HAVE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77639" y="3593592"/>
            <a:ext cx="68580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HOW IT CAN MOVE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59" y="891540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025" spc="20">
                <a:solidFill>
                  <a:srgbClr val="EBCF9E"/>
                </a:solidFill>
                <a:latin typeface="Alike Italics"/>
              </a:rPr>
              <a:t>A community contains far more value than the dollars currently circulating through it. </a:t>
            </a:r>
            <a:r>
              <a:rPr sz="1950">
                <a:solidFill>
                  <a:srgbClr val="F4EAD8"/>
                </a:solidFill>
                <a:latin typeface="TT Commons Pro Bold"/>
              </a:rPr>
              <a:t>The aim is useful resource flow.</a:t>
            </a:r>
          </a:p>
        </p:txBody>
      </p:sp>
      <p:pic>
        <p:nvPicPr>
          <p:cNvPr id="64" name="Picture 63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ECONOMIC SOVEREIGNTY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12090558" cy="9778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309" spc="-72">
                <a:solidFill>
                  <a:srgbClr val="F4EAD8"/>
                </a:solidFill>
                <a:latin typeface="TT Commons Pro Bold"/>
              </a:rPr>
              <a:t>A lack of cash should not mean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0815" y="1645919"/>
            <a:ext cx="6682740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5">
                <a:solidFill>
                  <a:srgbClr val="99E6D9"/>
                </a:solidFill>
                <a:latin typeface="Ibarra Real Nova Italics"/>
              </a:rPr>
              <a:t>a lack of capacity.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703320"/>
            <a:ext cx="768095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D3B7A5"/>
                </a:solidFill>
                <a:latin typeface="TT Commons Pro"/>
              </a:rPr>
              <a:t>CASH-ONLY — ONE DOOR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4251960"/>
            <a:ext cx="8092440" cy="1440180"/>
          </a:xfrm>
          <a:prstGeom prst="roundRect">
            <a:avLst>
              <a:gd name="adj" fmla="val 6000"/>
            </a:avLst>
          </a:prstGeom>
          <a:solidFill>
            <a:srgbClr val="084B4D"/>
          </a:solidFill>
          <a:ln w="17145">
            <a:solidFill>
              <a:srgbClr val="D3B7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690872"/>
            <a:ext cx="7269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>
                <a:solidFill>
                  <a:srgbClr val="D3B7A5"/>
                </a:solidFill>
                <a:latin typeface="TT Commons Pro"/>
              </a:rPr>
              <a:t>no dollars  →  no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5459" y="3703320"/>
            <a:ext cx="768095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EBCF9E"/>
                </a:solidFill>
                <a:latin typeface="TT Commons Pro"/>
              </a:rPr>
              <a:t>PLURAL — MANY DOORS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95459" y="4251960"/>
            <a:ext cx="1440180" cy="1440180"/>
          </a:xfrm>
          <a:prstGeom prst="roundRect">
            <a:avLst>
              <a:gd name="adj" fmla="val 16000"/>
            </a:avLst>
          </a:prstGeom>
          <a:solidFill>
            <a:srgbClr val="0D3E40"/>
          </a:solidFill>
          <a:ln w="16192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667" y="4539996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95459" y="5143500"/>
            <a:ext cx="144018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dollars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1380" y="4251960"/>
            <a:ext cx="1440180" cy="1440180"/>
          </a:xfrm>
          <a:prstGeom prst="roundRect">
            <a:avLst>
              <a:gd name="adj" fmla="val 16000"/>
            </a:avLst>
          </a:prstGeom>
          <a:solidFill>
            <a:srgbClr val="0D3E40"/>
          </a:solidFill>
          <a:ln w="16192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2587" y="4539996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041380" y="5143500"/>
            <a:ext cx="144018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687300" y="4251960"/>
            <a:ext cx="1440180" cy="1440180"/>
          </a:xfrm>
          <a:prstGeom prst="roundRect">
            <a:avLst>
              <a:gd name="adj" fmla="val 16000"/>
            </a:avLst>
          </a:prstGeom>
          <a:solidFill>
            <a:srgbClr val="0D3E40"/>
          </a:solidFill>
          <a:ln w="16192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o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8507" y="4539996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687300" y="5143500"/>
            <a:ext cx="144018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skill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333219" y="4251960"/>
            <a:ext cx="1440180" cy="1440180"/>
          </a:xfrm>
          <a:prstGeom prst="roundRect">
            <a:avLst>
              <a:gd name="adj" fmla="val 16000"/>
            </a:avLst>
          </a:prstGeom>
          <a:solidFill>
            <a:srgbClr val="0D3E40"/>
          </a:solidFill>
          <a:ln w="16192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4427" y="4539996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333219" y="5143500"/>
            <a:ext cx="144018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labor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979139" y="4251960"/>
            <a:ext cx="1440180" cy="1440180"/>
          </a:xfrm>
          <a:prstGeom prst="roundRect">
            <a:avLst>
              <a:gd name="adj" fmla="val 16000"/>
            </a:avLst>
          </a:prstGeom>
          <a:solidFill>
            <a:srgbClr val="0D3E40"/>
          </a:solidFill>
          <a:ln w="16192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o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00347" y="4539996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979139" y="5143500"/>
            <a:ext cx="144018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knowledge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6240779"/>
            <a:ext cx="16596359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875" spc="40">
                <a:solidFill>
                  <a:srgbClr val="F2ECDD"/>
                </a:solidFill>
                <a:latin typeface="TT Commons Pro"/>
              </a:rPr>
              <a:t>Economic sovereignty does not mean abandoning existing money.</a:t>
            </a:r>
          </a:p>
          <a:p>
            <a:pPr algn="l">
              <a:lnSpc>
                <a:spcPct val="155000"/>
              </a:lnSpc>
            </a:pPr>
            <a:r>
              <a:rPr sz="1875" spc="40">
                <a:solidFill>
                  <a:srgbClr val="F2ECDD"/>
                </a:solidFill>
                <a:latin typeface="TT Commons Pro"/>
              </a:rPr>
              <a:t>It means having </a:t>
            </a:r>
            <a:r>
              <a:rPr sz="1875" spc="40">
                <a:solidFill>
                  <a:srgbClr val="EBCF9E"/>
                </a:solidFill>
                <a:latin typeface="TT Commons Pro"/>
              </a:rPr>
              <a:t>more than one way to participate.</a:t>
            </a:r>
          </a:p>
          <a:p>
            <a:pPr algn="l">
              <a:lnSpc>
                <a:spcPct val="155000"/>
              </a:lnSpc>
            </a:pPr>
            <a:r>
              <a:rPr sz="1875" spc="40">
                <a:solidFill>
                  <a:srgbClr val="F2ECDD"/>
                </a:solidFill>
                <a:latin typeface="TT Commons Pro"/>
              </a:rPr>
              <a:t>If someone lacks dollars but has time, skill, knowledge, or labor — useful activity does not have to stop.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850392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100" spc="20">
                <a:solidFill>
                  <a:srgbClr val="9FE8DC"/>
                </a:solidFill>
                <a:latin typeface="Alike Italics"/>
              </a:rPr>
              <a:t>A community becomes more resilient when useful exchange can continue</a:t>
            </a:r>
          </a:p>
          <a:p>
            <a:pPr algn="ctr">
              <a:lnSpc>
                <a:spcPct val="140000"/>
              </a:lnSpc>
            </a:pPr>
            <a:r>
              <a:rPr sz="2100" spc="20">
                <a:solidFill>
                  <a:srgbClr val="9FE8DC"/>
                </a:solidFill>
                <a:latin typeface="Alike Italics"/>
              </a:rPr>
              <a:t>through multiple mutually agreed forms.</a:t>
            </a:r>
          </a:p>
        </p:txBody>
      </p:sp>
      <p:pic>
        <p:nvPicPr>
          <p:cNvPr id="27" name="Picture 26" descr="rivr-symbol-ligh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REVENUE FUNNELS ARE LIVE · RIVR 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9245203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6">
                <a:solidFill>
                  <a:srgbClr val="F4EAD8"/>
                </a:solidFill>
                <a:latin typeface="TT Commons Pro Bold"/>
              </a:rPr>
              <a:t>Currency can keep its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54530" y="1645919"/>
            <a:ext cx="5819536" cy="1140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195" spc="-75">
                <a:solidFill>
                  <a:srgbClr val="EBCF9E"/>
                </a:solidFill>
                <a:latin typeface="Ibarra Real Nova Italics"/>
              </a:rPr>
              <a:t>meaning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3593592"/>
            <a:ext cx="3977639" cy="32232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67911"/>
            <a:ext cx="34290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EBCF9E"/>
                </a:solidFill>
                <a:latin typeface="TT Commons Pro"/>
              </a:rPr>
              <a:t>01  ACCEPT</a:t>
            </a:r>
          </a:p>
        </p:txBody>
      </p:sp>
      <p:pic>
        <p:nvPicPr>
          <p:cNvPr id="8" name="Picture 7" descr="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" y="4389120"/>
            <a:ext cx="411479" cy="4114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4965192"/>
            <a:ext cx="34290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F4EAD8"/>
                </a:solidFill>
                <a:latin typeface="TT Commons Pro Bold"/>
              </a:rPr>
              <a:t>Tap to pay with Rivr Pay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50992"/>
            <a:ext cx="342900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Contactless card-present payment from a compatible phone. Native companion app built.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55464" y="5102352"/>
            <a:ext cx="164592" cy="205739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61204" y="3593592"/>
            <a:ext cx="3977639" cy="322326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5524" y="3867911"/>
            <a:ext cx="34290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EBCF9E"/>
                </a:solidFill>
                <a:latin typeface="TT Commons Pro"/>
              </a:rPr>
              <a:t>02  SETTLE</a:t>
            </a:r>
          </a:p>
        </p:txBody>
      </p:sp>
      <p:pic>
        <p:nvPicPr>
          <p:cNvPr id="14" name="Picture 13" descr="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4389120"/>
            <a:ext cx="411479" cy="4114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5524" y="4965192"/>
            <a:ext cx="34290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F4EAD8"/>
                </a:solidFill>
                <a:latin typeface="TT Commons Pro Bold"/>
              </a:rPr>
              <a:t>Connected seller payouts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5524" y="5650992"/>
            <a:ext cx="342900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Orders, receipts, fees, and payouts stay together on Stripe Connect.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93708" y="5102352"/>
            <a:ext cx="164592" cy="205739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99447" y="3593592"/>
            <a:ext cx="3977639" cy="32232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7" y="3867911"/>
            <a:ext cx="34290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EBCF9E"/>
                </a:solidFill>
                <a:latin typeface="TT Commons Pro"/>
              </a:rPr>
              <a:t>03  RESERVE</a:t>
            </a:r>
          </a:p>
        </p:txBody>
      </p:sp>
      <p:pic>
        <p:nvPicPr>
          <p:cNvPr id="20" name="Picture 19" descr="treasu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0" y="4389120"/>
            <a:ext cx="411479" cy="4114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73767" y="4965192"/>
            <a:ext cx="34290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F4EAD8"/>
                </a:solidFill>
                <a:latin typeface="TT Commons Pro Bold"/>
              </a:rPr>
              <a:t>Choose a tax set-aside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7" y="5650992"/>
            <a:ext cx="342900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Pick a rate; part of each payout stays reserved as your money.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3331951" y="5102352"/>
            <a:ext cx="164592" cy="205739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537692" y="3593592"/>
            <a:ext cx="3977639" cy="322326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12011" y="3867911"/>
            <a:ext cx="34290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EBCF9E"/>
                </a:solidFill>
                <a:latin typeface="TT Commons Pro"/>
              </a:rPr>
              <a:t>04  CONTROL</a:t>
            </a:r>
          </a:p>
        </p:txBody>
      </p:sp>
      <p:pic>
        <p:nvPicPr>
          <p:cNvPr id="26" name="Picture 25" descr="govern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8023" y="4389120"/>
            <a:ext cx="411479" cy="41147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812011" y="4965192"/>
            <a:ext cx="34290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F4EAD8"/>
                </a:solidFill>
                <a:latin typeface="TT Commons Pro Bold"/>
              </a:rPr>
              <a:t>Treasuries + cards by subgroup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12011" y="5650992"/>
            <a:ext cx="342900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Hold the funds. Fund the work. Keep spending in context. Stripe Treasury + Issuing.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59" y="7063740"/>
            <a:ext cx="16664940" cy="987552"/>
          </a:xfrm>
          <a:prstGeom prst="roundRect">
            <a:avLst>
              <a:gd name="adj" fmla="val 6000"/>
            </a:avLst>
          </a:prstGeom>
          <a:solidFill>
            <a:srgbClr val="084B4D"/>
          </a:solidFill>
          <a:ln w="21907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7324344"/>
            <a:ext cx="15910559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One unified fee across every rail — </a:t>
            </a:r>
            <a:r>
              <a:rPr sz="1950">
                <a:solidFill>
                  <a:srgbClr val="EBCF9E"/>
                </a:solidFill>
                <a:latin typeface="TT Commons Pro Bold"/>
              </a:rPr>
              <a:t>3.3% + $1.49</a:t>
            </a:r>
            <a:r>
              <a:rPr sz="1800">
                <a:solidFill>
                  <a:srgbClr val="F2ECDD"/>
                </a:solidFill>
                <a:latin typeface="TT Commons Pro"/>
              </a:rPr>
              <a:t> per transaction, the patronage-eligible revenue that flows back to members.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8366759"/>
            <a:ext cx="15773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AND WHERE CURRENCY ISN'T THE POINT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59" y="8846820"/>
            <a:ext cx="3977639" cy="768096"/>
          </a:xfrm>
          <a:prstGeom prst="roundRect">
            <a:avLst>
              <a:gd name="adj" fmla="val 26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ok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9066276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73352" y="9052559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crypto + mutual credit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61204" y="8846820"/>
            <a:ext cx="3977639" cy="768096"/>
          </a:xfrm>
          <a:prstGeom prst="roundRect">
            <a:avLst>
              <a:gd name="adj" fmla="val 26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523" y="9066276"/>
            <a:ext cx="329184" cy="3291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911596" y="9052559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transparent + partial trades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99447" y="8846820"/>
            <a:ext cx="3977639" cy="768096"/>
          </a:xfrm>
          <a:prstGeom prst="roundRect">
            <a:avLst>
              <a:gd name="adj" fmla="val 26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gif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3767" y="9066276"/>
            <a:ext cx="329184" cy="32918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149840" y="9052559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vouchers + gifts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537692" y="8846820"/>
            <a:ext cx="3977639" cy="768096"/>
          </a:xfrm>
          <a:prstGeom prst="roundRect">
            <a:avLst>
              <a:gd name="adj" fmla="val 26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too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12012" y="9066276"/>
            <a:ext cx="329184" cy="32918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388083" y="9052559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skills + resources</a:t>
            </a:r>
          </a:p>
        </p:txBody>
      </p:sp>
      <p:pic>
        <p:nvPicPr>
          <p:cNvPr id="44" name="Picture 43" descr="rivr-symbol-l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LOCAL CAPACITY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10733722" cy="945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133" spc="-69">
                <a:solidFill>
                  <a:srgbClr val="F4EAD8"/>
                </a:solidFill>
                <a:latin typeface="TT Commons Pro Bold"/>
              </a:rPr>
              <a:t>Better resource flow creates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5345" y="1645919"/>
            <a:ext cx="9022318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5">
                <a:solidFill>
                  <a:srgbClr val="F0CC8B"/>
                </a:solidFill>
                <a:latin typeface="Ibarra Real Nova Italics"/>
              </a:rPr>
              <a:t>new productive capacity.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560052" y="3463013"/>
            <a:ext cx="51198" cy="875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611250" y="3471768"/>
            <a:ext cx="51019" cy="974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62269" y="3481516"/>
            <a:ext cx="50821" cy="1073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713090" y="3492253"/>
            <a:ext cx="50602" cy="1172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63692" y="3503974"/>
            <a:ext cx="50365" cy="1270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14057" y="3516676"/>
            <a:ext cx="50108" cy="1367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64165" y="3530353"/>
            <a:ext cx="49834" cy="1464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13999" y="3545001"/>
            <a:ext cx="49540" cy="1561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63539" y="3560614"/>
            <a:ext cx="49227" cy="1657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12766" y="3577186"/>
            <a:ext cx="48897" cy="1752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61663" y="3594711"/>
            <a:ext cx="48546" cy="1847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10209" y="3613182"/>
            <a:ext cx="48179" cy="1941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58388" y="3632593"/>
            <a:ext cx="47793" cy="2034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06181" y="3652935"/>
            <a:ext cx="47389" cy="2126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53570" y="3674202"/>
            <a:ext cx="46967" cy="2218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00537" y="3696385"/>
            <a:ext cx="46527" cy="2309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47064" y="3719475"/>
            <a:ext cx="46070" cy="2399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393134" y="3743465"/>
            <a:ext cx="45595" cy="2488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438729" y="3768345"/>
            <a:ext cx="45104" cy="2576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483833" y="3794106"/>
            <a:ext cx="44595" cy="2663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528428" y="3820738"/>
            <a:ext cx="44070" cy="2749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572498" y="3848231"/>
            <a:ext cx="43527" cy="2834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16025" y="3876574"/>
            <a:ext cx="42968" cy="2918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58993" y="3905758"/>
            <a:ext cx="42394" cy="3001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6783382">
            <a:off x="10055518" y="3529723"/>
            <a:ext cx="205739" cy="205739"/>
          </a:xfrm>
          <a:prstGeom prst="triangl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1302705" y="4537088"/>
            <a:ext cx="30012" cy="4239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332717" y="4579482"/>
            <a:ext cx="29184" cy="4296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361901" y="4622450"/>
            <a:ext cx="28343" cy="4352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390244" y="4665977"/>
            <a:ext cx="27493" cy="4407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17737" y="4710047"/>
            <a:ext cx="26632" cy="4459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444369" y="4754642"/>
            <a:ext cx="25761" cy="4510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470130" y="4799746"/>
            <a:ext cx="24880" cy="4559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495010" y="4845341"/>
            <a:ext cx="23990" cy="4607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519000" y="4891411"/>
            <a:ext cx="23090" cy="4652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542090" y="4937938"/>
            <a:ext cx="22183" cy="4696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564273" y="4984905"/>
            <a:ext cx="21267" cy="47389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585540" y="5032294"/>
            <a:ext cx="20342" cy="4779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605882" y="5080087"/>
            <a:ext cx="19411" cy="48179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625293" y="5128266"/>
            <a:ext cx="18471" cy="48546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643764" y="5176812"/>
            <a:ext cx="17525" cy="4889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661289" y="5225709"/>
            <a:ext cx="16572" cy="4922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677861" y="5274936"/>
            <a:ext cx="15613" cy="4954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693474" y="5324476"/>
            <a:ext cx="14648" cy="4983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708122" y="5374310"/>
            <a:ext cx="13677" cy="5010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721799" y="5424418"/>
            <a:ext cx="12702" cy="5036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734501" y="5474783"/>
            <a:ext cx="11721" cy="5060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746222" y="5525385"/>
            <a:ext cx="10737" cy="5082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756959" y="5576206"/>
            <a:ext cx="9748" cy="51019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766707" y="5627225"/>
            <a:ext cx="8755" cy="5119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9483382">
            <a:off x="11503012" y="4977217"/>
            <a:ext cx="205739" cy="205739"/>
          </a:xfrm>
          <a:prstGeom prst="triangl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11766707" y="6528816"/>
            <a:ext cx="8755" cy="5119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1756959" y="6580014"/>
            <a:ext cx="9748" cy="51019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1746222" y="6631033"/>
            <a:ext cx="10737" cy="5082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11734501" y="6681854"/>
            <a:ext cx="11721" cy="5060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721799" y="6732456"/>
            <a:ext cx="12702" cy="5036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708122" y="6782821"/>
            <a:ext cx="13677" cy="5010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1693474" y="6832929"/>
            <a:ext cx="14648" cy="4983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1677861" y="6882763"/>
            <a:ext cx="15613" cy="4954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1661289" y="6932303"/>
            <a:ext cx="16572" cy="4922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1643764" y="6981530"/>
            <a:ext cx="17525" cy="4889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11625293" y="7030427"/>
            <a:ext cx="18471" cy="48546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1605882" y="7078973"/>
            <a:ext cx="19411" cy="48179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11585540" y="7127152"/>
            <a:ext cx="20342" cy="4779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11564273" y="7174945"/>
            <a:ext cx="21267" cy="47389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1542090" y="7222334"/>
            <a:ext cx="22183" cy="4696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1519000" y="7269301"/>
            <a:ext cx="23090" cy="4652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495010" y="7315828"/>
            <a:ext cx="23990" cy="4607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11470130" y="7361898"/>
            <a:ext cx="24880" cy="4559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11444369" y="7407493"/>
            <a:ext cx="25761" cy="4510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11417737" y="7452597"/>
            <a:ext cx="26632" cy="4459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11390244" y="7497192"/>
            <a:ext cx="27493" cy="4407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11361901" y="7541262"/>
            <a:ext cx="28343" cy="4352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11332717" y="7584789"/>
            <a:ext cx="29184" cy="4296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1302705" y="7627757"/>
            <a:ext cx="30012" cy="4239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Isosceles Triangle 79"/>
          <p:cNvSpPr/>
          <p:nvPr/>
        </p:nvSpPr>
        <p:spPr>
          <a:xfrm rot="12183382">
            <a:off x="11503012" y="7024282"/>
            <a:ext cx="205739" cy="205739"/>
          </a:xfrm>
          <a:prstGeom prst="triangl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H="1">
            <a:off x="10658993" y="8271469"/>
            <a:ext cx="42394" cy="3001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10616025" y="8301481"/>
            <a:ext cx="42968" cy="2918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10572498" y="8330665"/>
            <a:ext cx="43527" cy="2834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10528428" y="8359008"/>
            <a:ext cx="44070" cy="2749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0483833" y="8386501"/>
            <a:ext cx="44595" cy="2663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0438729" y="8413133"/>
            <a:ext cx="45104" cy="2576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0393134" y="8438894"/>
            <a:ext cx="45595" cy="2488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0347064" y="8463774"/>
            <a:ext cx="46070" cy="2399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10300537" y="8487764"/>
            <a:ext cx="46527" cy="2309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10253570" y="8510854"/>
            <a:ext cx="46967" cy="2218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10206181" y="8533037"/>
            <a:ext cx="47389" cy="2126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10158388" y="8554304"/>
            <a:ext cx="47793" cy="2034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10110209" y="8574646"/>
            <a:ext cx="48179" cy="1941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10061663" y="8594057"/>
            <a:ext cx="48546" cy="1847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10012766" y="8612528"/>
            <a:ext cx="48897" cy="1752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9963539" y="8630053"/>
            <a:ext cx="49227" cy="1657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9913999" y="8646625"/>
            <a:ext cx="49540" cy="1561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9864165" y="8662238"/>
            <a:ext cx="49834" cy="1464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9814057" y="8676886"/>
            <a:ext cx="50108" cy="1367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9763692" y="8690563"/>
            <a:ext cx="50365" cy="1270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9713090" y="8703265"/>
            <a:ext cx="50602" cy="1172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9662269" y="8714986"/>
            <a:ext cx="50821" cy="1073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9611250" y="8725723"/>
            <a:ext cx="51019" cy="974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9560052" y="8735471"/>
            <a:ext cx="51198" cy="875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Isosceles Triangle 104"/>
          <p:cNvSpPr/>
          <p:nvPr/>
        </p:nvSpPr>
        <p:spPr>
          <a:xfrm rot="14883382">
            <a:off x="10055518" y="8471776"/>
            <a:ext cx="205739" cy="205739"/>
          </a:xfrm>
          <a:prstGeom prst="triangl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H="1" flipV="1">
            <a:off x="8658461" y="8735471"/>
            <a:ext cx="51199" cy="875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8607442" y="8725723"/>
            <a:ext cx="51019" cy="974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8556621" y="8714986"/>
            <a:ext cx="50821" cy="1073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 flipV="1">
            <a:off x="8506019" y="8703265"/>
            <a:ext cx="50602" cy="1172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8455654" y="8690563"/>
            <a:ext cx="50365" cy="1270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8405546" y="8676886"/>
            <a:ext cx="50108" cy="1367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8355712" y="8662238"/>
            <a:ext cx="49834" cy="1464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8306172" y="8646625"/>
            <a:ext cx="49540" cy="1561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8256945" y="8630053"/>
            <a:ext cx="49227" cy="1657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8208048" y="8612528"/>
            <a:ext cx="48897" cy="1752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8159502" y="8594057"/>
            <a:ext cx="48546" cy="1847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8111323" y="8574646"/>
            <a:ext cx="48179" cy="1941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 flipV="1">
            <a:off x="8063530" y="8554304"/>
            <a:ext cx="47793" cy="2034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 flipV="1">
            <a:off x="8016141" y="8533037"/>
            <a:ext cx="47389" cy="2126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 flipV="1">
            <a:off x="7969174" y="8510854"/>
            <a:ext cx="46967" cy="2218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 flipV="1">
            <a:off x="7922647" y="8487764"/>
            <a:ext cx="46527" cy="2309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7876577" y="8463774"/>
            <a:ext cx="46070" cy="2399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7830982" y="8438894"/>
            <a:ext cx="45595" cy="2488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 flipV="1">
            <a:off x="7785878" y="8413133"/>
            <a:ext cx="45104" cy="2576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7741283" y="8386501"/>
            <a:ext cx="44595" cy="2663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 flipV="1">
            <a:off x="7697213" y="8359008"/>
            <a:ext cx="44070" cy="2749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 flipV="1">
            <a:off x="7653686" y="8330665"/>
            <a:ext cx="43527" cy="2834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 flipV="1">
            <a:off x="7610718" y="8301481"/>
            <a:ext cx="42968" cy="2918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7568324" y="8271469"/>
            <a:ext cx="42394" cy="3001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Isosceles Triangle 129"/>
          <p:cNvSpPr/>
          <p:nvPr/>
        </p:nvSpPr>
        <p:spPr>
          <a:xfrm rot="17583382">
            <a:off x="8008453" y="8471776"/>
            <a:ext cx="205739" cy="205739"/>
          </a:xfrm>
          <a:prstGeom prst="triangl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 flipH="1" flipV="1">
            <a:off x="6936994" y="7627757"/>
            <a:ext cx="30012" cy="4239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 flipV="1">
            <a:off x="6907810" y="7584789"/>
            <a:ext cx="29184" cy="4296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 flipV="1">
            <a:off x="6879467" y="7541262"/>
            <a:ext cx="28343" cy="4352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 flipV="1">
            <a:off x="6851974" y="7497192"/>
            <a:ext cx="27493" cy="4407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 flipV="1">
            <a:off x="6825342" y="7452597"/>
            <a:ext cx="26632" cy="4459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 flipV="1">
            <a:off x="6799581" y="7407493"/>
            <a:ext cx="25761" cy="4510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6774701" y="7361898"/>
            <a:ext cx="24880" cy="4559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 flipV="1">
            <a:off x="6750711" y="7315828"/>
            <a:ext cx="23990" cy="4607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 flipV="1">
            <a:off x="6727621" y="7269301"/>
            <a:ext cx="23090" cy="4652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6705438" y="7222334"/>
            <a:ext cx="22183" cy="4696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 flipV="1">
            <a:off x="6684171" y="7174945"/>
            <a:ext cx="21267" cy="47389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 flipV="1">
            <a:off x="6663829" y="7127152"/>
            <a:ext cx="20342" cy="4779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 flipV="1">
            <a:off x="6644418" y="7078973"/>
            <a:ext cx="19411" cy="48179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 flipV="1">
            <a:off x="6625947" y="7030427"/>
            <a:ext cx="18471" cy="48546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 flipV="1">
            <a:off x="6608422" y="6981530"/>
            <a:ext cx="17525" cy="4889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 flipV="1">
            <a:off x="6591850" y="6932303"/>
            <a:ext cx="16572" cy="4922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 flipV="1">
            <a:off x="6576237" y="6882763"/>
            <a:ext cx="15613" cy="4954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 flipV="1">
            <a:off x="6561589" y="6832929"/>
            <a:ext cx="14648" cy="4983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 flipV="1">
            <a:off x="6547912" y="6782821"/>
            <a:ext cx="13677" cy="5010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 flipV="1">
            <a:off x="6535210" y="6732456"/>
            <a:ext cx="12702" cy="5036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 flipV="1">
            <a:off x="6523489" y="6681854"/>
            <a:ext cx="11721" cy="5060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 flipV="1">
            <a:off x="6512752" y="6631033"/>
            <a:ext cx="10737" cy="5082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 flipV="1">
            <a:off x="6503004" y="6580014"/>
            <a:ext cx="9748" cy="51019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 flipV="1">
            <a:off x="6494249" y="6528816"/>
            <a:ext cx="8755" cy="5119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Isosceles Triangle 154"/>
          <p:cNvSpPr/>
          <p:nvPr/>
        </p:nvSpPr>
        <p:spPr>
          <a:xfrm rot="20283382">
            <a:off x="6560959" y="7024282"/>
            <a:ext cx="205739" cy="205739"/>
          </a:xfrm>
          <a:prstGeom prst="triangl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 flipV="1">
            <a:off x="6494249" y="5627225"/>
            <a:ext cx="8755" cy="51199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503004" y="5576206"/>
            <a:ext cx="9748" cy="51019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512752" y="5525385"/>
            <a:ext cx="10737" cy="5082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523489" y="5474783"/>
            <a:ext cx="11721" cy="5060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535210" y="5424418"/>
            <a:ext cx="12702" cy="5036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6547912" y="5374310"/>
            <a:ext cx="13677" cy="5010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561589" y="5324476"/>
            <a:ext cx="14648" cy="4983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6576237" y="5274936"/>
            <a:ext cx="15613" cy="4954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591850" y="5225709"/>
            <a:ext cx="16572" cy="4922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608422" y="5176812"/>
            <a:ext cx="17525" cy="4889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625947" y="5128266"/>
            <a:ext cx="18471" cy="48546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644418" y="5080087"/>
            <a:ext cx="19411" cy="48179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663829" y="5032294"/>
            <a:ext cx="20342" cy="4779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684171" y="4984905"/>
            <a:ext cx="21267" cy="47389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6705438" y="4937938"/>
            <a:ext cx="22183" cy="4696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727621" y="4891411"/>
            <a:ext cx="23090" cy="4652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750711" y="4845341"/>
            <a:ext cx="23990" cy="4607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774701" y="4799746"/>
            <a:ext cx="24880" cy="4559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799581" y="4754642"/>
            <a:ext cx="25761" cy="4510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825342" y="4710047"/>
            <a:ext cx="26632" cy="4459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851974" y="4665977"/>
            <a:ext cx="27493" cy="4407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879467" y="4622450"/>
            <a:ext cx="28343" cy="4352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907810" y="4579482"/>
            <a:ext cx="29184" cy="4296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936994" y="4537088"/>
            <a:ext cx="30012" cy="4239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Isosceles Triangle 179"/>
          <p:cNvSpPr/>
          <p:nvPr/>
        </p:nvSpPr>
        <p:spPr>
          <a:xfrm rot="1383382">
            <a:off x="6560959" y="4977217"/>
            <a:ext cx="205739" cy="205739"/>
          </a:xfrm>
          <a:prstGeom prst="triangl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 flipV="1">
            <a:off x="7568324" y="3905758"/>
            <a:ext cx="42394" cy="3001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7610718" y="3876574"/>
            <a:ext cx="42968" cy="29184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7653686" y="3848231"/>
            <a:ext cx="43527" cy="2834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7697213" y="3820738"/>
            <a:ext cx="44070" cy="2749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7741283" y="3794106"/>
            <a:ext cx="44595" cy="2663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7785878" y="3768345"/>
            <a:ext cx="45104" cy="2576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7830982" y="3743465"/>
            <a:ext cx="45595" cy="2488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876577" y="3719475"/>
            <a:ext cx="46070" cy="2399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922647" y="3696385"/>
            <a:ext cx="46527" cy="2309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969174" y="3674202"/>
            <a:ext cx="46967" cy="2218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8016141" y="3652935"/>
            <a:ext cx="47389" cy="2126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063530" y="3632593"/>
            <a:ext cx="47793" cy="2034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111323" y="3613182"/>
            <a:ext cx="48179" cy="1941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159502" y="3594711"/>
            <a:ext cx="48546" cy="1847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208048" y="3577186"/>
            <a:ext cx="48897" cy="1752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56945" y="3560614"/>
            <a:ext cx="49227" cy="1657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06172" y="3545001"/>
            <a:ext cx="49540" cy="15613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355712" y="3530353"/>
            <a:ext cx="49834" cy="1464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405546" y="3516676"/>
            <a:ext cx="50108" cy="1367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455654" y="3503974"/>
            <a:ext cx="50365" cy="12702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506019" y="3492253"/>
            <a:ext cx="50602" cy="1172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556621" y="3481516"/>
            <a:ext cx="50821" cy="10737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607442" y="3471768"/>
            <a:ext cx="51019" cy="9748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658461" y="3463013"/>
            <a:ext cx="51198" cy="8755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Isosceles Triangle 204"/>
          <p:cNvSpPr/>
          <p:nvPr/>
        </p:nvSpPr>
        <p:spPr>
          <a:xfrm rot="4083382">
            <a:off x="8008453" y="3529723"/>
            <a:ext cx="205739" cy="205739"/>
          </a:xfrm>
          <a:prstGeom prst="triangl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106156" y="5074920"/>
            <a:ext cx="2057400" cy="2057400"/>
          </a:xfrm>
          <a:prstGeom prst="ellipse">
            <a:avLst/>
          </a:prstGeom>
          <a:solidFill>
            <a:srgbClr val="084B4D"/>
          </a:solidFill>
          <a:ln w="1651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106156" y="5884164"/>
            <a:ext cx="2057400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spc="330">
                <a:solidFill>
                  <a:srgbClr val="EBCF9E"/>
                </a:solidFill>
                <a:latin typeface="TT Commons Pro"/>
              </a:rPr>
              <a:t>THE LOOP</a:t>
            </a:r>
          </a:p>
        </p:txBody>
      </p:sp>
      <p:sp>
        <p:nvSpPr>
          <p:cNvPr id="208" name="Oval 207"/>
          <p:cNvSpPr/>
          <p:nvPr/>
        </p:nvSpPr>
        <p:spPr>
          <a:xfrm>
            <a:off x="8449056" y="2743200"/>
            <a:ext cx="1371600" cy="1371600"/>
          </a:xfrm>
          <a:prstGeom prst="ellipse">
            <a:avLst/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9" name="Picture 208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16" y="3031236"/>
            <a:ext cx="411479" cy="411479"/>
          </a:xfrm>
          <a:prstGeom prst="rect">
            <a:avLst/>
          </a:prstGeom>
        </p:spPr>
      </p:pic>
      <p:sp>
        <p:nvSpPr>
          <p:cNvPr id="210" name="TextBox 209"/>
          <p:cNvSpPr txBox="1"/>
          <p:nvPr/>
        </p:nvSpPr>
        <p:spPr>
          <a:xfrm>
            <a:off x="8106156" y="3511296"/>
            <a:ext cx="2057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visibility</a:t>
            </a:r>
          </a:p>
        </p:txBody>
      </p:sp>
      <p:sp>
        <p:nvSpPr>
          <p:cNvPr id="211" name="Oval 210"/>
          <p:cNvSpPr/>
          <p:nvPr/>
        </p:nvSpPr>
        <p:spPr>
          <a:xfrm>
            <a:off x="10340297" y="3526578"/>
            <a:ext cx="1371600" cy="1371600"/>
          </a:xfrm>
          <a:prstGeom prst="ellipse">
            <a:avLst/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2" name="Picture 211" descr="coo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0357" y="3814614"/>
            <a:ext cx="411479" cy="411479"/>
          </a:xfrm>
          <a:prstGeom prst="rect">
            <a:avLst/>
          </a:prstGeom>
        </p:spPr>
      </p:pic>
      <p:sp>
        <p:nvSpPr>
          <p:cNvPr id="213" name="TextBox 212"/>
          <p:cNvSpPr txBox="1"/>
          <p:nvPr/>
        </p:nvSpPr>
        <p:spPr>
          <a:xfrm>
            <a:off x="9997397" y="4294674"/>
            <a:ext cx="2057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coordination</a:t>
            </a:r>
          </a:p>
        </p:txBody>
      </p:sp>
      <p:sp>
        <p:nvSpPr>
          <p:cNvPr id="214" name="Oval 213"/>
          <p:cNvSpPr/>
          <p:nvPr/>
        </p:nvSpPr>
        <p:spPr>
          <a:xfrm>
            <a:off x="11123676" y="5417820"/>
            <a:ext cx="1371600" cy="1371600"/>
          </a:xfrm>
          <a:prstGeom prst="ellipse">
            <a:avLst/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5" name="Picture 214" descr="mon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3735" y="5705856"/>
            <a:ext cx="411479" cy="411479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10780776" y="6185916"/>
            <a:ext cx="2057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exchange</a:t>
            </a:r>
          </a:p>
        </p:txBody>
      </p:sp>
      <p:sp>
        <p:nvSpPr>
          <p:cNvPr id="217" name="Oval 216"/>
          <p:cNvSpPr/>
          <p:nvPr/>
        </p:nvSpPr>
        <p:spPr>
          <a:xfrm>
            <a:off x="10340297" y="7309061"/>
            <a:ext cx="1371600" cy="1371600"/>
          </a:xfrm>
          <a:prstGeom prst="ellipse">
            <a:avLst/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8" name="Picture 217" descr="gro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0357" y="7597097"/>
            <a:ext cx="411479" cy="411479"/>
          </a:xfrm>
          <a:prstGeom prst="rect">
            <a:avLst/>
          </a:prstGeom>
        </p:spPr>
      </p:pic>
      <p:sp>
        <p:nvSpPr>
          <p:cNvPr id="219" name="TextBox 218"/>
          <p:cNvSpPr txBox="1"/>
          <p:nvPr/>
        </p:nvSpPr>
        <p:spPr>
          <a:xfrm>
            <a:off x="9997397" y="8077157"/>
            <a:ext cx="2057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relationships</a:t>
            </a:r>
          </a:p>
        </p:txBody>
      </p:sp>
      <p:sp>
        <p:nvSpPr>
          <p:cNvPr id="220" name="Oval 219"/>
          <p:cNvSpPr/>
          <p:nvPr/>
        </p:nvSpPr>
        <p:spPr>
          <a:xfrm>
            <a:off x="8449056" y="8092440"/>
            <a:ext cx="1371600" cy="1371600"/>
          </a:xfrm>
          <a:prstGeom prst="ellipse">
            <a:avLst/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1" name="Picture 220" descr="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9116" y="8380476"/>
            <a:ext cx="411479" cy="411479"/>
          </a:xfrm>
          <a:prstGeom prst="rect">
            <a:avLst/>
          </a:prstGeom>
        </p:spPr>
      </p:pic>
      <p:sp>
        <p:nvSpPr>
          <p:cNvPr id="222" name="TextBox 221"/>
          <p:cNvSpPr txBox="1"/>
          <p:nvPr/>
        </p:nvSpPr>
        <p:spPr>
          <a:xfrm>
            <a:off x="8106156" y="8860536"/>
            <a:ext cx="2057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intelligence</a:t>
            </a:r>
          </a:p>
        </p:txBody>
      </p:sp>
      <p:sp>
        <p:nvSpPr>
          <p:cNvPr id="223" name="Oval 222"/>
          <p:cNvSpPr/>
          <p:nvPr/>
        </p:nvSpPr>
        <p:spPr>
          <a:xfrm>
            <a:off x="6557814" y="7309061"/>
            <a:ext cx="1371600" cy="1371600"/>
          </a:xfrm>
          <a:prstGeom prst="ellipse">
            <a:avLst/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4" name="Picture 223" descr="reque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7874" y="7597097"/>
            <a:ext cx="411479" cy="411479"/>
          </a:xfrm>
          <a:prstGeom prst="rect">
            <a:avLst/>
          </a:prstGeom>
        </p:spPr>
      </p:pic>
      <p:sp>
        <p:nvSpPr>
          <p:cNvPr id="225" name="TextBox 224"/>
          <p:cNvSpPr txBox="1"/>
          <p:nvPr/>
        </p:nvSpPr>
        <p:spPr>
          <a:xfrm>
            <a:off x="6214914" y="8077157"/>
            <a:ext cx="2057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demand</a:t>
            </a:r>
          </a:p>
        </p:txBody>
      </p:sp>
      <p:sp>
        <p:nvSpPr>
          <p:cNvPr id="226" name="Oval 225"/>
          <p:cNvSpPr/>
          <p:nvPr/>
        </p:nvSpPr>
        <p:spPr>
          <a:xfrm>
            <a:off x="5774436" y="5417820"/>
            <a:ext cx="1371600" cy="1371600"/>
          </a:xfrm>
          <a:prstGeom prst="ellipse">
            <a:avLst/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7" name="Picture 226" descr="or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4496" y="5705856"/>
            <a:ext cx="411479" cy="411479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5431536" y="6185916"/>
            <a:ext cx="2057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capacity</a:t>
            </a:r>
          </a:p>
        </p:txBody>
      </p:sp>
      <p:sp>
        <p:nvSpPr>
          <p:cNvPr id="229" name="Oval 228"/>
          <p:cNvSpPr/>
          <p:nvPr/>
        </p:nvSpPr>
        <p:spPr>
          <a:xfrm>
            <a:off x="6557814" y="3526578"/>
            <a:ext cx="1371600" cy="1371600"/>
          </a:xfrm>
          <a:prstGeom prst="ellipse">
            <a:avLst/>
          </a:prstGeom>
          <a:solidFill>
            <a:srgbClr val="0D3E40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0" name="Picture 229" descr="verif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7874" y="3814614"/>
            <a:ext cx="411479" cy="411479"/>
          </a:xfrm>
          <a:prstGeom prst="rect">
            <a:avLst/>
          </a:prstGeom>
        </p:spPr>
      </p:pic>
      <p:sp>
        <p:nvSpPr>
          <p:cNvPr id="231" name="TextBox 230"/>
          <p:cNvSpPr txBox="1"/>
          <p:nvPr/>
        </p:nvSpPr>
        <p:spPr>
          <a:xfrm>
            <a:off x="6214914" y="4294674"/>
            <a:ext cx="2057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resilience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822959" y="9162288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100" spc="20">
                <a:solidFill>
                  <a:srgbClr val="9FE8DC"/>
                </a:solidFill>
                <a:latin typeface="Alike Italics"/>
              </a:rPr>
              <a:t>The goal is not simply to circulate what already exists.</a:t>
            </a:r>
          </a:p>
        </p:txBody>
      </p:sp>
      <p:pic>
        <p:nvPicPr>
          <p:cNvPr id="233" name="Picture 232" descr="rivr-symbol-ligh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234" name="TextBox 233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45919"/>
            <a:ext cx="12176760" cy="857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57" spc="-63">
                <a:solidFill>
                  <a:srgbClr val="F4EAD8"/>
                </a:solidFill>
                <a:latin typeface="TT Commons Pro Bold"/>
              </a:rPr>
              <a:t>The social network is the doorway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514771"/>
            <a:ext cx="11301650" cy="857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57" spc="-63">
                <a:solidFill>
                  <a:srgbClr val="F4EAD8"/>
                </a:solidFill>
                <a:latin typeface="TT Commons Pro Bold"/>
              </a:rPr>
              <a:t>coordination infrastructure is the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9688" y="2462193"/>
            <a:ext cx="6569630" cy="952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175" spc="-75">
                <a:solidFill>
                  <a:srgbClr val="F0CC8B"/>
                </a:solidFill>
                <a:latin typeface="Ibarra Real Nova Italics"/>
              </a:rPr>
              <a:t>larger opportunity.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4800600"/>
            <a:ext cx="2468880" cy="960119"/>
          </a:xfrm>
          <a:prstGeom prst="roundRect">
            <a:avLst>
              <a:gd name="adj" fmla="val 18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s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3" y="5102352"/>
            <a:ext cx="356616" cy="3566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77339" y="5102352"/>
            <a:ext cx="16459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communication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60420" y="5280660"/>
            <a:ext cx="6926580" cy="1056132"/>
          </a:xfrm>
          <a:prstGeom prst="line">
            <a:avLst/>
          </a:prstGeom>
          <a:ln w="7620">
            <a:solidFill>
              <a:srgbClr val="1B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97579" y="4800600"/>
            <a:ext cx="2468880" cy="960119"/>
          </a:xfrm>
          <a:prstGeom prst="roundRect">
            <a:avLst>
              <a:gd name="adj" fmla="val 18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ist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183" y="5102352"/>
            <a:ext cx="356616" cy="3566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51959" y="5102352"/>
            <a:ext cx="16459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commerce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5280660"/>
            <a:ext cx="4251960" cy="1056132"/>
          </a:xfrm>
          <a:prstGeom prst="line">
            <a:avLst/>
          </a:prstGeom>
          <a:ln w="7620">
            <a:solidFill>
              <a:srgbClr val="1B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72200" y="4800600"/>
            <a:ext cx="2468880" cy="960119"/>
          </a:xfrm>
          <a:prstGeom prst="roundRect">
            <a:avLst>
              <a:gd name="adj" fmla="val 18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oj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5102352"/>
            <a:ext cx="356616" cy="3566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26579" y="5102352"/>
            <a:ext cx="16459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projects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09659" y="5280660"/>
            <a:ext cx="1577341" cy="1056132"/>
          </a:xfrm>
          <a:prstGeom prst="line">
            <a:avLst/>
          </a:prstGeom>
          <a:ln w="7620">
            <a:solidFill>
              <a:srgbClr val="1B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59" y="5980176"/>
            <a:ext cx="2468880" cy="960119"/>
          </a:xfrm>
          <a:prstGeom prst="roundRect">
            <a:avLst>
              <a:gd name="adj" fmla="val 18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v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563" y="6281928"/>
            <a:ext cx="356616" cy="3566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77339" y="6281928"/>
            <a:ext cx="16459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events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360420" y="6336792"/>
            <a:ext cx="6926580" cy="123444"/>
          </a:xfrm>
          <a:prstGeom prst="line">
            <a:avLst/>
          </a:prstGeom>
          <a:ln w="7620">
            <a:solidFill>
              <a:srgbClr val="1B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97579" y="5980176"/>
            <a:ext cx="2468880" cy="960119"/>
          </a:xfrm>
          <a:prstGeom prst="roundRect">
            <a:avLst>
              <a:gd name="adj" fmla="val 18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one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183" y="6281928"/>
            <a:ext cx="356616" cy="3566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251959" y="6281928"/>
            <a:ext cx="16459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payments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6035040" y="6336792"/>
            <a:ext cx="4251960" cy="123444"/>
          </a:xfrm>
          <a:prstGeom prst="line">
            <a:avLst/>
          </a:prstGeom>
          <a:ln w="7620">
            <a:solidFill>
              <a:srgbClr val="1B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72200" y="5980176"/>
            <a:ext cx="2468880" cy="960119"/>
          </a:xfrm>
          <a:prstGeom prst="roundRect">
            <a:avLst>
              <a:gd name="adj" fmla="val 18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tim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2804" y="6281928"/>
            <a:ext cx="356616" cy="35661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26579" y="6281928"/>
            <a:ext cx="16459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scheduling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709659" y="6336792"/>
            <a:ext cx="1577341" cy="123444"/>
          </a:xfrm>
          <a:prstGeom prst="line">
            <a:avLst/>
          </a:prstGeom>
          <a:ln w="7620">
            <a:solidFill>
              <a:srgbClr val="1B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2959" y="7159752"/>
            <a:ext cx="2468880" cy="960119"/>
          </a:xfrm>
          <a:prstGeom prst="roundRect">
            <a:avLst>
              <a:gd name="adj" fmla="val 18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governanc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3563" y="7461504"/>
            <a:ext cx="356616" cy="35661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77339" y="7461504"/>
            <a:ext cx="16459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governance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3360420" y="6336792"/>
            <a:ext cx="6926580" cy="1303019"/>
          </a:xfrm>
          <a:prstGeom prst="line">
            <a:avLst/>
          </a:prstGeom>
          <a:ln w="7620">
            <a:solidFill>
              <a:srgbClr val="1B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497579" y="7159752"/>
            <a:ext cx="2468880" cy="960119"/>
          </a:xfrm>
          <a:prstGeom prst="roundRect">
            <a:avLst>
              <a:gd name="adj" fmla="val 18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do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8183" y="7461504"/>
            <a:ext cx="356616" cy="35661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251959" y="7461504"/>
            <a:ext cx="16459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documents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6035040" y="6336792"/>
            <a:ext cx="4251960" cy="1303019"/>
          </a:xfrm>
          <a:prstGeom prst="line">
            <a:avLst/>
          </a:prstGeom>
          <a:ln w="7620">
            <a:solidFill>
              <a:srgbClr val="1B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172200" y="7159752"/>
            <a:ext cx="2468880" cy="960119"/>
          </a:xfrm>
          <a:prstGeom prst="roundRect">
            <a:avLst>
              <a:gd name="adj" fmla="val 18000"/>
            </a:avLst>
          </a:prstGeom>
          <a:solidFill>
            <a:srgbClr val="0D3E40"/>
          </a:solidFill>
          <a:ln w="14287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de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2804" y="7461504"/>
            <a:ext cx="356616" cy="35661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926579" y="7461504"/>
            <a:ext cx="16459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AI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8709659" y="6336792"/>
            <a:ext cx="1577341" cy="1303019"/>
          </a:xfrm>
          <a:prstGeom prst="line">
            <a:avLst/>
          </a:prstGeom>
          <a:ln w="7620">
            <a:solidFill>
              <a:srgbClr val="1B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561320" y="4800600"/>
            <a:ext cx="6926579" cy="3086100"/>
          </a:xfrm>
          <a:prstGeom prst="roundRect">
            <a:avLst>
              <a:gd name="adj" fmla="val 6000"/>
            </a:avLst>
          </a:prstGeom>
          <a:solidFill>
            <a:srgbClr val="084B4D"/>
          </a:solidFill>
          <a:ln w="22859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rin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00232" y="5170932"/>
            <a:ext cx="493776" cy="49377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864340" y="5239512"/>
            <a:ext cx="5486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EBCF9E"/>
                </a:solidFill>
                <a:latin typeface="TT Commons Pro"/>
              </a:rPr>
              <a:t>ONE RELATIONAL 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103620"/>
            <a:ext cx="6172200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Different parts of the same relationships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between people, organizations, resources,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needs, agreements, and actions.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" y="864108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100" spc="20">
                <a:solidFill>
                  <a:srgbClr val="9FE8DC"/>
                </a:solidFill>
                <a:latin typeface="Alike Italics"/>
              </a:rPr>
              <a:t>Instead of stitching disconnected platforms together, these functions share an underlying relational system.</a:t>
            </a:r>
          </a:p>
        </p:txBody>
      </p:sp>
      <p:pic>
        <p:nvPicPr>
          <p:cNvPr id="48" name="Picture 47" descr="rivr-symbol-ligh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CONTEXTUAL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11860450" cy="10104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87" spc="-74">
                <a:solidFill>
                  <a:srgbClr val="F4EAD8"/>
                </a:solidFill>
                <a:latin typeface="TT Commons Pro Bold"/>
              </a:rPr>
              <a:t>Connection shouldn't require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6728" y="1645919"/>
            <a:ext cx="5789771" cy="11082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17" spc="-75">
                <a:solidFill>
                  <a:srgbClr val="99E6D9"/>
                </a:solidFill>
                <a:latin typeface="Ibarra Real Nova Italics"/>
              </a:rPr>
              <a:t>total exposure.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909060"/>
            <a:ext cx="30861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9FE8DC"/>
                </a:solidFill>
                <a:latin typeface="TT Commons Pro"/>
              </a:rPr>
              <a:t>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8179" y="3909060"/>
            <a:ext cx="30861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9FE8DC"/>
                </a:solidFill>
                <a:latin typeface="TT Commons Pro"/>
              </a:rPr>
              <a:t>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3909060"/>
            <a:ext cx="30861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9FE8DC"/>
                </a:solidFill>
                <a:latin typeface="TT Commons Pro"/>
              </a:rPr>
              <a:t>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73100" y="3909060"/>
            <a:ext cx="30861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9FE8DC"/>
                </a:solidFill>
                <a:latin typeface="TT Commons Pro"/>
              </a:rP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59" y="3909060"/>
            <a:ext cx="30861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9FE8DC"/>
                </a:solidFill>
                <a:latin typeface="TT Commons Pro"/>
              </a:rPr>
              <a:t>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4677156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a neighbor</a:t>
            </a:r>
          </a:p>
        </p:txBody>
      </p:sp>
      <p:sp>
        <p:nvSpPr>
          <p:cNvPr id="12" name="Oval 11"/>
          <p:cNvSpPr/>
          <p:nvPr/>
        </p:nvSpPr>
        <p:spPr>
          <a:xfrm>
            <a:off x="6837426" y="4663440"/>
            <a:ext cx="384048" cy="384048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74886" y="4663440"/>
            <a:ext cx="384048" cy="384048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12345" y="4663440"/>
            <a:ext cx="384048" cy="384048"/>
          </a:xfrm>
          <a:prstGeom prst="ellipse">
            <a:avLst/>
          </a:prstGeom>
          <a:noFill/>
          <a:ln w="12700">
            <a:solidFill>
              <a:srgbClr val="2A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449806" y="4663440"/>
            <a:ext cx="384048" cy="384048"/>
          </a:xfrm>
          <a:prstGeom prst="ellipse">
            <a:avLst/>
          </a:prstGeom>
          <a:noFill/>
          <a:ln w="12700">
            <a:solidFill>
              <a:srgbClr val="2A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987266" y="4663440"/>
            <a:ext cx="384048" cy="384048"/>
          </a:xfrm>
          <a:prstGeom prst="ellipse">
            <a:avLst/>
          </a:prstGeom>
          <a:noFill/>
          <a:ln w="12700">
            <a:solidFill>
              <a:srgbClr val="2A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5445252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my group</a:t>
            </a:r>
          </a:p>
        </p:txBody>
      </p:sp>
      <p:sp>
        <p:nvSpPr>
          <p:cNvPr id="18" name="Oval 17"/>
          <p:cNvSpPr/>
          <p:nvPr/>
        </p:nvSpPr>
        <p:spPr>
          <a:xfrm>
            <a:off x="6837426" y="5431536"/>
            <a:ext cx="384048" cy="384048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74886" y="5431536"/>
            <a:ext cx="384048" cy="384048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912345" y="5431536"/>
            <a:ext cx="384048" cy="384048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4449806" y="5431536"/>
            <a:ext cx="384048" cy="384048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987266" y="5431536"/>
            <a:ext cx="384048" cy="384048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19" y="6213348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an employer</a:t>
            </a:r>
          </a:p>
        </p:txBody>
      </p:sp>
      <p:sp>
        <p:nvSpPr>
          <p:cNvPr id="24" name="Oval 23"/>
          <p:cNvSpPr/>
          <p:nvPr/>
        </p:nvSpPr>
        <p:spPr>
          <a:xfrm>
            <a:off x="6837426" y="6199632"/>
            <a:ext cx="384048" cy="384048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74886" y="6199632"/>
            <a:ext cx="384048" cy="384048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912345" y="6199632"/>
            <a:ext cx="384048" cy="384048"/>
          </a:xfrm>
          <a:prstGeom prst="ellipse">
            <a:avLst/>
          </a:prstGeom>
          <a:noFill/>
          <a:ln w="12700">
            <a:solidFill>
              <a:srgbClr val="2A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449806" y="6199632"/>
            <a:ext cx="384048" cy="384048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987266" y="6199632"/>
            <a:ext cx="384048" cy="384048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19" y="6981444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the wider network</a:t>
            </a:r>
          </a:p>
        </p:txBody>
      </p:sp>
      <p:sp>
        <p:nvSpPr>
          <p:cNvPr id="30" name="Oval 29"/>
          <p:cNvSpPr/>
          <p:nvPr/>
        </p:nvSpPr>
        <p:spPr>
          <a:xfrm>
            <a:off x="6837426" y="6967728"/>
            <a:ext cx="384048" cy="384048"/>
          </a:xfrm>
          <a:prstGeom prst="ellipse">
            <a:avLst/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74886" y="6967728"/>
            <a:ext cx="384048" cy="384048"/>
          </a:xfrm>
          <a:prstGeom prst="ellipse">
            <a:avLst/>
          </a:prstGeom>
          <a:noFill/>
          <a:ln w="12700">
            <a:solidFill>
              <a:srgbClr val="2A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912345" y="6967728"/>
            <a:ext cx="384048" cy="384048"/>
          </a:xfrm>
          <a:prstGeom prst="ellipse">
            <a:avLst/>
          </a:prstGeom>
          <a:noFill/>
          <a:ln w="12700">
            <a:solidFill>
              <a:srgbClr val="2A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449806" y="6967728"/>
            <a:ext cx="384048" cy="384048"/>
          </a:xfrm>
          <a:prstGeom prst="ellipse">
            <a:avLst/>
          </a:prstGeom>
          <a:noFill/>
          <a:ln w="12700">
            <a:solidFill>
              <a:srgbClr val="2A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6987266" y="6967728"/>
            <a:ext cx="384048" cy="384048"/>
          </a:xfrm>
          <a:prstGeom prst="ellipse">
            <a:avLst/>
          </a:prstGeom>
          <a:noFill/>
          <a:ln w="12700">
            <a:solidFill>
              <a:srgbClr val="2A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19" y="3730752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EBCF9E"/>
                </a:solidFill>
                <a:latin typeface="TT Commons Pro"/>
              </a:rPr>
              <a:t>WHO IS ASKING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3730752"/>
            <a:ext cx="5486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WHAT THEY SEE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59" y="7886700"/>
            <a:ext cx="16664940" cy="987552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4440" y="8147304"/>
            <a:ext cx="159105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Prove without revealing — qualified? in the area? eligible? </a:t>
            </a:r>
            <a:r>
              <a:rPr sz="1800">
                <a:solidFill>
                  <a:srgbClr val="EBCF9E"/>
                </a:solidFill>
                <a:latin typeface="TT Commons Pro Bold"/>
              </a:rPr>
              <a:t>The system can confirm yes or no without exposing what's underneath.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9079992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025">
                <a:solidFill>
                  <a:srgbClr val="F4EAD8"/>
                </a:solidFill>
                <a:latin typeface="TT Commons Pro Bold"/>
              </a:rPr>
              <a:t>The goal is not secrecy. It's </a:t>
            </a:r>
            <a:r>
              <a:rPr sz="2175" spc="20">
                <a:solidFill>
                  <a:srgbClr val="EBCF9E"/>
                </a:solidFill>
                <a:latin typeface="Alike Italics"/>
              </a:rPr>
              <a:t>appropriate visibility.</a:t>
            </a:r>
          </a:p>
        </p:txBody>
      </p:sp>
      <p:pic>
        <p:nvPicPr>
          <p:cNvPr id="40" name="Picture 39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AI SOVEREIGNTY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7852330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6">
                <a:solidFill>
                  <a:srgbClr val="F4EAD8"/>
                </a:solidFill>
                <a:latin typeface="TT Commons Pro Bold"/>
              </a:rPr>
              <a:t>AI makes all of this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0232" y="1645919"/>
            <a:ext cx="6748224" cy="1140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195" spc="-75">
                <a:solidFill>
                  <a:srgbClr val="F0CC8B"/>
                </a:solidFill>
                <a:latin typeface="Ibarra Real Nova Italics"/>
              </a:rPr>
              <a:t>more important.</a:t>
            </a:r>
          </a:p>
        </p:txBody>
      </p:sp>
      <p:sp>
        <p:nvSpPr>
          <p:cNvPr id="6" name="Oval 5"/>
          <p:cNvSpPr/>
          <p:nvPr/>
        </p:nvSpPr>
        <p:spPr>
          <a:xfrm>
            <a:off x="8791956" y="3771900"/>
            <a:ext cx="685800" cy="685800"/>
          </a:xfrm>
          <a:prstGeom prst="ellipse">
            <a:avLst/>
          </a:prstGeom>
          <a:solidFill>
            <a:srgbClr val="084B4D"/>
          </a:solidFill>
          <a:ln w="16510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d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3922776"/>
            <a:ext cx="384048" cy="384048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 flipH="1">
            <a:off x="4937760" y="4526279"/>
            <a:ext cx="3977640" cy="1028700"/>
          </a:xfrm>
          <a:prstGeom prst="line">
            <a:avLst/>
          </a:prstGeom>
          <a:ln w="13970">
            <a:solidFill>
              <a:srgbClr val="D3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54312" y="4526279"/>
            <a:ext cx="3950207" cy="1028700"/>
          </a:xfrm>
          <a:prstGeom prst="line">
            <a:avLst/>
          </a:prstGeom>
          <a:ln w="1397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59" y="5554979"/>
            <a:ext cx="7680959" cy="3223260"/>
          </a:xfrm>
          <a:prstGeom prst="roundRect">
            <a:avLst>
              <a:gd name="adj" fmla="val 6000"/>
            </a:avLst>
          </a:prstGeom>
          <a:solidFill>
            <a:srgbClr val="084B4D"/>
          </a:solidFill>
          <a:ln w="19050">
            <a:solidFill>
              <a:srgbClr val="D3B7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03019" y="5870448"/>
            <a:ext cx="68580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D3B7A5"/>
                </a:solidFill>
                <a:latin typeface="TT Commons Pro"/>
              </a:rPr>
              <a:t>AI COULD BECOME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019" y="6336792"/>
            <a:ext cx="6858000" cy="2798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Another centralized layer.</a:t>
            </a:r>
          </a:p>
          <a:p>
            <a:pPr algn="l">
              <a:lnSpc>
                <a:spcPct val="15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Another source of dependence.</a:t>
            </a:r>
          </a:p>
          <a:p>
            <a:pPr algn="l">
              <a:lnSpc>
                <a:spcPct val="15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Another surveillance infrastructure.</a:t>
            </a:r>
          </a:p>
          <a:p>
            <a:pPr algn="l">
              <a:lnSpc>
                <a:spcPct val="15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Already capable of searching, scheduling,</a:t>
            </a:r>
          </a:p>
          <a:p>
            <a:pPr algn="l">
              <a:lnSpc>
                <a:spcPct val="15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purchasing, organizing — acting.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6940" y="5554979"/>
            <a:ext cx="7680959" cy="32232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22859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7000" y="5870448"/>
            <a:ext cx="68580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EBCF9E"/>
                </a:solidFill>
                <a:latin typeface="TT Commons Pro"/>
              </a:rPr>
              <a:t>OR IT COULD HELP COMMUNITIES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336792"/>
            <a:ext cx="685800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Find resources. Coordinate work.</a:t>
            </a:r>
          </a:p>
          <a:p>
            <a:pPr algn="l">
              <a:lnSpc>
                <a:spcPct val="15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Understand needs. Surface unused capacity.</a:t>
            </a:r>
          </a:p>
          <a:p>
            <a:pPr algn="l">
              <a:lnSpc>
                <a:spcPct val="15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Care for place — and steward the</a:t>
            </a:r>
          </a:p>
          <a:p>
            <a:pPr algn="l">
              <a:lnSpc>
                <a:spcPct val="15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ecological systems that sustain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9079992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Does AI make us more dependent on distant infrastructure — </a:t>
            </a:r>
            <a:r>
              <a:rPr sz="2025" spc="20">
                <a:solidFill>
                  <a:srgbClr val="9FE8DC"/>
                </a:solidFill>
                <a:latin typeface="Alike Italics"/>
              </a:rPr>
              <a:t>or more capable where we are?</a:t>
            </a:r>
          </a:p>
        </p:txBody>
      </p:sp>
      <p:pic>
        <p:nvPicPr>
          <p:cNvPr id="17" name="Picture 16" descr="rivr-symbol-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8636476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9">
                <a:solidFill>
                  <a:srgbClr val="F4EAD8"/>
                </a:solidFill>
                <a:latin typeface="TT Commons Pro Bold"/>
              </a:rPr>
              <a:t>Ownership changes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7549" y="1645919"/>
            <a:ext cx="5920740" cy="1173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72" spc="-75">
                <a:solidFill>
                  <a:srgbClr val="F0CC8B"/>
                </a:solidFill>
                <a:latin typeface="Ibarra Real Nova Italics"/>
              </a:rPr>
              <a:t>the incentives.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703320"/>
            <a:ext cx="79552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D3B7A5"/>
                </a:solidFill>
                <a:latin typeface="TT Commons Pro"/>
              </a:rPr>
              <a:t>MOST PLATFORMS — VALUE CONCENTRATES UPWARD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4320540"/>
            <a:ext cx="3291839" cy="576072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5240">
            <a:solidFill>
              <a:srgbClr val="D3B7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4416552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>
                <a:solidFill>
                  <a:srgbClr val="AFC4C2"/>
                </a:solidFill>
                <a:latin typeface="TT Commons Pro"/>
              </a:rPr>
              <a:t>attention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83379" y="4608576"/>
            <a:ext cx="2057400" cy="329184"/>
          </a:xfrm>
          <a:prstGeom prst="line">
            <a:avLst/>
          </a:prstGeom>
          <a:ln w="11430">
            <a:solidFill>
              <a:srgbClr val="D3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59" y="5033772"/>
            <a:ext cx="3291839" cy="576072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5240">
            <a:solidFill>
              <a:srgbClr val="D3B7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5129783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>
                <a:solidFill>
                  <a:srgbClr val="AFC4C2"/>
                </a:solidFill>
                <a:latin typeface="TT Commons Pro"/>
              </a:rPr>
              <a:t>data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183379" y="4937760"/>
            <a:ext cx="2057400" cy="384048"/>
          </a:xfrm>
          <a:prstGeom prst="line">
            <a:avLst/>
          </a:prstGeom>
          <a:ln w="11430">
            <a:solidFill>
              <a:srgbClr val="D3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59" y="5747003"/>
            <a:ext cx="3291839" cy="576072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5240">
            <a:solidFill>
              <a:srgbClr val="D3B7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5843016"/>
            <a:ext cx="30175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>
                <a:solidFill>
                  <a:srgbClr val="AFC4C2"/>
                </a:solidFill>
                <a:latin typeface="TT Commons Pro"/>
              </a:rPr>
              <a:t>transactions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183379" y="4937760"/>
            <a:ext cx="2057400" cy="1097280"/>
          </a:xfrm>
          <a:prstGeom prst="line">
            <a:avLst/>
          </a:prstGeom>
          <a:ln w="11430">
            <a:solidFill>
              <a:srgbClr val="D3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43650" y="4217670"/>
            <a:ext cx="1440180" cy="1440180"/>
          </a:xfrm>
          <a:prstGeom prst="ellipse">
            <a:avLst/>
          </a:prstGeom>
          <a:solidFill>
            <a:srgbClr val="084B4D"/>
          </a:solidFill>
          <a:ln w="15240">
            <a:solidFill>
              <a:srgbClr val="D3B7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6459" y="4773168"/>
            <a:ext cx="21945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330">
                <a:solidFill>
                  <a:srgbClr val="D3B7A5"/>
                </a:solidFill>
                <a:latin typeface="TT Commons Pro"/>
              </a:rPr>
              <a:t>PLATFORM</a:t>
            </a:r>
          </a:p>
        </p:txBody>
      </p:sp>
      <p:sp>
        <p:nvSpPr>
          <p:cNvPr id="18" name="Up Arrow 17"/>
          <p:cNvSpPr/>
          <p:nvPr/>
        </p:nvSpPr>
        <p:spPr>
          <a:xfrm>
            <a:off x="6885431" y="3223260"/>
            <a:ext cx="301752" cy="754380"/>
          </a:xfrm>
          <a:prstGeom prst="upArrow">
            <a:avLst/>
          </a:prstGeom>
          <a:solidFill>
            <a:srgbClr val="D3B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3703320"/>
            <a:ext cx="850392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EBCF9E"/>
                </a:solidFill>
                <a:latin typeface="TT Commons Pro"/>
              </a:rPr>
              <a:t>RIVR'S LOOP — VALUE RETURNS TO PARTICIPANTS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944508" y="4756807"/>
            <a:ext cx="59651" cy="13794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004159" y="4770601"/>
            <a:ext cx="59134" cy="1586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063293" y="4786467"/>
            <a:ext cx="58545" cy="1791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121838" y="4804385"/>
            <a:ext cx="57884" cy="1994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179722" y="4824333"/>
            <a:ext cx="57154" cy="21955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236876" y="4846288"/>
            <a:ext cx="56353" cy="23934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293229" y="4870222"/>
            <a:ext cx="55484" cy="25885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4348713" y="4896107"/>
            <a:ext cx="54549" cy="27803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4403262" y="4923910"/>
            <a:ext cx="53545" cy="2968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4456807" y="4953599"/>
            <a:ext cx="52478" cy="31537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4509285" y="4985136"/>
            <a:ext cx="51346" cy="3334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4560631" y="5018484"/>
            <a:ext cx="50153" cy="3511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610784" y="5053602"/>
            <a:ext cx="48897" cy="3684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4659681" y="5090448"/>
            <a:ext cx="47583" cy="3852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707264" y="5128976"/>
            <a:ext cx="46210" cy="40164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753474" y="5169140"/>
            <a:ext cx="44782" cy="4175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798256" y="5210890"/>
            <a:ext cx="43299" cy="43287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841555" y="5254177"/>
            <a:ext cx="41763" cy="4477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883318" y="5298947"/>
            <a:ext cx="40177" cy="4619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923495" y="5345146"/>
            <a:ext cx="38542" cy="4757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962037" y="5392718"/>
            <a:ext cx="36859" cy="48887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998896" y="5441605"/>
            <a:ext cx="35132" cy="5014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5034028" y="5491747"/>
            <a:ext cx="33363" cy="51337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5067391" y="5543084"/>
            <a:ext cx="31552" cy="5246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7619946">
            <a:off x="14507914" y="4950732"/>
            <a:ext cx="205739" cy="205739"/>
          </a:xfrm>
          <a:prstGeom prst="triangl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5324939" y="6291096"/>
            <a:ext cx="5314" cy="60994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5330253" y="6352090"/>
            <a:ext cx="3184" cy="61143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5333437" y="6413233"/>
            <a:ext cx="1050" cy="6121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5333403" y="6474449"/>
            <a:ext cx="1084" cy="6121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5330184" y="6535665"/>
            <a:ext cx="3219" cy="6114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5324835" y="6596805"/>
            <a:ext cx="5349" cy="6099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5317363" y="6657797"/>
            <a:ext cx="7472" cy="60767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5307777" y="6718564"/>
            <a:ext cx="9586" cy="6047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5296088" y="6779034"/>
            <a:ext cx="11689" cy="6009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5282311" y="6839133"/>
            <a:ext cx="13777" cy="59655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5266461" y="6898788"/>
            <a:ext cx="15850" cy="5913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5248560" y="6957927"/>
            <a:ext cx="17901" cy="5855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5228628" y="7016477"/>
            <a:ext cx="19932" cy="5789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5206689" y="7074367"/>
            <a:ext cx="21939" cy="5715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15182771" y="7131526"/>
            <a:ext cx="23918" cy="5636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5156902" y="7187886"/>
            <a:ext cx="25869" cy="5549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5129114" y="7243378"/>
            <a:ext cx="27788" cy="5455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5099441" y="7297934"/>
            <a:ext cx="29673" cy="53554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5067918" y="7351488"/>
            <a:ext cx="31523" cy="52487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5034585" y="7403975"/>
            <a:ext cx="33333" cy="5135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4999481" y="7455331"/>
            <a:ext cx="35104" cy="5016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14962649" y="7505493"/>
            <a:ext cx="36832" cy="4890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4924135" y="7554401"/>
            <a:ext cx="38514" cy="47593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14883984" y="7601994"/>
            <a:ext cx="40151" cy="4622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sosceles Triangle 68"/>
          <p:cNvSpPr/>
          <p:nvPr/>
        </p:nvSpPr>
        <p:spPr>
          <a:xfrm rot="11939946">
            <a:off x="15145690" y="6913607"/>
            <a:ext cx="205739" cy="205739"/>
          </a:xfrm>
          <a:prstGeom prst="triangl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H="1">
            <a:off x="14235953" y="8078085"/>
            <a:ext cx="56367" cy="23903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4178787" y="8101988"/>
            <a:ext cx="57166" cy="2192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4120891" y="8123910"/>
            <a:ext cx="57896" cy="1991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14062337" y="8143826"/>
            <a:ext cx="58554" cy="17885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14003194" y="8161711"/>
            <a:ext cx="59143" cy="1583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13943535" y="8177543"/>
            <a:ext cx="59659" cy="1376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13883432" y="8191303"/>
            <a:ext cx="60103" cy="1167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13822960" y="8202975"/>
            <a:ext cx="60472" cy="956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13762190" y="8212544"/>
            <a:ext cx="60770" cy="7455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3701197" y="8219999"/>
            <a:ext cx="60993" cy="533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13640055" y="8225331"/>
            <a:ext cx="61142" cy="3201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13578840" y="8228532"/>
            <a:ext cx="61215" cy="106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13517624" y="8228532"/>
            <a:ext cx="61216" cy="106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13456482" y="8225331"/>
            <a:ext cx="61142" cy="3201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13395489" y="8219999"/>
            <a:ext cx="60993" cy="533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 flipV="1">
            <a:off x="13334719" y="8212544"/>
            <a:ext cx="60770" cy="7455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13274247" y="8202975"/>
            <a:ext cx="60472" cy="956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13214144" y="8191303"/>
            <a:ext cx="60103" cy="1167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 flipV="1">
            <a:off x="13154485" y="8177543"/>
            <a:ext cx="59659" cy="1376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 flipV="1">
            <a:off x="13095342" y="8161711"/>
            <a:ext cx="59143" cy="1583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 flipV="1">
            <a:off x="13036788" y="8143826"/>
            <a:ext cx="58554" cy="17885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12978892" y="8123910"/>
            <a:ext cx="57896" cy="1991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 flipV="1">
            <a:off x="12921726" y="8101988"/>
            <a:ext cx="57166" cy="2192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 flipV="1">
            <a:off x="12865359" y="8078085"/>
            <a:ext cx="56367" cy="23903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Isosceles Triangle 93"/>
          <p:cNvSpPr/>
          <p:nvPr/>
        </p:nvSpPr>
        <p:spPr>
          <a:xfrm rot="16259946">
            <a:off x="13475970" y="8126729"/>
            <a:ext cx="205739" cy="205739"/>
          </a:xfrm>
          <a:prstGeom prst="triangl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 flipH="1" flipV="1">
            <a:off x="12233544" y="7601994"/>
            <a:ext cx="40151" cy="4622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 flipV="1">
            <a:off x="12195030" y="7554401"/>
            <a:ext cx="38514" cy="47593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 flipV="1">
            <a:off x="12158198" y="7505493"/>
            <a:ext cx="36832" cy="4890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 flipV="1">
            <a:off x="12123094" y="7455331"/>
            <a:ext cx="35104" cy="5016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12089761" y="7403975"/>
            <a:ext cx="33333" cy="5135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 flipV="1">
            <a:off x="12058238" y="7351488"/>
            <a:ext cx="31523" cy="52487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2028565" y="7297934"/>
            <a:ext cx="29673" cy="53554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2000777" y="7243378"/>
            <a:ext cx="27788" cy="5455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1974908" y="7187886"/>
            <a:ext cx="25869" cy="5549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1950990" y="7131526"/>
            <a:ext cx="23918" cy="5636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11929051" y="7074367"/>
            <a:ext cx="21939" cy="5715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11909119" y="7016477"/>
            <a:ext cx="19932" cy="5789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11891218" y="6957927"/>
            <a:ext cx="17901" cy="5855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11875368" y="6898788"/>
            <a:ext cx="15850" cy="5913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 flipV="1">
            <a:off x="11861591" y="6839133"/>
            <a:ext cx="13777" cy="59655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11849902" y="6779034"/>
            <a:ext cx="11689" cy="6009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11840316" y="6718564"/>
            <a:ext cx="9586" cy="6047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11832844" y="6657797"/>
            <a:ext cx="7472" cy="60767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11827495" y="6596805"/>
            <a:ext cx="5349" cy="6099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11824276" y="6535665"/>
            <a:ext cx="3219" cy="6114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11823192" y="6474449"/>
            <a:ext cx="1084" cy="6121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823192" y="6413233"/>
            <a:ext cx="1050" cy="6121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824242" y="6352090"/>
            <a:ext cx="3184" cy="61143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1827426" y="6291096"/>
            <a:ext cx="5314" cy="60994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Isosceles Triangle 118"/>
          <p:cNvSpPr/>
          <p:nvPr/>
        </p:nvSpPr>
        <p:spPr>
          <a:xfrm rot="20579946">
            <a:off x="11806249" y="6913607"/>
            <a:ext cx="205739" cy="205739"/>
          </a:xfrm>
          <a:prstGeom prst="triangl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 flipV="1">
            <a:off x="12058736" y="5543084"/>
            <a:ext cx="31552" cy="5246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2090288" y="5491747"/>
            <a:ext cx="33363" cy="51337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2123651" y="5441605"/>
            <a:ext cx="35132" cy="5014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2158783" y="5392718"/>
            <a:ext cx="36859" cy="48887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95642" y="5345146"/>
            <a:ext cx="38542" cy="47572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2234184" y="5298947"/>
            <a:ext cx="40177" cy="4619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2274361" y="5254177"/>
            <a:ext cx="41763" cy="4477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2316124" y="5210890"/>
            <a:ext cx="43299" cy="43287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2359423" y="5169140"/>
            <a:ext cx="44782" cy="41750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2404205" y="5128976"/>
            <a:ext cx="46210" cy="40164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2450415" y="5090448"/>
            <a:ext cx="47583" cy="3852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2497998" y="5053602"/>
            <a:ext cx="48897" cy="3684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2546895" y="5018484"/>
            <a:ext cx="50153" cy="3511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2597048" y="4985136"/>
            <a:ext cx="51346" cy="3334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2648394" y="4953599"/>
            <a:ext cx="52478" cy="31537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2700872" y="4923910"/>
            <a:ext cx="53545" cy="29689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2754417" y="4896107"/>
            <a:ext cx="54549" cy="27803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2808966" y="4870222"/>
            <a:ext cx="55484" cy="25885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2864450" y="4846288"/>
            <a:ext cx="56353" cy="23934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2920803" y="4824333"/>
            <a:ext cx="57154" cy="21955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2977957" y="4804385"/>
            <a:ext cx="57884" cy="1994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3035841" y="4786467"/>
            <a:ext cx="58545" cy="17918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3094386" y="4770601"/>
            <a:ext cx="59134" cy="15866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3153520" y="4756807"/>
            <a:ext cx="59651" cy="13794"/>
          </a:xfrm>
          <a:prstGeom prst="line">
            <a:avLst/>
          </a:prstGeom>
          <a:ln w="12700">
            <a:solidFill>
              <a:srgbClr val="F0C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Isosceles Triangle 143"/>
          <p:cNvSpPr/>
          <p:nvPr/>
        </p:nvSpPr>
        <p:spPr>
          <a:xfrm rot="3299946">
            <a:off x="12444025" y="4950732"/>
            <a:ext cx="205739" cy="205739"/>
          </a:xfrm>
          <a:prstGeom prst="triangl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2989052" y="4128515"/>
            <a:ext cx="1179576" cy="1179576"/>
          </a:xfrm>
          <a:prstGeom prst="ellipse">
            <a:avLst/>
          </a:prstGeom>
          <a:solidFill>
            <a:srgbClr val="0D3E40"/>
          </a:solidFill>
          <a:ln w="15240">
            <a:solidFill>
              <a:srgbClr val="EBC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6" name="Picture 145" descr="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3100" y="4320540"/>
            <a:ext cx="411479" cy="411479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12646152" y="4800599"/>
            <a:ext cx="186537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members</a:t>
            </a:r>
          </a:p>
        </p:txBody>
      </p:sp>
      <p:sp>
        <p:nvSpPr>
          <p:cNvPr id="148" name="Oval 147"/>
          <p:cNvSpPr/>
          <p:nvPr/>
        </p:nvSpPr>
        <p:spPr>
          <a:xfrm>
            <a:off x="14658772" y="5341638"/>
            <a:ext cx="1179576" cy="1179576"/>
          </a:xfrm>
          <a:prstGeom prst="ellipse">
            <a:avLst/>
          </a:prstGeom>
          <a:solidFill>
            <a:srgbClr val="0D3E40"/>
          </a:solidFill>
          <a:ln w="15240">
            <a:solidFill>
              <a:srgbClr val="EBC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coo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2820" y="5533662"/>
            <a:ext cx="411479" cy="411479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14315872" y="6013722"/>
            <a:ext cx="186537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use</a:t>
            </a:r>
          </a:p>
        </p:txBody>
      </p:sp>
      <p:sp>
        <p:nvSpPr>
          <p:cNvPr id="151" name="Oval 150"/>
          <p:cNvSpPr/>
          <p:nvPr/>
        </p:nvSpPr>
        <p:spPr>
          <a:xfrm>
            <a:off x="14020996" y="7304513"/>
            <a:ext cx="1179576" cy="1179576"/>
          </a:xfrm>
          <a:prstGeom prst="ellipse">
            <a:avLst/>
          </a:prstGeom>
          <a:solidFill>
            <a:srgbClr val="0D3E40"/>
          </a:solidFill>
          <a:ln w="15240">
            <a:solidFill>
              <a:srgbClr val="EBC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mon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05044" y="7496537"/>
            <a:ext cx="411479" cy="411479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678096" y="7976597"/>
            <a:ext cx="186537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revenue</a:t>
            </a:r>
          </a:p>
        </p:txBody>
      </p:sp>
      <p:sp>
        <p:nvSpPr>
          <p:cNvPr id="154" name="Oval 153"/>
          <p:cNvSpPr/>
          <p:nvPr/>
        </p:nvSpPr>
        <p:spPr>
          <a:xfrm>
            <a:off x="11957107" y="7304513"/>
            <a:ext cx="1179576" cy="1179576"/>
          </a:xfrm>
          <a:prstGeom prst="ellipse">
            <a:avLst/>
          </a:prstGeom>
          <a:solidFill>
            <a:srgbClr val="0D3E40"/>
          </a:solidFill>
          <a:ln w="15240">
            <a:solidFill>
              <a:srgbClr val="EBC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1155" y="7496537"/>
            <a:ext cx="411479" cy="411479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1614207" y="7976597"/>
            <a:ext cx="186537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patronage</a:t>
            </a:r>
          </a:p>
        </p:txBody>
      </p:sp>
      <p:sp>
        <p:nvSpPr>
          <p:cNvPr id="157" name="Oval 156"/>
          <p:cNvSpPr/>
          <p:nvPr/>
        </p:nvSpPr>
        <p:spPr>
          <a:xfrm>
            <a:off x="11319331" y="5341638"/>
            <a:ext cx="1179576" cy="1179576"/>
          </a:xfrm>
          <a:prstGeom prst="ellipse">
            <a:avLst/>
          </a:prstGeom>
          <a:solidFill>
            <a:srgbClr val="0D3E40"/>
          </a:solidFill>
          <a:ln w="15240">
            <a:solidFill>
              <a:srgbClr val="EBC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bad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3379" y="5533662"/>
            <a:ext cx="411479" cy="411479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10976431" y="6013722"/>
            <a:ext cx="1865376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stake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2959" y="7063740"/>
            <a:ext cx="809244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The people using the network create its value —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so they participate in its success.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22959" y="891540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025">
                <a:solidFill>
                  <a:srgbClr val="F4EAD8"/>
                </a:solidFill>
                <a:latin typeface="TT Commons Pro Bold"/>
              </a:rPr>
              <a:t>Serving the community is how Rivr succeeds — </a:t>
            </a:r>
            <a:r>
              <a:rPr sz="2100" spc="20">
                <a:solidFill>
                  <a:srgbClr val="9FE8DC"/>
                </a:solidFill>
                <a:latin typeface="Alike Italics"/>
              </a:rPr>
              <a:t>not something added after it succeeds.</a:t>
            </a:r>
          </a:p>
        </p:txBody>
      </p:sp>
      <p:pic>
        <p:nvPicPr>
          <p:cNvPr id="162" name="Picture 161" descr="rivr-symbol-ligh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CO-OP MODEL · RIVR LCA + PBC · COLORADO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4229655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9">
                <a:solidFill>
                  <a:srgbClr val="F4EAD8"/>
                </a:solidFill>
                <a:latin typeface="TT Commons Pro Bold"/>
              </a:rPr>
              <a:t>Capital is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2092" y="1645919"/>
            <a:ext cx="4075271" cy="1173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72" spc="-75">
                <a:solidFill>
                  <a:srgbClr val="99E6D9"/>
                </a:solidFill>
                <a:latin typeface="Ibarra Real Nova Italics"/>
              </a:rPr>
              <a:t>decoupled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7717" y="1699869"/>
            <a:ext cx="7708423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9">
                <a:solidFill>
                  <a:srgbClr val="F4EAD8"/>
                </a:solidFill>
                <a:latin typeface="TT Commons Pro Bold"/>
              </a:rPr>
              <a:t> from governance.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497579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875" spc="40">
                <a:solidFill>
                  <a:srgbClr val="F2ECDD"/>
                </a:solidFill>
                <a:latin typeface="TT Commons Pro"/>
              </a:rPr>
              <a:t>One legal entity — a Limited Cooperative Association + Public Benefit Corporation.</a:t>
            </a:r>
          </a:p>
          <a:p>
            <a:pPr algn="l">
              <a:lnSpc>
                <a:spcPct val="155000"/>
              </a:lnSpc>
            </a:pPr>
            <a:r>
              <a:rPr sz="1875" spc="40">
                <a:solidFill>
                  <a:srgbClr val="F2ECDD"/>
                </a:solidFill>
                <a:latin typeface="TT Commons Pro"/>
              </a:rPr>
              <a:t>Four member classes. </a:t>
            </a:r>
            <a:r>
              <a:rPr sz="1875" spc="40">
                <a:solidFill>
                  <a:srgbClr val="EBCF9E"/>
                </a:solidFill>
                <a:latin typeface="TT Commons Pro"/>
              </a:rPr>
              <a:t>One member, one vote — regardless of capital.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4800600"/>
            <a:ext cx="3977639" cy="267462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047488"/>
            <a:ext cx="34290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spc="330">
                <a:solidFill>
                  <a:srgbClr val="9FE8DC"/>
                </a:solidFill>
                <a:latin typeface="TT Commons Pro"/>
              </a:rPr>
              <a:t>PATRON CLASS</a:t>
            </a:r>
          </a:p>
        </p:txBody>
      </p:sp>
      <p:pic>
        <p:nvPicPr>
          <p:cNvPr id="10" name="Picture 9" descr="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5513832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51660" y="5527548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180">
                <a:solidFill>
                  <a:srgbClr val="F4EAD8"/>
                </a:solidFill>
                <a:latin typeface="TT Commons Pro"/>
              </a:rPr>
              <a:t>GENERAL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172200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Collaborators, sellers, hosts + organizers using the platform.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1204" y="4800600"/>
            <a:ext cx="3977639" cy="267462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5524" y="5047488"/>
            <a:ext cx="34290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spc="330">
                <a:solidFill>
                  <a:srgbClr val="9FE8DC"/>
                </a:solidFill>
                <a:latin typeface="TT Commons Pro"/>
              </a:rPr>
              <a:t>PATRON CLASS</a:t>
            </a:r>
          </a:p>
        </p:txBody>
      </p:sp>
      <p:pic>
        <p:nvPicPr>
          <p:cNvPr id="15" name="Picture 14" descr="o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252" y="5513832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89903" y="5527548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180">
                <a:solidFill>
                  <a:srgbClr val="F4EAD8"/>
                </a:solidFill>
                <a:latin typeface="TT Commons Pro"/>
              </a:rPr>
              <a:t>CHAPTER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5524" y="6172200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Independent local co-ops + orgs on the shared infrastructure.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9447" y="4800600"/>
            <a:ext cx="3977639" cy="267462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7" y="5047488"/>
            <a:ext cx="34290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spc="330">
                <a:solidFill>
                  <a:srgbClr val="9FE8DC"/>
                </a:solidFill>
                <a:latin typeface="TT Commons Pro"/>
              </a:rPr>
              <a:t>LABOR CLASS</a:t>
            </a:r>
          </a:p>
        </p:txBody>
      </p:sp>
      <p:pic>
        <p:nvPicPr>
          <p:cNvPr id="20" name="Picture 19" descr="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496" y="5513832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328147" y="5527548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180">
                <a:solidFill>
                  <a:srgbClr val="F4EAD8"/>
                </a:solidFill>
                <a:latin typeface="TT Commons Pro"/>
              </a:rPr>
              <a:t>WORKER 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7" y="6172200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Employees + contractors building the platform.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537692" y="4800600"/>
            <a:ext cx="3977639" cy="267462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21907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12011" y="5047488"/>
            <a:ext cx="34290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spc="330">
                <a:solidFill>
                  <a:srgbClr val="EBCF9E"/>
                </a:solidFill>
                <a:latin typeface="TT Commons Pro"/>
              </a:rPr>
              <a:t>INVESTOR CLASS</a:t>
            </a:r>
          </a:p>
        </p:txBody>
      </p:sp>
      <p:pic>
        <p:nvPicPr>
          <p:cNvPr id="25" name="Picture 24" descr="ba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21739" y="5513832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566392" y="5527548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180">
                <a:solidFill>
                  <a:srgbClr val="F4EAD8"/>
                </a:solidFill>
                <a:latin typeface="TT Commons Pro"/>
              </a:rPr>
              <a:t>STEWARD 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12011" y="6172200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>
                <a:solidFill>
                  <a:srgbClr val="F2ECDD"/>
                </a:solidFill>
                <a:latin typeface="TT Commons Pro"/>
              </a:rPr>
              <a:t>Founders + investors holding Steward Shares.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7845552"/>
            <a:ext cx="233172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>
                <a:solidFill>
                  <a:srgbClr val="EBCF9E"/>
                </a:solidFill>
                <a:latin typeface="TT Commons Pro Bold"/>
              </a:rPr>
              <a:t>1 =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8531352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F2ECDD"/>
                </a:solidFill>
                <a:latin typeface="TT Commons Pro"/>
              </a:rPr>
              <a:t>one member, one vote — no cumulative voting, no proxies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7845552"/>
            <a:ext cx="233172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spc="20">
                <a:solidFill>
                  <a:srgbClr val="EBCF9E"/>
                </a:solidFill>
                <a:latin typeface="TT Commons Pro Bold"/>
              </a:rPr>
              <a:t>100M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8531352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F2ECDD"/>
                </a:solidFill>
                <a:latin typeface="TT Commons Pro"/>
              </a:rPr>
              <a:t>authorized Steward Shares · 20M founder / 80M treasury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24944" y="7845552"/>
            <a:ext cx="233172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>
                <a:solidFill>
                  <a:srgbClr val="EBCF9E"/>
                </a:solidFill>
                <a:latin typeface="TT Commons Pro Bold"/>
              </a:rPr>
              <a:t>5-yr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24944" y="8531352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F2ECDD"/>
                </a:solidFill>
                <a:latin typeface="TT Commons Pro"/>
              </a:rPr>
              <a:t>board terms — generational thinking, insulated from market cycles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960120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50" spc="20">
                <a:solidFill>
                  <a:srgbClr val="9FE8DC"/>
                </a:solidFill>
                <a:latin typeface="Alike Italics"/>
              </a:rPr>
              <a:t>“Alone we can do so little; together we can do so much.” — Helen Keller</a:t>
            </a:r>
          </a:p>
        </p:txBody>
      </p:sp>
      <p:pic>
        <p:nvPicPr>
          <p:cNvPr id="35" name="Picture 34" descr="rivr-symbol-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ANTI-CAPTURE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11015106" cy="10104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87" spc="-74">
                <a:solidFill>
                  <a:srgbClr val="F4EAD8"/>
                </a:solidFill>
                <a:latin typeface="TT Commons Pro Bold"/>
              </a:rPr>
              <a:t>Don't rely on future leaders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70453" y="1645919"/>
            <a:ext cx="5003958" cy="11082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17" spc="-75">
                <a:solidFill>
                  <a:srgbClr val="F0CC8B"/>
                </a:solidFill>
                <a:latin typeface="Ibarra Real Nova Italics"/>
              </a:rPr>
              <a:t>staying nice.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3771900"/>
            <a:ext cx="5376672" cy="21945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" y="4142232"/>
            <a:ext cx="411479" cy="4114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20239" y="415594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COOPERATIVE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39" y="4800600"/>
            <a:ext cx="459486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The users own the institution — capture has no cheap entry 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3771900"/>
            <a:ext cx="5376672" cy="219456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3" y="4142232"/>
            <a:ext cx="411479" cy="4114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71231" y="415594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PUBLIC-BENEFIT 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1" y="4800600"/>
            <a:ext cx="459486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The outcomes are in the Articles: obligations, not marketing.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24944" y="3771900"/>
            <a:ext cx="5376672" cy="21945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5276" y="4142232"/>
            <a:ext cx="411479" cy="4114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222224" y="415594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FEDERATION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36424" y="4800600"/>
            <a:ext cx="459486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No single switch to seize — many instances, one network.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" y="6309359"/>
            <a:ext cx="5376672" cy="219456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o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292" y="6679691"/>
            <a:ext cx="411479" cy="4114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20239" y="669340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SOVEREIGN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39" y="7338059"/>
            <a:ext cx="459486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Communities keep their data; leaving is always possible.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6309359"/>
            <a:ext cx="5376672" cy="21945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a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4283" y="6679691"/>
            <a:ext cx="411479" cy="4114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71231" y="669340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INTEROPERABILITY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1" y="7338059"/>
            <a:ext cx="459486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Open standards mean no lock-in to defend badly.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24944" y="6309359"/>
            <a:ext cx="5376672" cy="219456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o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95276" y="6679691"/>
            <a:ext cx="411479" cy="4114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222224" y="669340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CONTEXTUAL PERMISSIONS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36424" y="7338059"/>
            <a:ext cx="459486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Visibility and access stay under member control.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877824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If platforms became extractive because incentives changed, Rivr cannot just say “trust us.”</a:t>
            </a:r>
          </a:p>
          <a:p>
            <a:pPr algn="ctr">
              <a:lnSpc>
                <a:spcPct val="140000"/>
              </a:lnSpc>
            </a:pPr>
            <a:r>
              <a:rPr sz="2100" spc="20">
                <a:solidFill>
                  <a:srgbClr val="9FE8DC"/>
                </a:solidFill>
                <a:latin typeface="Alike Italics"/>
              </a:rPr>
              <a:t>Build the system so capture is harder even if future incentives change.</a:t>
            </a:r>
          </a:p>
        </p:txBody>
      </p:sp>
      <p:pic>
        <p:nvPicPr>
          <p:cNvPr id="31" name="Picture 30" descr="rivr-symbol-l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7894320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6">
                <a:solidFill>
                  <a:srgbClr val="F4EAD8"/>
                </a:solidFill>
                <a:latin typeface="TT Commons Pro Bold"/>
              </a:rPr>
              <a:t>The competition is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3824" y="1645919"/>
            <a:ext cx="8528208" cy="1140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195" spc="-75">
                <a:solidFill>
                  <a:srgbClr val="F0CC8B"/>
                </a:solidFill>
                <a:latin typeface="Ibarra Real Nova Italics"/>
              </a:rPr>
              <a:t>the fragmented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3497579"/>
            <a:ext cx="2606039" cy="548640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1429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57987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Facebook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7308" y="3497579"/>
            <a:ext cx="2606039" cy="548640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1429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7308" y="357987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Nextdoor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5" y="3497579"/>
            <a:ext cx="2606039" cy="548640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1429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5" y="357987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Meetup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76004" y="3497579"/>
            <a:ext cx="2606039" cy="548640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1429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76004" y="357987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Eventbrite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960351" y="3497579"/>
            <a:ext cx="2606039" cy="548640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1429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60351" y="357987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Asana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744699" y="3497579"/>
            <a:ext cx="2606039" cy="548640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1429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744699" y="3579876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Slack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" y="4210812"/>
            <a:ext cx="2606039" cy="548640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1429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293108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Venmo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7308" y="4210812"/>
            <a:ext cx="2606039" cy="548640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1429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7308" y="4293108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Google Workspace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91655" y="4210812"/>
            <a:ext cx="2606039" cy="548640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1429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5" y="4293108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Square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76004" y="4210812"/>
            <a:ext cx="2606039" cy="548640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1429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6004" y="4293108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Shopify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960351" y="4210812"/>
            <a:ext cx="2606039" cy="548640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1429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60351" y="4293108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Luma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744699" y="4210812"/>
            <a:ext cx="2606039" cy="548640"/>
          </a:xfrm>
          <a:prstGeom prst="roundRect">
            <a:avLst>
              <a:gd name="adj" fmla="val 30000"/>
            </a:avLst>
          </a:prstGeom>
          <a:solidFill>
            <a:srgbClr val="084B4D"/>
          </a:solidFill>
          <a:ln w="11429">
            <a:solidFill>
              <a:srgbClr val="AF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744699" y="4293108"/>
            <a:ext cx="260603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centralized 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39" y="5925312"/>
            <a:ext cx="3520440" cy="1892807"/>
          </a:xfrm>
          <a:prstGeom prst="roundRect">
            <a:avLst>
              <a:gd name="adj" fmla="val 18000"/>
            </a:avLst>
          </a:prstGeom>
          <a:solidFill>
            <a:srgbClr val="084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39" y="5349240"/>
            <a:ext cx="352044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50" spc="180">
                <a:solidFill>
                  <a:srgbClr val="F4EAD8"/>
                </a:solidFill>
                <a:latin typeface="TT Commons Pro"/>
              </a:rPr>
              <a:t>$328.20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39" y="8010144"/>
            <a:ext cx="352044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recognizable app stack
/ month, 5-seat org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7552480"/>
            <a:ext cx="3520440" cy="265639"/>
          </a:xfrm>
          <a:prstGeom prst="roundRect">
            <a:avLst>
              <a:gd name="adj" fmla="val 18000"/>
            </a:avLst>
          </a:prstGeom>
          <a:solidFill>
            <a:srgbClr val="0D3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6976408"/>
            <a:ext cx="352044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50" spc="180">
                <a:solidFill>
                  <a:srgbClr val="F4EAD8"/>
                </a:solidFill>
                <a:latin typeface="TT Commons Pro"/>
              </a:rPr>
              <a:t>$46.06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8010144"/>
            <a:ext cx="352044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organization
/ month, one ecosystem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0" y="6190951"/>
            <a:ext cx="3520440" cy="1627168"/>
          </a:xfrm>
          <a:prstGeom prst="roundRect">
            <a:avLst>
              <a:gd name="adj" fmla="val 18000"/>
            </a:avLst>
          </a:prstGeom>
          <a:solidFill>
            <a:srgbClr val="14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0" y="5614879"/>
            <a:ext cx="352044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50" spc="180">
                <a:solidFill>
                  <a:srgbClr val="F4EAD8"/>
                </a:solidFill>
                <a:latin typeface="TT Commons Pro"/>
              </a:rPr>
              <a:t>$282.14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8010144"/>
            <a:ext cx="352044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saved each month
≈ $3,546.68 per year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39" y="4965192"/>
            <a:ext cx="116586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MONTHLY COST FOR ONE SMALL ORGANIZATION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8709659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75">
                <a:solidFill>
                  <a:srgbClr val="AFC4C2"/>
                </a:solidFill>
                <a:latin typeface="TT Commons Pro"/>
              </a:rPr>
              <a:t>Modeled on a 5-seat organization: Asana, Slack, Google Workspace, Square Payroll + Plus, Shopify, Luma Plus — before hiring fees.</a:t>
            </a:r>
          </a:p>
          <a:p>
            <a:pPr algn="ctr">
              <a:lnSpc>
                <a:spcPct val="140000"/>
              </a:lnSpc>
            </a:pPr>
            <a:r>
              <a:rPr sz="2025" spc="20">
                <a:solidFill>
                  <a:srgbClr val="9FE8DC"/>
                </a:solidFill>
                <a:latin typeface="Alike Italics"/>
              </a:rPr>
              <a:t>The social network is the doorway. Rivr models real activity, not just content.</a:t>
            </a:r>
          </a:p>
        </p:txBody>
      </p:sp>
      <p:pic>
        <p:nvPicPr>
          <p:cNvPr id="41" name="Picture 40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MARKET + TRACTION · THIS IS NOT A MOCKUP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6583918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9">
                <a:solidFill>
                  <a:srgbClr val="F4EAD8"/>
                </a:solidFill>
                <a:latin typeface="TT Commons Pro Bold"/>
              </a:rPr>
              <a:t>The platform is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5502" y="1645919"/>
            <a:ext cx="7867411" cy="1173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72" spc="-75">
                <a:solidFill>
                  <a:srgbClr val="EBCF9E"/>
                </a:solidFill>
                <a:latin typeface="Ibarra Real Nova Italics"/>
              </a:rPr>
              <a:t>built and running.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3703320"/>
            <a:ext cx="5376672" cy="2359152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" y="4073652"/>
            <a:ext cx="411479" cy="4114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20239" y="408736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LIVE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39" y="4732020"/>
            <a:ext cx="4594860" cy="1165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app.rivr.social live — sovereign community instances (person, group, locale) federating into one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3703320"/>
            <a:ext cx="5376672" cy="2359152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n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3" y="4073652"/>
            <a:ext cx="411479" cy="4114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71231" y="408736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FULL ECONOMIC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1" y="4732020"/>
            <a:ext cx="4594860" cy="1165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Marketplace, ticketing, jobs → attestation → payout, memberships, refunds — proven end-to-end on Stripe rails, cent-exact.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24944" y="3703320"/>
            <a:ext cx="5376672" cy="2359152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easu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5276" y="4073652"/>
            <a:ext cx="411479" cy="4114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222224" y="408736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RIVR PAY LANES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36424" y="4732020"/>
            <a:ext cx="4594860" cy="1165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Tap-to-pay checkout, connected payouts, withholding, subgroup treasuries + card issuing on Stripe Treasury/Issuing.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" y="6377940"/>
            <a:ext cx="5376672" cy="2359152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overn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292" y="6748272"/>
            <a:ext cx="411479" cy="4114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20239" y="676198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REAL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39" y="7406640"/>
            <a:ext cx="4594860" cy="1165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Six ballot styles, eligibility gates, weighted voting, boards — running in production groups today.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6377940"/>
            <a:ext cx="5376672" cy="2359152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erif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4283" y="6748272"/>
            <a:ext cx="411479" cy="4114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71231" y="676198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SALES TAX, DONE RIGHT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1" y="7406640"/>
            <a:ext cx="4594860" cy="1165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Stripe Tax registered computation, venue-sourced ticket tax, 1099-K seller gates.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24944" y="6377940"/>
            <a:ext cx="5376672" cy="2359152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d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95276" y="6748272"/>
            <a:ext cx="411479" cy="4114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222224" y="676198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AI-NATIVE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36424" y="7406640"/>
            <a:ext cx="4594860" cy="1165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Org assistant on first-party credentials; an MCP surface of 118 tools; agents act only as the asking member.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9052559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50">
                <a:solidFill>
                  <a:srgbClr val="F2ECDD"/>
                </a:solidFill>
                <a:latin typeface="TT Commons Pro"/>
              </a:rPr>
              <a:t>Boulder is the first proving ground. </a:t>
            </a:r>
            <a:r>
              <a:rPr sz="1950">
                <a:solidFill>
                  <a:srgbClr val="EBCF9E"/>
                </a:solidFill>
                <a:latin typeface="TT Commons Pro Bold"/>
              </a:rPr>
              <a:t>This seed round funds go-to-market — not a science project.</a:t>
            </a:r>
          </a:p>
        </p:txBody>
      </p:sp>
      <p:pic>
        <p:nvPicPr>
          <p:cNvPr id="31" name="Picture 30" descr="rivr-symbol-l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GROWTH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2673746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9">
                <a:solidFill>
                  <a:srgbClr val="F4EAD8"/>
                </a:solidFill>
                <a:latin typeface="TT Commons Pro Bold"/>
              </a:rPr>
              <a:t>Grow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7365" y="1645919"/>
            <a:ext cx="5688568" cy="1173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72" spc="-75">
                <a:solidFill>
                  <a:srgbClr val="EBCF9E"/>
                </a:solidFill>
                <a:latin typeface="Ibarra Real Nova Italics"/>
              </a:rPr>
              <a:t>one place deep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83627" y="1699869"/>
            <a:ext cx="4182030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9">
                <a:solidFill>
                  <a:srgbClr val="F4EAD8"/>
                </a:solidFill>
                <a:latin typeface="TT Commons Pro Bold"/>
              </a:rPr>
              <a:t> at a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3771900"/>
            <a:ext cx="3977639" cy="212598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5860" y="4046220"/>
            <a:ext cx="96011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50">
                <a:solidFill>
                  <a:srgbClr val="F0CC8B"/>
                </a:solidFill>
                <a:latin typeface="Ibarra Real Nova Italic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5979" y="4155948"/>
            <a:ext cx="260603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330">
                <a:solidFill>
                  <a:srgbClr val="9FE8DC"/>
                </a:solidFill>
                <a:latin typeface="TT Commons Pro"/>
              </a:rPr>
              <a:t>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" y="4800600"/>
            <a:ext cx="342900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a strong local community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69180" y="4732020"/>
            <a:ext cx="137160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61204" y="3771900"/>
            <a:ext cx="3977639" cy="212598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4104" y="4046220"/>
            <a:ext cx="96011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50">
                <a:solidFill>
                  <a:srgbClr val="F0CC8B"/>
                </a:solidFill>
                <a:latin typeface="Ibarra Real Nova Italic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3" y="4155948"/>
            <a:ext cx="260603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330">
                <a:solidFill>
                  <a:srgbClr val="9FE8DC"/>
                </a:solidFill>
                <a:latin typeface="TT Commons Pro"/>
              </a:rPr>
              <a:t>ANCHOR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4800600"/>
            <a:ext cx="342900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events, organizations, creators, trusted members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07424" y="4732020"/>
            <a:ext cx="137160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99447" y="3771900"/>
            <a:ext cx="3977639" cy="212598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2347" y="4046220"/>
            <a:ext cx="96011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50">
                <a:solidFill>
                  <a:srgbClr val="F0CC8B"/>
                </a:solidFill>
                <a:latin typeface="Ibarra Real Nova Italic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2467" y="4155948"/>
            <a:ext cx="260603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330">
                <a:solidFill>
                  <a:srgbClr val="9FE8DC"/>
                </a:solidFill>
                <a:latin typeface="TT Commons Pro"/>
              </a:rPr>
              <a:t>DENSITY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2347" y="4800600"/>
            <a:ext cx="342900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enough activity that the network becomes useful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3345668" y="4732020"/>
            <a:ext cx="137160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537692" y="3771900"/>
            <a:ext cx="3977639" cy="212598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80592" y="4046220"/>
            <a:ext cx="96011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50">
                <a:solidFill>
                  <a:srgbClr val="F0CC8B"/>
                </a:solidFill>
                <a:latin typeface="Ibarra Real Nova Italic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40711" y="4155948"/>
            <a:ext cx="260603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330">
                <a:solidFill>
                  <a:srgbClr val="9FE8DC"/>
                </a:solidFill>
                <a:latin typeface="TT Commons Pro"/>
              </a:rPr>
              <a:t>REPLICATE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80592" y="4800600"/>
            <a:ext cx="342900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aligned places, local stewards, partner networks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" y="6309359"/>
            <a:ext cx="8161020" cy="21945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22859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6611112"/>
            <a:ext cx="74066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EBCF9E"/>
                </a:solidFill>
                <a:latin typeface="TT Commons Pro"/>
              </a:rPr>
              <a:t>PROVEN BEFORE — ONE BOULDER 2020–2023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7159752"/>
            <a:ext cx="7406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Nearly </a:t>
            </a:r>
            <a:r>
              <a:rPr sz="1800">
                <a:solidFill>
                  <a:srgbClr val="F4EAD8"/>
                </a:solidFill>
                <a:latin typeface="TT Commons Pro Bold"/>
              </a:rPr>
              <a:t>4,800 users</a:t>
            </a:r>
            <a:r>
              <a:rPr sz="1800">
                <a:solidFill>
                  <a:srgbClr val="F2ECDD"/>
                </a:solidFill>
                <a:latin typeface="TT Commons Pro"/>
              </a:rPr>
              <a:t> on one locale's events;</a:t>
            </a:r>
          </a:p>
          <a:p>
            <a:pPr algn="l">
              <a:lnSpc>
                <a:spcPct val="145000"/>
              </a:lnSpc>
            </a:pPr>
            <a:r>
              <a:rPr sz="1800">
                <a:solidFill>
                  <a:srgbClr val="F4EAD8"/>
                </a:solidFill>
                <a:latin typeface="TT Commons Pro Bold"/>
              </a:rPr>
              <a:t>42% of high-activity users</a:t>
            </a:r>
            <a:r>
              <a:rPr sz="1800">
                <a:solidFill>
                  <a:srgbClr val="F2ECDD"/>
                </a:solidFill>
                <a:latin typeface="TT Commons Pro"/>
              </a:rPr>
              <a:t> converted to paid</a:t>
            </a:r>
          </a:p>
          <a:p>
            <a:pPr algn="l">
              <a:lnSpc>
                <a:spcPct val="14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membership. The playbook Rivr now ships as software.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6309359"/>
            <a:ext cx="8161020" cy="219456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905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59" y="6611112"/>
            <a:ext cx="74066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9FE8DC"/>
                </a:solidFill>
                <a:latin typeface="TT Commons Pro"/>
              </a:rPr>
              <a:t>EXPANSION REGIONS MAPPED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59" y="7159752"/>
            <a:ext cx="7406640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Austin · Portland · Boston · Asheville · Nashville</a:t>
            </a:r>
          </a:p>
          <a:p>
            <a:pPr algn="l">
              <a:lnSpc>
                <a:spcPct val="150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San Diego · Sedona · Taos · Maui — and a variety</a:t>
            </a:r>
          </a:p>
          <a:p>
            <a:pPr algn="l">
              <a:lnSpc>
                <a:spcPct val="150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of cities in bioregions worldwide.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884682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50">
                <a:solidFill>
                  <a:srgbClr val="F2ECDD"/>
                </a:solidFill>
                <a:latin typeface="TT Commons Pro"/>
              </a:rPr>
              <a:t>Starting local, </a:t>
            </a:r>
            <a:r>
              <a:rPr sz="2100" spc="20">
                <a:solidFill>
                  <a:srgbClr val="EBCF9E"/>
                </a:solidFill>
                <a:latin typeface="Alike Italics"/>
              </a:rPr>
              <a:t>again</a:t>
            </a:r>
            <a:r>
              <a:rPr sz="1950">
                <a:solidFill>
                  <a:srgbClr val="F2ECDD"/>
                </a:solidFill>
                <a:latin typeface="TT Commons Pro"/>
              </a:rPr>
              <a:t>, in Boulder, Colorado.</a:t>
            </a:r>
          </a:p>
        </p:txBody>
      </p:sp>
      <p:pic>
        <p:nvPicPr>
          <p:cNvPr id="33" name="Picture 32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45919"/>
            <a:ext cx="8819911" cy="1140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195" spc="-75">
                <a:solidFill>
                  <a:srgbClr val="EBCF9E"/>
                </a:solidFill>
                <a:latin typeface="Ibarra Real Nova Italics"/>
              </a:rPr>
              <a:t>Membership velocity,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4297" y="1699869"/>
            <a:ext cx="6781244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6">
                <a:solidFill>
                  <a:srgbClr val="F4EAD8"/>
                </a:solidFill>
                <a:latin typeface="TT Commons Pro Bold"/>
              </a:rPr>
              <a:t>not fee inflation.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703320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703320"/>
            <a:ext cx="24688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% OF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703320"/>
            <a:ext cx="21945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FEE / MO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59" y="4183379"/>
            <a:ext cx="9875521" cy="0"/>
          </a:xfrm>
          <a:prstGeom prst="line">
            <a:avLst/>
          </a:prstGeom>
          <a:ln w="12700">
            <a:solidFill>
              <a:srgbClr val="084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59" y="4457700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Collaborator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4457700"/>
            <a:ext cx="24688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457700"/>
            <a:ext cx="21945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spc="180">
                <a:solidFill>
                  <a:srgbClr val="EBCF9E"/>
                </a:solidFill>
                <a:latin typeface="TT Commons Pro"/>
              </a:rPr>
              <a:t>$11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280660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Seller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280660"/>
            <a:ext cx="24688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280660"/>
            <a:ext cx="21945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spc="180">
                <a:solidFill>
                  <a:srgbClr val="EBCF9E"/>
                </a:solidFill>
                <a:latin typeface="TT Commons Pro"/>
              </a:rPr>
              <a:t>$22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6103620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Host / Producer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6103620"/>
            <a:ext cx="24688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6103620"/>
            <a:ext cx="21945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spc="180">
                <a:solidFill>
                  <a:srgbClr val="EBCF9E"/>
                </a:solidFill>
                <a:latin typeface="TT Commons Pro"/>
              </a:rPr>
              <a:t>$22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6926579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Organizer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6926579"/>
            <a:ext cx="24688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6926579"/>
            <a:ext cx="21945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spc="180">
                <a:solidFill>
                  <a:srgbClr val="EBCF9E"/>
                </a:solidFill>
                <a:latin typeface="TT Commons Pro"/>
              </a:rPr>
              <a:t>$44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7749540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Free users (non-members)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7749540"/>
            <a:ext cx="24688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58%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7749540"/>
            <a:ext cx="21945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spc="180">
                <a:solidFill>
                  <a:srgbClr val="EBCF9E"/>
                </a:solidFill>
                <a:latin typeface="TT Commons Pro"/>
              </a:rP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52859" y="3566160"/>
            <a:ext cx="6035040" cy="480060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22859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32919" y="3909060"/>
            <a:ext cx="52120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EBCF9E"/>
                </a:solidFill>
                <a:latin typeface="TT Commons Pro"/>
              </a:rPr>
              <a:t>TRANSACTION FEE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32919" y="4389120"/>
            <a:ext cx="52120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00" spc="20">
                <a:solidFill>
                  <a:srgbClr val="F4EAD8"/>
                </a:solidFill>
                <a:latin typeface="TT Commons Pro Bold"/>
              </a:rPr>
              <a:t>3.3% + $1.49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32919" y="5280660"/>
            <a:ext cx="521207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AFC4C2"/>
                </a:solidFill>
                <a:latin typeface="TT Commons Pro"/>
              </a:rPr>
              <a:t>unified across all rails · patronage-eligible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32919" y="5966459"/>
            <a:ext cx="52120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9FE8DC"/>
                </a:solidFill>
                <a:latin typeface="TT Commons Pro"/>
              </a:rPr>
              <a:t>FIVE REVENUE STREAMS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932919" y="6473952"/>
            <a:ext cx="5212079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memberships</a:t>
            </a:r>
          </a:p>
          <a:p>
            <a:pPr algn="l">
              <a:lnSpc>
                <a:spcPct val="150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platform + transaction fees</a:t>
            </a:r>
          </a:p>
          <a:p>
            <a:pPr algn="l">
              <a:lnSpc>
                <a:spcPct val="150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local advertising</a:t>
            </a:r>
          </a:p>
          <a:p>
            <a:pPr algn="l">
              <a:lnSpc>
                <a:spcPct val="150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invested reserves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884682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025" spc="20">
                <a:solidFill>
                  <a:srgbClr val="9FE8DC"/>
                </a:solidFill>
                <a:latin typeface="Alike Italics"/>
              </a:rPr>
              <a:t>42% of active users convert to paid membership — calibrated on ONE Boulder.</a:t>
            </a:r>
          </a:p>
        </p:txBody>
      </p:sp>
      <p:pic>
        <p:nvPicPr>
          <p:cNvPr id="32" name="Picture 31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RIVR FUNDS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3208258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9">
                <a:solidFill>
                  <a:srgbClr val="F4EAD8"/>
                </a:solidFill>
                <a:latin typeface="TT Commons Pro Bold"/>
              </a:rPr>
              <a:t>United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24974" y="1645919"/>
            <a:ext cx="4747974" cy="1173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72" spc="-75">
                <a:solidFill>
                  <a:srgbClr val="EBCF9E"/>
                </a:solidFill>
                <a:latin typeface="Ibarra Real Nova Italics"/>
              </a:rPr>
              <a:t>funds flow.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4869179"/>
            <a:ext cx="2057400" cy="2057400"/>
          </a:xfrm>
          <a:prstGeom prst="ellipse">
            <a:avLst/>
          </a:prstGeom>
          <a:solidFill>
            <a:srgbClr val="084B4D"/>
          </a:solidFill>
          <a:ln w="1778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5362956"/>
            <a:ext cx="466344" cy="466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3019" y="5925312"/>
            <a:ext cx="21945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REVENUE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497579" y="4869179"/>
            <a:ext cx="2194561" cy="1028700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29300" y="4457700"/>
            <a:ext cx="4251960" cy="850392"/>
          </a:xfrm>
          <a:prstGeom prst="roundRect">
            <a:avLst>
              <a:gd name="adj" fmla="val 20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3620" y="4567428"/>
            <a:ext cx="384047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FEE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3620" y="4924044"/>
            <a:ext cx="384047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patronage-eligible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97579" y="5897879"/>
            <a:ext cx="2194561" cy="1851661"/>
          </a:xfrm>
          <a:prstGeom prst="line">
            <a:avLst/>
          </a:prstGeom>
          <a:ln w="12700">
            <a:solidFill>
              <a:srgbClr val="99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829300" y="7338059"/>
            <a:ext cx="4251960" cy="850392"/>
          </a:xfrm>
          <a:prstGeom prst="roundRect">
            <a:avLst>
              <a:gd name="adj" fmla="val 20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3620" y="7447788"/>
            <a:ext cx="384047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5" spc="330">
                <a:solidFill>
                  <a:srgbClr val="9FE8DC"/>
                </a:solidFill>
                <a:latin typeface="TT Commons Pro"/>
              </a:rPr>
              <a:t>NON-FEE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3620" y="7804404"/>
            <a:ext cx="384047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dues · ads · reserves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0149840" y="4005072"/>
            <a:ext cx="1988819" cy="864107"/>
          </a:xfrm>
          <a:prstGeom prst="line">
            <a:avLst/>
          </a:prstGeom>
          <a:ln w="10795">
            <a:solidFill>
              <a:srgbClr val="99E6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2275819" y="3593592"/>
            <a:ext cx="5212079" cy="932688"/>
          </a:xfrm>
          <a:prstGeom prst="roundRect">
            <a:avLst>
              <a:gd name="adj" fmla="val 16000"/>
            </a:avLst>
          </a:prstGeom>
          <a:solidFill>
            <a:srgbClr val="062A2C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50140" y="3826764"/>
            <a:ext cx="17830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EBCF9E"/>
                </a:solidFill>
                <a:latin typeface="TT Commons Pro Bold"/>
              </a:rPr>
              <a:t>~30%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27480" y="3867912"/>
            <a:ext cx="31546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OPERATING EXPENSES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49840" y="4869179"/>
            <a:ext cx="1988819" cy="507493"/>
          </a:xfrm>
          <a:prstGeom prst="line">
            <a:avLst/>
          </a:prstGeom>
          <a:ln w="10795">
            <a:solidFill>
              <a:srgbClr val="99E6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2275819" y="4965192"/>
            <a:ext cx="5212079" cy="932688"/>
          </a:xfrm>
          <a:prstGeom prst="roundRect">
            <a:avLst>
              <a:gd name="adj" fmla="val 16000"/>
            </a:avLst>
          </a:prstGeom>
          <a:solidFill>
            <a:srgbClr val="062A2C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50140" y="5198364"/>
            <a:ext cx="17830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180">
                <a:solidFill>
                  <a:srgbClr val="EBCF9E"/>
                </a:solidFill>
                <a:latin typeface="TT Commons Pro"/>
              </a:rPr>
              <a:t>PATRONAGE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27480" y="5239512"/>
            <a:ext cx="31546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to fee-generating members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149840" y="6748272"/>
            <a:ext cx="1988819" cy="1001268"/>
          </a:xfrm>
          <a:prstGeom prst="line">
            <a:avLst/>
          </a:prstGeom>
          <a:ln w="10795">
            <a:solidFill>
              <a:srgbClr val="99E6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275819" y="6336792"/>
            <a:ext cx="5212079" cy="932688"/>
          </a:xfrm>
          <a:prstGeom prst="roundRect">
            <a:avLst>
              <a:gd name="adj" fmla="val 16000"/>
            </a:avLst>
          </a:prstGeom>
          <a:solidFill>
            <a:srgbClr val="062A2C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50140" y="6569964"/>
            <a:ext cx="17830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EBCF9E"/>
                </a:solidFill>
                <a:latin typeface="TT Commons Pro Bold"/>
              </a:rPr>
              <a:t>~21%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27480" y="6611112"/>
            <a:ext cx="31546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CORPORATE TAX on retained profit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149840" y="7749540"/>
            <a:ext cx="1988819" cy="370331"/>
          </a:xfrm>
          <a:prstGeom prst="line">
            <a:avLst/>
          </a:prstGeom>
          <a:ln w="10795">
            <a:solidFill>
              <a:srgbClr val="99E6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2275819" y="7708392"/>
            <a:ext cx="5212079" cy="932688"/>
          </a:xfrm>
          <a:prstGeom prst="roundRect">
            <a:avLst>
              <a:gd name="adj" fmla="val 16000"/>
            </a:avLst>
          </a:prstGeom>
          <a:solidFill>
            <a:srgbClr val="062A2C"/>
          </a:solidFill>
          <a:ln w="15240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50140" y="7941564"/>
            <a:ext cx="17830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180">
                <a:solidFill>
                  <a:srgbClr val="EBCF9E"/>
                </a:solidFill>
                <a:latin typeface="TT Commons Pro"/>
              </a:rPr>
              <a:t>RETAINED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27480" y="7982712"/>
            <a:ext cx="31546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F2ECDD"/>
                </a:solidFill>
                <a:latin typeface="TT Commons Pro"/>
              </a:rPr>
              <a:t>Treasury + Reserves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59" y="8915400"/>
            <a:ext cx="16664940" cy="822959"/>
          </a:xfrm>
          <a:prstGeom prst="roundRect">
            <a:avLst>
              <a:gd name="adj" fmla="val 6000"/>
            </a:avLst>
          </a:prstGeom>
          <a:solidFill>
            <a:srgbClr val="084B4D"/>
          </a:solidFill>
          <a:ln w="19050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9134856"/>
            <a:ext cx="1591055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Patronage flows only on the fees a member generated. </a:t>
            </a:r>
            <a:r>
              <a:rPr sz="1725">
                <a:solidFill>
                  <a:srgbClr val="EBCF9E"/>
                </a:solidFill>
                <a:latin typeface="TT Commons Pro Bold"/>
              </a:rPr>
              <a:t>Steward Share capital enters as its own rail into Treasury + Reserves.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9820656"/>
            <a:ext cx="165963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Illustrative, per the governing documents and financial model.</a:t>
            </a:r>
          </a:p>
        </p:txBody>
      </p:sp>
      <p:pic>
        <p:nvPicPr>
          <p:cNvPr id="36" name="Picture 35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REVENUE CASCADE · COOPERATIVE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3179127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9">
                <a:solidFill>
                  <a:srgbClr val="F4EAD8"/>
                </a:solidFill>
                <a:latin typeface="TT Commons Pro Bold"/>
              </a:rPr>
              <a:t>Where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1670" y="1645919"/>
            <a:ext cx="5027771" cy="1173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72" spc="-75">
                <a:solidFill>
                  <a:srgbClr val="99E6D9"/>
                </a:solidFill>
                <a:latin typeface="Ibarra Real Nova Italics"/>
              </a:rPr>
              <a:t>every dollar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59294" y="1699869"/>
            <a:ext cx="2643346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9">
                <a:solidFill>
                  <a:srgbClr val="F4EAD8"/>
                </a:solidFill>
                <a:latin typeface="TT Commons Pro Bold"/>
              </a:rPr>
              <a:t> goes.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3566160"/>
            <a:ext cx="5349240" cy="4690872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39" y="3867911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330">
                <a:solidFill>
                  <a:srgbClr val="9FE8DC"/>
                </a:solidFill>
                <a:latin typeface="TT Commons Pro"/>
              </a:rPr>
              <a:t>FEE SURPLUS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39" y="4306824"/>
            <a:ext cx="46634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AFC4C2"/>
                </a:solidFill>
                <a:latin typeface="TT Commons Pro"/>
              </a:rPr>
              <a:t>platform + transaction fees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39" y="4828032"/>
            <a:ext cx="2263139" cy="411479"/>
          </a:xfrm>
          <a:prstGeom prst="roundRect">
            <a:avLst>
              <a:gd name="adj" fmla="val 18000"/>
            </a:avLst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39" y="5294376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9FE8DC"/>
                </a:solidFill>
                <a:latin typeface="TT Commons Pro Bold"/>
              </a:rPr>
              <a:t>50%  </a:t>
            </a:r>
            <a:r>
              <a:rPr sz="1800">
                <a:solidFill>
                  <a:srgbClr val="F2ECDD"/>
                </a:solidFill>
                <a:latin typeface="TT Commons Pro"/>
              </a:rPr>
              <a:t>Association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39" y="5678423"/>
            <a:ext cx="1131569" cy="411479"/>
          </a:xfrm>
          <a:prstGeom prst="roundRect">
            <a:avLst>
              <a:gd name="adj" fmla="val 18000"/>
            </a:avLst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6144767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9FE8DC"/>
                </a:solidFill>
                <a:latin typeface="TT Commons Pro Bold"/>
              </a:rPr>
              <a:t>25%  </a:t>
            </a:r>
            <a:r>
              <a:rPr sz="1800">
                <a:solidFill>
                  <a:srgbClr val="F2ECDD"/>
                </a:solidFill>
                <a:latin typeface="TT Commons Pro"/>
              </a:rPr>
              <a:t>Fee-paying member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39" y="6528816"/>
            <a:ext cx="1131569" cy="411479"/>
          </a:xfrm>
          <a:prstGeom prst="roundRect">
            <a:avLst>
              <a:gd name="adj" fmla="val 18000"/>
            </a:avLst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39" y="6995159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9FE8DC"/>
                </a:solidFill>
                <a:latin typeface="TT Commons Pro Bold"/>
              </a:rPr>
              <a:t>25%  </a:t>
            </a:r>
            <a:r>
              <a:rPr sz="1800">
                <a:solidFill>
                  <a:srgbClr val="F2ECDD"/>
                </a:solidFill>
                <a:latin typeface="TT Commons Pro"/>
              </a:rPr>
              <a:t>Chapter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39" y="7269479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75" spc="20">
                <a:solidFill>
                  <a:srgbClr val="F2ECDD"/>
                </a:solidFill>
                <a:latin typeface="Alike Italics"/>
              </a:rPr>
              <a:t>Patronage goes only to the members who generated the fees.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3566160"/>
            <a:ext cx="5349240" cy="4690872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3867911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330">
                <a:solidFill>
                  <a:srgbClr val="9FE8DC"/>
                </a:solidFill>
                <a:latin typeface="TT Commons Pro"/>
              </a:rPr>
              <a:t>NON-FEE SURPLUS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1" y="4306824"/>
            <a:ext cx="46634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AFC4C2"/>
                </a:solidFill>
                <a:latin typeface="TT Commons Pro"/>
              </a:rPr>
              <a:t>dues · ads · invested reserves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85431" y="4828032"/>
            <a:ext cx="4526279" cy="411479"/>
          </a:xfrm>
          <a:prstGeom prst="roundRect">
            <a:avLst>
              <a:gd name="adj" fmla="val 18000"/>
            </a:avLst>
          </a:prstGeom>
          <a:solidFill>
            <a:srgbClr val="99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1" y="5294376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9FE8DC"/>
                </a:solidFill>
                <a:latin typeface="TT Commons Pro Bold"/>
              </a:rPr>
              <a:t>100%  </a:t>
            </a:r>
            <a:r>
              <a:rPr sz="1800">
                <a:solidFill>
                  <a:srgbClr val="F2ECDD"/>
                </a:solidFill>
                <a:latin typeface="TT Commons Pro"/>
              </a:rPr>
              <a:t>Association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1" y="7269479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75" spc="20">
                <a:solidFill>
                  <a:srgbClr val="F2ECDD"/>
                </a:solidFill>
                <a:latin typeface="Alike Italics"/>
              </a:rPr>
              <a:t>Retained by the Association to fund the mission.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124944" y="3566160"/>
            <a:ext cx="5349240" cy="4690872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21907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536424" y="3867911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330">
                <a:solidFill>
                  <a:srgbClr val="EBCF9E"/>
                </a:solidFill>
                <a:latin typeface="TT Commons Pro"/>
              </a:rPr>
              <a:t>RETAINED PROFIT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36424" y="4306824"/>
            <a:ext cx="46634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AFC4C2"/>
                </a:solidFill>
                <a:latin typeface="TT Commons Pro"/>
              </a:rPr>
              <a:t>after corporate tax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536424" y="4828032"/>
            <a:ext cx="1538935" cy="411479"/>
          </a:xfrm>
          <a:prstGeom prst="roundRect">
            <a:avLst>
              <a:gd name="adj" fmla="val 18000"/>
            </a:avLst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36424" y="5294376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EBCF9E"/>
                </a:solidFill>
                <a:latin typeface="TT Commons Pro Bold"/>
              </a:rPr>
              <a:t>33%  </a:t>
            </a:r>
            <a:r>
              <a:rPr sz="1800">
                <a:solidFill>
                  <a:srgbClr val="F2ECDD"/>
                </a:solidFill>
                <a:latin typeface="TT Commons Pro"/>
              </a:rPr>
              <a:t>Stewards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536424" y="5678423"/>
            <a:ext cx="1493672" cy="411479"/>
          </a:xfrm>
          <a:prstGeom prst="roundRect">
            <a:avLst>
              <a:gd name="adj" fmla="val 18000"/>
            </a:avLst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536424" y="6144767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EBCF9E"/>
                </a:solidFill>
                <a:latin typeface="TT Commons Pro Bold"/>
              </a:rPr>
              <a:t>33%  </a:t>
            </a:r>
            <a:r>
              <a:rPr sz="1800">
                <a:solidFill>
                  <a:srgbClr val="F2ECDD"/>
                </a:solidFill>
                <a:latin typeface="TT Commons Pro"/>
              </a:rPr>
              <a:t>Workers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536424" y="6528816"/>
            <a:ext cx="1493672" cy="411479"/>
          </a:xfrm>
          <a:prstGeom prst="roundRect">
            <a:avLst>
              <a:gd name="adj" fmla="val 18000"/>
            </a:avLst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36424" y="6995159"/>
            <a:ext cx="4663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EBCF9E"/>
                </a:solidFill>
                <a:latin typeface="TT Commons Pro Bold"/>
              </a:rPr>
              <a:t>33%  </a:t>
            </a:r>
            <a:r>
              <a:rPr sz="1800">
                <a:solidFill>
                  <a:srgbClr val="F2ECDD"/>
                </a:solidFill>
                <a:latin typeface="TT Commons Pro"/>
              </a:rPr>
              <a:t>Reserves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36424" y="7269479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75" spc="20">
                <a:solidFill>
                  <a:srgbClr val="F2ECDD"/>
                </a:solidFill>
                <a:latin typeface="Alike Italics"/>
              </a:rPr>
              <a:t>Investors, labor, and the commons share the upside evenly.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59" y="8366759"/>
            <a:ext cx="16664940" cy="932688"/>
          </a:xfrm>
          <a:prstGeom prst="roundRect">
            <a:avLst>
              <a:gd name="adj" fmla="val 6000"/>
            </a:avLst>
          </a:prstGeom>
          <a:solidFill>
            <a:srgbClr val="084B4D"/>
          </a:solidFill>
          <a:ln w="20955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8613648"/>
            <a:ext cx="159105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Every patronage refund arrives </a:t>
            </a:r>
            <a:r>
              <a:rPr sz="1875">
                <a:solidFill>
                  <a:srgbClr val="EBCF9E"/>
                </a:solidFill>
                <a:latin typeface="TT Commons Pro Bold"/>
              </a:rPr>
              <a:t>20% cash + 80% member capital</a:t>
            </a:r>
            <a:r>
              <a:rPr sz="1875">
                <a:solidFill>
                  <a:srgbClr val="F2ECDD"/>
                </a:solidFill>
                <a:latin typeface="TT Commons Pro"/>
              </a:rPr>
              <a:t> — members build equity with every sale.</a:t>
            </a:r>
          </a:p>
        </p:txBody>
      </p:sp>
      <p:pic>
        <p:nvPicPr>
          <p:cNvPr id="35" name="Picture 34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BUDGET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45919"/>
            <a:ext cx="4272915" cy="123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725" spc="20">
                <a:solidFill>
                  <a:srgbClr val="EBCF9E"/>
                </a:solidFill>
                <a:latin typeface="TT Commons Pro Bold"/>
              </a:rPr>
              <a:t>$21.05M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76700" y="1753819"/>
            <a:ext cx="6668135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6">
                <a:solidFill>
                  <a:srgbClr val="F4EAD8"/>
                </a:solidFill>
                <a:latin typeface="TT Commons Pro Bold"/>
              </a:rPr>
              <a:t> over five years,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46616" y="1699869"/>
            <a:ext cx="5319474" cy="1140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195" spc="-75">
                <a:solidFill>
                  <a:srgbClr val="99E6D9"/>
                </a:solidFill>
                <a:latin typeface="Ibarra Real Nova Italics"/>
              </a:rPr>
              <a:t>2026–2030.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7584948"/>
            <a:ext cx="2221991" cy="164592"/>
          </a:xfrm>
          <a:prstGeom prst="roundRect">
            <a:avLst>
              <a:gd name="adj" fmla="val 18000"/>
            </a:avLst>
          </a:prstGeom>
          <a:solidFill>
            <a:srgbClr val="084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7118604"/>
            <a:ext cx="2221991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spc="180">
                <a:solidFill>
                  <a:srgbClr val="EBCF9E"/>
                </a:solidFill>
                <a:latin typeface="TT Commons Pro"/>
              </a:rPr>
              <a:t>$400K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7941564"/>
            <a:ext cx="2221991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2" y="7254632"/>
            <a:ext cx="2221991" cy="494907"/>
          </a:xfrm>
          <a:prstGeom prst="roundRect">
            <a:avLst>
              <a:gd name="adj" fmla="val 18000"/>
            </a:avLst>
          </a:prstGeom>
          <a:solidFill>
            <a:srgbClr val="0D3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2352" y="6788288"/>
            <a:ext cx="2221991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spc="180">
                <a:solidFill>
                  <a:srgbClr val="EBCF9E"/>
                </a:solidFill>
                <a:latin typeface="TT Commons Pro"/>
              </a:rPr>
              <a:t>$1.4M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7941564"/>
            <a:ext cx="2221991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2027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6565297"/>
            <a:ext cx="2221991" cy="1184242"/>
          </a:xfrm>
          <a:prstGeom prst="roundRect">
            <a:avLst>
              <a:gd name="adj" fmla="val 18000"/>
            </a:avLst>
          </a:prstGeom>
          <a:solidFill>
            <a:srgbClr val="084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6098953"/>
            <a:ext cx="2221991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spc="180">
                <a:solidFill>
                  <a:srgbClr val="EBCF9E"/>
                </a:solidFill>
                <a:latin typeface="TT Commons Pro"/>
              </a:rPr>
              <a:t>$3.35M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7941564"/>
            <a:ext cx="2221991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2028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17936" y="5557808"/>
            <a:ext cx="2221991" cy="2191731"/>
          </a:xfrm>
          <a:prstGeom prst="roundRect">
            <a:avLst>
              <a:gd name="adj" fmla="val 18000"/>
            </a:avLst>
          </a:prstGeom>
          <a:solidFill>
            <a:srgbClr val="0D3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17936" y="5091464"/>
            <a:ext cx="2221991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spc="180">
                <a:solidFill>
                  <a:srgbClr val="EBCF9E"/>
                </a:solidFill>
                <a:latin typeface="TT Commons Pro"/>
              </a:rPr>
              <a:t>$6.2M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7936" y="7941564"/>
            <a:ext cx="2221991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2029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825728" y="4320540"/>
            <a:ext cx="2221991" cy="3429000"/>
          </a:xfrm>
          <a:prstGeom prst="roundRect">
            <a:avLst>
              <a:gd name="adj" fmla="val 18000"/>
            </a:avLst>
          </a:prstGeom>
          <a:solidFill>
            <a:srgbClr val="14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25728" y="3854196"/>
            <a:ext cx="2221991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spc="180">
                <a:solidFill>
                  <a:srgbClr val="EBCF9E"/>
                </a:solidFill>
                <a:latin typeface="TT Commons Pro"/>
              </a:rPr>
              <a:t>$9.7M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25728" y="7941564"/>
            <a:ext cx="2221991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>
                <a:solidFill>
                  <a:srgbClr val="F2ECDD"/>
                </a:solidFill>
                <a:latin typeface="TT Commons Pro"/>
              </a:rPr>
              <a:t>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813048"/>
            <a:ext cx="15773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ANNUAL SPEND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" y="8613648"/>
            <a:ext cx="8161020" cy="1069848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8846820"/>
            <a:ext cx="740664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25">
                <a:solidFill>
                  <a:srgbClr val="EBCF9E"/>
                </a:solidFill>
                <a:latin typeface="TT Commons Pro Bold"/>
              </a:rPr>
              <a:t>2026 runs lean at $400K</a:t>
            </a:r>
          </a:p>
          <a:p>
            <a:pPr algn="l">
              <a:lnSpc>
                <a:spcPct val="13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the seed round covers live-money cutover, the Boulder launch, and runway into 2027.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8613648"/>
            <a:ext cx="8161020" cy="1069848"/>
          </a:xfrm>
          <a:prstGeom prst="roundRect">
            <a:avLst>
              <a:gd name="adj" fmla="val 6000"/>
            </a:avLst>
          </a:prstGeom>
          <a:solidFill>
            <a:srgbClr val="084B4D"/>
          </a:solidFill>
          <a:ln w="21907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59" y="8846820"/>
            <a:ext cx="740664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25">
                <a:solidFill>
                  <a:srgbClr val="EBCF9E"/>
                </a:solidFill>
                <a:latin typeface="TT Commons Pro Bold"/>
              </a:rPr>
              <a:t>First profitable year: 2029</a:t>
            </a:r>
          </a:p>
          <a:p>
            <a:pPr algn="l">
              <a:lnSpc>
                <a:spcPct val="13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Spend scales behind revenue, not ahead of it.</a:t>
            </a:r>
          </a:p>
        </p:txBody>
      </p:sp>
      <p:pic>
        <p:nvPicPr>
          <p:cNvPr id="27" name="Picture 26" descr="rivr-symbol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RAISE STRUCTURE · THE PATH TO COOPERATIVE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6994048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9">
                <a:solidFill>
                  <a:srgbClr val="F4EAD8"/>
                </a:solidFill>
                <a:latin typeface="TT Commons Pro Bold"/>
              </a:rPr>
              <a:t>The staircase 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3607" y="1645919"/>
            <a:ext cx="3646646" cy="1173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72" spc="-75">
                <a:solidFill>
                  <a:srgbClr val="EBCF9E"/>
                </a:solidFill>
                <a:latin typeface="Ibarra Real Nova Italics"/>
              </a:rPr>
              <a:t>$100M.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429000"/>
            <a:ext cx="165963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875" spc="40">
                <a:solidFill>
                  <a:srgbClr val="F2ECDD"/>
                </a:solidFill>
                <a:latin typeface="TT Commons Pro"/>
              </a:rPr>
              <a:t>Four rounds across four years. Each round gates the next: no new issuance until network value has at least tripled.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279392"/>
            <a:ext cx="260603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330">
                <a:solidFill>
                  <a:srgbClr val="9FE8DC"/>
                </a:solidFill>
                <a:latin typeface="TT Commons Pro"/>
              </a:rPr>
              <a:t>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279392"/>
            <a:ext cx="164591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330">
                <a:solidFill>
                  <a:srgbClr val="9FE8DC"/>
                </a:solidFill>
                <a:latin typeface="TT Commons Pro"/>
              </a:rPr>
              <a:t>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4279392"/>
            <a:ext cx="20574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330">
                <a:solidFill>
                  <a:srgbClr val="9FE8DC"/>
                </a:solidFill>
                <a:latin typeface="TT Commons Pro"/>
              </a:rPr>
              <a:t>RAISE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279392"/>
            <a:ext cx="246888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330">
                <a:solidFill>
                  <a:srgbClr val="9FE8DC"/>
                </a:solidFill>
                <a:latin typeface="TT Commons Pro"/>
              </a:rPr>
              <a:t>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4279392"/>
            <a:ext cx="27432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330">
                <a:solidFill>
                  <a:srgbClr val="9FE8DC"/>
                </a:solidFill>
                <a:latin typeface="TT Commons Pro"/>
              </a:rPr>
              <a:t>PRICE /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0" y="4279392"/>
            <a:ext cx="51435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330">
                <a:solidFill>
                  <a:srgbClr val="9FE8DC"/>
                </a:solidFill>
                <a:latin typeface="TT Commons Pro"/>
              </a:rPr>
              <a:t>INSTRUMENT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59" y="4745736"/>
            <a:ext cx="16664941" cy="0"/>
          </a:xfrm>
          <a:prstGeom prst="line">
            <a:avLst/>
          </a:prstGeom>
          <a:ln w="12700">
            <a:solidFill>
              <a:srgbClr val="084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59" y="5020056"/>
            <a:ext cx="260603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EBCF9E"/>
                </a:solidFill>
                <a:latin typeface="TT Commons Pro Bold"/>
              </a:rPr>
              <a:t>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020056"/>
            <a:ext cx="164591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EBCF9E"/>
                </a:solidFill>
                <a:latin typeface="TT Commons Pro Bold"/>
              </a:rP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5020056"/>
            <a:ext cx="20574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180">
                <a:solidFill>
                  <a:srgbClr val="EBCF9E"/>
                </a:solidFill>
                <a:latin typeface="TT Commons Pro"/>
              </a:rPr>
              <a:t>$500K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020056"/>
            <a:ext cx="24688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180">
                <a:solidFill>
                  <a:srgbClr val="EBCF9E"/>
                </a:solidFill>
                <a:latin typeface="TT Commons Pro"/>
              </a:rPr>
              <a:t>$4M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5020056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EBCF9E"/>
                </a:solidFill>
                <a:latin typeface="TT Commons Pro Bold"/>
              </a:rPr>
              <a:t>$0.20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0" y="5020056"/>
            <a:ext cx="51435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>
                <a:solidFill>
                  <a:srgbClr val="EBCF9E"/>
                </a:solidFill>
                <a:latin typeface="TT Commons Pro"/>
              </a:rPr>
              <a:t>Class R (147A) · SAFE (506b) → Class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39260" y="5020056"/>
            <a:ext cx="123444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>
                <a:solidFill>
                  <a:srgbClr val="F0CC8B"/>
                </a:solidFill>
                <a:latin typeface="TT Commons Pro"/>
              </a:rPr>
              <a:t>←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870448"/>
            <a:ext cx="260603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Crowd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870448"/>
            <a:ext cx="164591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5870448"/>
            <a:ext cx="20574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180">
                <a:solidFill>
                  <a:srgbClr val="F2ECDD"/>
                </a:solidFill>
                <a:latin typeface="TT Commons Pro"/>
              </a:rPr>
              <a:t>$4.5M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870448"/>
            <a:ext cx="24688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$20M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5870448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 Bold"/>
              </a:rPr>
              <a:t>$1.00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0" y="5870448"/>
            <a:ext cx="51435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Token · Reg CF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6720840"/>
            <a:ext cx="260603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6720840"/>
            <a:ext cx="164591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6720840"/>
            <a:ext cx="20574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180">
                <a:solidFill>
                  <a:srgbClr val="F2ECDD"/>
                </a:solidFill>
                <a:latin typeface="TT Commons Pro"/>
              </a:rPr>
              <a:t>$35M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6720840"/>
            <a:ext cx="24688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$70M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72084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 Bold"/>
              </a:rPr>
              <a:t>$3.50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0" y="6720840"/>
            <a:ext cx="51435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Equity · 506c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7571231"/>
            <a:ext cx="260603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7571231"/>
            <a:ext cx="164591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2030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7571231"/>
            <a:ext cx="20574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180">
                <a:solidFill>
                  <a:srgbClr val="F2ECDD"/>
                </a:solidFill>
                <a:latin typeface="TT Commons Pro"/>
              </a:rPr>
              <a:t>$60M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7571231"/>
            <a:ext cx="24688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$250M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7571231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 Bold"/>
              </a:rPr>
              <a:t>$12.00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0" y="7571231"/>
            <a:ext cx="51435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Equity · Reg A+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8435340"/>
            <a:ext cx="301752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spc="20">
                <a:solidFill>
                  <a:srgbClr val="EBCF9E"/>
                </a:solidFill>
                <a:latin typeface="TT Commons Pro Bold"/>
              </a:rPr>
              <a:t>$100M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9079992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2ECDD"/>
                </a:solidFill>
                <a:latin typeface="TT Commons Pro"/>
              </a:rPr>
              <a:t>raised across four rounds, 2026–2030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8435340"/>
            <a:ext cx="301752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spc="20">
                <a:solidFill>
                  <a:srgbClr val="EBCF9E"/>
                </a:solidFill>
                <a:latin typeface="TT Commons Pro Bold"/>
              </a:rPr>
              <a:t>60x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9079992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2ECDD"/>
                </a:solidFill>
                <a:latin typeface="TT Commons Pro"/>
              </a:rPr>
              <a:t>paper uplift on Class D — $0.20 → $12.00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24944" y="8435340"/>
            <a:ext cx="301752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spc="20">
                <a:solidFill>
                  <a:srgbClr val="EBCF9E"/>
                </a:solidFill>
                <a:latin typeface="TT Commons Pro Bold"/>
              </a:rPr>
              <a:t>58M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24944" y="9079992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2ECDD"/>
                </a:solidFill>
                <a:latin typeface="TT Commons Pro"/>
              </a:rPr>
              <a:t>treasury shares still unissued after Scale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" y="9601200"/>
            <a:ext cx="1659635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75" spc="150">
                <a:solidFill>
                  <a:srgbClr val="AFC4C2"/>
                </a:solidFill>
                <a:latin typeface="TT Commons Pro"/>
              </a:rPr>
              <a:t>Illustrative — anchored to the governing documents' Staircase plan. Not an offer to sell securities; not a guarantee of return.</a:t>
            </a:r>
          </a:p>
        </p:txBody>
      </p:sp>
      <p:pic>
        <p:nvPicPr>
          <p:cNvPr id="46" name="Picture 45" descr="rivr-symbol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THE ASK · SEED ROUND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45919"/>
            <a:ext cx="3587908" cy="13037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80" spc="20">
                <a:solidFill>
                  <a:srgbClr val="EBCF9E"/>
                </a:solidFill>
                <a:latin typeface="TT Commons Pro Bold"/>
              </a:rPr>
              <a:t>$500K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8695" y="1789785"/>
            <a:ext cx="10631328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6">
                <a:solidFill>
                  <a:srgbClr val="F4EAD8"/>
                </a:solidFill>
                <a:latin typeface="TT Commons Pro Bold"/>
              </a:rPr>
              <a:t> to take the built platform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69166" y="1735836"/>
            <a:ext cx="1926193" cy="1140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195" spc="-75">
                <a:solidFill>
                  <a:srgbClr val="99E6D9"/>
                </a:solidFill>
                <a:latin typeface="Ibarra Real Nova Italics"/>
              </a:rPr>
              <a:t>live.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3703320"/>
            <a:ext cx="8778240" cy="1920239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977640"/>
            <a:ext cx="79552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9FE8DC"/>
                </a:solidFill>
                <a:latin typeface="TT Commons Pro"/>
              </a:rPr>
              <a:t>INSTRUMENT +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416552"/>
            <a:ext cx="7955279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Cooperative SAFE — $4M cap · 20% discount →</a:t>
            </a:r>
          </a:p>
          <a:p>
            <a:pPr algn="l">
              <a:lnSpc>
                <a:spcPct val="150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Class D Steward Shares (accredited, 506b).</a:t>
            </a:r>
          </a:p>
          <a:p>
            <a:pPr algn="l">
              <a:lnSpc>
                <a:spcPct val="150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Colorado residents: direct Class R purchase (147A).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5952744"/>
            <a:ext cx="8778240" cy="109728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6227064"/>
            <a:ext cx="79552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9FE8DC"/>
                </a:solidFill>
                <a:latin typeface="TT Commons Pro"/>
              </a:rPr>
              <a:t>SHARE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6665975"/>
            <a:ext cx="7955279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$0.20 per share.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" y="7379208"/>
            <a:ext cx="8778240" cy="15087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7653528"/>
            <a:ext cx="79552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9FE8DC"/>
                </a:solidFill>
                <a:latin typeface="TT Commons Pro"/>
              </a:rPr>
              <a:t>DIVIDEND 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8092440"/>
            <a:ext cx="7955279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Steward Pool = 33% of after-tax retained profit,</a:t>
            </a:r>
          </a:p>
          <a:p>
            <a:pPr algn="l">
              <a:lnSpc>
                <a:spcPct val="150000"/>
              </a:lnSpc>
            </a:pPr>
            <a:r>
              <a:rPr sz="1725">
                <a:solidFill>
                  <a:srgbClr val="F2ECDD"/>
                </a:solidFill>
                <a:latin typeface="TT Commons Pro"/>
              </a:rPr>
              <a:t>pro-rata, from the first profitable year.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3703320"/>
            <a:ext cx="7475220" cy="5102352"/>
          </a:xfrm>
          <a:prstGeom prst="roundRect">
            <a:avLst>
              <a:gd name="adj" fmla="val 6000"/>
            </a:avLst>
          </a:prstGeom>
          <a:solidFill>
            <a:srgbClr val="084B4D"/>
          </a:solidFill>
          <a:ln w="22859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92740" y="4005072"/>
            <a:ext cx="65836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spc="330">
                <a:solidFill>
                  <a:srgbClr val="EBCF9E"/>
                </a:solidFill>
                <a:latin typeface="TT Commons Pro"/>
              </a:rPr>
              <a:t>USE OF FUNDS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92740" y="4553712"/>
            <a:ext cx="1693926" cy="274320"/>
          </a:xfrm>
          <a:prstGeom prst="roundRect">
            <a:avLst>
              <a:gd name="adj" fmla="val 18000"/>
            </a:avLst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92740" y="4882896"/>
            <a:ext cx="65836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Live-money cutover + payment operations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92740" y="5294376"/>
            <a:ext cx="1954530" cy="274320"/>
          </a:xfrm>
          <a:prstGeom prst="roundRect">
            <a:avLst>
              <a:gd name="adj" fmla="val 18000"/>
            </a:avLst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92740" y="5623559"/>
            <a:ext cx="65836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Core team compensation + engineering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92740" y="6035040"/>
            <a:ext cx="1303020" cy="274320"/>
          </a:xfrm>
          <a:prstGeom prst="roundRect">
            <a:avLst>
              <a:gd name="adj" fmla="val 18000"/>
            </a:avLst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6364224"/>
            <a:ext cx="65836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Community growth + chapter onboarding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92740" y="6775704"/>
            <a:ext cx="781812" cy="274320"/>
          </a:xfrm>
          <a:prstGeom prst="roundRect">
            <a:avLst>
              <a:gd name="adj" fmla="val 18000"/>
            </a:avLst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92740" y="7104888"/>
            <a:ext cx="65836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Legal, compliance + co-op formation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92740" y="7516368"/>
            <a:ext cx="781812" cy="274320"/>
          </a:xfrm>
          <a:prstGeom prst="roundRect">
            <a:avLst>
              <a:gd name="adj" fmla="val 18000"/>
            </a:avLst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92740" y="7845552"/>
            <a:ext cx="658367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Infrastructure +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92740" y="8257031"/>
            <a:ext cx="658367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spc="20">
                <a:solidFill>
                  <a:srgbClr val="EBCF9E"/>
                </a:solidFill>
                <a:latin typeface="Alike Italics"/>
              </a:rPr>
              <a:t>Runway into the 2027 Crowd round.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9217152"/>
            <a:ext cx="1659635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Informational only. Not an offer to sell securities. See governing documents and membership agreements for binding terms.</a:t>
            </a:r>
          </a:p>
        </p:txBody>
      </p:sp>
      <p:pic>
        <p:nvPicPr>
          <p:cNvPr id="30" name="Picture 29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THE LEGACY YOU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45919"/>
            <a:ext cx="11683365" cy="952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175" spc="-70">
                <a:solidFill>
                  <a:srgbClr val="F4EAD8"/>
                </a:solidFill>
                <a:latin typeface="TT Commons Pro Bold"/>
              </a:rPr>
              <a:t>Rivr does not sell the 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605468"/>
            <a:ext cx="6139418" cy="952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175" spc="-70">
                <a:solidFill>
                  <a:srgbClr val="F4EAD8"/>
                </a:solidFill>
                <a:latin typeface="TT Commons Pro Bold"/>
              </a:rPr>
              <a:t>The community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9902" y="2552890"/>
            <a:ext cx="4634865" cy="1048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92" spc="-75">
                <a:solidFill>
                  <a:srgbClr val="EBCF9E"/>
                </a:solidFill>
                <a:latin typeface="Ibarra Real Nova Italics"/>
              </a:rPr>
              <a:t>buys it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4594860"/>
            <a:ext cx="5376672" cy="32232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" y="4978908"/>
            <a:ext cx="411479" cy="4114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47672" y="4992624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330">
                <a:solidFill>
                  <a:srgbClr val="9FE8DC"/>
                </a:solidFill>
                <a:latin typeface="TT Commons Pro"/>
              </a:rPr>
              <a:t>1 · INVEST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39" y="5733288"/>
            <a:ext cx="4594860" cy="1920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Colorado residents buy Class R directly (Rule 147A). Accredited investors sign the Cooperative SAFE — $4M cap, 20% discount — converting to Class D at a qualified financing.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254496" y="6035040"/>
            <a:ext cx="164592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73952" y="4594860"/>
            <a:ext cx="5376672" cy="322326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3" y="4978908"/>
            <a:ext cx="411479" cy="4114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98664" y="4992624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330">
                <a:solidFill>
                  <a:srgbClr val="9FE8DC"/>
                </a:solidFill>
                <a:latin typeface="TT Commons Pro"/>
              </a:rPr>
              <a:t>2 · 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5733288"/>
            <a:ext cx="4594860" cy="1920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A pro-rata share of the Steward Pool: 33% of after-tax retained profit. 20% cash per Subchapter T; 80% accrues in your member capital account.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1905488" y="6035040"/>
            <a:ext cx="164592" cy="219456"/>
          </a:xfrm>
          <a:prstGeom prst="rightArrow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124944" y="4594860"/>
            <a:ext cx="5376672" cy="32232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21907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ver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5276" y="4978908"/>
            <a:ext cx="411479" cy="4114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249656" y="4992624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spc="330">
                <a:solidFill>
                  <a:srgbClr val="EBCF9E"/>
                </a:solidFill>
                <a:latin typeface="TT Commons Pro"/>
              </a:rPr>
              <a:t>3 · REDEEM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36424" y="5733288"/>
            <a:ext cx="4594860" cy="1920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The Cooperative repurchases Steward Shares over time at the governing-documents premium — returning Rivr toward full community ownership.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" y="8161020"/>
            <a:ext cx="16664940" cy="1042416"/>
          </a:xfrm>
          <a:prstGeom prst="roundRect">
            <a:avLst>
              <a:gd name="adj" fmla="val 6000"/>
            </a:avLst>
          </a:prstGeom>
          <a:solidFill>
            <a:srgbClr val="084B4D"/>
          </a:solidFill>
          <a:ln w="21907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8421624"/>
            <a:ext cx="159105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Patron-first economics and one-member-one-vote survive every round — </a:t>
            </a:r>
            <a:r>
              <a:rPr sz="1800">
                <a:solidFill>
                  <a:srgbClr val="EBCF9E"/>
                </a:solidFill>
                <a:latin typeface="TT Commons Pro Bold"/>
              </a:rPr>
              <a:t>the anti-enclosure design.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960120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50" spc="20">
                <a:solidFill>
                  <a:srgbClr val="9FE8DC"/>
                </a:solidFill>
                <a:latin typeface="Alike Italics"/>
              </a:rPr>
              <a:t>“Individually, we are one drop. Together, we are an ocean.” — Ryunosuke Satoro</a:t>
            </a:r>
          </a:p>
        </p:txBody>
      </p:sp>
      <p:pic>
        <p:nvPicPr>
          <p:cNvPr id="24" name="Picture 23" descr="rivr-symbol-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TEAM +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9001125" cy="1043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64" spc="-76">
                <a:solidFill>
                  <a:srgbClr val="F4EAD8"/>
                </a:solidFill>
                <a:latin typeface="TT Commons Pro Bold"/>
              </a:rPr>
              <a:t>Building the software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9267" y="1645919"/>
            <a:ext cx="7790021" cy="1140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195" spc="-75">
                <a:solidFill>
                  <a:srgbClr val="EBCF9E"/>
                </a:solidFill>
                <a:latin typeface="Ibarra Real Nova Italics"/>
              </a:rPr>
              <a:t>and the institution.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3703320"/>
            <a:ext cx="5376672" cy="18516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4389120"/>
            <a:ext cx="493776" cy="4937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25979" y="4142232"/>
            <a:ext cx="397763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>
                <a:solidFill>
                  <a:srgbClr val="F4EAD8"/>
                </a:solidFill>
                <a:latin typeface="TT Commons Pro Bold"/>
              </a:rPr>
              <a:t>Cameron Ely-Murdock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5979" y="4636008"/>
            <a:ext cx="397763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spc="20">
                <a:solidFill>
                  <a:srgbClr val="EBCF9E"/>
                </a:solidFill>
                <a:latin typeface="Alike Italics"/>
              </a:rPr>
              <a:t>Strategy Director &amp;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3703320"/>
            <a:ext cx="5376672" cy="18516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4389120"/>
            <a:ext cx="493776" cy="4937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6971" y="4142232"/>
            <a:ext cx="397763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>
                <a:solidFill>
                  <a:srgbClr val="F4EAD8"/>
                </a:solidFill>
                <a:latin typeface="TT Commons Pro Bold"/>
              </a:rPr>
              <a:t>Kathleen Marie Rose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6971" y="4636008"/>
            <a:ext cx="397763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spc="20">
                <a:solidFill>
                  <a:srgbClr val="EBCF9E"/>
                </a:solidFill>
                <a:latin typeface="Alike Italics"/>
              </a:rPr>
              <a:t>Design &amp; Community Outreach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24944" y="3703320"/>
            <a:ext cx="5376672" cy="18516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9050">
            <a:solidFill>
              <a:srgbClr val="99E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3856" y="4389120"/>
            <a:ext cx="493776" cy="4937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427963" y="4142232"/>
            <a:ext cx="397763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>
                <a:solidFill>
                  <a:srgbClr val="F4EAD8"/>
                </a:solidFill>
                <a:latin typeface="TT Commons Pro Bold"/>
              </a:rPr>
              <a:t>Grig Bilham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27963" y="4636008"/>
            <a:ext cx="397763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spc="20">
                <a:solidFill>
                  <a:srgbClr val="EBCF9E"/>
                </a:solidFill>
                <a:latin typeface="Alike Italics"/>
              </a:rPr>
              <a:t>Operations Management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68880" y="6926579"/>
            <a:ext cx="13304520" cy="0"/>
          </a:xfrm>
          <a:prstGeom prst="line">
            <a:avLst/>
          </a:prstGeom>
          <a:ln w="15240">
            <a:solidFill>
              <a:srgbClr val="084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331720" y="6789420"/>
            <a:ext cx="274320" cy="274320"/>
          </a:xfrm>
          <a:prstGeom prst="ellips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0761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spc="330">
                <a:solidFill>
                  <a:srgbClr val="EBCF9E"/>
                </a:solidFill>
                <a:latin typeface="TT Commons Pro"/>
              </a:rPr>
              <a:t>Q3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" y="7283196"/>
            <a:ext cx="3977639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Beta launch opens in Boulder — members sign up.</a:t>
            </a:r>
          </a:p>
        </p:txBody>
      </p:sp>
      <p:sp>
        <p:nvSpPr>
          <p:cNvPr id="22" name="Oval 21"/>
          <p:cNvSpPr/>
          <p:nvPr/>
        </p:nvSpPr>
        <p:spPr>
          <a:xfrm>
            <a:off x="8983980" y="6789420"/>
            <a:ext cx="274320" cy="274320"/>
          </a:xfrm>
          <a:prstGeom prst="ellips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8059" y="60761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spc="330">
                <a:solidFill>
                  <a:srgbClr val="EBCF9E"/>
                </a:solidFill>
                <a:latin typeface="TT Commons Pro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7283196"/>
            <a:ext cx="3977639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Mobile app build-out · bioregional expansion.</a:t>
            </a:r>
          </a:p>
        </p:txBody>
      </p:sp>
      <p:sp>
        <p:nvSpPr>
          <p:cNvPr id="25" name="Oval 24"/>
          <p:cNvSpPr/>
          <p:nvPr/>
        </p:nvSpPr>
        <p:spPr>
          <a:xfrm>
            <a:off x="15636240" y="6789420"/>
            <a:ext cx="274320" cy="274320"/>
          </a:xfrm>
          <a:prstGeom prst="ellipse">
            <a:avLst/>
          </a:prstGeom>
          <a:solidFill>
            <a:srgbClr val="F0C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90319" y="6076188"/>
            <a:ext cx="356616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spc="330">
                <a:solidFill>
                  <a:srgbClr val="EBCF9E"/>
                </a:solidFill>
                <a:latin typeface="TT Commons Pro"/>
              </a:rPr>
              <a:t>END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84580" y="7283196"/>
            <a:ext cx="3977639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~30 bioregions · ~200 organizations · 5,000+ members.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8709659"/>
            <a:ext cx="16596359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spc="330">
                <a:solidFill>
                  <a:srgbClr val="9FE8DC"/>
                </a:solidFill>
                <a:latin typeface="TT Commons Pro"/>
              </a:rPr>
              <a:t>AFFILIATED ORGS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9079992"/>
            <a:ext cx="1659635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spc="20">
                <a:solidFill>
                  <a:srgbClr val="F2ECDD"/>
                </a:solidFill>
                <a:latin typeface="Alike Italics"/>
              </a:rPr>
              <a:t>SPIRIT of the Front Range · OpenCivics · The Riverside · regenhub.xyz · CoHere · The Mystery Works · Front Range Commons</a:t>
            </a:r>
          </a:p>
        </p:txBody>
      </p:sp>
      <p:pic>
        <p:nvPicPr>
          <p:cNvPr id="30" name="Picture 29" descr="rivr-symbol-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9FE8DC"/>
                </a:solidFill>
                <a:latin typeface="TT Commons Pro"/>
              </a:rPr>
              <a:t>VALUES-BASED WORLD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99869"/>
            <a:ext cx="6827361" cy="1075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41" spc="-79">
                <a:solidFill>
                  <a:srgbClr val="F4EAD8"/>
                </a:solidFill>
                <a:latin typeface="TT Commons Pro Bold"/>
              </a:rPr>
              <a:t>Public benefits,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0257" y="1645919"/>
            <a:ext cx="3587115" cy="1173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72" spc="-75">
                <a:solidFill>
                  <a:srgbClr val="EBCF9E"/>
                </a:solidFill>
                <a:latin typeface="Ibarra Real Nova Italics"/>
              </a:rPr>
              <a:t>codified.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3771900"/>
            <a:ext cx="5376672" cy="21945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" y="4142232"/>
            <a:ext cx="411479" cy="4114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20239" y="415594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ECONOMIC 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39" y="4800600"/>
            <a:ext cx="459486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Local economic thriving — cooperative commerce, resource sharing, community building.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3771900"/>
            <a:ext cx="5376672" cy="219456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3" y="4142232"/>
            <a:ext cx="411479" cy="4114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71231" y="415594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REGENERATIVE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1" y="4800600"/>
            <a:ext cx="459486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Environmentally regenerative practice through education, technology, and transparency.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24944" y="3771900"/>
            <a:ext cx="5376672" cy="21945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overn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5276" y="4142232"/>
            <a:ext cx="411479" cy="4114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222224" y="415594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CIVIC 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36424" y="4800600"/>
            <a:ext cx="459486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Democratic participation through accessible cooperative ownership.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" y="6309359"/>
            <a:ext cx="5376672" cy="219456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292" y="6679691"/>
            <a:ext cx="411479" cy="4114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20239" y="669340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PERSONAL LIBERTY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39" y="7338059"/>
            <a:ext cx="459486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Data sovereignty and open tools — an opt-in ecosystem of vibrant social organisms.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6309359"/>
            <a:ext cx="5376672" cy="2194560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a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4283" y="6679691"/>
            <a:ext cx="411479" cy="4114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71231" y="669340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LOCAL CULTURE &amp; ECOLOGY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1" y="7338059"/>
            <a:ext cx="459486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The vitality of each place: water, land, food, art, music, business, care.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24944" y="6309359"/>
            <a:ext cx="5376672" cy="2194560"/>
          </a:xfrm>
          <a:prstGeom prst="roundRect">
            <a:avLst>
              <a:gd name="adj" fmla="val 6000"/>
            </a:avLst>
          </a:prstGeom>
          <a:solidFill>
            <a:srgbClr val="062A2C"/>
          </a:solidFill>
          <a:ln w="17145">
            <a:solidFill>
              <a:srgbClr val="9F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95276" y="6679691"/>
            <a:ext cx="411479" cy="4114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222224" y="6693408"/>
            <a:ext cx="4114800" cy="411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spc="330">
                <a:solidFill>
                  <a:srgbClr val="9FE8DC"/>
                </a:solidFill>
                <a:latin typeface="TT Commons Pro"/>
              </a:rPr>
              <a:t>THRIVING BIOREGIONS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36424" y="7338059"/>
            <a:ext cx="4594860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>
                <a:solidFill>
                  <a:srgbClr val="F2ECDD"/>
                </a:solidFill>
                <a:latin typeface="TT Commons Pro"/>
              </a:rPr>
              <a:t>~30 active bioregions and ~200 living organizations by end of 2027 — and beyond.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877824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75">
                <a:solidFill>
                  <a:srgbClr val="F2ECDD"/>
                </a:solidFill>
                <a:latin typeface="TT Commons Pro"/>
              </a:rPr>
              <a:t>The bigger vision is capable places — able to see and care for themselves</a:t>
            </a:r>
          </a:p>
          <a:p>
            <a:pPr algn="ctr">
              <a:lnSpc>
                <a:spcPct val="140000"/>
              </a:lnSpc>
            </a:pPr>
            <a:r>
              <a:rPr sz="2100" spc="20">
                <a:solidFill>
                  <a:srgbClr val="9FE8DC"/>
                </a:solidFill>
                <a:latin typeface="Alike Italics"/>
              </a:rPr>
              <a:t>without cutting themselves off from the rest of the world.</a:t>
            </a:r>
          </a:p>
        </p:txBody>
      </p:sp>
      <p:pic>
        <p:nvPicPr>
          <p:cNvPr id="31" name="Picture 30" descr="rivr-symbol-l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7542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59" y="822959"/>
            <a:ext cx="16733519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spc="330">
                <a:solidFill>
                  <a:srgbClr val="EBCF9E"/>
                </a:solidFill>
                <a:latin typeface="TT Commons Pro"/>
              </a:rPr>
              <a:t>CLOSING · FLOW LOCAL. CONNECT GLOBAL.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017520"/>
            <a:ext cx="157734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4500" spc="-75">
                <a:solidFill>
                  <a:srgbClr val="F4EAD8"/>
                </a:solidFill>
                <a:latin typeface="Ibarra Real Nova Italics"/>
              </a:rPr>
              <a:t>The best Rivr interaction may end</a:t>
            </a:r>
          </a:p>
          <a:p>
            <a:pPr algn="ctr">
              <a:lnSpc>
                <a:spcPct val="140000"/>
              </a:lnSpc>
            </a:pPr>
            <a:r>
              <a:rPr sz="4500" spc="-75">
                <a:solidFill>
                  <a:srgbClr val="F4EAD8"/>
                </a:solidFill>
                <a:latin typeface="Ibarra Real Nova Italics"/>
              </a:rPr>
              <a:t>with you </a:t>
            </a:r>
            <a:r>
              <a:rPr sz="4500" spc="-75">
                <a:solidFill>
                  <a:srgbClr val="EBCF9E"/>
                </a:solidFill>
                <a:latin typeface="Ibarra Real Nova Italics"/>
              </a:rPr>
              <a:t>leaving Rivr.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486400"/>
            <a:ext cx="157734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2025">
                <a:solidFill>
                  <a:srgbClr val="F2ECDD"/>
                </a:solidFill>
                <a:latin typeface="TT Commons Pro"/>
              </a:rPr>
              <a:t>Find the thing. Find the person. Make the agreement. Join the project.</a:t>
            </a:r>
          </a:p>
          <a:p>
            <a:pPr algn="ctr">
              <a:lnSpc>
                <a:spcPct val="155000"/>
              </a:lnSpc>
            </a:pPr>
            <a:r>
              <a:rPr sz="2025">
                <a:solidFill>
                  <a:srgbClr val="F2ECDD"/>
                </a:solidFill>
                <a:latin typeface="TT Commons Pro"/>
              </a:rPr>
              <a:t>Go meet them. Go do the work. </a:t>
            </a:r>
            <a:r>
              <a:rPr sz="2025">
                <a:solidFill>
                  <a:srgbClr val="9FE8DC"/>
                </a:solidFill>
                <a:latin typeface="TT Commons Pro Bold"/>
              </a:rPr>
              <a:t>Put the phone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79" y="6926579"/>
            <a:ext cx="11932919" cy="1645919"/>
          </a:xfrm>
          <a:prstGeom prst="roundRect">
            <a:avLst>
              <a:gd name="adj" fmla="val 6000"/>
            </a:avLst>
          </a:prstGeom>
          <a:solidFill>
            <a:srgbClr val="0D3E40"/>
          </a:solidFill>
          <a:ln w="20955">
            <a:solidFill>
              <a:srgbClr val="F0C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7159752"/>
            <a:ext cx="11109959" cy="754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We don't need to abandon modern technology to remember how to live together —</a:t>
            </a:r>
          </a:p>
          <a:p>
            <a:pPr algn="ctr">
              <a:lnSpc>
                <a:spcPct val="145000"/>
              </a:lnSpc>
            </a:pPr>
            <a:r>
              <a:rPr sz="1800">
                <a:solidFill>
                  <a:srgbClr val="F2ECDD"/>
                </a:solidFill>
                <a:latin typeface="TT Commons Pro"/>
              </a:rPr>
              <a:t>we can build </a:t>
            </a:r>
            <a:r>
              <a:rPr sz="1950" spc="20">
                <a:solidFill>
                  <a:srgbClr val="EBCF9E"/>
                </a:solidFill>
                <a:latin typeface="Alike Italics"/>
              </a:rPr>
              <a:t>better technology</a:t>
            </a:r>
            <a:r>
              <a:rPr sz="1800">
                <a:solidFill>
                  <a:srgbClr val="F2ECDD"/>
                </a:solidFill>
                <a:latin typeface="TT Commons Pro"/>
              </a:rPr>
              <a:t> for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8037576"/>
            <a:ext cx="11109959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>
                <a:solidFill>
                  <a:srgbClr val="9FE8DC"/>
                </a:solidFill>
                <a:latin typeface="TT Commons Pro Bold"/>
              </a:rPr>
              <a:t>admin@rivr.social    ·    app.rivr.social    ·    invest.rivr.social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8915400"/>
            <a:ext cx="165963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100" spc="20">
                <a:solidFill>
                  <a:srgbClr val="F2ECDD"/>
                </a:solidFill>
                <a:latin typeface="Alike Italics"/>
              </a:rPr>
              <a:t>Flow local. Connect global.  </a:t>
            </a:r>
            <a:r>
              <a:rPr sz="2100" spc="20">
                <a:solidFill>
                  <a:srgbClr val="EBCF9E"/>
                </a:solidFill>
                <a:latin typeface="Alike Italics"/>
              </a:rPr>
              <a:t>A Rivr made of many rivers.</a:t>
            </a:r>
          </a:p>
        </p:txBody>
      </p:sp>
      <p:pic>
        <p:nvPicPr>
          <p:cNvPr id="10" name="Picture 9" descr="rivr-symbo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9518904"/>
            <a:ext cx="521208" cy="521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0" y="9724644"/>
            <a:ext cx="54864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Rivr · Seed Round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70680" y="9724644"/>
            <a:ext cx="960119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spc="150">
                <a:solidFill>
                  <a:srgbClr val="AFC4C2"/>
                </a:solidFill>
                <a:latin typeface="TT Commons Pro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