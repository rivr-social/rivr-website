
<file path=[Content_Types].xml><?xml version="1.0" encoding="utf-8"?>
<Types xmlns="http://schemas.openxmlformats.org/package/2006/content-types">
  <Default ContentType="application/x-fontdata" Extension="fntdata"/>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8287542" cy="10287000" type="screen4x3"/>
  <p:notesSz cx="6858000" cy="9144000"/>
  <p:embeddedFontLst>
    <p:embeddedFont>
      <p:font typeface="Alike Italics" pitchFamily="2" charset="0"/>
      <p:regular r:id="rId99"/>
    </p:embeddedFont>
    <p:embeddedFont>
      <p:font typeface="Ibarra Real Nova Italics" pitchFamily="2" charset="0"/>
      <p:regular r:id="rId100"/>
    </p:embeddedFont>
    <p:embeddedFont>
      <p:font typeface="TT Commons Pro" pitchFamily="2" charset="0"/>
      <p:regular r:id="rId101"/>
    </p:embeddedFont>
    <p:embeddedFont>
      <p:font typeface="TT Commons Pro Bold" pitchFamily="2" charset="0"/>
      <p:regular r:id="rId10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font" Target="fonts/font1.fntdata"/><Relationship Id="rId100" Type="http://schemas.openxmlformats.org/officeDocument/2006/relationships/font" Target="fonts/font2.fntdata"/><Relationship Id="rId101" Type="http://schemas.openxmlformats.org/officeDocument/2006/relationships/font" Target="fonts/font3.fntdata"/><Relationship Id="rId10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social coordination network for local life.</a:t>
            </a:r>
          </a:p>
          <a:p>
            <a:r>
              <a:t>[pause]</a:t>
            </a:r>
          </a:p>
          <a:p>
            <a:r>
              <a:t>Every community already holds the people, skills, resources and work that need to move between people. Rivr makes those things visible enough to act on.</a:t>
            </a:r>
          </a:p>
          <a:p>
            <a:r>
              <a:t>The social layer makes it familiar. The coordination underneath is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let us reach almost anyone, anywhere.</a:t>
            </a:r>
          </a:p>
          <a:p>
            <a:r>
              <a:t>[pause]</a:t>
            </a:r>
          </a:p>
          <a:p>
            <a:r>
              <a:t>And yet the places we actually live feel more fragmented than ever. Local relationships and capacity are hard to see. Institutions are stretched.</a:t>
            </a:r>
          </a:p>
          <a:p>
            <a:r>
              <a:t>[pause]</a:t>
            </a:r>
          </a:p>
          <a:p>
            <a:r>
              <a:t>And most of the value created in a place leaves it — along with our attention and our data.</a:t>
            </a:r>
          </a:p>
          <a:p>
            <a:r>
              <a:t>So what would it take for a place to become capable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your town already contains. Skills, tools, food, space, knowledge, money, care.</a:t>
            </a:r>
          </a:p>
          <a:p>
            <a:r>
              <a:t>[pause]</a:t>
            </a:r>
          </a:p>
          <a:p>
            <a:r>
              <a:t>None of it is missing. It is within a few miles of everyone in this room.</a:t>
            </a:r>
          </a:p>
          <a:p>
            <a:r>
              <a:t>A need and a resource can sit three blocks apart for years and never meet. That is not scarcity. That is a visibility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do find each other. They still have to decide, track, exchange and organize.</a:t>
            </a:r>
          </a:p>
          <a:p>
            <a:r>
              <a:t>[pause]</a:t>
            </a:r>
          </a:p>
          <a:p>
            <a:r>
              <a:t>Who is doing what? What did we agree to? Who contributed? What is owed?</a:t>
            </a:r>
          </a:p>
          <a:p>
            <a:r>
              <a:t>[pause]</a:t>
            </a:r>
          </a:p>
          <a:p>
            <a:r>
              <a:t>That whole arc — discover, trust, agree, organize, act, verify, account, flow — gets assembled by hand, out of a dozen apps, every single time.</a:t>
            </a:r>
          </a:p>
          <a:p>
            <a:r>
              <a:t>That overhead is why most good ideas die in the group chat.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Meanwhile the tools are scattered. Events here, payments there, projects somewhere else, and none of them share context.</a:t>
            </a:r>
          </a:p>
          <a:p>
            <a:r>
              <a:t>[pause]</a:t>
            </a:r>
          </a:p>
          <a:p>
            <a:r>
              <a:t>For a small organization that pile runs about three hundred twenty-eight dollars a month. Fragmented, extractive, and unowned.</a:t>
            </a:r>
          </a:p>
          <a:p>
            <a:r>
              <a:t>[pause]</a:t>
            </a:r>
          </a:p>
          <a:p>
            <a:r>
              <a:t>A platform optimized to keep you scrolling behaves differently from one optimized to help you find what you need and get on with your life.</a:t>
            </a:r>
          </a:p>
          <a:p>
            <a:r>
              <a:t>Social media did grow toward coordination. The expansion was not the failure. The incentives underneath it were.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picture the alternative: a place that can actually see itself.</a:t>
            </a:r>
          </a:p>
          <a:p>
            <a:r>
              <a:t>[pause]</a:t>
            </a:r>
          </a:p>
          <a:p>
            <a:r>
              <a:t>Needs find resources. Skills find work. Projects find people. And notice — mostly nothing new has to be created. It only has to be connected.</a:t>
            </a:r>
          </a:p>
          <a:p>
            <a:r>
              <a:t>[pause]</a:t>
            </a:r>
          </a:p>
          <a:p>
            <a:r>
              <a:t>People are already searching for this: trustable connection, local resilience, collaborative community, meaningful work, an alternative to the feed.</a:t>
            </a:r>
          </a:p>
          <a:p>
            <a:r>
              <a:t>The demand side of this market is not hypothetical. It is a movement already in motion.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surface Rivr is deliberately familiar — profiles, feeds, events, groups, messages.</a:t>
            </a:r>
          </a:p>
          <a:p>
            <a:r>
              <a:t>[pause]</a:t>
            </a:r>
          </a:p>
          <a:p>
            <a:r>
              <a:t>Underneath, six object types carry the real work: people, groups, events, projects, exchange, governance.</a:t>
            </a:r>
          </a:p>
          <a:p>
            <a:r>
              <a:t>[pause]</a:t>
            </a:r>
          </a:p>
          <a:p>
            <a:r>
              <a:t>Nobody should have to understand the infrastructure. The complexity stays underneath. The experience stays human.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helps people do more than discover one another. Find, trust, coordinate, act.</a:t>
            </a:r>
          </a:p>
          <a:p>
            <a:r>
              <a:t>[pause]</a:t>
            </a:r>
          </a:p>
          <a:p>
            <a:r>
              <a:t>And every feature runs both ways. Find a gig or offer paid work. Borrow a tool or share one. Ask for help or give it.</a:t>
            </a:r>
          </a:p>
          <a:p>
            <a:r>
              <a:t>[pause]</a:t>
            </a:r>
          </a:p>
          <a:p>
            <a:r>
              <a:t>I need something, find it. I have something, share it. I can do something, contribute it.</a:t>
            </a:r>
          </a:p>
          <a:p>
            <a:r>
              <a:t>A network is not a place you get shown things. It is something you do with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looks like in a real week.</a:t>
            </a:r>
          </a:p>
          <a:p>
            <a:r>
              <a:t>[pause]</a:t>
            </a:r>
          </a:p>
          <a:p>
            <a:r>
              <a:t>Maya names a need — a neighborhood tool library. An offer arrives. A project forms with four paid gigs. The tools stay local.</a:t>
            </a:r>
          </a:p>
          <a:p>
            <a:r>
              <a:t>John hosts a bike repair night and the crew keeps meeting. Emily starts a creek cleanup and the watershed gets healthier. David teaches pottery and the earnings stay in town.</a:t>
            </a:r>
          </a:p>
          <a:p>
            <a:r>
              <a:t>[pause]</a:t>
            </a:r>
          </a:p>
          <a:p>
            <a:r>
              <a:t>Same shape every time: a need becomes a project becomes capacity that stays.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changes how resources move through a community.</a:t>
            </a:r>
          </a:p>
          <a:p>
            <a:r>
              <a:t>[pause]</a:t>
            </a:r>
          </a:p>
          <a:p>
            <a:r>
              <a:t>Locally scoped, so life appears where it is happening. Sovereign, so communities keep their rules, memory and data. Interoperable, so information can flow across tools.</a:t>
            </a:r>
          </a:p>
          <a:p>
            <a:r>
              <a:t>[pause]</a:t>
            </a:r>
          </a:p>
          <a:p>
            <a:r>
              <a:t>Visibility creates exchange. Exchange creates relationships. Relationships reveal capacity.</a:t>
            </a:r>
          </a:p>
          <a:p>
            <a:r>
              <a:t>Not one enormous global marketplace — strong local networks, connected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hand it is four moves. Discover the living parts of a place. Coordinate — join a group, claim a gig, move the work. Gather, at events that lead somewhere. Exchange value that can circulate nearby.</a:t>
            </a:r>
          </a:p>
          <a:p>
            <a:r>
              <a:t>[pause]</a:t>
            </a:r>
          </a:p>
          <a:p>
            <a:r>
              <a:t>The basics are free for everyone: profile, feed, map, messaging, directory, marketplace, groups.</a:t>
            </a:r>
          </a:p>
          <a:p>
            <a:r>
              <a:t>Join a locale, see what is around you, and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you choose what you want to make happen.</a:t>
            </a:r>
          </a:p>
          <a:p>
            <a:r>
              <a:t>[pause]</a:t>
            </a:r>
          </a:p>
          <a:p>
            <a:r>
              <a:t>Eleven dollars if you are getting paid for work. Twenty-two to host events or to sell. Thirty-three to do both. Forty-four to run an organization.</a:t>
            </a:r>
          </a:p>
          <a:p>
            <a:r>
              <a:t>Basic membership is free. One subscription — not a stack of them.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acts, they ask a second set of questions. Who is this person? Have they done this before? Do we know anyone in common?</a:t>
            </a:r>
          </a:p>
          <a:p>
            <a:r>
              <a:t>[pause]</a:t>
            </a:r>
          </a:p>
          <a:p>
            <a:r>
              <a:t>Rivr can answer from what the network already knows — history, references, verified claims, real contribution.</a:t>
            </a:r>
          </a:p>
          <a:p>
            <a:r>
              <a:t>[pause]</a:t>
            </a:r>
          </a:p>
          <a:p>
            <a:r>
              <a:t>Most platforms measure followers. Rivr can measure what you have actually done. Trust grows through participation,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need more than a group chat about the organization.</a:t>
            </a:r>
          </a:p>
          <a:p>
            <a:r>
              <a:t>[pause]</a:t>
            </a:r>
          </a:p>
          <a:p>
            <a:r>
              <a:t>Documents, projects, roles, tasks, governance, treasury, payments, membership — today that is a dozen products that do not know about each other.</a:t>
            </a:r>
          </a:p>
          <a:p>
            <a:r>
              <a:t>[pause]</a:t>
            </a:r>
          </a:p>
          <a:p>
            <a:r>
              <a:t>And most collaboration problems are boring ones. Who agreed to this? Did it happen? What is owed? In a chat thread that depends on chasing people. In a shared record it does not.</a:t>
            </a:r>
          </a:p>
          <a:p>
            <a:r>
              <a:t>The ledger is social infrastructure before it is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need more than a group chat about the organization.</a:t>
            </a:r>
          </a:p>
          <a:p>
            <a:r>
              <a:t>[pause]</a:t>
            </a:r>
          </a:p>
          <a:p>
            <a:r>
              <a:t>Documents, projects, roles, tasks, governance, treasury, payments, membership — today that is a dozen products that do not know about each other.</a:t>
            </a:r>
          </a:p>
          <a:p>
            <a:r>
              <a:t>[pause]</a:t>
            </a:r>
          </a:p>
          <a:p>
            <a:r>
              <a:t>And most collaboration problems are boring ones. Who agreed to this? Did it happen? What is owed? In a chat thread that depends on chasing people. In a shared record it does not.</a:t>
            </a:r>
          </a:p>
          <a:p>
            <a:r>
              <a:t>The ledger is social infrastructure before it is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begins and ends with money.</a:t>
            </a:r>
          </a:p>
          <a:p>
            <a:r>
              <a:t>[pause]</a:t>
            </a:r>
          </a:p>
          <a:p>
            <a:r>
              <a:t>People have time, skills, tools, space. Things can be sold, rented, lent, traded, gifted, or run on mutual credit.</a:t>
            </a:r>
          </a:p>
          <a:p>
            <a:r>
              <a:t>[pause]</a:t>
            </a:r>
          </a:p>
          <a:p>
            <a:r>
              <a:t>Someone wants a four hundred dollar bike and has two hundred. Two hundred in cash, a photography voucher, and a service trade — and the bike moves.</a:t>
            </a:r>
          </a:p>
          <a:p>
            <a:r>
              <a:t>The question stops being 'do I have enough dollars' and becomes 'what forms of value exist between us?'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money is the point, the rails are already live.</a:t>
            </a:r>
          </a:p>
          <a:p>
            <a:r>
              <a:t>[pause]</a:t>
            </a:r>
          </a:p>
          <a:p>
            <a:r>
              <a:t>Accept a tap-to-pay payment. Settle it with payouts and receipts in one place. Reserve the taxes automatically. Control the funds in a subgroup treasury with its own card.</a:t>
            </a:r>
          </a:p>
          <a:p>
            <a:r>
              <a:t>[pause]</a:t>
            </a:r>
          </a:p>
          <a:p>
            <a:r>
              <a:t>One fee across every rail — three point three percent plus a dollar forty-nine — and that fee is the patronage-eligible revenue that comes back to members.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together and it compounds. Visibility creates coordination, coordination creates exchange, exchange creates relationships and information.</a:t>
            </a:r>
          </a:p>
          <a:p>
            <a:r>
              <a:t>[pause]</a:t>
            </a:r>
          </a:p>
          <a:p>
            <a:r>
              <a:t>And then a place can finally ask about itself. Where are the shortages? What sits idle three blocks away? What do we keep importing that could be made here?</a:t>
            </a:r>
          </a:p>
          <a:p>
            <a:r>
              <a:t>[pause]</a:t>
            </a:r>
          </a:p>
          <a:p>
            <a:r>
              <a:t>That is a feedback system for building local capacity —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connected should not require being exposed.</a:t>
            </a:r>
          </a:p>
          <a:p>
            <a:r>
              <a:t>[pause]</a:t>
            </a:r>
          </a:p>
          <a:p>
            <a:r>
              <a:t>A neighbor sees your name. Your group sees your history. An employer sees your skills. The wider network sees almost nothing.</a:t>
            </a:r>
          </a:p>
          <a:p>
            <a:r>
              <a:t>[pause]</a:t>
            </a:r>
          </a:p>
          <a:p>
            <a:r>
              <a:t>And often the honest answer is just yes or no — qualified, nearby, eligible — without opening the file.</a:t>
            </a:r>
          </a:p>
          <a:p>
            <a:r>
              <a:t>AI raises the stakes on all of it: another centralized layer, or genuine local agency. Sovereign instances are running today. The goal is not secrecy.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the system decides what the system is for.</a:t>
            </a:r>
          </a:p>
          <a:p>
            <a:r>
              <a:t>[pause]</a:t>
            </a:r>
          </a:p>
          <a:p>
            <a:r>
              <a:t>Most platforms capture attention, data and transactions, and the value concentrates upward. Here the people creating the value participate in it.</a:t>
            </a:r>
          </a:p>
          <a:p>
            <a:r>
              <a:t>[pause]</a:t>
            </a:r>
          </a:p>
          <a:p>
            <a:r>
              <a:t>One legal entity — a cooperative association and a public benefit corporation. Four member classes. One member, one vote, regardless of capital.</a:t>
            </a:r>
          </a:p>
          <a:p>
            <a:r>
              <a:t>[pause]</a:t>
            </a:r>
          </a:p>
          <a:p>
            <a:r>
              <a:t>And the anti-capture is structural, not a promise: users own it, the outcomes are in the Articles, the network federates, communities keep their data, and leaving is always possible.</a:t>
            </a:r>
          </a:p>
          <a:p>
            <a:r>
              <a:t>Power over the rules is real power.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competition is not one company. It is the stack.</a:t>
            </a:r>
          </a:p>
          <a:p>
            <a:r>
              <a:t>[pause]</a:t>
            </a:r>
          </a:p>
          <a:p>
            <a:r>
              <a:t>Three hundred twenty-eight dollars a month becomes forty-six. About thirty-five hundred a year back to a small organization — and that saving is real on day one, before anyone else joins.</a:t>
            </a:r>
          </a:p>
          <a:p>
            <a:r>
              <a:t>[pause]</a:t>
            </a:r>
          </a:p>
          <a:p>
            <a:r>
              <a:t>None of which matters if the product is not genuinely good. Nobody adopts a philosophy; they adopt a thing that works.</a:t>
            </a:r>
          </a:p>
          <a:p>
            <a:r>
              <a:t>[pause]</a:t>
            </a:r>
          </a:p>
          <a:p>
            <a:r>
              <a:t>And the goal is not a nicer alternative on the margins. It is to take enough of the market to change what the market rewards. Organic Valley did it in dairy.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mockup. The network is live, the full economic loop is proven cent-exact on Stripe rails, governance runs in real groups today, and it is AI-native down to the tooling.</a:t>
            </a:r>
          </a:p>
          <a:p>
            <a:r>
              <a:t>[pause]</a:t>
            </a:r>
          </a:p>
          <a:p>
            <a:r>
              <a:t>And we have done the community half before. ONE Boulder reached nearly forty-eight hundred users on one locale's events, and forty-two percent of the active ones paid.</a:t>
            </a:r>
          </a:p>
          <a:p>
            <a:r>
              <a:t>[pause]</a:t>
            </a:r>
          </a:p>
          <a:p>
            <a:r>
              <a:t>We grow one place deep at a time — seed, anchor, density, replicate. Starting local, again, in Boulder.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earns when useful coordination grows — not by selling attention.</a:t>
            </a:r>
          </a:p>
          <a:p>
            <a:r>
              <a:t>[pause]</a:t>
            </a:r>
          </a:p>
          <a:p>
            <a:r>
              <a:t>Fee revenue is patronage-eligible: it splits fifty to the Association, twenty-five to the member who generated it, twenty-five to their chapter. Non-fee revenue funds the mission.</a:t>
            </a:r>
          </a:p>
          <a:p>
            <a:r>
              <a:t>[pause]</a:t>
            </a:r>
          </a:p>
          <a:p>
            <a:r>
              <a:t>Retained profit splits three ways — stewards, workers, reserves.</a:t>
            </a:r>
          </a:p>
          <a:p>
            <a:r>
              <a:t>And every patronage refund arrives twenty percent cash, eighty percent member capital. Members build equity with every sale.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Twenty-one million over five years, and the shape matters more than the total. Twenty twenty-six runs lean at four hundred thousand. Spend scales behind revenue. First profitable year is 2029.</a:t>
            </a:r>
          </a:p>
          <a:p>
            <a:r>
              <a:t>[pause]</a:t>
            </a:r>
          </a:p>
          <a:p>
            <a:r>
              <a:t>This round is the first of four. Seed at a four million cap, then twenty, then seventy, then two-fifty.</a:t>
            </a:r>
          </a:p>
          <a:p>
            <a:r>
              <a:t>[pause]</a:t>
            </a:r>
          </a:p>
          <a:p>
            <a:r>
              <a:t>Each round gates the next — no new issuance until network value has at least tripled. A hundred million raised, and fifty-eight million treasury shares still unissued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five hundred thousand dollars to take a built platform live.</a:t>
            </a:r>
          </a:p>
          <a:p>
            <a:r>
              <a:t>[pause]</a:t>
            </a:r>
          </a:p>
          <a:p>
            <a:r>
              <a:t>A cooperative SAFE at a four million cap with a twenty percent discount, converting to Class D. Colorado residents can buy Class R directly. Twenty cents a share.</a:t>
            </a:r>
          </a:p>
          <a:p>
            <a:r>
              <a:t>[pause]</a:t>
            </a:r>
          </a:p>
          <a:p>
            <a:r>
              <a:t>It funds the live-money cutover, the team, Boulder, compliance and infrastructure — runway into the 2027 round.</a:t>
            </a:r>
          </a:p>
          <a:p>
            <a:r>
              <a:t>The return is modeled three ways, with the assumptions showing. Projections, not promises.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makes this different from anything else you will see this year.</a:t>
            </a:r>
          </a:p>
          <a:p>
            <a:r>
              <a:t>[pause]</a:t>
            </a:r>
          </a:p>
          <a:p>
            <a:r>
              <a:t>You invest. You earn a pro-rata share of a third of after-tax profit. And then the cooperative buys the shares back over time.</a:t>
            </a:r>
          </a:p>
          <a:p>
            <a:r>
              <a:t>[pause]</a:t>
            </a:r>
          </a:p>
          <a:p>
            <a:r>
              <a:t>Rivr does not sell the company. The community buys it back.</a:t>
            </a:r>
          </a:p>
          <a:p>
            <a:r>
              <a:t>That is the exit — and it is the opposite of an enclosure.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obligations in our Articles, not marketing: local resilience, regenerative practice, civic participation, data sovereignty, the vitality of each place.</a:t>
            </a:r>
          </a:p>
          <a:p>
            <a:r>
              <a:t>[pause]</a:t>
            </a:r>
          </a:p>
          <a:p>
            <a:r>
              <a:t>Three of us are building both the software and the institution. Beta opens in Boulder in Q3.</a:t>
            </a:r>
          </a:p>
          <a:p>
            <a:r>
              <a:t>[pause]</a:t>
            </a:r>
          </a:p>
          <a:p>
            <a:r>
              <a:t>The strangest thing about this product is that the best session on it ends with you closing it. Find the person, make the agreement, go do the work, put the phone away.</a:t>
            </a:r>
          </a:p>
          <a:p>
            <a:r>
              <a:t>[pause]</a:t>
            </a:r>
          </a:p>
          <a:p>
            <a:r>
              <a:t>I opened an app to see what was around me — and ended up actually participating in the place where I live.</a:t>
            </a:r>
          </a:p>
          <a:p>
            <a:r>
              <a:t>Flow local. Connect global.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2.png"/><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png"/><Relationship Id="rId1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5.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png"/><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24.png"/><Relationship Id="rId7" Type="http://schemas.openxmlformats.org/officeDocument/2006/relationships/image" Target="../media/image2.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22.png"/><Relationship Id="rId9" Type="http://schemas.openxmlformats.org/officeDocument/2006/relationships/image" Target="../media/image2.png"/><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31.png"/><Relationship Id="rId7" Type="http://schemas.openxmlformats.org/officeDocument/2006/relationships/image" Target="../media/image2.png"/><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31.png"/><Relationship Id="rId7" Type="http://schemas.openxmlformats.org/officeDocument/2006/relationships/image" Target="../media/image2.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13.png"/><Relationship Id="rId5" Type="http://schemas.openxmlformats.org/officeDocument/2006/relationships/image" Target="../media/image35.png"/><Relationship Id="rId6" Type="http://schemas.openxmlformats.org/officeDocument/2006/relationships/image" Target="../media/image2.png"/><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37.png"/><Relationship Id="rId9" Type="http://schemas.openxmlformats.org/officeDocument/2006/relationships/image" Target="../media/image4.png"/><Relationship Id="rId10" Type="http://schemas.openxmlformats.org/officeDocument/2006/relationships/image" Target="../media/image34.png"/><Relationship Id="rId11" Type="http://schemas.openxmlformats.org/officeDocument/2006/relationships/image" Target="../media/image13.png"/><Relationship Id="rId12" Type="http://schemas.openxmlformats.org/officeDocument/2006/relationships/image" Target="../media/image31.png"/><Relationship Id="rId13" Type="http://schemas.openxmlformats.org/officeDocument/2006/relationships/image" Target="../media/image5.png"/><Relationship Id="rId14" Type="http://schemas.openxmlformats.org/officeDocument/2006/relationships/image" Target="../media/image2.png"/><Relationship Id="rId1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37.png"/><Relationship Id="rId9" Type="http://schemas.openxmlformats.org/officeDocument/2006/relationships/image" Target="../media/image4.png"/><Relationship Id="rId10" Type="http://schemas.openxmlformats.org/officeDocument/2006/relationships/image" Target="../media/image34.png"/><Relationship Id="rId11" Type="http://schemas.openxmlformats.org/officeDocument/2006/relationships/image" Target="../media/image13.png"/><Relationship Id="rId12" Type="http://schemas.openxmlformats.org/officeDocument/2006/relationships/image" Target="../media/image31.png"/><Relationship Id="rId13" Type="http://schemas.openxmlformats.org/officeDocument/2006/relationships/image" Target="../media/image5.png"/><Relationship Id="rId14" Type="http://schemas.openxmlformats.org/officeDocument/2006/relationships/image" Target="../media/image2.png"/><Relationship Id="rId1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2.png"/><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39.png"/><Relationship Id="rId7" Type="http://schemas.openxmlformats.org/officeDocument/2006/relationships/image" Target="../media/image5.png"/><Relationship Id="rId8" Type="http://schemas.openxmlformats.org/officeDocument/2006/relationships/image" Target="../media/image2.png"/><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39.png"/><Relationship Id="rId7" Type="http://schemas.openxmlformats.org/officeDocument/2006/relationships/image" Target="../media/image5.png"/><Relationship Id="rId8" Type="http://schemas.openxmlformats.org/officeDocument/2006/relationships/image" Target="../media/image2.png"/><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26.png"/><Relationship Id="rId8" Type="http://schemas.openxmlformats.org/officeDocument/2006/relationships/image" Target="../media/image23.png"/><Relationship Id="rId9" Type="http://schemas.openxmlformats.org/officeDocument/2006/relationships/image" Target="../media/image22.png"/><Relationship Id="rId10" Type="http://schemas.openxmlformats.org/officeDocument/2006/relationships/image" Target="../media/image44.png"/><Relationship Id="rId11" Type="http://schemas.openxmlformats.org/officeDocument/2006/relationships/image" Target="../media/image6.png"/><Relationship Id="rId12" Type="http://schemas.openxmlformats.org/officeDocument/2006/relationships/image" Target="../media/image9.png"/><Relationship Id="rId13" Type="http://schemas.openxmlformats.org/officeDocument/2006/relationships/image" Target="../media/image29.png"/><Relationship Id="rId14" Type="http://schemas.openxmlformats.org/officeDocument/2006/relationships/image" Target="../media/image2.png"/><Relationship Id="rId1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26.png"/><Relationship Id="rId8" Type="http://schemas.openxmlformats.org/officeDocument/2006/relationships/image" Target="../media/image23.png"/><Relationship Id="rId9" Type="http://schemas.openxmlformats.org/officeDocument/2006/relationships/image" Target="../media/image22.png"/><Relationship Id="rId10" Type="http://schemas.openxmlformats.org/officeDocument/2006/relationships/image" Target="../media/image44.png"/><Relationship Id="rId11" Type="http://schemas.openxmlformats.org/officeDocument/2006/relationships/image" Target="../media/image6.png"/><Relationship Id="rId12" Type="http://schemas.openxmlformats.org/officeDocument/2006/relationships/image" Target="../media/image9.png"/><Relationship Id="rId13" Type="http://schemas.openxmlformats.org/officeDocument/2006/relationships/image" Target="../media/image29.png"/><Relationship Id="rId14" Type="http://schemas.openxmlformats.org/officeDocument/2006/relationships/image" Target="../media/image2.png"/><Relationship Id="rId1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2.png"/><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2.png"/><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2.png"/><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44.png"/><Relationship Id="rId6" Type="http://schemas.openxmlformats.org/officeDocument/2006/relationships/image" Target="../media/image22.png"/><Relationship Id="rId7" Type="http://schemas.openxmlformats.org/officeDocument/2006/relationships/image" Target="../media/image47.png"/><Relationship Id="rId8" Type="http://schemas.openxmlformats.org/officeDocument/2006/relationships/image" Target="../media/image18.png"/><Relationship Id="rId9" Type="http://schemas.openxmlformats.org/officeDocument/2006/relationships/image" Target="../media/image10.png"/><Relationship Id="rId10" Type="http://schemas.openxmlformats.org/officeDocument/2006/relationships/image" Target="../media/image2.png"/><Relationship Id="rId11"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49.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2.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2.png"/><Relationship Id="rId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image" Target="../media/image2.png"/><Relationship Id="rId11"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43.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image" Target="../media/image2.png"/><Relationship Id="rId11"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2.png"/><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2.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2.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54.png"/><Relationship Id="rId9" Type="http://schemas.openxmlformats.org/officeDocument/2006/relationships/image" Target="../media/image2.png"/><Relationship Id="rId10"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pic>
        <p:nvPicPr>
          <p:cNvPr id="4" name="Picture 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 name="TextBox 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 name="TextBox 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pic>
        <p:nvPicPr>
          <p:cNvPr id="5" name="Picture 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 name="TextBox 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 name="TextBox 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sp>
        <p:nvSpPr>
          <p:cNvPr id="5" name="TextBox 4"/>
          <p:cNvSpPr txBox="1"/>
          <p:nvPr/>
        </p:nvSpPr>
        <p:spPr>
          <a:xfrm>
            <a:off x="850392" y="5143500"/>
            <a:ext cx="12618719" cy="960119"/>
          </a:xfrm>
          <a:prstGeom prst="rect">
            <a:avLst/>
          </a:prstGeom>
          <a:noFill/>
        </p:spPr>
        <p:txBody>
          <a:bodyPr wrap="square" lIns="0" rIns="0" tIns="0" bIns="0">
            <a:spAutoFit/>
          </a:bodyPr>
          <a:lstStyle/>
          <a:p>
            <a:pPr algn="l">
              <a:lnSpc>
                <a:spcPct val="11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6" name="TextBox 5"/>
          <p:cNvSpPr txBox="1"/>
          <p:nvPr/>
        </p:nvSpPr>
        <p:spPr>
          <a:xfrm>
            <a:off x="850392" y="6309359"/>
            <a:ext cx="11795759" cy="109728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Rivr makes the capacity of a place </a:t>
            </a:r>
            <a:r>
              <a:rPr sz="2100">
                <a:solidFill>
                  <a:srgbClr val="9FE8DC"/>
                </a:solidFill>
                <a:latin typeface="TT Commons Pro Bold"/>
              </a:rPr>
              <a:t>visible enough to act on.</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0.jpg"/>
          <p:cNvPicPr>
            <a:picLocks noChangeAspect="1"/>
          </p:cNvPicPr>
          <p:nvPr/>
        </p:nvPicPr>
        <p:blipFill>
          <a:blip r:embed="rId2"/>
          <a:stretch>
            <a:fillRect/>
          </a:stretch>
        </p:blipFill>
        <p:spPr>
          <a:xfrm>
            <a:off x="0" y="0"/>
            <a:ext cx="18287542" cy="10287000"/>
          </a:xfrm>
          <a:prstGeom prst="rect">
            <a:avLst/>
          </a:prstGeom>
        </p:spPr>
      </p:pic>
      <p:pic>
        <p:nvPicPr>
          <p:cNvPr id="3" name="Picture 2" descr="rivr-symbol-light.png"/>
          <p:cNvPicPr>
            <a:picLocks noChangeAspect="1"/>
          </p:cNvPicPr>
          <p:nvPr/>
        </p:nvPicPr>
        <p:blipFill>
          <a:blip r:embed="rId3"/>
          <a:stretch>
            <a:fillRect/>
          </a:stretch>
        </p:blipFill>
        <p:spPr>
          <a:xfrm>
            <a:off x="850392" y="795527"/>
            <a:ext cx="1234440" cy="1234440"/>
          </a:xfrm>
          <a:prstGeom prst="rect">
            <a:avLst/>
          </a:prstGeom>
        </p:spPr>
      </p:pic>
      <p:sp>
        <p:nvSpPr>
          <p:cNvPr id="4" name="TextBox 3"/>
          <p:cNvSpPr txBox="1"/>
          <p:nvPr/>
        </p:nvSpPr>
        <p:spPr>
          <a:xfrm>
            <a:off x="850392" y="3429000"/>
            <a:ext cx="11521440" cy="1783080"/>
          </a:xfrm>
          <a:prstGeom prst="rect">
            <a:avLst/>
          </a:prstGeom>
          <a:noFill/>
        </p:spPr>
        <p:txBody>
          <a:bodyPr wrap="square" lIns="0" rIns="0" tIns="0" bIns="0">
            <a:spAutoFit/>
          </a:bodyPr>
          <a:lstStyle/>
          <a:p>
            <a:pPr algn="l">
              <a:lnSpc>
                <a:spcPct val="120000"/>
              </a:lnSpc>
            </a:pPr>
            <a:r>
              <a:rPr sz="9600" spc="-130">
                <a:solidFill>
                  <a:srgbClr val="F4EAD8"/>
                </a:solidFill>
                <a:latin typeface="TT Commons Pro Bold"/>
              </a:rPr>
              <a:t>RIVR</a:t>
            </a:r>
          </a:p>
        </p:txBody>
      </p:sp>
      <p:sp>
        <p:nvSpPr>
          <p:cNvPr id="5" name="TextBox 4"/>
          <p:cNvSpPr txBox="1"/>
          <p:nvPr/>
        </p:nvSpPr>
        <p:spPr>
          <a:xfrm>
            <a:off x="850392" y="5143500"/>
            <a:ext cx="12618719" cy="960119"/>
          </a:xfrm>
          <a:prstGeom prst="rect">
            <a:avLst/>
          </a:prstGeom>
          <a:noFill/>
        </p:spPr>
        <p:txBody>
          <a:bodyPr wrap="square" lIns="0" rIns="0" tIns="0" bIns="0">
            <a:spAutoFit/>
          </a:bodyPr>
          <a:lstStyle/>
          <a:p>
            <a:pPr algn="l">
              <a:lnSpc>
                <a:spcPct val="115000"/>
              </a:lnSpc>
            </a:pPr>
            <a:r>
              <a:rPr sz="4500" spc="-75">
                <a:solidFill>
                  <a:srgbClr val="F2ECDD"/>
                </a:solidFill>
                <a:latin typeface="Ibarra Real Nova Italics"/>
              </a:rPr>
              <a:t>A social network for </a:t>
            </a:r>
            <a:r>
              <a:rPr sz="4500" spc="-75">
                <a:solidFill>
                  <a:srgbClr val="EBCF9E"/>
                </a:solidFill>
                <a:latin typeface="Ibarra Real Nova Italics"/>
              </a:rPr>
              <a:t>local life.</a:t>
            </a:r>
          </a:p>
        </p:txBody>
      </p:sp>
      <p:sp>
        <p:nvSpPr>
          <p:cNvPr id="6" name="TextBox 5"/>
          <p:cNvSpPr txBox="1"/>
          <p:nvPr/>
        </p:nvSpPr>
        <p:spPr>
          <a:xfrm>
            <a:off x="850392" y="6309359"/>
            <a:ext cx="11795759" cy="1097280"/>
          </a:xfrm>
          <a:prstGeom prst="rect">
            <a:avLst/>
          </a:prstGeom>
          <a:noFill/>
        </p:spPr>
        <p:txBody>
          <a:bodyPr wrap="square" lIns="0" rIns="0" tIns="0" bIns="0">
            <a:spAutoFit/>
          </a:bodyPr>
          <a:lstStyle/>
          <a:p>
            <a:pPr algn="l">
              <a:lnSpc>
                <a:spcPct val="150000"/>
              </a:lnSpc>
            </a:pPr>
            <a:r>
              <a:rPr sz="2100">
                <a:solidFill>
                  <a:srgbClr val="F2ECDD"/>
                </a:solidFill>
                <a:latin typeface="TT Commons Pro"/>
              </a:rPr>
              <a:t>Rivr makes the capacity of a place </a:t>
            </a:r>
            <a:r>
              <a:rPr sz="2100">
                <a:solidFill>
                  <a:srgbClr val="9FE8DC"/>
                </a:solidFill>
                <a:latin typeface="TT Commons Pro Bold"/>
              </a:rPr>
              <a:t>visible enough to act on.</a:t>
            </a:r>
          </a:p>
        </p:txBody>
      </p:sp>
      <p:cxnSp>
        <p:nvCxnSpPr>
          <p:cNvPr id="7" name="Connector 6"/>
          <p:cNvCxnSpPr/>
          <p:nvPr/>
        </p:nvCxnSpPr>
        <p:spPr>
          <a:xfrm>
            <a:off x="14264640" y="2743200"/>
            <a:ext cx="1608540" cy="77463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873180" y="3517832"/>
            <a:ext cx="397276" cy="174058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5157312" y="5258414"/>
            <a:ext cx="1113144" cy="1395839"/>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3371967" y="6654253"/>
            <a:ext cx="1785345" cy="0"/>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12258823" y="5258414"/>
            <a:ext cx="1113144" cy="1395839"/>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258823" y="3517832"/>
            <a:ext cx="397276" cy="174058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2656099" y="2743200"/>
            <a:ext cx="1608541" cy="774632"/>
          </a:xfrm>
          <a:prstGeom prst="line">
            <a:avLst/>
          </a:prstGeom>
          <a:ln w="9525">
            <a:solidFill>
              <a:srgbClr val="1C555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058900" y="2537460"/>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667440" y="3312092"/>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064716" y="5052674"/>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4951572" y="644851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166227" y="6448513"/>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2053083" y="5052674"/>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2450359" y="3312092"/>
            <a:ext cx="411479" cy="411479"/>
          </a:xfrm>
          <a:prstGeom prst="ellipse">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8435340"/>
            <a:ext cx="8229600" cy="384048"/>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REGENERATIVE · INTERCONNECTED · VIBRANT · REGIONS</a:t>
            </a:r>
          </a:p>
        </p:txBody>
      </p:sp>
      <p:sp>
        <p:nvSpPr>
          <p:cNvPr id="22" name="TextBox 21"/>
          <p:cNvSpPr txBox="1"/>
          <p:nvPr/>
        </p:nvSpPr>
        <p:spPr>
          <a:xfrm>
            <a:off x="850392" y="8915400"/>
            <a:ext cx="16184880" cy="548640"/>
          </a:xfrm>
          <a:prstGeom prst="rect">
            <a:avLst/>
          </a:prstGeom>
          <a:noFill/>
        </p:spPr>
        <p:txBody>
          <a:bodyPr wrap="square" lIns="0" rIns="0" tIns="0" bIns="0">
            <a:spAutoFit/>
          </a:bodyPr>
          <a:lstStyle/>
          <a:p>
            <a:pPr algn="l">
              <a:lnSpc>
                <a:spcPct val="115000"/>
              </a:lnSpc>
            </a:pPr>
            <a:r>
              <a:rPr sz="2100" spc="20">
                <a:solidFill>
                  <a:srgbClr val="EBCF9E"/>
                </a:solidFill>
                <a:latin typeface="Alike Italics"/>
              </a:rPr>
              <a:t>Flow local. Connect global.  </a:t>
            </a:r>
            <a:r>
              <a:rPr sz="2100" spc="20">
                <a:solidFill>
                  <a:srgbClr val="AFC4C2"/>
                </a:solidFill>
                <a:latin typeface="Alike Italics"/>
              </a:rPr>
              <a:t>A Rivr made of many rivers.</a:t>
            </a:r>
          </a:p>
        </p:txBody>
      </p:sp>
      <p:sp>
        <p:nvSpPr>
          <p:cNvPr id="23" name="TextBox 22"/>
          <p:cNvSpPr txBox="1"/>
          <p:nvPr/>
        </p:nvSpPr>
        <p:spPr>
          <a:xfrm>
            <a:off x="850392" y="9628632"/>
            <a:ext cx="12344400" cy="411479"/>
          </a:xfrm>
          <a:prstGeom prst="rect">
            <a:avLst/>
          </a:prstGeom>
          <a:noFill/>
        </p:spPr>
        <p:txBody>
          <a:bodyPr wrap="square" lIns="0" rIns="0" tIns="0" bIns="0">
            <a:spAutoFit/>
          </a:bodyPr>
          <a:lstStyle/>
          <a:p>
            <a:pPr algn="l">
              <a:lnSpc>
                <a:spcPct val="115000"/>
              </a:lnSpc>
            </a:pPr>
            <a:r>
              <a:rPr sz="1500">
                <a:solidFill>
                  <a:srgbClr val="AFC4C2"/>
                </a:solidFill>
                <a:latin typeface="TT Commons Pro"/>
              </a:rPr>
              <a:t>Seed Round 2026   ·   rivr.social   ·   app.rivr.social</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pic>
        <p:nvPicPr>
          <p:cNvPr id="15" name="Picture 14"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6" name="TextBox 1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 name="TextBox 1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sp>
        <p:nvSpPr>
          <p:cNvPr id="15" name="Rounded Rectangle 14"/>
          <p:cNvSpPr/>
          <p:nvPr/>
        </p:nvSpPr>
        <p:spPr>
          <a:xfrm>
            <a:off x="93954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724644" y="4855464"/>
            <a:ext cx="384048" cy="384048"/>
          </a:xfrm>
          <a:prstGeom prst="rect">
            <a:avLst/>
          </a:prstGeom>
        </p:spPr>
      </p:pic>
      <p:sp>
        <p:nvSpPr>
          <p:cNvPr id="17" name="TextBox 16"/>
          <p:cNvSpPr txBox="1"/>
          <p:nvPr/>
        </p:nvSpPr>
        <p:spPr>
          <a:xfrm>
            <a:off x="103830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VALUE LEAKAGE</a:t>
            </a:r>
          </a:p>
        </p:txBody>
      </p:sp>
      <p:sp>
        <p:nvSpPr>
          <p:cNvPr id="18" name="TextBox 17"/>
          <p:cNvSpPr txBox="1"/>
          <p:nvPr/>
        </p:nvSpPr>
        <p:spPr>
          <a:xfrm>
            <a:off x="9738359"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created in a place leaves it — along with our attention and data.</a:t>
            </a:r>
          </a:p>
        </p:txBody>
      </p:sp>
      <p:sp>
        <p:nvSpPr>
          <p:cNvPr id="19" name="Rounded Rectangle 18"/>
          <p:cNvSpPr/>
          <p:nvPr/>
        </p:nvSpPr>
        <p:spPr>
          <a:xfrm>
            <a:off x="135925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png"/>
          <p:cNvPicPr>
            <a:picLocks noChangeAspect="1"/>
          </p:cNvPicPr>
          <p:nvPr/>
        </p:nvPicPr>
        <p:blipFill>
          <a:blip r:embed="rId6"/>
          <a:stretch>
            <a:fillRect/>
          </a:stretch>
        </p:blipFill>
        <p:spPr>
          <a:xfrm>
            <a:off x="13921740" y="4855464"/>
            <a:ext cx="384048" cy="384048"/>
          </a:xfrm>
          <a:prstGeom prst="rect">
            <a:avLst/>
          </a:prstGeom>
        </p:spPr>
      </p:pic>
      <p:sp>
        <p:nvSpPr>
          <p:cNvPr id="21" name="TextBox 20"/>
          <p:cNvSpPr txBox="1"/>
          <p:nvPr/>
        </p:nvSpPr>
        <p:spPr>
          <a:xfrm>
            <a:off x="145801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ATTENTION CAPTURE</a:t>
            </a:r>
          </a:p>
        </p:txBody>
      </p:sp>
      <p:sp>
        <p:nvSpPr>
          <p:cNvPr id="22" name="TextBox 21"/>
          <p:cNvSpPr txBox="1"/>
          <p:nvPr/>
        </p:nvSpPr>
        <p:spPr>
          <a:xfrm>
            <a:off x="139354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Our tools are built to hold attention, not to make us capable.</a:t>
            </a:r>
          </a:p>
        </p:txBody>
      </p:sp>
      <p:pic>
        <p:nvPicPr>
          <p:cNvPr id="23" name="Picture 22"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WORLD</a:t>
            </a:r>
          </a:p>
        </p:txBody>
      </p:sp>
      <p:sp>
        <p:nvSpPr>
          <p:cNvPr id="4" name="TextBox 3"/>
          <p:cNvSpPr txBox="1"/>
          <p:nvPr/>
        </p:nvSpPr>
        <p:spPr>
          <a:xfrm>
            <a:off x="822959" y="1699869"/>
            <a:ext cx="5407104"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world is </a:t>
            </a:r>
          </a:p>
        </p:txBody>
      </p:sp>
      <p:sp>
        <p:nvSpPr>
          <p:cNvPr id="5" name="TextBox 4"/>
          <p:cNvSpPr txBox="1"/>
          <p:nvPr/>
        </p:nvSpPr>
        <p:spPr>
          <a:xfrm>
            <a:off x="4984051" y="1645919"/>
            <a:ext cx="5885021"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different now.</a:t>
            </a:r>
          </a:p>
        </p:txBody>
      </p:sp>
      <p:sp>
        <p:nvSpPr>
          <p:cNvPr id="6" name="TextBox 5"/>
          <p:cNvSpPr txBox="1"/>
          <p:nvPr/>
        </p:nvSpPr>
        <p:spPr>
          <a:xfrm>
            <a:off x="822959" y="3429000"/>
            <a:ext cx="16596359" cy="109728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People are more digitally connected than ever across the globe —</a:t>
            </a:r>
          </a:p>
          <a:p>
            <a:pPr algn="l">
              <a:lnSpc>
                <a:spcPct val="150000"/>
              </a:lnSpc>
            </a:pPr>
            <a:r>
              <a:rPr sz="1950">
                <a:solidFill>
                  <a:srgbClr val="F2ECDD"/>
                </a:solidFill>
                <a:latin typeface="TT Commons Pro"/>
              </a:rPr>
              <a:t>and yet the places we actually live feel </a:t>
            </a:r>
            <a:r>
              <a:rPr sz="1950">
                <a:solidFill>
                  <a:srgbClr val="EBCF9E"/>
                </a:solidFill>
                <a:latin typeface="TT Commons Pro Bold"/>
              </a:rPr>
              <a:t>more fragmented than ever.</a:t>
            </a:r>
          </a:p>
        </p:txBody>
      </p:sp>
      <p:sp>
        <p:nvSpPr>
          <p:cNvPr id="7" name="Rounded Rectangle 6"/>
          <p:cNvSpPr/>
          <p:nvPr/>
        </p:nvSpPr>
        <p:spPr>
          <a:xfrm>
            <a:off x="8229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oup.png"/>
          <p:cNvPicPr>
            <a:picLocks noChangeAspect="1"/>
          </p:cNvPicPr>
          <p:nvPr/>
        </p:nvPicPr>
        <p:blipFill>
          <a:blip r:embed="rId3"/>
          <a:stretch>
            <a:fillRect/>
          </a:stretch>
        </p:blipFill>
        <p:spPr>
          <a:xfrm>
            <a:off x="1152144" y="4855464"/>
            <a:ext cx="384048" cy="384048"/>
          </a:xfrm>
          <a:prstGeom prst="rect">
            <a:avLst/>
          </a:prstGeom>
        </p:spPr>
      </p:pic>
      <p:sp>
        <p:nvSpPr>
          <p:cNvPr id="9" name="TextBox 8"/>
          <p:cNvSpPr txBox="1"/>
          <p:nvPr/>
        </p:nvSpPr>
        <p:spPr>
          <a:xfrm>
            <a:off x="18105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DISCONNECTION</a:t>
            </a:r>
          </a:p>
        </p:txBody>
      </p:sp>
      <p:sp>
        <p:nvSpPr>
          <p:cNvPr id="10" name="TextBox 9"/>
          <p:cNvSpPr txBox="1"/>
          <p:nvPr/>
        </p:nvSpPr>
        <p:spPr>
          <a:xfrm>
            <a:off x="1165860"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Local relationships, skills, resources and capacity are hard to see.</a:t>
            </a:r>
          </a:p>
        </p:txBody>
      </p:sp>
      <p:sp>
        <p:nvSpPr>
          <p:cNvPr id="11" name="Rounded Rectangle 10"/>
          <p:cNvSpPr/>
          <p:nvPr/>
        </p:nvSpPr>
        <p:spPr>
          <a:xfrm>
            <a:off x="50200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rg.png"/>
          <p:cNvPicPr>
            <a:picLocks noChangeAspect="1"/>
          </p:cNvPicPr>
          <p:nvPr/>
        </p:nvPicPr>
        <p:blipFill>
          <a:blip r:embed="rId4"/>
          <a:stretch>
            <a:fillRect/>
          </a:stretch>
        </p:blipFill>
        <p:spPr>
          <a:xfrm>
            <a:off x="5349240" y="4855464"/>
            <a:ext cx="384048" cy="384048"/>
          </a:xfrm>
          <a:prstGeom prst="rect">
            <a:avLst/>
          </a:prstGeom>
        </p:spPr>
      </p:pic>
      <p:sp>
        <p:nvSpPr>
          <p:cNvPr id="13" name="TextBox 12"/>
          <p:cNvSpPr txBox="1"/>
          <p:nvPr/>
        </p:nvSpPr>
        <p:spPr>
          <a:xfrm>
            <a:off x="60076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SYSTEMS STRAIN</a:t>
            </a:r>
          </a:p>
        </p:txBody>
      </p:sp>
      <p:sp>
        <p:nvSpPr>
          <p:cNvPr id="14" name="TextBox 13"/>
          <p:cNvSpPr txBox="1"/>
          <p:nvPr/>
        </p:nvSpPr>
        <p:spPr>
          <a:xfrm>
            <a:off x="53629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Institutions are stretched; trust and local response capacity are uneven.</a:t>
            </a:r>
          </a:p>
        </p:txBody>
      </p:sp>
      <p:sp>
        <p:nvSpPr>
          <p:cNvPr id="15" name="Rounded Rectangle 14"/>
          <p:cNvSpPr/>
          <p:nvPr/>
        </p:nvSpPr>
        <p:spPr>
          <a:xfrm>
            <a:off x="9395459" y="4526279"/>
            <a:ext cx="3895344" cy="178308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724644" y="4855464"/>
            <a:ext cx="384048" cy="384048"/>
          </a:xfrm>
          <a:prstGeom prst="rect">
            <a:avLst/>
          </a:prstGeom>
        </p:spPr>
      </p:pic>
      <p:sp>
        <p:nvSpPr>
          <p:cNvPr id="17" name="TextBox 16"/>
          <p:cNvSpPr txBox="1"/>
          <p:nvPr/>
        </p:nvSpPr>
        <p:spPr>
          <a:xfrm>
            <a:off x="10383011"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VALUE LEAKAGE</a:t>
            </a:r>
          </a:p>
        </p:txBody>
      </p:sp>
      <p:sp>
        <p:nvSpPr>
          <p:cNvPr id="18" name="TextBox 17"/>
          <p:cNvSpPr txBox="1"/>
          <p:nvPr/>
        </p:nvSpPr>
        <p:spPr>
          <a:xfrm>
            <a:off x="9738359"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created in a place leaves it — along with our attention and data.</a:t>
            </a:r>
          </a:p>
        </p:txBody>
      </p:sp>
      <p:sp>
        <p:nvSpPr>
          <p:cNvPr id="19" name="Rounded Rectangle 18"/>
          <p:cNvSpPr/>
          <p:nvPr/>
        </p:nvSpPr>
        <p:spPr>
          <a:xfrm>
            <a:off x="13592556" y="4526279"/>
            <a:ext cx="3895344" cy="178308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png"/>
          <p:cNvPicPr>
            <a:picLocks noChangeAspect="1"/>
          </p:cNvPicPr>
          <p:nvPr/>
        </p:nvPicPr>
        <p:blipFill>
          <a:blip r:embed="rId6"/>
          <a:stretch>
            <a:fillRect/>
          </a:stretch>
        </p:blipFill>
        <p:spPr>
          <a:xfrm>
            <a:off x="13921740" y="4855464"/>
            <a:ext cx="384048" cy="384048"/>
          </a:xfrm>
          <a:prstGeom prst="rect">
            <a:avLst/>
          </a:prstGeom>
        </p:spPr>
      </p:pic>
      <p:sp>
        <p:nvSpPr>
          <p:cNvPr id="21" name="TextBox 20"/>
          <p:cNvSpPr txBox="1"/>
          <p:nvPr/>
        </p:nvSpPr>
        <p:spPr>
          <a:xfrm>
            <a:off x="14580108" y="4828032"/>
            <a:ext cx="266090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ATTENTION CAPTURE</a:t>
            </a:r>
          </a:p>
        </p:txBody>
      </p:sp>
      <p:sp>
        <p:nvSpPr>
          <p:cNvPr id="22" name="TextBox 21"/>
          <p:cNvSpPr txBox="1"/>
          <p:nvPr/>
        </p:nvSpPr>
        <p:spPr>
          <a:xfrm>
            <a:off x="13935456" y="5458968"/>
            <a:ext cx="3209544" cy="61722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Our tools are built to hold attention, not to make us capable.</a:t>
            </a:r>
          </a:p>
        </p:txBody>
      </p:sp>
      <p:sp>
        <p:nvSpPr>
          <p:cNvPr id="23" name="Oval 22"/>
          <p:cNvSpPr/>
          <p:nvPr/>
        </p:nvSpPr>
        <p:spPr>
          <a:xfrm>
            <a:off x="3497579" y="6858000"/>
            <a:ext cx="2057400" cy="2057400"/>
          </a:xfrm>
          <a:prstGeom prst="ellipse">
            <a:avLst/>
          </a:prstGeom>
          <a:no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38244" y="7598664"/>
            <a:ext cx="576072" cy="576072"/>
          </a:xfrm>
          <a:prstGeom prst="ellipse">
            <a:avLst/>
          </a:prstGeom>
          <a:solidFill>
            <a:srgbClr val="084B4D"/>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54679" y="8298179"/>
            <a:ext cx="2743200"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YOUR PLACE</a:t>
            </a:r>
          </a:p>
        </p:txBody>
      </p:sp>
      <p:cxnSp>
        <p:nvCxnSpPr>
          <p:cNvPr id="26" name="Connector 25"/>
          <p:cNvCxnSpPr/>
          <p:nvPr/>
        </p:nvCxnSpPr>
        <p:spPr>
          <a:xfrm flipV="1">
            <a:off x="4869179" y="6791439"/>
            <a:ext cx="3523267" cy="1095261"/>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255286" y="6654279"/>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4869179" y="7651857"/>
            <a:ext cx="4977037" cy="234843"/>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709056" y="7514697"/>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869179" y="7886700"/>
            <a:ext cx="4108139" cy="755301"/>
          </a:xfrm>
          <a:prstGeom prst="line">
            <a:avLst/>
          </a:prstGeom>
          <a:ln w="11430">
            <a:solidFill>
              <a:srgbClr val="D3B7A5"/>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840158" y="8504841"/>
            <a:ext cx="274320" cy="274320"/>
          </a:xfrm>
          <a:prstGeom prst="ellipse">
            <a:avLst/>
          </a:prstGeom>
          <a:solidFill>
            <a:srgbClr val="D3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49840" y="7612379"/>
            <a:ext cx="7132320" cy="548640"/>
          </a:xfrm>
          <a:prstGeom prst="rect">
            <a:avLst/>
          </a:prstGeom>
          <a:noFill/>
        </p:spPr>
        <p:txBody>
          <a:bodyPr wrap="square" lIns="0" rIns="0" tIns="0" bIns="0">
            <a:spAutoFit/>
          </a:bodyPr>
          <a:lstStyle/>
          <a:p>
            <a:pPr algn="l">
              <a:lnSpc>
                <a:spcPct val="115000"/>
              </a:lnSpc>
            </a:pPr>
            <a:r>
              <a:rPr sz="1650">
                <a:solidFill>
                  <a:srgbClr val="D3B7A5"/>
                </a:solidFill>
                <a:latin typeface="TT Commons Pro"/>
              </a:rPr>
              <a:t>value leaving the place</a:t>
            </a:r>
          </a:p>
        </p:txBody>
      </p:sp>
      <p:sp>
        <p:nvSpPr>
          <p:cNvPr id="33" name="TextBox 32"/>
          <p:cNvSpPr txBox="1"/>
          <p:nvPr/>
        </p:nvSpPr>
        <p:spPr>
          <a:xfrm>
            <a:off x="822959" y="9395459"/>
            <a:ext cx="16596359" cy="1097280"/>
          </a:xfrm>
          <a:prstGeom prst="rect">
            <a:avLst/>
          </a:prstGeom>
          <a:noFill/>
        </p:spPr>
        <p:txBody>
          <a:bodyPr wrap="square" lIns="0" rIns="0" tIns="0" bIns="0">
            <a:spAutoFit/>
          </a:bodyPr>
          <a:lstStyle/>
          <a:p>
            <a:pPr algn="ctr">
              <a:lnSpc>
                <a:spcPct val="140000"/>
              </a:lnSpc>
            </a:pPr>
            <a:r>
              <a:rPr sz="2250" spc="20">
                <a:solidFill>
                  <a:srgbClr val="9FE8DC"/>
                </a:solidFill>
                <a:latin typeface="Alike Italics"/>
              </a:rPr>
              <a:t>What would it take for places to become more connected, capable, and resilient again?</a:t>
            </a:r>
          </a:p>
        </p:txBody>
      </p:sp>
      <p:pic>
        <p:nvPicPr>
          <p:cNvPr id="34" name="Picture 33"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pic>
        <p:nvPicPr>
          <p:cNvPr id="68" name="Picture 67" descr="rivr-symbol-light.png"/>
          <p:cNvPicPr>
            <a:picLocks noChangeAspect="1"/>
          </p:cNvPicPr>
          <p:nvPr/>
        </p:nvPicPr>
        <p:blipFill>
          <a:blip r:embed="rId15"/>
          <a:stretch>
            <a:fillRect/>
          </a:stretch>
        </p:blipFill>
        <p:spPr>
          <a:xfrm>
            <a:off x="576072" y="9518904"/>
            <a:ext cx="521208" cy="521208"/>
          </a:xfrm>
          <a:prstGeom prst="rect">
            <a:avLst/>
          </a:prstGeom>
        </p:spPr>
      </p:pic>
      <p:sp>
        <p:nvSpPr>
          <p:cNvPr id="69" name="TextBox 6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0" name="TextBox 6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sp>
        <p:nvSpPr>
          <p:cNvPr id="68" name="TextBox 67"/>
          <p:cNvSpPr txBox="1"/>
          <p:nvPr/>
        </p:nvSpPr>
        <p:spPr>
          <a:xfrm>
            <a:off x="11384280" y="35935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EVERY PLACE ALREADY CONTAINS</a:t>
            </a:r>
          </a:p>
        </p:txBody>
      </p:sp>
      <p:sp>
        <p:nvSpPr>
          <p:cNvPr id="69" name="Rounded Rectangle 68"/>
          <p:cNvSpPr/>
          <p:nvPr/>
        </p:nvSpPr>
        <p:spPr>
          <a:xfrm>
            <a:off x="11384280" y="4114800"/>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person.png"/>
          <p:cNvPicPr>
            <a:picLocks noChangeAspect="1"/>
          </p:cNvPicPr>
          <p:nvPr/>
        </p:nvPicPr>
        <p:blipFill>
          <a:blip r:embed="rId3"/>
          <a:stretch>
            <a:fillRect/>
          </a:stretch>
        </p:blipFill>
        <p:spPr>
          <a:xfrm>
            <a:off x="11713464" y="4443983"/>
            <a:ext cx="384048" cy="384048"/>
          </a:xfrm>
          <a:prstGeom prst="rect">
            <a:avLst/>
          </a:prstGeom>
        </p:spPr>
      </p:pic>
      <p:sp>
        <p:nvSpPr>
          <p:cNvPr id="71" name="TextBox 70"/>
          <p:cNvSpPr txBox="1"/>
          <p:nvPr/>
        </p:nvSpPr>
        <p:spPr>
          <a:xfrm>
            <a:off x="1237183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PEOPLE</a:t>
            </a:r>
          </a:p>
        </p:txBody>
      </p:sp>
      <p:sp>
        <p:nvSpPr>
          <p:cNvPr id="72" name="TextBox 71"/>
          <p:cNvSpPr txBox="1"/>
          <p:nvPr/>
        </p:nvSpPr>
        <p:spPr>
          <a:xfrm>
            <a:off x="1172718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Skills, time, labor, care, knowledge — already here.</a:t>
            </a:r>
          </a:p>
        </p:txBody>
      </p:sp>
      <p:sp>
        <p:nvSpPr>
          <p:cNvPr id="73" name="Rounded Rectangle 72"/>
          <p:cNvSpPr/>
          <p:nvPr/>
        </p:nvSpPr>
        <p:spPr>
          <a:xfrm>
            <a:off x="14436090" y="4114800"/>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resource.png"/>
          <p:cNvPicPr>
            <a:picLocks noChangeAspect="1"/>
          </p:cNvPicPr>
          <p:nvPr/>
        </p:nvPicPr>
        <p:blipFill>
          <a:blip r:embed="rId15"/>
          <a:stretch>
            <a:fillRect/>
          </a:stretch>
        </p:blipFill>
        <p:spPr>
          <a:xfrm>
            <a:off x="14765274" y="4443983"/>
            <a:ext cx="384048" cy="384048"/>
          </a:xfrm>
          <a:prstGeom prst="rect">
            <a:avLst/>
          </a:prstGeom>
        </p:spPr>
      </p:pic>
      <p:sp>
        <p:nvSpPr>
          <p:cNvPr id="75" name="TextBox 74"/>
          <p:cNvSpPr txBox="1"/>
          <p:nvPr/>
        </p:nvSpPr>
        <p:spPr>
          <a:xfrm>
            <a:off x="1542364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RESOURCES</a:t>
            </a:r>
          </a:p>
        </p:txBody>
      </p:sp>
      <p:sp>
        <p:nvSpPr>
          <p:cNvPr id="76" name="TextBox 75"/>
          <p:cNvSpPr txBox="1"/>
          <p:nvPr/>
        </p:nvSpPr>
        <p:spPr>
          <a:xfrm>
            <a:off x="1477899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Tools, food, spaces, money sitting idle nearby.</a:t>
            </a:r>
          </a:p>
        </p:txBody>
      </p:sp>
      <p:pic>
        <p:nvPicPr>
          <p:cNvPr id="77" name="Picture 76" descr="rivr-symbol-light.png"/>
          <p:cNvPicPr>
            <a:picLocks noChangeAspect="1"/>
          </p:cNvPicPr>
          <p:nvPr/>
        </p:nvPicPr>
        <p:blipFill>
          <a:blip r:embed="rId16"/>
          <a:stretch>
            <a:fillRect/>
          </a:stretch>
        </p:blipFill>
        <p:spPr>
          <a:xfrm>
            <a:off x="576072" y="9518904"/>
            <a:ext cx="521208" cy="521208"/>
          </a:xfrm>
          <a:prstGeom prst="rect">
            <a:avLst/>
          </a:prstGeom>
        </p:spPr>
      </p:pic>
      <p:sp>
        <p:nvSpPr>
          <p:cNvPr id="78" name="TextBox 7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9" name="TextBox 7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LATENT CAPACITY</a:t>
            </a:r>
          </a:p>
        </p:txBody>
      </p:sp>
      <p:sp>
        <p:nvSpPr>
          <p:cNvPr id="4" name="TextBox 3"/>
          <p:cNvSpPr txBox="1"/>
          <p:nvPr/>
        </p:nvSpPr>
        <p:spPr>
          <a:xfrm>
            <a:off x="822959" y="1699869"/>
            <a:ext cx="660177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The capacity is </a:t>
            </a:r>
          </a:p>
        </p:txBody>
      </p:sp>
      <p:sp>
        <p:nvSpPr>
          <p:cNvPr id="5" name="TextBox 4"/>
          <p:cNvSpPr txBox="1"/>
          <p:nvPr/>
        </p:nvSpPr>
        <p:spPr>
          <a:xfrm>
            <a:off x="5939790" y="1645919"/>
            <a:ext cx="5414724"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already here.</a:t>
            </a:r>
          </a:p>
        </p:txBody>
      </p:sp>
      <p:cxnSp>
        <p:nvCxnSpPr>
          <p:cNvPr id="6" name="Connector 5"/>
          <p:cNvCxnSpPr/>
          <p:nvPr/>
        </p:nvCxnSpPr>
        <p:spPr>
          <a:xfrm>
            <a:off x="59664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95159" y="4459019"/>
            <a:ext cx="753061"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48220" y="52120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748220" y="6240779"/>
            <a:ext cx="275639"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699515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966459" y="8022540"/>
            <a:ext cx="1028700"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937760" y="8022540"/>
            <a:ext cx="1028699" cy="275639"/>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4184699" y="7269479"/>
            <a:ext cx="753061" cy="7530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09059" y="62407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909059" y="5212079"/>
            <a:ext cx="27564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84699" y="4459019"/>
            <a:ext cx="753060" cy="7530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937759" y="4183379"/>
            <a:ext cx="1028700" cy="27564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66459" y="41833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9664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966459" y="52120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664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966459" y="6240779"/>
            <a:ext cx="1781761"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66459" y="6240779"/>
            <a:ext cx="1028700"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966459" y="6240779"/>
            <a:ext cx="0" cy="20574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937760" y="6240779"/>
            <a:ext cx="1028699" cy="1781761"/>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184699" y="62407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09059" y="6240779"/>
            <a:ext cx="2057400" cy="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84699" y="5212079"/>
            <a:ext cx="1781760" cy="102870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937759" y="4459019"/>
            <a:ext cx="1028700" cy="1781760"/>
          </a:xfrm>
          <a:prstGeom prst="line">
            <a:avLst/>
          </a:prstGeom>
          <a:ln w="9525">
            <a:solidFill>
              <a:srgbClr val="1E5A58"/>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290261" y="5564581"/>
            <a:ext cx="1352397" cy="1352397"/>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90261" y="6021323"/>
            <a:ext cx="1352397" cy="466344"/>
          </a:xfrm>
          <a:prstGeom prst="rect">
            <a:avLst/>
          </a:prstGeom>
          <a:noFill/>
        </p:spPr>
        <p:txBody>
          <a:bodyPr wrap="none" lIns="0" rIns="0" tIns="0" bIns="0">
            <a:spAutoFit/>
          </a:bodyPr>
          <a:lstStyle/>
          <a:p>
            <a:pPr algn="ctr">
              <a:lnSpc>
                <a:spcPct val="115000"/>
              </a:lnSpc>
            </a:pPr>
            <a:r>
              <a:rPr sz="1650" spc="330">
                <a:solidFill>
                  <a:srgbClr val="EBCF9E"/>
                </a:solidFill>
                <a:latin typeface="TT Commons Pro"/>
              </a:rPr>
              <a:t>A PLACE</a:t>
            </a:r>
          </a:p>
        </p:txBody>
      </p:sp>
      <p:sp>
        <p:nvSpPr>
          <p:cNvPr id="32" name="Oval 31"/>
          <p:cNvSpPr/>
          <p:nvPr/>
        </p:nvSpPr>
        <p:spPr>
          <a:xfrm>
            <a:off x="5568696" y="378561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3"/>
          <a:stretch>
            <a:fillRect/>
          </a:stretch>
        </p:blipFill>
        <p:spPr>
          <a:xfrm>
            <a:off x="5733288" y="3950208"/>
            <a:ext cx="466344" cy="466344"/>
          </a:xfrm>
          <a:prstGeom prst="rect">
            <a:avLst/>
          </a:prstGeom>
        </p:spPr>
      </p:pic>
      <p:sp>
        <p:nvSpPr>
          <p:cNvPr id="34" name="TextBox 33"/>
          <p:cNvSpPr txBox="1"/>
          <p:nvPr/>
        </p:nvSpPr>
        <p:spPr>
          <a:xfrm>
            <a:off x="4457699" y="322326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skills</a:t>
            </a:r>
          </a:p>
        </p:txBody>
      </p:sp>
      <p:sp>
        <p:nvSpPr>
          <p:cNvPr id="35" name="Oval 34"/>
          <p:cNvSpPr/>
          <p:nvPr/>
        </p:nvSpPr>
        <p:spPr>
          <a:xfrm>
            <a:off x="6597396"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ool.png"/>
          <p:cNvPicPr>
            <a:picLocks noChangeAspect="1"/>
          </p:cNvPicPr>
          <p:nvPr/>
        </p:nvPicPr>
        <p:blipFill>
          <a:blip r:embed="rId4"/>
          <a:stretch>
            <a:fillRect/>
          </a:stretch>
        </p:blipFill>
        <p:spPr>
          <a:xfrm>
            <a:off x="6761988" y="4225847"/>
            <a:ext cx="466344" cy="466344"/>
          </a:xfrm>
          <a:prstGeom prst="rect">
            <a:avLst/>
          </a:prstGeom>
        </p:spPr>
      </p:pic>
      <p:sp>
        <p:nvSpPr>
          <p:cNvPr id="37" name="TextBox 36"/>
          <p:cNvSpPr txBox="1"/>
          <p:nvPr/>
        </p:nvSpPr>
        <p:spPr>
          <a:xfrm>
            <a:off x="5891022"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unused tools</a:t>
            </a:r>
          </a:p>
        </p:txBody>
      </p:sp>
      <p:sp>
        <p:nvSpPr>
          <p:cNvPr id="38" name="Oval 37"/>
          <p:cNvSpPr/>
          <p:nvPr/>
        </p:nvSpPr>
        <p:spPr>
          <a:xfrm>
            <a:off x="7350456"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ood.png"/>
          <p:cNvPicPr>
            <a:picLocks noChangeAspect="1"/>
          </p:cNvPicPr>
          <p:nvPr/>
        </p:nvPicPr>
        <p:blipFill>
          <a:blip r:embed="rId5"/>
          <a:stretch>
            <a:fillRect/>
          </a:stretch>
        </p:blipFill>
        <p:spPr>
          <a:xfrm>
            <a:off x="7515048" y="4978908"/>
            <a:ext cx="466344" cy="466344"/>
          </a:xfrm>
          <a:prstGeom prst="rect">
            <a:avLst/>
          </a:prstGeom>
        </p:spPr>
      </p:pic>
      <p:sp>
        <p:nvSpPr>
          <p:cNvPr id="40" name="TextBox 39"/>
          <p:cNvSpPr txBox="1"/>
          <p:nvPr/>
        </p:nvSpPr>
        <p:spPr>
          <a:xfrm>
            <a:off x="6940286"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food</a:t>
            </a:r>
          </a:p>
        </p:txBody>
      </p:sp>
      <p:sp>
        <p:nvSpPr>
          <p:cNvPr id="41" name="Oval 40"/>
          <p:cNvSpPr/>
          <p:nvPr/>
        </p:nvSpPr>
        <p:spPr>
          <a:xfrm>
            <a:off x="7626096"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space.png"/>
          <p:cNvPicPr>
            <a:picLocks noChangeAspect="1"/>
          </p:cNvPicPr>
          <p:nvPr/>
        </p:nvPicPr>
        <p:blipFill>
          <a:blip r:embed="rId6"/>
          <a:stretch>
            <a:fillRect/>
          </a:stretch>
        </p:blipFill>
        <p:spPr>
          <a:xfrm>
            <a:off x="7790688" y="6007608"/>
            <a:ext cx="466344" cy="466344"/>
          </a:xfrm>
          <a:prstGeom prst="rect">
            <a:avLst/>
          </a:prstGeom>
        </p:spPr>
      </p:pic>
      <p:sp>
        <p:nvSpPr>
          <p:cNvPr id="43" name="TextBox 42"/>
          <p:cNvSpPr txBox="1"/>
          <p:nvPr/>
        </p:nvSpPr>
        <p:spPr>
          <a:xfrm>
            <a:off x="7324344"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spaces</a:t>
            </a:r>
          </a:p>
        </p:txBody>
      </p:sp>
      <p:sp>
        <p:nvSpPr>
          <p:cNvPr id="44" name="Oval 43"/>
          <p:cNvSpPr/>
          <p:nvPr/>
        </p:nvSpPr>
        <p:spPr>
          <a:xfrm>
            <a:off x="7350456"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doc.png"/>
          <p:cNvPicPr>
            <a:picLocks noChangeAspect="1"/>
          </p:cNvPicPr>
          <p:nvPr/>
        </p:nvPicPr>
        <p:blipFill>
          <a:blip r:embed="rId7"/>
          <a:stretch>
            <a:fillRect/>
          </a:stretch>
        </p:blipFill>
        <p:spPr>
          <a:xfrm>
            <a:off x="7515048" y="7036308"/>
            <a:ext cx="466344" cy="466344"/>
          </a:xfrm>
          <a:prstGeom prst="rect">
            <a:avLst/>
          </a:prstGeom>
        </p:spPr>
      </p:pic>
      <p:sp>
        <p:nvSpPr>
          <p:cNvPr id="46" name="TextBox 45"/>
          <p:cNvSpPr txBox="1"/>
          <p:nvPr/>
        </p:nvSpPr>
        <p:spPr>
          <a:xfrm>
            <a:off x="6940286"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knowledge</a:t>
            </a:r>
          </a:p>
        </p:txBody>
      </p:sp>
      <p:sp>
        <p:nvSpPr>
          <p:cNvPr id="47" name="Oval 46"/>
          <p:cNvSpPr/>
          <p:nvPr/>
        </p:nvSpPr>
        <p:spPr>
          <a:xfrm>
            <a:off x="65973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project.png"/>
          <p:cNvPicPr>
            <a:picLocks noChangeAspect="1"/>
          </p:cNvPicPr>
          <p:nvPr/>
        </p:nvPicPr>
        <p:blipFill>
          <a:blip r:embed="rId8"/>
          <a:stretch>
            <a:fillRect/>
          </a:stretch>
        </p:blipFill>
        <p:spPr>
          <a:xfrm>
            <a:off x="6761988" y="7789368"/>
            <a:ext cx="466344" cy="466344"/>
          </a:xfrm>
          <a:prstGeom prst="rect">
            <a:avLst/>
          </a:prstGeom>
        </p:spPr>
      </p:pic>
      <p:sp>
        <p:nvSpPr>
          <p:cNvPr id="49" name="TextBox 48"/>
          <p:cNvSpPr txBox="1"/>
          <p:nvPr/>
        </p:nvSpPr>
        <p:spPr>
          <a:xfrm>
            <a:off x="5891022"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projects</a:t>
            </a:r>
          </a:p>
        </p:txBody>
      </p:sp>
      <p:sp>
        <p:nvSpPr>
          <p:cNvPr id="50" name="Oval 49"/>
          <p:cNvSpPr/>
          <p:nvPr/>
        </p:nvSpPr>
        <p:spPr>
          <a:xfrm>
            <a:off x="5568696" y="79004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money.png"/>
          <p:cNvPicPr>
            <a:picLocks noChangeAspect="1"/>
          </p:cNvPicPr>
          <p:nvPr/>
        </p:nvPicPr>
        <p:blipFill>
          <a:blip r:embed="rId9"/>
          <a:stretch>
            <a:fillRect/>
          </a:stretch>
        </p:blipFill>
        <p:spPr>
          <a:xfrm>
            <a:off x="5733288" y="8065008"/>
            <a:ext cx="466344" cy="466344"/>
          </a:xfrm>
          <a:prstGeom prst="rect">
            <a:avLst/>
          </a:prstGeom>
        </p:spPr>
      </p:pic>
      <p:sp>
        <p:nvSpPr>
          <p:cNvPr id="52" name="TextBox 51"/>
          <p:cNvSpPr txBox="1"/>
          <p:nvPr/>
        </p:nvSpPr>
        <p:spPr>
          <a:xfrm>
            <a:off x="4457699" y="895654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money</a:t>
            </a:r>
          </a:p>
        </p:txBody>
      </p:sp>
      <p:sp>
        <p:nvSpPr>
          <p:cNvPr id="53" name="Oval 52"/>
          <p:cNvSpPr/>
          <p:nvPr/>
        </p:nvSpPr>
        <p:spPr>
          <a:xfrm>
            <a:off x="4539996" y="762477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care.png"/>
          <p:cNvPicPr>
            <a:picLocks noChangeAspect="1"/>
          </p:cNvPicPr>
          <p:nvPr/>
        </p:nvPicPr>
        <p:blipFill>
          <a:blip r:embed="rId10"/>
          <a:stretch>
            <a:fillRect/>
          </a:stretch>
        </p:blipFill>
        <p:spPr>
          <a:xfrm>
            <a:off x="4704588" y="7789368"/>
            <a:ext cx="466344" cy="466344"/>
          </a:xfrm>
          <a:prstGeom prst="rect">
            <a:avLst/>
          </a:prstGeom>
        </p:spPr>
      </p:pic>
      <p:sp>
        <p:nvSpPr>
          <p:cNvPr id="55" name="TextBox 54"/>
          <p:cNvSpPr txBox="1"/>
          <p:nvPr/>
        </p:nvSpPr>
        <p:spPr>
          <a:xfrm>
            <a:off x="3024378" y="8572490"/>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care</a:t>
            </a:r>
          </a:p>
        </p:txBody>
      </p:sp>
      <p:sp>
        <p:nvSpPr>
          <p:cNvPr id="56" name="Oval 55"/>
          <p:cNvSpPr/>
          <p:nvPr/>
        </p:nvSpPr>
        <p:spPr>
          <a:xfrm>
            <a:off x="3786935" y="68717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work.png"/>
          <p:cNvPicPr>
            <a:picLocks noChangeAspect="1"/>
          </p:cNvPicPr>
          <p:nvPr/>
        </p:nvPicPr>
        <p:blipFill>
          <a:blip r:embed="rId11"/>
          <a:stretch>
            <a:fillRect/>
          </a:stretch>
        </p:blipFill>
        <p:spPr>
          <a:xfrm>
            <a:off x="3951527" y="7036308"/>
            <a:ext cx="466344" cy="466344"/>
          </a:xfrm>
          <a:prstGeom prst="rect">
            <a:avLst/>
          </a:prstGeom>
        </p:spPr>
      </p:pic>
      <p:sp>
        <p:nvSpPr>
          <p:cNvPr id="58" name="TextBox 57"/>
          <p:cNvSpPr txBox="1"/>
          <p:nvPr/>
        </p:nvSpPr>
        <p:spPr>
          <a:xfrm>
            <a:off x="1975113" y="7523225"/>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labor</a:t>
            </a:r>
          </a:p>
        </p:txBody>
      </p:sp>
      <p:sp>
        <p:nvSpPr>
          <p:cNvPr id="59" name="Oval 58"/>
          <p:cNvSpPr/>
          <p:nvPr/>
        </p:nvSpPr>
        <p:spPr>
          <a:xfrm>
            <a:off x="3511295" y="58430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rg.png"/>
          <p:cNvPicPr>
            <a:picLocks noChangeAspect="1"/>
          </p:cNvPicPr>
          <p:nvPr/>
        </p:nvPicPr>
        <p:blipFill>
          <a:blip r:embed="rId12"/>
          <a:stretch>
            <a:fillRect/>
          </a:stretch>
        </p:blipFill>
        <p:spPr>
          <a:xfrm>
            <a:off x="3675887" y="6007608"/>
            <a:ext cx="466344" cy="466344"/>
          </a:xfrm>
          <a:prstGeom prst="rect">
            <a:avLst/>
          </a:prstGeom>
        </p:spPr>
      </p:pic>
      <p:sp>
        <p:nvSpPr>
          <p:cNvPr id="61" name="TextBox 60"/>
          <p:cNvSpPr txBox="1"/>
          <p:nvPr/>
        </p:nvSpPr>
        <p:spPr>
          <a:xfrm>
            <a:off x="1591055" y="6089903"/>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organizations</a:t>
            </a:r>
          </a:p>
        </p:txBody>
      </p:sp>
      <p:sp>
        <p:nvSpPr>
          <p:cNvPr id="62" name="Oval 61"/>
          <p:cNvSpPr/>
          <p:nvPr/>
        </p:nvSpPr>
        <p:spPr>
          <a:xfrm>
            <a:off x="3786935" y="4814316"/>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dea.png"/>
          <p:cNvPicPr>
            <a:picLocks noChangeAspect="1"/>
          </p:cNvPicPr>
          <p:nvPr/>
        </p:nvPicPr>
        <p:blipFill>
          <a:blip r:embed="rId13"/>
          <a:stretch>
            <a:fillRect/>
          </a:stretch>
        </p:blipFill>
        <p:spPr>
          <a:xfrm>
            <a:off x="3951527" y="4978908"/>
            <a:ext cx="466344" cy="466344"/>
          </a:xfrm>
          <a:prstGeom prst="rect">
            <a:avLst/>
          </a:prstGeom>
        </p:spPr>
      </p:pic>
      <p:sp>
        <p:nvSpPr>
          <p:cNvPr id="64" name="TextBox 63"/>
          <p:cNvSpPr txBox="1"/>
          <p:nvPr/>
        </p:nvSpPr>
        <p:spPr>
          <a:xfrm>
            <a:off x="1975113" y="4656582"/>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ideas</a:t>
            </a:r>
          </a:p>
        </p:txBody>
      </p:sp>
      <p:sp>
        <p:nvSpPr>
          <p:cNvPr id="65" name="Oval 64"/>
          <p:cNvSpPr/>
          <p:nvPr/>
        </p:nvSpPr>
        <p:spPr>
          <a:xfrm>
            <a:off x="4539995" y="4061255"/>
            <a:ext cx="795527" cy="795527"/>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gift.png"/>
          <p:cNvPicPr>
            <a:picLocks noChangeAspect="1"/>
          </p:cNvPicPr>
          <p:nvPr/>
        </p:nvPicPr>
        <p:blipFill>
          <a:blip r:embed="rId14"/>
          <a:stretch>
            <a:fillRect/>
          </a:stretch>
        </p:blipFill>
        <p:spPr>
          <a:xfrm>
            <a:off x="4704587" y="4225847"/>
            <a:ext cx="466344" cy="466344"/>
          </a:xfrm>
          <a:prstGeom prst="rect">
            <a:avLst/>
          </a:prstGeom>
        </p:spPr>
      </p:pic>
      <p:sp>
        <p:nvSpPr>
          <p:cNvPr id="67" name="TextBox 66"/>
          <p:cNvSpPr txBox="1"/>
          <p:nvPr/>
        </p:nvSpPr>
        <p:spPr>
          <a:xfrm>
            <a:off x="3024377" y="3607317"/>
            <a:ext cx="3017520"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things to give</a:t>
            </a:r>
          </a:p>
        </p:txBody>
      </p:sp>
      <p:sp>
        <p:nvSpPr>
          <p:cNvPr id="68" name="TextBox 67"/>
          <p:cNvSpPr txBox="1"/>
          <p:nvPr/>
        </p:nvSpPr>
        <p:spPr>
          <a:xfrm>
            <a:off x="11384280" y="35935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EVERY PLACE ALREADY CONTAINS</a:t>
            </a:r>
          </a:p>
        </p:txBody>
      </p:sp>
      <p:sp>
        <p:nvSpPr>
          <p:cNvPr id="69" name="Rounded Rectangle 68"/>
          <p:cNvSpPr/>
          <p:nvPr/>
        </p:nvSpPr>
        <p:spPr>
          <a:xfrm>
            <a:off x="11384280" y="4114800"/>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person.png"/>
          <p:cNvPicPr>
            <a:picLocks noChangeAspect="1"/>
          </p:cNvPicPr>
          <p:nvPr/>
        </p:nvPicPr>
        <p:blipFill>
          <a:blip r:embed="rId3"/>
          <a:stretch>
            <a:fillRect/>
          </a:stretch>
        </p:blipFill>
        <p:spPr>
          <a:xfrm>
            <a:off x="11713464" y="4443983"/>
            <a:ext cx="384048" cy="384048"/>
          </a:xfrm>
          <a:prstGeom prst="rect">
            <a:avLst/>
          </a:prstGeom>
        </p:spPr>
      </p:pic>
      <p:sp>
        <p:nvSpPr>
          <p:cNvPr id="71" name="TextBox 70"/>
          <p:cNvSpPr txBox="1"/>
          <p:nvPr/>
        </p:nvSpPr>
        <p:spPr>
          <a:xfrm>
            <a:off x="1237183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PEOPLE</a:t>
            </a:r>
          </a:p>
        </p:txBody>
      </p:sp>
      <p:sp>
        <p:nvSpPr>
          <p:cNvPr id="72" name="TextBox 71"/>
          <p:cNvSpPr txBox="1"/>
          <p:nvPr/>
        </p:nvSpPr>
        <p:spPr>
          <a:xfrm>
            <a:off x="1172718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Skills, time, labor, care, knowledge — already here.</a:t>
            </a:r>
          </a:p>
        </p:txBody>
      </p:sp>
      <p:sp>
        <p:nvSpPr>
          <p:cNvPr id="73" name="Rounded Rectangle 72"/>
          <p:cNvSpPr/>
          <p:nvPr/>
        </p:nvSpPr>
        <p:spPr>
          <a:xfrm>
            <a:off x="14436090" y="4114800"/>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resource.png"/>
          <p:cNvPicPr>
            <a:picLocks noChangeAspect="1"/>
          </p:cNvPicPr>
          <p:nvPr/>
        </p:nvPicPr>
        <p:blipFill>
          <a:blip r:embed="rId15"/>
          <a:stretch>
            <a:fillRect/>
          </a:stretch>
        </p:blipFill>
        <p:spPr>
          <a:xfrm>
            <a:off x="14765274" y="4443983"/>
            <a:ext cx="384048" cy="384048"/>
          </a:xfrm>
          <a:prstGeom prst="rect">
            <a:avLst/>
          </a:prstGeom>
        </p:spPr>
      </p:pic>
      <p:sp>
        <p:nvSpPr>
          <p:cNvPr id="75" name="TextBox 74"/>
          <p:cNvSpPr txBox="1"/>
          <p:nvPr/>
        </p:nvSpPr>
        <p:spPr>
          <a:xfrm>
            <a:off x="15423642" y="4416552"/>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RESOURCES</a:t>
            </a:r>
          </a:p>
        </p:txBody>
      </p:sp>
      <p:sp>
        <p:nvSpPr>
          <p:cNvPr id="76" name="TextBox 75"/>
          <p:cNvSpPr txBox="1"/>
          <p:nvPr/>
        </p:nvSpPr>
        <p:spPr>
          <a:xfrm>
            <a:off x="14778990" y="5047488"/>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Tools, food, spaces, money sitting idle nearby.</a:t>
            </a:r>
          </a:p>
        </p:txBody>
      </p:sp>
      <p:sp>
        <p:nvSpPr>
          <p:cNvPr id="77" name="Rounded Rectangle 76"/>
          <p:cNvSpPr/>
          <p:nvPr/>
        </p:nvSpPr>
        <p:spPr>
          <a:xfrm>
            <a:off x="11384280" y="5966459"/>
            <a:ext cx="3051810" cy="157733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org.png"/>
          <p:cNvPicPr>
            <a:picLocks noChangeAspect="1"/>
          </p:cNvPicPr>
          <p:nvPr/>
        </p:nvPicPr>
        <p:blipFill>
          <a:blip r:embed="rId12"/>
          <a:stretch>
            <a:fillRect/>
          </a:stretch>
        </p:blipFill>
        <p:spPr>
          <a:xfrm>
            <a:off x="11713464" y="6295644"/>
            <a:ext cx="384048" cy="384048"/>
          </a:xfrm>
          <a:prstGeom prst="rect">
            <a:avLst/>
          </a:prstGeom>
        </p:spPr>
      </p:pic>
      <p:sp>
        <p:nvSpPr>
          <p:cNvPr id="79" name="TextBox 78"/>
          <p:cNvSpPr txBox="1"/>
          <p:nvPr/>
        </p:nvSpPr>
        <p:spPr>
          <a:xfrm>
            <a:off x="12371832" y="6268211"/>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ORGANIZATIONS</a:t>
            </a:r>
          </a:p>
        </p:txBody>
      </p:sp>
      <p:sp>
        <p:nvSpPr>
          <p:cNvPr id="80" name="TextBox 79"/>
          <p:cNvSpPr txBox="1"/>
          <p:nvPr/>
        </p:nvSpPr>
        <p:spPr>
          <a:xfrm>
            <a:off x="11727180" y="6899147"/>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Groups already coordinating some of it.</a:t>
            </a:r>
          </a:p>
        </p:txBody>
      </p:sp>
      <p:sp>
        <p:nvSpPr>
          <p:cNvPr id="81" name="Rounded Rectangle 80"/>
          <p:cNvSpPr/>
          <p:nvPr/>
        </p:nvSpPr>
        <p:spPr>
          <a:xfrm>
            <a:off x="14436090" y="5966459"/>
            <a:ext cx="3051810" cy="157733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offer.png"/>
          <p:cNvPicPr>
            <a:picLocks noChangeAspect="1"/>
          </p:cNvPicPr>
          <p:nvPr/>
        </p:nvPicPr>
        <p:blipFill>
          <a:blip r:embed="rId16"/>
          <a:stretch>
            <a:fillRect/>
          </a:stretch>
        </p:blipFill>
        <p:spPr>
          <a:xfrm>
            <a:off x="14765274" y="6295644"/>
            <a:ext cx="384048" cy="384048"/>
          </a:xfrm>
          <a:prstGeom prst="rect">
            <a:avLst/>
          </a:prstGeom>
        </p:spPr>
      </p:pic>
      <p:sp>
        <p:nvSpPr>
          <p:cNvPr id="83" name="TextBox 82"/>
          <p:cNvSpPr txBox="1"/>
          <p:nvPr/>
        </p:nvSpPr>
        <p:spPr>
          <a:xfrm>
            <a:off x="15423642" y="6268211"/>
            <a:ext cx="1817370"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NEEDS + OFFERS</a:t>
            </a:r>
          </a:p>
        </p:txBody>
      </p:sp>
      <p:sp>
        <p:nvSpPr>
          <p:cNvPr id="84" name="TextBox 83"/>
          <p:cNvSpPr txBox="1"/>
          <p:nvPr/>
        </p:nvSpPr>
        <p:spPr>
          <a:xfrm>
            <a:off x="14778990" y="6899147"/>
            <a:ext cx="2366010" cy="411479"/>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Both sides exist — they just never meet.</a:t>
            </a:r>
          </a:p>
        </p:txBody>
      </p:sp>
      <p:sp>
        <p:nvSpPr>
          <p:cNvPr id="85" name="TextBox 84"/>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The problem is not that these things don't exist — it is finding them, trusting them, and coordinating around them.</a:t>
            </a:r>
          </a:p>
          <a:p>
            <a:pPr algn="ctr">
              <a:lnSpc>
                <a:spcPct val="140000"/>
              </a:lnSpc>
            </a:pPr>
            <a:r>
              <a:rPr sz="2100" spc="20">
                <a:solidFill>
                  <a:srgbClr val="EBCF9E"/>
                </a:solidFill>
                <a:latin typeface="Alike Italics"/>
              </a:rPr>
              <a:t>A need and a resource can exist blocks apart without ever meeting.</a:t>
            </a:r>
          </a:p>
        </p:txBody>
      </p:sp>
      <p:pic>
        <p:nvPicPr>
          <p:cNvPr id="86" name="Picture 85" descr="rivr-symbol-light.png"/>
          <p:cNvPicPr>
            <a:picLocks noChangeAspect="1"/>
          </p:cNvPicPr>
          <p:nvPr/>
        </p:nvPicPr>
        <p:blipFill>
          <a:blip r:embed="rId17"/>
          <a:stretch>
            <a:fillRect/>
          </a:stretch>
        </p:blipFill>
        <p:spPr>
          <a:xfrm>
            <a:off x="576072" y="9518904"/>
            <a:ext cx="521208" cy="521208"/>
          </a:xfrm>
          <a:prstGeom prst="rect">
            <a:avLst/>
          </a:prstGeom>
        </p:spPr>
      </p:pic>
      <p:sp>
        <p:nvSpPr>
          <p:cNvPr id="87" name="TextBox 8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88" name="TextBox 8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pic>
        <p:nvPicPr>
          <p:cNvPr id="7" name="Picture 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8" name="TextBox 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9" name="TextBox 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pic>
        <p:nvPicPr>
          <p:cNvPr id="23" name="Picture 22"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4" name="TextBox 2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5" name="TextBox 2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sp>
        <p:nvSpPr>
          <p:cNvPr id="23" name="TextBox 22"/>
          <p:cNvSpPr txBox="1"/>
          <p:nvPr/>
        </p:nvSpPr>
        <p:spPr>
          <a:xfrm>
            <a:off x="822959" y="606247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ONCE PEOPLE CONNECT, THEY STILL ASK</a:t>
            </a:r>
          </a:p>
        </p:txBody>
      </p:sp>
      <p:sp>
        <p:nvSpPr>
          <p:cNvPr id="24" name="TextBox 23"/>
          <p:cNvSpPr txBox="1"/>
          <p:nvPr/>
        </p:nvSpPr>
        <p:spPr>
          <a:xfrm>
            <a:off x="82295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doing what?</a:t>
            </a:r>
          </a:p>
        </p:txBody>
      </p:sp>
      <p:sp>
        <p:nvSpPr>
          <p:cNvPr id="25" name="TextBox 24"/>
          <p:cNvSpPr txBox="1"/>
          <p:nvPr/>
        </p:nvSpPr>
        <p:spPr>
          <a:xfrm>
            <a:off x="644651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was agreed to?</a:t>
            </a:r>
          </a:p>
        </p:txBody>
      </p:sp>
      <p:sp>
        <p:nvSpPr>
          <p:cNvPr id="26" name="TextBox 25"/>
          <p:cNvSpPr txBox="1"/>
          <p:nvPr/>
        </p:nvSpPr>
        <p:spPr>
          <a:xfrm>
            <a:off x="12070080"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resources are needed?</a:t>
            </a:r>
          </a:p>
        </p:txBody>
      </p:sp>
      <p:sp>
        <p:nvSpPr>
          <p:cNvPr id="27" name="TextBox 26"/>
          <p:cNvSpPr txBox="1"/>
          <p:nvPr/>
        </p:nvSpPr>
        <p:spPr>
          <a:xfrm>
            <a:off x="82295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How does someone participate?</a:t>
            </a:r>
          </a:p>
        </p:txBody>
      </p:sp>
      <p:sp>
        <p:nvSpPr>
          <p:cNvPr id="28" name="TextBox 27"/>
          <p:cNvSpPr txBox="1"/>
          <p:nvPr/>
        </p:nvSpPr>
        <p:spPr>
          <a:xfrm>
            <a:off x="644651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contributed?</a:t>
            </a:r>
          </a:p>
        </p:txBody>
      </p:sp>
      <p:sp>
        <p:nvSpPr>
          <p:cNvPr id="29" name="TextBox 28"/>
          <p:cNvSpPr txBox="1"/>
          <p:nvPr/>
        </p:nvSpPr>
        <p:spPr>
          <a:xfrm>
            <a:off x="12070080"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is owed?</a:t>
            </a:r>
          </a:p>
        </p:txBody>
      </p:sp>
      <p:pic>
        <p:nvPicPr>
          <p:cNvPr id="30" name="Picture 29"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LIFE</a:t>
            </a:r>
          </a:p>
        </p:txBody>
      </p:sp>
      <p:sp>
        <p:nvSpPr>
          <p:cNvPr id="4" name="TextBox 3"/>
          <p:cNvSpPr txBox="1"/>
          <p:nvPr/>
        </p:nvSpPr>
        <p:spPr>
          <a:xfrm>
            <a:off x="822959" y="1699869"/>
            <a:ext cx="572222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Society has a </a:t>
            </a:r>
          </a:p>
        </p:txBody>
      </p:sp>
      <p:sp>
        <p:nvSpPr>
          <p:cNvPr id="5" name="TextBox 4"/>
          <p:cNvSpPr txBox="1"/>
          <p:nvPr/>
        </p:nvSpPr>
        <p:spPr>
          <a:xfrm>
            <a:off x="5236146" y="1645919"/>
            <a:ext cx="8962786"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coordination problem.</a:t>
            </a:r>
          </a:p>
        </p:txBody>
      </p:sp>
      <p:sp>
        <p:nvSpPr>
          <p:cNvPr id="6" name="TextBox 5"/>
          <p:cNvSpPr txBox="1"/>
          <p:nvPr/>
        </p:nvSpPr>
        <p:spPr>
          <a:xfrm>
            <a:off x="822959" y="3360420"/>
            <a:ext cx="16596359" cy="548640"/>
          </a:xfrm>
          <a:prstGeom prst="rect">
            <a:avLst/>
          </a:prstGeom>
          <a:noFill/>
        </p:spPr>
        <p:txBody>
          <a:bodyPr wrap="square" lIns="0" rIns="0" tIns="0" bIns="0">
            <a:spAutoFit/>
          </a:bodyPr>
          <a:lstStyle/>
          <a:p>
            <a:pPr algn="l">
              <a:lnSpc>
                <a:spcPct val="150000"/>
              </a:lnSpc>
            </a:pPr>
            <a:r>
              <a:rPr sz="1950">
                <a:solidFill>
                  <a:srgbClr val="F2ECDD"/>
                </a:solidFill>
                <a:latin typeface="TT Commons Pro"/>
              </a:rPr>
              <a:t>Social structures emerge to solve the problem of resource coordination. </a:t>
            </a:r>
            <a:r>
              <a:rPr sz="1950">
                <a:solidFill>
                  <a:srgbClr val="9FE8DC"/>
                </a:solidFill>
                <a:latin typeface="TT Commons Pro Bold"/>
              </a:rPr>
              <a:t>All social systems need tools to harmonize:</a:t>
            </a:r>
          </a:p>
        </p:txBody>
      </p:sp>
      <p:sp>
        <p:nvSpPr>
          <p:cNvPr id="7" name="Rounded Rectangle 6"/>
          <p:cNvSpPr/>
          <p:nvPr/>
        </p:nvSpPr>
        <p:spPr>
          <a:xfrm>
            <a:off x="822959"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vernance.png"/>
          <p:cNvPicPr>
            <a:picLocks noChangeAspect="1"/>
          </p:cNvPicPr>
          <p:nvPr/>
        </p:nvPicPr>
        <p:blipFill>
          <a:blip r:embed="rId3"/>
          <a:stretch>
            <a:fillRect/>
          </a:stretch>
        </p:blipFill>
        <p:spPr>
          <a:xfrm>
            <a:off x="1152144" y="4306823"/>
            <a:ext cx="384048" cy="384048"/>
          </a:xfrm>
          <a:prstGeom prst="rect">
            <a:avLst/>
          </a:prstGeom>
        </p:spPr>
      </p:pic>
      <p:sp>
        <p:nvSpPr>
          <p:cNvPr id="9" name="TextBox 8"/>
          <p:cNvSpPr txBox="1"/>
          <p:nvPr/>
        </p:nvSpPr>
        <p:spPr>
          <a:xfrm>
            <a:off x="181051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DECIDING</a:t>
            </a:r>
          </a:p>
        </p:txBody>
      </p:sp>
      <p:sp>
        <p:nvSpPr>
          <p:cNvPr id="10" name="TextBox 9"/>
          <p:cNvSpPr txBox="1"/>
          <p:nvPr/>
        </p:nvSpPr>
        <p:spPr>
          <a:xfrm>
            <a:off x="1165860"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Make decisions and govern shared activity.</a:t>
            </a:r>
          </a:p>
        </p:txBody>
      </p:sp>
      <p:sp>
        <p:nvSpPr>
          <p:cNvPr id="11" name="Rounded Rectangle 10"/>
          <p:cNvSpPr/>
          <p:nvPr/>
        </p:nvSpPr>
        <p:spPr>
          <a:xfrm>
            <a:off x="5064633"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erify.png"/>
          <p:cNvPicPr>
            <a:picLocks noChangeAspect="1"/>
          </p:cNvPicPr>
          <p:nvPr/>
        </p:nvPicPr>
        <p:blipFill>
          <a:blip r:embed="rId4"/>
          <a:stretch>
            <a:fillRect/>
          </a:stretch>
        </p:blipFill>
        <p:spPr>
          <a:xfrm>
            <a:off x="5393817" y="4306823"/>
            <a:ext cx="384048" cy="384048"/>
          </a:xfrm>
          <a:prstGeom prst="rect">
            <a:avLst/>
          </a:prstGeom>
        </p:spPr>
      </p:pic>
      <p:sp>
        <p:nvSpPr>
          <p:cNvPr id="13" name="TextBox 12"/>
          <p:cNvSpPr txBox="1"/>
          <p:nvPr/>
        </p:nvSpPr>
        <p:spPr>
          <a:xfrm>
            <a:off x="6052185"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TRACKING</a:t>
            </a:r>
          </a:p>
        </p:txBody>
      </p:sp>
      <p:sp>
        <p:nvSpPr>
          <p:cNvPr id="14" name="TextBox 13"/>
          <p:cNvSpPr txBox="1"/>
          <p:nvPr/>
        </p:nvSpPr>
        <p:spPr>
          <a:xfrm>
            <a:off x="5407533"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Keep commitments, contributions and records clear.</a:t>
            </a:r>
          </a:p>
        </p:txBody>
      </p:sp>
      <p:sp>
        <p:nvSpPr>
          <p:cNvPr id="15" name="Rounded Rectangle 14"/>
          <p:cNvSpPr/>
          <p:nvPr/>
        </p:nvSpPr>
        <p:spPr>
          <a:xfrm>
            <a:off x="9306306" y="3977639"/>
            <a:ext cx="3939921" cy="1755648"/>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ey.png"/>
          <p:cNvPicPr>
            <a:picLocks noChangeAspect="1"/>
          </p:cNvPicPr>
          <p:nvPr/>
        </p:nvPicPr>
        <p:blipFill>
          <a:blip r:embed="rId5"/>
          <a:stretch>
            <a:fillRect/>
          </a:stretch>
        </p:blipFill>
        <p:spPr>
          <a:xfrm>
            <a:off x="9635490" y="4306823"/>
            <a:ext cx="384048" cy="384048"/>
          </a:xfrm>
          <a:prstGeom prst="rect">
            <a:avLst/>
          </a:prstGeom>
        </p:spPr>
      </p:pic>
      <p:sp>
        <p:nvSpPr>
          <p:cNvPr id="17" name="TextBox 16"/>
          <p:cNvSpPr txBox="1"/>
          <p:nvPr/>
        </p:nvSpPr>
        <p:spPr>
          <a:xfrm>
            <a:off x="10293858"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EXCHANGING</a:t>
            </a:r>
          </a:p>
        </p:txBody>
      </p:sp>
      <p:sp>
        <p:nvSpPr>
          <p:cNvPr id="18" name="TextBox 17"/>
          <p:cNvSpPr txBox="1"/>
          <p:nvPr/>
        </p:nvSpPr>
        <p:spPr>
          <a:xfrm>
            <a:off x="9649206"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Move value and allocate resources between people.</a:t>
            </a:r>
          </a:p>
        </p:txBody>
      </p:sp>
      <p:sp>
        <p:nvSpPr>
          <p:cNvPr id="19" name="Rounded Rectangle 18"/>
          <p:cNvSpPr/>
          <p:nvPr/>
        </p:nvSpPr>
        <p:spPr>
          <a:xfrm>
            <a:off x="13547979" y="3977639"/>
            <a:ext cx="3939921" cy="1755648"/>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ord.png"/>
          <p:cNvPicPr>
            <a:picLocks noChangeAspect="1"/>
          </p:cNvPicPr>
          <p:nvPr/>
        </p:nvPicPr>
        <p:blipFill>
          <a:blip r:embed="rId6"/>
          <a:stretch>
            <a:fillRect/>
          </a:stretch>
        </p:blipFill>
        <p:spPr>
          <a:xfrm>
            <a:off x="13877163" y="4306823"/>
            <a:ext cx="384048" cy="384048"/>
          </a:xfrm>
          <a:prstGeom prst="rect">
            <a:avLst/>
          </a:prstGeom>
        </p:spPr>
      </p:pic>
      <p:sp>
        <p:nvSpPr>
          <p:cNvPr id="21" name="TextBox 20"/>
          <p:cNvSpPr txBox="1"/>
          <p:nvPr/>
        </p:nvSpPr>
        <p:spPr>
          <a:xfrm>
            <a:off x="14535531" y="4279392"/>
            <a:ext cx="2705481"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ORGANIZING</a:t>
            </a:r>
          </a:p>
        </p:txBody>
      </p:sp>
      <p:sp>
        <p:nvSpPr>
          <p:cNvPr id="22" name="TextBox 21"/>
          <p:cNvSpPr txBox="1"/>
          <p:nvPr/>
        </p:nvSpPr>
        <p:spPr>
          <a:xfrm>
            <a:off x="13890879" y="4910328"/>
            <a:ext cx="3254121" cy="589788"/>
          </a:xfrm>
          <a:prstGeom prst="rect">
            <a:avLst/>
          </a:prstGeom>
          <a:noFill/>
        </p:spPr>
        <p:txBody>
          <a:bodyPr wrap="square" lIns="0" rIns="0" tIns="0" bIns="0">
            <a:spAutoFit/>
          </a:bodyPr>
          <a:lstStyle/>
          <a:p>
            <a:pPr algn="l">
              <a:lnSpc>
                <a:spcPct val="140000"/>
              </a:lnSpc>
            </a:pPr>
            <a:r>
              <a:rPr sz="1500">
                <a:solidFill>
                  <a:srgbClr val="F2ECDD"/>
                </a:solidFill>
                <a:latin typeface="TT Commons Pro"/>
              </a:rPr>
              <a:t>Coordinate roles, work, people and resources.</a:t>
            </a:r>
          </a:p>
        </p:txBody>
      </p:sp>
      <p:sp>
        <p:nvSpPr>
          <p:cNvPr id="23" name="TextBox 22"/>
          <p:cNvSpPr txBox="1"/>
          <p:nvPr/>
        </p:nvSpPr>
        <p:spPr>
          <a:xfrm>
            <a:off x="822959" y="606247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ONCE PEOPLE CONNECT, THEY STILL ASK</a:t>
            </a:r>
          </a:p>
        </p:txBody>
      </p:sp>
      <p:sp>
        <p:nvSpPr>
          <p:cNvPr id="24" name="TextBox 23"/>
          <p:cNvSpPr txBox="1"/>
          <p:nvPr/>
        </p:nvSpPr>
        <p:spPr>
          <a:xfrm>
            <a:off x="82295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doing what?</a:t>
            </a:r>
          </a:p>
        </p:txBody>
      </p:sp>
      <p:sp>
        <p:nvSpPr>
          <p:cNvPr id="25" name="TextBox 24"/>
          <p:cNvSpPr txBox="1"/>
          <p:nvPr/>
        </p:nvSpPr>
        <p:spPr>
          <a:xfrm>
            <a:off x="6446519"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was agreed to?</a:t>
            </a:r>
          </a:p>
        </p:txBody>
      </p:sp>
      <p:sp>
        <p:nvSpPr>
          <p:cNvPr id="26" name="TextBox 25"/>
          <p:cNvSpPr txBox="1"/>
          <p:nvPr/>
        </p:nvSpPr>
        <p:spPr>
          <a:xfrm>
            <a:off x="12070080" y="6556248"/>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resources are needed?</a:t>
            </a:r>
          </a:p>
        </p:txBody>
      </p:sp>
      <p:sp>
        <p:nvSpPr>
          <p:cNvPr id="27" name="TextBox 26"/>
          <p:cNvSpPr txBox="1"/>
          <p:nvPr/>
        </p:nvSpPr>
        <p:spPr>
          <a:xfrm>
            <a:off x="82295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How does someone participate?</a:t>
            </a:r>
          </a:p>
        </p:txBody>
      </p:sp>
      <p:sp>
        <p:nvSpPr>
          <p:cNvPr id="28" name="TextBox 27"/>
          <p:cNvSpPr txBox="1"/>
          <p:nvPr/>
        </p:nvSpPr>
        <p:spPr>
          <a:xfrm>
            <a:off x="6446519"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contributed?</a:t>
            </a:r>
          </a:p>
        </p:txBody>
      </p:sp>
      <p:sp>
        <p:nvSpPr>
          <p:cNvPr id="29" name="TextBox 28"/>
          <p:cNvSpPr txBox="1"/>
          <p:nvPr/>
        </p:nvSpPr>
        <p:spPr>
          <a:xfrm>
            <a:off x="12070080" y="7159752"/>
            <a:ext cx="5486400" cy="493776"/>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What is owed?</a:t>
            </a:r>
          </a:p>
        </p:txBody>
      </p:sp>
      <p:sp>
        <p:nvSpPr>
          <p:cNvPr id="30" name="TextBox 29"/>
          <p:cNvSpPr txBox="1"/>
          <p:nvPr/>
        </p:nvSpPr>
        <p:spPr>
          <a:xfrm>
            <a:off x="822959" y="77083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FULL ARC OF WORKING TOGETHER</a:t>
            </a:r>
          </a:p>
        </p:txBody>
      </p:sp>
      <p:sp>
        <p:nvSpPr>
          <p:cNvPr id="31" name="Rounded Rectangle 30"/>
          <p:cNvSpPr/>
          <p:nvPr/>
        </p:nvSpPr>
        <p:spPr>
          <a:xfrm>
            <a:off x="822959"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DISCOVER</a:t>
            </a:r>
          </a:p>
        </p:txBody>
      </p:sp>
      <p:sp>
        <p:nvSpPr>
          <p:cNvPr id="33" name="Right Arrow 32"/>
          <p:cNvSpPr/>
          <p:nvPr/>
        </p:nvSpPr>
        <p:spPr>
          <a:xfrm>
            <a:off x="2491168"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984944"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20352"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TRUST</a:t>
            </a:r>
          </a:p>
        </p:txBody>
      </p:sp>
      <p:sp>
        <p:nvSpPr>
          <p:cNvPr id="36" name="Right Arrow 35"/>
          <p:cNvSpPr/>
          <p:nvPr/>
        </p:nvSpPr>
        <p:spPr>
          <a:xfrm>
            <a:off x="4653153"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46929"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82337"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AGREE</a:t>
            </a:r>
          </a:p>
        </p:txBody>
      </p:sp>
      <p:sp>
        <p:nvSpPr>
          <p:cNvPr id="39" name="Right Arrow 38"/>
          <p:cNvSpPr/>
          <p:nvPr/>
        </p:nvSpPr>
        <p:spPr>
          <a:xfrm>
            <a:off x="6815137"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913"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44321"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ORGANIZE</a:t>
            </a:r>
          </a:p>
        </p:txBody>
      </p:sp>
      <p:sp>
        <p:nvSpPr>
          <p:cNvPr id="42" name="Right Arrow 41"/>
          <p:cNvSpPr/>
          <p:nvPr/>
        </p:nvSpPr>
        <p:spPr>
          <a:xfrm>
            <a:off x="8977122"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470897"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06305"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ACT</a:t>
            </a:r>
          </a:p>
        </p:txBody>
      </p:sp>
      <p:sp>
        <p:nvSpPr>
          <p:cNvPr id="45" name="Right Arrow 44"/>
          <p:cNvSpPr/>
          <p:nvPr/>
        </p:nvSpPr>
        <p:spPr>
          <a:xfrm>
            <a:off x="11139106"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1632882"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468290"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VERIFY</a:t>
            </a:r>
          </a:p>
        </p:txBody>
      </p:sp>
      <p:sp>
        <p:nvSpPr>
          <p:cNvPr id="48" name="Right Arrow 47"/>
          <p:cNvSpPr/>
          <p:nvPr/>
        </p:nvSpPr>
        <p:spPr>
          <a:xfrm>
            <a:off x="13301091"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3794867"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630275"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ACCOUNT</a:t>
            </a:r>
          </a:p>
        </p:txBody>
      </p:sp>
      <p:sp>
        <p:nvSpPr>
          <p:cNvPr id="51" name="Right Arrow 50"/>
          <p:cNvSpPr/>
          <p:nvPr/>
        </p:nvSpPr>
        <p:spPr>
          <a:xfrm>
            <a:off x="15463075" y="833247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5956851" y="8119871"/>
            <a:ext cx="1531048" cy="630936"/>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792259" y="8215883"/>
            <a:ext cx="1860232" cy="411479"/>
          </a:xfrm>
          <a:prstGeom prst="rect">
            <a:avLst/>
          </a:prstGeom>
          <a:noFill/>
        </p:spPr>
        <p:txBody>
          <a:bodyPr wrap="none" lIns="0" rIns="0" tIns="0" bIns="0">
            <a:spAutoFit/>
          </a:bodyPr>
          <a:lstStyle/>
          <a:p>
            <a:pPr algn="ctr">
              <a:lnSpc>
                <a:spcPct val="115000"/>
              </a:lnSpc>
            </a:pPr>
            <a:r>
              <a:rPr sz="1125" spc="330">
                <a:solidFill>
                  <a:srgbClr val="9FE8DC"/>
                </a:solidFill>
                <a:latin typeface="TT Commons Pro"/>
              </a:rPr>
              <a:t>FLOW</a:t>
            </a:r>
          </a:p>
        </p:txBody>
      </p:sp>
      <p:sp>
        <p:nvSpPr>
          <p:cNvPr id="54" name="TextBox 53"/>
          <p:cNvSpPr txBox="1"/>
          <p:nvPr/>
        </p:nvSpPr>
        <p:spPr>
          <a:xfrm>
            <a:off x="822959" y="907999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Right now people assemble that process themselves — every single time. </a:t>
            </a:r>
            <a:r>
              <a:rPr sz="2025" spc="20">
                <a:solidFill>
                  <a:srgbClr val="9FE8DC"/>
                </a:solidFill>
                <a:latin typeface="Alike Italics"/>
              </a:rPr>
              <a:t>Coordination overhead prevents useful activity from happening.</a:t>
            </a:r>
          </a:p>
        </p:txBody>
      </p:sp>
      <p:pic>
        <p:nvPicPr>
          <p:cNvPr id="55" name="Picture 54"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56" name="TextBox 5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7" name="TextBox 5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pic>
        <p:nvPicPr>
          <p:cNvPr id="36" name="Picture 35"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sp>
        <p:nvSpPr>
          <p:cNvPr id="36" name="Rounded Rectangle 35"/>
          <p:cNvSpPr/>
          <p:nvPr/>
        </p:nvSpPr>
        <p:spPr>
          <a:xfrm>
            <a:off x="822959" y="8298179"/>
            <a:ext cx="8092440" cy="987552"/>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4440" y="8449056"/>
            <a:ext cx="7406640" cy="685800"/>
          </a:xfrm>
          <a:prstGeom prst="rect">
            <a:avLst/>
          </a:prstGeom>
          <a:noFill/>
        </p:spPr>
        <p:txBody>
          <a:bodyPr wrap="square" lIns="0" rIns="0" tIns="0" bIns="0">
            <a:spAutoFit/>
          </a:bodyPr>
          <a:lstStyle/>
          <a:p>
            <a:pPr algn="l">
              <a:lnSpc>
                <a:spcPct val="130000"/>
              </a:lnSpc>
            </a:pPr>
            <a:r>
              <a:rPr sz="2550">
                <a:solidFill>
                  <a:srgbClr val="EBCF9E"/>
                </a:solidFill>
                <a:latin typeface="TT Commons Pro Bold"/>
              </a:rPr>
              <a:t>$328.20+ / month</a:t>
            </a:r>
          </a:p>
          <a:p>
            <a:pPr algn="l">
              <a:lnSpc>
                <a:spcPct val="130000"/>
              </a:lnSpc>
            </a:pPr>
            <a:r>
              <a:rPr sz="1500">
                <a:solidFill>
                  <a:srgbClr val="F2ECDD"/>
                </a:solidFill>
                <a:latin typeface="TT Commons Pro"/>
              </a:rPr>
              <a:t>what one small organization pays the familiar stack</a:t>
            </a:r>
          </a:p>
        </p:txBody>
      </p:sp>
      <p:pic>
        <p:nvPicPr>
          <p:cNvPr id="38" name="Picture 37"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9" name="TextBox 3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0" name="TextBox 3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CURRENT SITUATION · PROBLEM IN HAND</a:t>
            </a:r>
          </a:p>
        </p:txBody>
      </p:sp>
      <p:sp>
        <p:nvSpPr>
          <p:cNvPr id="4" name="TextBox 3"/>
          <p:cNvSpPr txBox="1"/>
          <p:nvPr/>
        </p:nvSpPr>
        <p:spPr>
          <a:xfrm>
            <a:off x="822959" y="1699869"/>
            <a:ext cx="6834822"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Our digital tools </a:t>
            </a:r>
          </a:p>
        </p:txBody>
      </p:sp>
      <p:sp>
        <p:nvSpPr>
          <p:cNvPr id="5" name="TextBox 4"/>
          <p:cNvSpPr txBox="1"/>
          <p:nvPr/>
        </p:nvSpPr>
        <p:spPr>
          <a:xfrm>
            <a:off x="6126226" y="1645919"/>
            <a:ext cx="7754302" cy="1140809"/>
          </a:xfrm>
          <a:prstGeom prst="rect">
            <a:avLst/>
          </a:prstGeom>
          <a:noFill/>
        </p:spPr>
        <p:txBody>
          <a:bodyPr wrap="none" lIns="0" rIns="0" tIns="0" bIns="0">
            <a:spAutoFit/>
          </a:bodyPr>
          <a:lstStyle/>
          <a:p>
            <a:pPr algn="l">
              <a:lnSpc>
                <a:spcPct val="115000"/>
              </a:lnSpc>
            </a:pPr>
            <a:r>
              <a:rPr sz="6195" spc="-75">
                <a:solidFill>
                  <a:srgbClr val="D3B7A5"/>
                </a:solidFill>
                <a:latin typeface="Ibarra Real Nova Italics"/>
              </a:rPr>
              <a:t>fragment our lives.</a:t>
            </a:r>
          </a:p>
        </p:txBody>
      </p:sp>
      <p:sp>
        <p:nvSpPr>
          <p:cNvPr id="6" name="Oval 5"/>
          <p:cNvSpPr/>
          <p:nvPr/>
        </p:nvSpPr>
        <p:spPr>
          <a:xfrm>
            <a:off x="1165860" y="356616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05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events</a:t>
            </a:r>
          </a:p>
        </p:txBody>
      </p:sp>
      <p:sp>
        <p:nvSpPr>
          <p:cNvPr id="8" name="Oval 7"/>
          <p:cNvSpPr/>
          <p:nvPr/>
        </p:nvSpPr>
        <p:spPr>
          <a:xfrm>
            <a:off x="404622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payments</a:t>
            </a:r>
          </a:p>
        </p:txBody>
      </p:sp>
      <p:sp>
        <p:nvSpPr>
          <p:cNvPr id="10" name="Oval 9"/>
          <p:cNvSpPr/>
          <p:nvPr/>
        </p:nvSpPr>
        <p:spPr>
          <a:xfrm>
            <a:off x="6789420" y="34290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79" y="41833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projects</a:t>
            </a:r>
          </a:p>
        </p:txBody>
      </p:sp>
      <p:sp>
        <p:nvSpPr>
          <p:cNvPr id="12" name="Oval 11"/>
          <p:cNvSpPr/>
          <p:nvPr/>
        </p:nvSpPr>
        <p:spPr>
          <a:xfrm>
            <a:off x="9669780" y="41148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48691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messages</a:t>
            </a:r>
          </a:p>
        </p:txBody>
      </p:sp>
      <p:sp>
        <p:nvSpPr>
          <p:cNvPr id="14" name="Oval 13"/>
          <p:cNvSpPr/>
          <p:nvPr/>
        </p:nvSpPr>
        <p:spPr>
          <a:xfrm>
            <a:off x="12412980" y="349757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0" y="425195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markets</a:t>
            </a:r>
          </a:p>
        </p:txBody>
      </p:sp>
      <p:sp>
        <p:nvSpPr>
          <p:cNvPr id="16" name="Oval 15"/>
          <p:cNvSpPr/>
          <p:nvPr/>
        </p:nvSpPr>
        <p:spPr>
          <a:xfrm>
            <a:off x="15156180" y="40462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264640" y="48006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documents</a:t>
            </a:r>
          </a:p>
        </p:txBody>
      </p:sp>
      <p:sp>
        <p:nvSpPr>
          <p:cNvPr id="18" name="Oval 17"/>
          <p:cNvSpPr/>
          <p:nvPr/>
        </p:nvSpPr>
        <p:spPr>
          <a:xfrm>
            <a:off x="2537460" y="507492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82930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scheduling</a:t>
            </a:r>
          </a:p>
        </p:txBody>
      </p:sp>
      <p:sp>
        <p:nvSpPr>
          <p:cNvPr id="20" name="Oval 19"/>
          <p:cNvSpPr/>
          <p:nvPr/>
        </p:nvSpPr>
        <p:spPr>
          <a:xfrm>
            <a:off x="10904219" y="5143500"/>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897879"/>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governance</a:t>
            </a:r>
          </a:p>
        </p:txBody>
      </p:sp>
      <p:sp>
        <p:nvSpPr>
          <p:cNvPr id="22" name="Oval 21"/>
          <p:cNvSpPr/>
          <p:nvPr/>
        </p:nvSpPr>
        <p:spPr>
          <a:xfrm>
            <a:off x="7886700" y="5280659"/>
            <a:ext cx="685800" cy="685800"/>
          </a:xfrm>
          <a:prstGeom prst="ellipse">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59" y="6035040"/>
            <a:ext cx="2468880"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identity</a:t>
            </a:r>
          </a:p>
        </p:txBody>
      </p:sp>
      <p:sp>
        <p:nvSpPr>
          <p:cNvPr id="24" name="Rounded Rectangle 23"/>
          <p:cNvSpPr/>
          <p:nvPr/>
        </p:nvSpPr>
        <p:spPr>
          <a:xfrm>
            <a:off x="822959"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oord.png"/>
          <p:cNvPicPr>
            <a:picLocks noChangeAspect="1"/>
          </p:cNvPicPr>
          <p:nvPr/>
        </p:nvPicPr>
        <p:blipFill>
          <a:blip r:embed="rId3"/>
          <a:stretch>
            <a:fillRect/>
          </a:stretch>
        </p:blipFill>
        <p:spPr>
          <a:xfrm>
            <a:off x="1152144" y="6638544"/>
            <a:ext cx="384048" cy="384048"/>
          </a:xfrm>
          <a:prstGeom prst="rect">
            <a:avLst/>
          </a:prstGeom>
        </p:spPr>
      </p:pic>
      <p:sp>
        <p:nvSpPr>
          <p:cNvPr id="26" name="TextBox 25"/>
          <p:cNvSpPr txBox="1"/>
          <p:nvPr/>
        </p:nvSpPr>
        <p:spPr>
          <a:xfrm>
            <a:off x="1810511"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FRAGMENTED</a:t>
            </a:r>
          </a:p>
        </p:txBody>
      </p:sp>
      <p:sp>
        <p:nvSpPr>
          <p:cNvPr id="27" name="TextBox 26"/>
          <p:cNvSpPr txBox="1"/>
          <p:nvPr/>
        </p:nvSpPr>
        <p:spPr>
          <a:xfrm>
            <a:off x="1165860"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A dozen apps, zero shared context between them.</a:t>
            </a:r>
          </a:p>
        </p:txBody>
      </p:sp>
      <p:sp>
        <p:nvSpPr>
          <p:cNvPr id="28" name="Rounded Rectangle 27"/>
          <p:cNvSpPr/>
          <p:nvPr/>
        </p:nvSpPr>
        <p:spPr>
          <a:xfrm>
            <a:off x="6478524" y="6309359"/>
            <a:ext cx="5353812" cy="17145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money.png"/>
          <p:cNvPicPr>
            <a:picLocks noChangeAspect="1"/>
          </p:cNvPicPr>
          <p:nvPr/>
        </p:nvPicPr>
        <p:blipFill>
          <a:blip r:embed="rId4"/>
          <a:stretch>
            <a:fillRect/>
          </a:stretch>
        </p:blipFill>
        <p:spPr>
          <a:xfrm>
            <a:off x="6807708" y="6638544"/>
            <a:ext cx="384048" cy="384048"/>
          </a:xfrm>
          <a:prstGeom prst="rect">
            <a:avLst/>
          </a:prstGeom>
        </p:spPr>
      </p:pic>
      <p:sp>
        <p:nvSpPr>
          <p:cNvPr id="30" name="TextBox 29"/>
          <p:cNvSpPr txBox="1"/>
          <p:nvPr/>
        </p:nvSpPr>
        <p:spPr>
          <a:xfrm>
            <a:off x="7466075"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EXTRACTIVE</a:t>
            </a:r>
          </a:p>
        </p:txBody>
      </p:sp>
      <p:sp>
        <p:nvSpPr>
          <p:cNvPr id="31" name="TextBox 30"/>
          <p:cNvSpPr txBox="1"/>
          <p:nvPr/>
        </p:nvSpPr>
        <p:spPr>
          <a:xfrm>
            <a:off x="6821424"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Fees, data and attention leave and never come back.</a:t>
            </a:r>
          </a:p>
        </p:txBody>
      </p:sp>
      <p:sp>
        <p:nvSpPr>
          <p:cNvPr id="32" name="Rounded Rectangle 31"/>
          <p:cNvSpPr/>
          <p:nvPr/>
        </p:nvSpPr>
        <p:spPr>
          <a:xfrm>
            <a:off x="12134088" y="6309359"/>
            <a:ext cx="5353812" cy="17145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role.png"/>
          <p:cNvPicPr>
            <a:picLocks noChangeAspect="1"/>
          </p:cNvPicPr>
          <p:nvPr/>
        </p:nvPicPr>
        <p:blipFill>
          <a:blip r:embed="rId5"/>
          <a:stretch>
            <a:fillRect/>
          </a:stretch>
        </p:blipFill>
        <p:spPr>
          <a:xfrm>
            <a:off x="12463272" y="6638544"/>
            <a:ext cx="384048" cy="384048"/>
          </a:xfrm>
          <a:prstGeom prst="rect">
            <a:avLst/>
          </a:prstGeom>
        </p:spPr>
      </p:pic>
      <p:sp>
        <p:nvSpPr>
          <p:cNvPr id="34" name="TextBox 33"/>
          <p:cNvSpPr txBox="1"/>
          <p:nvPr/>
        </p:nvSpPr>
        <p:spPr>
          <a:xfrm>
            <a:off x="13121640" y="6611111"/>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UNOWNED</a:t>
            </a:r>
          </a:p>
        </p:txBody>
      </p:sp>
      <p:sp>
        <p:nvSpPr>
          <p:cNvPr id="35" name="TextBox 34"/>
          <p:cNvSpPr txBox="1"/>
          <p:nvPr/>
        </p:nvSpPr>
        <p:spPr>
          <a:xfrm>
            <a:off x="12476988" y="7242047"/>
            <a:ext cx="4668012" cy="5486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We use the systems but have no say in how they evolve.</a:t>
            </a:r>
          </a:p>
        </p:txBody>
      </p:sp>
      <p:sp>
        <p:nvSpPr>
          <p:cNvPr id="36" name="Rounded Rectangle 35"/>
          <p:cNvSpPr/>
          <p:nvPr/>
        </p:nvSpPr>
        <p:spPr>
          <a:xfrm>
            <a:off x="822959" y="8298179"/>
            <a:ext cx="8092440" cy="987552"/>
          </a:xfrm>
          <a:prstGeom prst="roundRect">
            <a:avLst>
              <a:gd name="adj" fmla="val 6000"/>
            </a:avLst>
          </a:prstGeom>
          <a:solidFill>
            <a:srgbClr val="084B4D"/>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34440" y="8449056"/>
            <a:ext cx="7406640" cy="685800"/>
          </a:xfrm>
          <a:prstGeom prst="rect">
            <a:avLst/>
          </a:prstGeom>
          <a:noFill/>
        </p:spPr>
        <p:txBody>
          <a:bodyPr wrap="square" lIns="0" rIns="0" tIns="0" bIns="0">
            <a:spAutoFit/>
          </a:bodyPr>
          <a:lstStyle/>
          <a:p>
            <a:pPr algn="l">
              <a:lnSpc>
                <a:spcPct val="130000"/>
              </a:lnSpc>
            </a:pPr>
            <a:r>
              <a:rPr sz="2550">
                <a:solidFill>
                  <a:srgbClr val="EBCF9E"/>
                </a:solidFill>
                <a:latin typeface="TT Commons Pro Bold"/>
              </a:rPr>
              <a:t>$328.20+ / month</a:t>
            </a:r>
          </a:p>
          <a:p>
            <a:pPr algn="l">
              <a:lnSpc>
                <a:spcPct val="130000"/>
              </a:lnSpc>
            </a:pPr>
            <a:r>
              <a:rPr sz="1500">
                <a:solidFill>
                  <a:srgbClr val="F2ECDD"/>
                </a:solidFill>
                <a:latin typeface="TT Commons Pro"/>
              </a:rPr>
              <a:t>what one small organization pays the familiar stack</a:t>
            </a:r>
          </a:p>
        </p:txBody>
      </p:sp>
      <p:sp>
        <p:nvSpPr>
          <p:cNvPr id="38" name="TextBox 37"/>
          <p:cNvSpPr txBox="1"/>
          <p:nvPr/>
        </p:nvSpPr>
        <p:spPr>
          <a:xfrm>
            <a:off x="9395459" y="8298179"/>
            <a:ext cx="8092440" cy="1028700"/>
          </a:xfrm>
          <a:prstGeom prst="rect">
            <a:avLst/>
          </a:prstGeom>
          <a:noFill/>
        </p:spPr>
        <p:txBody>
          <a:bodyPr wrap="square" lIns="0" rIns="0" tIns="0" bIns="0">
            <a:spAutoFit/>
          </a:bodyPr>
          <a:lstStyle/>
          <a:p>
            <a:pPr algn="l">
              <a:lnSpc>
                <a:spcPct val="140000"/>
              </a:lnSpc>
            </a:pPr>
            <a:r>
              <a:rPr sz="1725">
                <a:solidFill>
                  <a:srgbClr val="F2ECDD"/>
                </a:solidFill>
                <a:latin typeface="TT Commons Pro"/>
              </a:rPr>
              <a:t>A platform optimized to keep you scrolling behaves</a:t>
            </a:r>
          </a:p>
          <a:p>
            <a:pPr algn="l">
              <a:lnSpc>
                <a:spcPct val="140000"/>
              </a:lnSpc>
            </a:pPr>
            <a:r>
              <a:rPr sz="1725">
                <a:solidFill>
                  <a:srgbClr val="F2ECDD"/>
                </a:solidFill>
                <a:latin typeface="TT Commons Pro"/>
              </a:rPr>
              <a:t>differently from one built to help you find what you</a:t>
            </a:r>
          </a:p>
          <a:p>
            <a:pPr algn="l">
              <a:lnSpc>
                <a:spcPct val="140000"/>
              </a:lnSpc>
            </a:pPr>
            <a:r>
              <a:rPr sz="1725">
                <a:solidFill>
                  <a:srgbClr val="9FE8DC"/>
                </a:solidFill>
                <a:latin typeface="TT Commons Pro Bold"/>
              </a:rPr>
              <a:t>need — and get on with your life.</a:t>
            </a:r>
          </a:p>
        </p:txBody>
      </p:sp>
      <p:pic>
        <p:nvPicPr>
          <p:cNvPr id="39" name="Picture 38"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8641080"/>
            <a:ext cx="16596359" cy="548640"/>
          </a:xfrm>
          <a:prstGeom prst="rect">
            <a:avLst/>
          </a:prstGeom>
          <a:noFill/>
        </p:spPr>
        <p:txBody>
          <a:bodyPr wrap="square" lIns="0" rIns="0" tIns="0" bIns="0">
            <a:spAutoFit/>
          </a:bodyPr>
          <a:lstStyle/>
          <a:p>
            <a:pPr algn="ctr">
              <a:lnSpc>
                <a:spcPct val="115000"/>
              </a:lnSpc>
            </a:pPr>
            <a:r>
              <a:rPr sz="2100" spc="20">
                <a:solidFill>
                  <a:srgbClr val="9FE8DC"/>
                </a:solidFill>
                <a:latin typeface="Alike Italics"/>
              </a:rPr>
              <a:t>Needs find resources. Skills find opportunities. Projects find the people who can make them happen.</a:t>
            </a:r>
          </a:p>
        </p:txBody>
      </p:sp>
      <p:pic>
        <p:nvPicPr>
          <p:cNvPr id="33" name="Picture 3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4" name="TextBox 3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5" name="TextBox 3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OUR ASPIRATION · THE OPPORTUNITY</a:t>
            </a:r>
          </a:p>
        </p:txBody>
      </p:sp>
      <p:sp>
        <p:nvSpPr>
          <p:cNvPr id="4" name="TextBox 3"/>
          <p:cNvSpPr txBox="1"/>
          <p:nvPr/>
        </p:nvSpPr>
        <p:spPr>
          <a:xfrm>
            <a:off x="822959" y="1577339"/>
            <a:ext cx="11615261"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The essence of our humanity lives </a:t>
            </a:r>
          </a:p>
        </p:txBody>
      </p:sp>
      <p:sp>
        <p:nvSpPr>
          <p:cNvPr id="5" name="TextBox 4"/>
          <p:cNvSpPr txBox="1"/>
          <p:nvPr/>
        </p:nvSpPr>
        <p:spPr>
          <a:xfrm>
            <a:off x="822959" y="2446191"/>
            <a:ext cx="10008155" cy="857678"/>
          </a:xfrm>
          <a:prstGeom prst="rect">
            <a:avLst/>
          </a:prstGeom>
          <a:noFill/>
        </p:spPr>
        <p:txBody>
          <a:bodyPr wrap="none" lIns="0" rIns="0" tIns="0" bIns="0">
            <a:spAutoFit/>
          </a:bodyPr>
          <a:lstStyle/>
          <a:p>
            <a:pPr algn="l">
              <a:lnSpc>
                <a:spcPct val="115000"/>
              </a:lnSpc>
            </a:pPr>
            <a:r>
              <a:rPr sz="4657" spc="-63">
                <a:solidFill>
                  <a:srgbClr val="F4EAD8"/>
                </a:solidFill>
                <a:latin typeface="TT Commons Pro Bold"/>
              </a:rPr>
              <a:t>not in our competition, but in </a:t>
            </a:r>
          </a:p>
        </p:txBody>
      </p:sp>
      <p:sp>
        <p:nvSpPr>
          <p:cNvPr id="6" name="TextBox 5"/>
          <p:cNvSpPr txBox="1"/>
          <p:nvPr/>
        </p:nvSpPr>
        <p:spPr>
          <a:xfrm>
            <a:off x="8664892" y="2393613"/>
            <a:ext cx="4771786" cy="952976"/>
          </a:xfrm>
          <a:prstGeom prst="rect">
            <a:avLst/>
          </a:prstGeom>
          <a:noFill/>
        </p:spPr>
        <p:txBody>
          <a:bodyPr wrap="none" lIns="0" rIns="0" tIns="0" bIns="0">
            <a:spAutoFit/>
          </a:bodyPr>
          <a:lstStyle/>
          <a:p>
            <a:pPr algn="l">
              <a:lnSpc>
                <a:spcPct val="115000"/>
              </a:lnSpc>
            </a:pPr>
            <a:r>
              <a:rPr sz="5175" spc="-75">
                <a:solidFill>
                  <a:srgbClr val="EBCF9E"/>
                </a:solidFill>
                <a:latin typeface="Ibarra Real Nova Italics"/>
              </a:rPr>
              <a:t>collaboration.</a:t>
            </a:r>
          </a:p>
        </p:txBody>
      </p:sp>
      <p:sp>
        <p:nvSpPr>
          <p:cNvPr id="7" name="TextBox 6"/>
          <p:cNvSpPr txBox="1"/>
          <p:nvPr/>
        </p:nvSpPr>
        <p:spPr>
          <a:xfrm>
            <a:off x="1097280" y="4800600"/>
            <a:ext cx="8229600" cy="384048"/>
          </a:xfrm>
          <a:prstGeom prst="rect">
            <a:avLst/>
          </a:prstGeom>
          <a:noFill/>
        </p:spPr>
        <p:txBody>
          <a:bodyPr wrap="none" lIns="0" rIns="0" tIns="0" bIns="0">
            <a:spAutoFit/>
          </a:bodyPr>
          <a:lstStyle/>
          <a:p>
            <a:pPr algn="l">
              <a:lnSpc>
                <a:spcPct val="115000"/>
              </a:lnSpc>
            </a:pPr>
            <a:r>
              <a:rPr sz="1350" spc="330">
                <a:solidFill>
                  <a:srgbClr val="AFC4C2"/>
                </a:solidFill>
                <a:latin typeface="TT Commons Pro"/>
              </a:rPr>
              <a:t>TODAY — LATENT, UNCONNECTED</a:t>
            </a:r>
          </a:p>
        </p:txBody>
      </p:sp>
      <p:sp>
        <p:nvSpPr>
          <p:cNvPr id="8" name="Oval 7"/>
          <p:cNvSpPr/>
          <p:nvPr/>
        </p:nvSpPr>
        <p:spPr>
          <a:xfrm>
            <a:off x="1851660" y="569214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360420" y="528066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869180" y="610361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00300" y="692657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83380" y="7338059"/>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2140" y="6515100"/>
            <a:ext cx="411479" cy="411479"/>
          </a:xfrm>
          <a:prstGeom prst="ellipse">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269479" y="6515100"/>
            <a:ext cx="960119" cy="274320"/>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WITH RIVR — VISIBLE, COORDINATED</a:t>
            </a:r>
          </a:p>
        </p:txBody>
      </p:sp>
      <p:cxnSp>
        <p:nvCxnSpPr>
          <p:cNvPr id="16" name="Connector 15"/>
          <p:cNvCxnSpPr/>
          <p:nvPr/>
        </p:nvCxnSpPr>
        <p:spPr>
          <a:xfrm>
            <a:off x="11795759" y="4937759"/>
            <a:ext cx="1212335"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008094" y="5439925"/>
            <a:ext cx="502165"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008094" y="6652259"/>
            <a:ext cx="502165"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795759" y="7864594"/>
            <a:ext cx="1212335"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583425" y="7864594"/>
            <a:ext cx="1212334" cy="50216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081259" y="6652259"/>
            <a:ext cx="502166" cy="1212335"/>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081259" y="5439925"/>
            <a:ext cx="502166" cy="1212334"/>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583425" y="4937759"/>
            <a:ext cx="1212334" cy="502166"/>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590019" y="4732020"/>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802354"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04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802354"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590019" y="81610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77685" y="7658854"/>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19" y="6446519"/>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377685" y="5234185"/>
            <a:ext cx="411479" cy="411479"/>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8641080"/>
            <a:ext cx="16596359" cy="548640"/>
          </a:xfrm>
          <a:prstGeom prst="rect">
            <a:avLst/>
          </a:prstGeom>
          <a:noFill/>
        </p:spPr>
        <p:txBody>
          <a:bodyPr wrap="square" lIns="0" rIns="0" tIns="0" bIns="0">
            <a:spAutoFit/>
          </a:bodyPr>
          <a:lstStyle/>
          <a:p>
            <a:pPr algn="ctr">
              <a:lnSpc>
                <a:spcPct val="115000"/>
              </a:lnSpc>
            </a:pPr>
            <a:r>
              <a:rPr sz="2100" spc="20">
                <a:solidFill>
                  <a:srgbClr val="9FE8DC"/>
                </a:solidFill>
                <a:latin typeface="Alike Italics"/>
              </a:rPr>
              <a:t>Needs find resources. Skills find opportunities. Projects find the people who can make them happen.</a:t>
            </a:r>
          </a:p>
        </p:txBody>
      </p:sp>
      <p:sp>
        <p:nvSpPr>
          <p:cNvPr id="33" name="TextBox 32"/>
          <p:cNvSpPr txBox="1"/>
          <p:nvPr/>
        </p:nvSpPr>
        <p:spPr>
          <a:xfrm>
            <a:off x="822959" y="9299448"/>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AND PEOPLE ARE ALREADY SEARCHING FOR IT</a:t>
            </a:r>
          </a:p>
        </p:txBody>
      </p:sp>
      <p:sp>
        <p:nvSpPr>
          <p:cNvPr id="34" name="Rounded Rectangle 33"/>
          <p:cNvSpPr/>
          <p:nvPr/>
        </p:nvSpPr>
        <p:spPr>
          <a:xfrm>
            <a:off x="822959" y="9683496"/>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59" y="9752076"/>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trustable connection</a:t>
            </a:r>
          </a:p>
        </p:txBody>
      </p:sp>
      <p:sp>
        <p:nvSpPr>
          <p:cNvPr id="36" name="Rounded Rectangle 35"/>
          <p:cNvSpPr/>
          <p:nvPr/>
        </p:nvSpPr>
        <p:spPr>
          <a:xfrm>
            <a:off x="4183380" y="9683496"/>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83380" y="9752076"/>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local resilience</a:t>
            </a:r>
          </a:p>
        </p:txBody>
      </p:sp>
      <p:sp>
        <p:nvSpPr>
          <p:cNvPr id="38" name="Rounded Rectangle 37"/>
          <p:cNvSpPr/>
          <p:nvPr/>
        </p:nvSpPr>
        <p:spPr>
          <a:xfrm>
            <a:off x="7543800" y="9683496"/>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43800" y="9752076"/>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collaborative community</a:t>
            </a:r>
          </a:p>
        </p:txBody>
      </p:sp>
      <p:sp>
        <p:nvSpPr>
          <p:cNvPr id="40" name="Rounded Rectangle 39"/>
          <p:cNvSpPr/>
          <p:nvPr/>
        </p:nvSpPr>
        <p:spPr>
          <a:xfrm>
            <a:off x="10904220" y="9683496"/>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04220" y="9752076"/>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meaningful work</a:t>
            </a:r>
          </a:p>
        </p:txBody>
      </p:sp>
      <p:sp>
        <p:nvSpPr>
          <p:cNvPr id="42" name="Rounded Rectangle 41"/>
          <p:cNvSpPr/>
          <p:nvPr/>
        </p:nvSpPr>
        <p:spPr>
          <a:xfrm>
            <a:off x="14264640" y="9683496"/>
            <a:ext cx="3154679" cy="466344"/>
          </a:xfrm>
          <a:prstGeom prst="roundRect">
            <a:avLst>
              <a:gd name="adj" fmla="val 30000"/>
            </a:avLst>
          </a:prstGeom>
          <a:solidFill>
            <a:srgbClr val="0D3E40"/>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264640" y="9752076"/>
            <a:ext cx="3154679"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an alternative to the feed</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profiles</a:t>
            </a:r>
          </a:p>
        </p:txBody>
      </p:sp>
      <p:sp>
        <p:nvSpPr>
          <p:cNvPr id="9" name="Rounded Rectangle 8"/>
          <p:cNvSpPr/>
          <p:nvPr/>
        </p:nvSpPr>
        <p:spPr>
          <a:xfrm>
            <a:off x="3607308"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posts</a:t>
            </a:r>
          </a:p>
        </p:txBody>
      </p:sp>
      <p:sp>
        <p:nvSpPr>
          <p:cNvPr id="11" name="Rounded Rectangle 10"/>
          <p:cNvSpPr/>
          <p:nvPr/>
        </p:nvSpPr>
        <p:spPr>
          <a:xfrm>
            <a:off x="6391655"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feeds</a:t>
            </a:r>
          </a:p>
        </p:txBody>
      </p:sp>
      <p:sp>
        <p:nvSpPr>
          <p:cNvPr id="13" name="Rounded Rectangle 12"/>
          <p:cNvSpPr/>
          <p:nvPr/>
        </p:nvSpPr>
        <p:spPr>
          <a:xfrm>
            <a:off x="9176004"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events</a:t>
            </a:r>
          </a:p>
        </p:txBody>
      </p:sp>
      <p:sp>
        <p:nvSpPr>
          <p:cNvPr id="15" name="Rounded Rectangle 14"/>
          <p:cNvSpPr/>
          <p:nvPr/>
        </p:nvSpPr>
        <p:spPr>
          <a:xfrm>
            <a:off x="11960351"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groups</a:t>
            </a:r>
          </a:p>
        </p:txBody>
      </p:sp>
      <p:sp>
        <p:nvSpPr>
          <p:cNvPr id="17" name="Rounded Rectangle 16"/>
          <p:cNvSpPr/>
          <p:nvPr/>
        </p:nvSpPr>
        <p:spPr>
          <a:xfrm>
            <a:off x="1474469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messages</a:t>
            </a:r>
          </a:p>
        </p:txBody>
      </p:sp>
      <p:pic>
        <p:nvPicPr>
          <p:cNvPr id="19" name="Picture 1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profiles</a:t>
            </a:r>
          </a:p>
        </p:txBody>
      </p:sp>
      <p:sp>
        <p:nvSpPr>
          <p:cNvPr id="9" name="Rounded Rectangle 8"/>
          <p:cNvSpPr/>
          <p:nvPr/>
        </p:nvSpPr>
        <p:spPr>
          <a:xfrm>
            <a:off x="3607308"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posts</a:t>
            </a:r>
          </a:p>
        </p:txBody>
      </p:sp>
      <p:sp>
        <p:nvSpPr>
          <p:cNvPr id="11" name="Rounded Rectangle 10"/>
          <p:cNvSpPr/>
          <p:nvPr/>
        </p:nvSpPr>
        <p:spPr>
          <a:xfrm>
            <a:off x="6391655"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feeds</a:t>
            </a:r>
          </a:p>
        </p:txBody>
      </p:sp>
      <p:sp>
        <p:nvSpPr>
          <p:cNvPr id="13" name="Rounded Rectangle 12"/>
          <p:cNvSpPr/>
          <p:nvPr/>
        </p:nvSpPr>
        <p:spPr>
          <a:xfrm>
            <a:off x="9176004"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events</a:t>
            </a:r>
          </a:p>
        </p:txBody>
      </p:sp>
      <p:sp>
        <p:nvSpPr>
          <p:cNvPr id="15" name="Rounded Rectangle 14"/>
          <p:cNvSpPr/>
          <p:nvPr/>
        </p:nvSpPr>
        <p:spPr>
          <a:xfrm>
            <a:off x="11960351"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groups</a:t>
            </a:r>
          </a:p>
        </p:txBody>
      </p:sp>
      <p:sp>
        <p:nvSpPr>
          <p:cNvPr id="17" name="Rounded Rectangle 16"/>
          <p:cNvSpPr/>
          <p:nvPr/>
        </p:nvSpPr>
        <p:spPr>
          <a:xfrm>
            <a:off x="1474469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messages</a:t>
            </a:r>
          </a:p>
        </p:txBody>
      </p:sp>
      <p:sp>
        <p:nvSpPr>
          <p:cNvPr id="19" name="TextBox 18"/>
          <p:cNvSpPr txBox="1"/>
          <p:nvPr/>
        </p:nvSpPr>
        <p:spPr>
          <a:xfrm>
            <a:off x="822959" y="49651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SIX THINGS IT ACTUALLY MODELS</a:t>
            </a:r>
          </a:p>
        </p:txBody>
      </p:sp>
      <p:sp>
        <p:nvSpPr>
          <p:cNvPr id="20" name="Rounded Rectangle 19"/>
          <p:cNvSpPr/>
          <p:nvPr/>
        </p:nvSpPr>
        <p:spPr>
          <a:xfrm>
            <a:off x="822959"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rson.png"/>
          <p:cNvPicPr>
            <a:picLocks noChangeAspect="1"/>
          </p:cNvPicPr>
          <p:nvPr/>
        </p:nvPicPr>
        <p:blipFill>
          <a:blip r:embed="rId3"/>
          <a:stretch>
            <a:fillRect/>
          </a:stretch>
        </p:blipFill>
        <p:spPr>
          <a:xfrm>
            <a:off x="1891665" y="5692140"/>
            <a:ext cx="411479" cy="411479"/>
          </a:xfrm>
          <a:prstGeom prst="rect">
            <a:avLst/>
          </a:prstGeom>
        </p:spPr>
      </p:pic>
      <p:sp>
        <p:nvSpPr>
          <p:cNvPr id="22" name="TextBox 21"/>
          <p:cNvSpPr txBox="1"/>
          <p:nvPr/>
        </p:nvSpPr>
        <p:spPr>
          <a:xfrm>
            <a:off x="822959"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PEOPLE</a:t>
            </a:r>
          </a:p>
        </p:txBody>
      </p:sp>
      <p:sp>
        <p:nvSpPr>
          <p:cNvPr id="23" name="TextBox 22"/>
          <p:cNvSpPr txBox="1"/>
          <p:nvPr/>
        </p:nvSpPr>
        <p:spPr>
          <a:xfrm>
            <a:off x="822959"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skills + needs</a:t>
            </a:r>
          </a:p>
        </p:txBody>
      </p:sp>
      <p:sp>
        <p:nvSpPr>
          <p:cNvPr id="24" name="Rounded Rectangle 23"/>
          <p:cNvSpPr/>
          <p:nvPr/>
        </p:nvSpPr>
        <p:spPr>
          <a:xfrm>
            <a:off x="364617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roup.png"/>
          <p:cNvPicPr>
            <a:picLocks noChangeAspect="1"/>
          </p:cNvPicPr>
          <p:nvPr/>
        </p:nvPicPr>
        <p:blipFill>
          <a:blip r:embed="rId4"/>
          <a:stretch>
            <a:fillRect/>
          </a:stretch>
        </p:blipFill>
        <p:spPr>
          <a:xfrm>
            <a:off x="4714875" y="5692140"/>
            <a:ext cx="411479" cy="411479"/>
          </a:xfrm>
          <a:prstGeom prst="rect">
            <a:avLst/>
          </a:prstGeom>
        </p:spPr>
      </p:pic>
      <p:sp>
        <p:nvSpPr>
          <p:cNvPr id="26" name="TextBox 25"/>
          <p:cNvSpPr txBox="1"/>
          <p:nvPr/>
        </p:nvSpPr>
        <p:spPr>
          <a:xfrm>
            <a:off x="364617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GROUPS</a:t>
            </a:r>
          </a:p>
        </p:txBody>
      </p:sp>
      <p:sp>
        <p:nvSpPr>
          <p:cNvPr id="27" name="TextBox 26"/>
          <p:cNvSpPr txBox="1"/>
          <p:nvPr/>
        </p:nvSpPr>
        <p:spPr>
          <a:xfrm>
            <a:off x="364617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belonging</a:t>
            </a:r>
          </a:p>
        </p:txBody>
      </p:sp>
      <p:sp>
        <p:nvSpPr>
          <p:cNvPr id="28" name="Rounded Rectangle 27"/>
          <p:cNvSpPr/>
          <p:nvPr/>
        </p:nvSpPr>
        <p:spPr>
          <a:xfrm>
            <a:off x="6469380"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vent.png"/>
          <p:cNvPicPr>
            <a:picLocks noChangeAspect="1"/>
          </p:cNvPicPr>
          <p:nvPr/>
        </p:nvPicPr>
        <p:blipFill>
          <a:blip r:embed="rId5"/>
          <a:stretch>
            <a:fillRect/>
          </a:stretch>
        </p:blipFill>
        <p:spPr>
          <a:xfrm>
            <a:off x="7538085" y="5692140"/>
            <a:ext cx="411479" cy="411479"/>
          </a:xfrm>
          <a:prstGeom prst="rect">
            <a:avLst/>
          </a:prstGeom>
        </p:spPr>
      </p:pic>
      <p:sp>
        <p:nvSpPr>
          <p:cNvPr id="30" name="TextBox 29"/>
          <p:cNvSpPr txBox="1"/>
          <p:nvPr/>
        </p:nvSpPr>
        <p:spPr>
          <a:xfrm>
            <a:off x="646938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EVENTS</a:t>
            </a:r>
          </a:p>
        </p:txBody>
      </p:sp>
      <p:sp>
        <p:nvSpPr>
          <p:cNvPr id="31" name="TextBox 30"/>
          <p:cNvSpPr txBox="1"/>
          <p:nvPr/>
        </p:nvSpPr>
        <p:spPr>
          <a:xfrm>
            <a:off x="646938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gather + continue</a:t>
            </a:r>
          </a:p>
        </p:txBody>
      </p:sp>
      <p:sp>
        <p:nvSpPr>
          <p:cNvPr id="32" name="Rounded Rectangle 31"/>
          <p:cNvSpPr/>
          <p:nvPr/>
        </p:nvSpPr>
        <p:spPr>
          <a:xfrm>
            <a:off x="929259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oject.png"/>
          <p:cNvPicPr>
            <a:picLocks noChangeAspect="1"/>
          </p:cNvPicPr>
          <p:nvPr/>
        </p:nvPicPr>
        <p:blipFill>
          <a:blip r:embed="rId6"/>
          <a:stretch>
            <a:fillRect/>
          </a:stretch>
        </p:blipFill>
        <p:spPr>
          <a:xfrm>
            <a:off x="10361295" y="5692140"/>
            <a:ext cx="411479" cy="411479"/>
          </a:xfrm>
          <a:prstGeom prst="rect">
            <a:avLst/>
          </a:prstGeom>
        </p:spPr>
      </p:pic>
      <p:sp>
        <p:nvSpPr>
          <p:cNvPr id="34" name="TextBox 33"/>
          <p:cNvSpPr txBox="1"/>
          <p:nvPr/>
        </p:nvSpPr>
        <p:spPr>
          <a:xfrm>
            <a:off x="929259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PROJECTS</a:t>
            </a:r>
          </a:p>
        </p:txBody>
      </p:sp>
      <p:sp>
        <p:nvSpPr>
          <p:cNvPr id="35" name="TextBox 34"/>
          <p:cNvSpPr txBox="1"/>
          <p:nvPr/>
        </p:nvSpPr>
        <p:spPr>
          <a:xfrm>
            <a:off x="929259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roles + outcomes</a:t>
            </a:r>
          </a:p>
        </p:txBody>
      </p:sp>
      <p:sp>
        <p:nvSpPr>
          <p:cNvPr id="36" name="Rounded Rectangle 35"/>
          <p:cNvSpPr/>
          <p:nvPr/>
        </p:nvSpPr>
        <p:spPr>
          <a:xfrm>
            <a:off x="12115800"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oney.png"/>
          <p:cNvPicPr>
            <a:picLocks noChangeAspect="1"/>
          </p:cNvPicPr>
          <p:nvPr/>
        </p:nvPicPr>
        <p:blipFill>
          <a:blip r:embed="rId7"/>
          <a:stretch>
            <a:fillRect/>
          </a:stretch>
        </p:blipFill>
        <p:spPr>
          <a:xfrm>
            <a:off x="13184505" y="5692140"/>
            <a:ext cx="411479" cy="411479"/>
          </a:xfrm>
          <a:prstGeom prst="rect">
            <a:avLst/>
          </a:prstGeom>
        </p:spPr>
      </p:pic>
      <p:sp>
        <p:nvSpPr>
          <p:cNvPr id="38" name="TextBox 37"/>
          <p:cNvSpPr txBox="1"/>
          <p:nvPr/>
        </p:nvSpPr>
        <p:spPr>
          <a:xfrm>
            <a:off x="1211580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39" name="TextBox 38"/>
          <p:cNvSpPr txBox="1"/>
          <p:nvPr/>
        </p:nvSpPr>
        <p:spPr>
          <a:xfrm>
            <a:off x="1211580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offers + pay</a:t>
            </a:r>
          </a:p>
        </p:txBody>
      </p:sp>
      <p:sp>
        <p:nvSpPr>
          <p:cNvPr id="40" name="Rounded Rectangle 39"/>
          <p:cNvSpPr/>
          <p:nvPr/>
        </p:nvSpPr>
        <p:spPr>
          <a:xfrm>
            <a:off x="1493901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overnance.png"/>
          <p:cNvPicPr>
            <a:picLocks noChangeAspect="1"/>
          </p:cNvPicPr>
          <p:nvPr/>
        </p:nvPicPr>
        <p:blipFill>
          <a:blip r:embed="rId8"/>
          <a:stretch>
            <a:fillRect/>
          </a:stretch>
        </p:blipFill>
        <p:spPr>
          <a:xfrm>
            <a:off x="16007715" y="5692140"/>
            <a:ext cx="411479" cy="411479"/>
          </a:xfrm>
          <a:prstGeom prst="rect">
            <a:avLst/>
          </a:prstGeom>
        </p:spPr>
      </p:pic>
      <p:sp>
        <p:nvSpPr>
          <p:cNvPr id="42" name="TextBox 41"/>
          <p:cNvSpPr txBox="1"/>
          <p:nvPr/>
        </p:nvSpPr>
        <p:spPr>
          <a:xfrm>
            <a:off x="1493901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GOVERNANCE</a:t>
            </a:r>
          </a:p>
        </p:txBody>
      </p:sp>
      <p:sp>
        <p:nvSpPr>
          <p:cNvPr id="43" name="TextBox 42"/>
          <p:cNvSpPr txBox="1"/>
          <p:nvPr/>
        </p:nvSpPr>
        <p:spPr>
          <a:xfrm>
            <a:off x="1493901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voice + stewardship</a:t>
            </a:r>
          </a:p>
        </p:txBody>
      </p:sp>
      <p:pic>
        <p:nvPicPr>
          <p:cNvPr id="44" name="Picture 43"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HAND · ONE CONNECTED ECOSYSTEM</a:t>
            </a:r>
          </a:p>
        </p:txBody>
      </p:sp>
      <p:sp>
        <p:nvSpPr>
          <p:cNvPr id="4" name="TextBox 3"/>
          <p:cNvSpPr txBox="1"/>
          <p:nvPr/>
        </p:nvSpPr>
        <p:spPr>
          <a:xfrm>
            <a:off x="822959" y="1699869"/>
            <a:ext cx="855122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coordination tool. </a:t>
            </a:r>
          </a:p>
        </p:txBody>
      </p:sp>
      <p:sp>
        <p:nvSpPr>
          <p:cNvPr id="5" name="TextBox 4"/>
          <p:cNvSpPr txBox="1"/>
          <p:nvPr/>
        </p:nvSpPr>
        <p:spPr>
          <a:xfrm>
            <a:off x="7499349" y="1645919"/>
            <a:ext cx="7153036"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Not another feed.</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YOU SEE — FAMILIAR</a:t>
            </a:r>
          </a:p>
        </p:txBody>
      </p:sp>
      <p:sp>
        <p:nvSpPr>
          <p:cNvPr id="7" name="Rounded Rectangle 6"/>
          <p:cNvSpPr/>
          <p:nvPr/>
        </p:nvSpPr>
        <p:spPr>
          <a:xfrm>
            <a:off x="82295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profiles</a:t>
            </a:r>
          </a:p>
        </p:txBody>
      </p:sp>
      <p:sp>
        <p:nvSpPr>
          <p:cNvPr id="9" name="Rounded Rectangle 8"/>
          <p:cNvSpPr/>
          <p:nvPr/>
        </p:nvSpPr>
        <p:spPr>
          <a:xfrm>
            <a:off x="3607308"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7308"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posts</a:t>
            </a:r>
          </a:p>
        </p:txBody>
      </p:sp>
      <p:sp>
        <p:nvSpPr>
          <p:cNvPr id="11" name="Rounded Rectangle 10"/>
          <p:cNvSpPr/>
          <p:nvPr/>
        </p:nvSpPr>
        <p:spPr>
          <a:xfrm>
            <a:off x="6391655"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1655"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feeds</a:t>
            </a:r>
          </a:p>
        </p:txBody>
      </p:sp>
      <p:sp>
        <p:nvSpPr>
          <p:cNvPr id="13" name="Rounded Rectangle 12"/>
          <p:cNvSpPr/>
          <p:nvPr/>
        </p:nvSpPr>
        <p:spPr>
          <a:xfrm>
            <a:off x="9176004"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6004"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events</a:t>
            </a:r>
          </a:p>
        </p:txBody>
      </p:sp>
      <p:sp>
        <p:nvSpPr>
          <p:cNvPr id="15" name="Rounded Rectangle 14"/>
          <p:cNvSpPr/>
          <p:nvPr/>
        </p:nvSpPr>
        <p:spPr>
          <a:xfrm>
            <a:off x="11960351"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60351"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groups</a:t>
            </a:r>
          </a:p>
        </p:txBody>
      </p:sp>
      <p:sp>
        <p:nvSpPr>
          <p:cNvPr id="17" name="Rounded Rectangle 16"/>
          <p:cNvSpPr/>
          <p:nvPr/>
        </p:nvSpPr>
        <p:spPr>
          <a:xfrm>
            <a:off x="14744699" y="3909060"/>
            <a:ext cx="2578608" cy="630936"/>
          </a:xfrm>
          <a:prstGeom prst="roundRect">
            <a:avLst>
              <a:gd name="adj" fmla="val 22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744699" y="4059935"/>
            <a:ext cx="2578608" cy="384048"/>
          </a:xfrm>
          <a:prstGeom prst="rect">
            <a:avLst/>
          </a:prstGeom>
          <a:noFill/>
        </p:spPr>
        <p:txBody>
          <a:bodyPr wrap="square" lIns="0" rIns="0" tIns="0" bIns="0">
            <a:spAutoFit/>
          </a:bodyPr>
          <a:lstStyle/>
          <a:p>
            <a:pPr algn="ctr">
              <a:lnSpc>
                <a:spcPct val="115000"/>
              </a:lnSpc>
            </a:pPr>
            <a:r>
              <a:rPr sz="1500">
                <a:solidFill>
                  <a:srgbClr val="F4EAD8"/>
                </a:solidFill>
                <a:latin typeface="TT Commons Pro"/>
              </a:rPr>
              <a:t>messages</a:t>
            </a:r>
          </a:p>
        </p:txBody>
      </p:sp>
      <p:sp>
        <p:nvSpPr>
          <p:cNvPr id="19" name="TextBox 18"/>
          <p:cNvSpPr txBox="1"/>
          <p:nvPr/>
        </p:nvSpPr>
        <p:spPr>
          <a:xfrm>
            <a:off x="822959" y="49651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SIX THINGS IT ACTUALLY MODELS</a:t>
            </a:r>
          </a:p>
        </p:txBody>
      </p:sp>
      <p:sp>
        <p:nvSpPr>
          <p:cNvPr id="20" name="Rounded Rectangle 19"/>
          <p:cNvSpPr/>
          <p:nvPr/>
        </p:nvSpPr>
        <p:spPr>
          <a:xfrm>
            <a:off x="822959"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rson.png"/>
          <p:cNvPicPr>
            <a:picLocks noChangeAspect="1"/>
          </p:cNvPicPr>
          <p:nvPr/>
        </p:nvPicPr>
        <p:blipFill>
          <a:blip r:embed="rId3"/>
          <a:stretch>
            <a:fillRect/>
          </a:stretch>
        </p:blipFill>
        <p:spPr>
          <a:xfrm>
            <a:off x="1891665" y="5692140"/>
            <a:ext cx="411479" cy="411479"/>
          </a:xfrm>
          <a:prstGeom prst="rect">
            <a:avLst/>
          </a:prstGeom>
        </p:spPr>
      </p:pic>
      <p:sp>
        <p:nvSpPr>
          <p:cNvPr id="22" name="TextBox 21"/>
          <p:cNvSpPr txBox="1"/>
          <p:nvPr/>
        </p:nvSpPr>
        <p:spPr>
          <a:xfrm>
            <a:off x="822959"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PEOPLE</a:t>
            </a:r>
          </a:p>
        </p:txBody>
      </p:sp>
      <p:sp>
        <p:nvSpPr>
          <p:cNvPr id="23" name="TextBox 22"/>
          <p:cNvSpPr txBox="1"/>
          <p:nvPr/>
        </p:nvSpPr>
        <p:spPr>
          <a:xfrm>
            <a:off x="822959"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skills + needs</a:t>
            </a:r>
          </a:p>
        </p:txBody>
      </p:sp>
      <p:sp>
        <p:nvSpPr>
          <p:cNvPr id="24" name="Rounded Rectangle 23"/>
          <p:cNvSpPr/>
          <p:nvPr/>
        </p:nvSpPr>
        <p:spPr>
          <a:xfrm>
            <a:off x="364617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roup.png"/>
          <p:cNvPicPr>
            <a:picLocks noChangeAspect="1"/>
          </p:cNvPicPr>
          <p:nvPr/>
        </p:nvPicPr>
        <p:blipFill>
          <a:blip r:embed="rId4"/>
          <a:stretch>
            <a:fillRect/>
          </a:stretch>
        </p:blipFill>
        <p:spPr>
          <a:xfrm>
            <a:off x="4714875" y="5692140"/>
            <a:ext cx="411479" cy="411479"/>
          </a:xfrm>
          <a:prstGeom prst="rect">
            <a:avLst/>
          </a:prstGeom>
        </p:spPr>
      </p:pic>
      <p:sp>
        <p:nvSpPr>
          <p:cNvPr id="26" name="TextBox 25"/>
          <p:cNvSpPr txBox="1"/>
          <p:nvPr/>
        </p:nvSpPr>
        <p:spPr>
          <a:xfrm>
            <a:off x="364617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GROUPS</a:t>
            </a:r>
          </a:p>
        </p:txBody>
      </p:sp>
      <p:sp>
        <p:nvSpPr>
          <p:cNvPr id="27" name="TextBox 26"/>
          <p:cNvSpPr txBox="1"/>
          <p:nvPr/>
        </p:nvSpPr>
        <p:spPr>
          <a:xfrm>
            <a:off x="364617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belonging</a:t>
            </a:r>
          </a:p>
        </p:txBody>
      </p:sp>
      <p:sp>
        <p:nvSpPr>
          <p:cNvPr id="28" name="Rounded Rectangle 27"/>
          <p:cNvSpPr/>
          <p:nvPr/>
        </p:nvSpPr>
        <p:spPr>
          <a:xfrm>
            <a:off x="6469380"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vent.png"/>
          <p:cNvPicPr>
            <a:picLocks noChangeAspect="1"/>
          </p:cNvPicPr>
          <p:nvPr/>
        </p:nvPicPr>
        <p:blipFill>
          <a:blip r:embed="rId5"/>
          <a:stretch>
            <a:fillRect/>
          </a:stretch>
        </p:blipFill>
        <p:spPr>
          <a:xfrm>
            <a:off x="7538085" y="5692140"/>
            <a:ext cx="411479" cy="411479"/>
          </a:xfrm>
          <a:prstGeom prst="rect">
            <a:avLst/>
          </a:prstGeom>
        </p:spPr>
      </p:pic>
      <p:sp>
        <p:nvSpPr>
          <p:cNvPr id="30" name="TextBox 29"/>
          <p:cNvSpPr txBox="1"/>
          <p:nvPr/>
        </p:nvSpPr>
        <p:spPr>
          <a:xfrm>
            <a:off x="646938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EVENTS</a:t>
            </a:r>
          </a:p>
        </p:txBody>
      </p:sp>
      <p:sp>
        <p:nvSpPr>
          <p:cNvPr id="31" name="TextBox 30"/>
          <p:cNvSpPr txBox="1"/>
          <p:nvPr/>
        </p:nvSpPr>
        <p:spPr>
          <a:xfrm>
            <a:off x="646938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gather + continue</a:t>
            </a:r>
          </a:p>
        </p:txBody>
      </p:sp>
      <p:sp>
        <p:nvSpPr>
          <p:cNvPr id="32" name="Rounded Rectangle 31"/>
          <p:cNvSpPr/>
          <p:nvPr/>
        </p:nvSpPr>
        <p:spPr>
          <a:xfrm>
            <a:off x="929259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roject.png"/>
          <p:cNvPicPr>
            <a:picLocks noChangeAspect="1"/>
          </p:cNvPicPr>
          <p:nvPr/>
        </p:nvPicPr>
        <p:blipFill>
          <a:blip r:embed="rId6"/>
          <a:stretch>
            <a:fillRect/>
          </a:stretch>
        </p:blipFill>
        <p:spPr>
          <a:xfrm>
            <a:off x="10361295" y="5692140"/>
            <a:ext cx="411479" cy="411479"/>
          </a:xfrm>
          <a:prstGeom prst="rect">
            <a:avLst/>
          </a:prstGeom>
        </p:spPr>
      </p:pic>
      <p:sp>
        <p:nvSpPr>
          <p:cNvPr id="34" name="TextBox 33"/>
          <p:cNvSpPr txBox="1"/>
          <p:nvPr/>
        </p:nvSpPr>
        <p:spPr>
          <a:xfrm>
            <a:off x="929259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PROJECTS</a:t>
            </a:r>
          </a:p>
        </p:txBody>
      </p:sp>
      <p:sp>
        <p:nvSpPr>
          <p:cNvPr id="35" name="TextBox 34"/>
          <p:cNvSpPr txBox="1"/>
          <p:nvPr/>
        </p:nvSpPr>
        <p:spPr>
          <a:xfrm>
            <a:off x="929259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roles + outcomes</a:t>
            </a:r>
          </a:p>
        </p:txBody>
      </p:sp>
      <p:sp>
        <p:nvSpPr>
          <p:cNvPr id="36" name="Rounded Rectangle 35"/>
          <p:cNvSpPr/>
          <p:nvPr/>
        </p:nvSpPr>
        <p:spPr>
          <a:xfrm>
            <a:off x="12115800" y="5417820"/>
            <a:ext cx="2548890" cy="1577339"/>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money.png"/>
          <p:cNvPicPr>
            <a:picLocks noChangeAspect="1"/>
          </p:cNvPicPr>
          <p:nvPr/>
        </p:nvPicPr>
        <p:blipFill>
          <a:blip r:embed="rId7"/>
          <a:stretch>
            <a:fillRect/>
          </a:stretch>
        </p:blipFill>
        <p:spPr>
          <a:xfrm>
            <a:off x="13184505" y="5692140"/>
            <a:ext cx="411479" cy="411479"/>
          </a:xfrm>
          <a:prstGeom prst="rect">
            <a:avLst/>
          </a:prstGeom>
        </p:spPr>
      </p:pic>
      <p:sp>
        <p:nvSpPr>
          <p:cNvPr id="38" name="TextBox 37"/>
          <p:cNvSpPr txBox="1"/>
          <p:nvPr/>
        </p:nvSpPr>
        <p:spPr>
          <a:xfrm>
            <a:off x="1211580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39" name="TextBox 38"/>
          <p:cNvSpPr txBox="1"/>
          <p:nvPr/>
        </p:nvSpPr>
        <p:spPr>
          <a:xfrm>
            <a:off x="1211580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offers + pay</a:t>
            </a:r>
          </a:p>
        </p:txBody>
      </p:sp>
      <p:sp>
        <p:nvSpPr>
          <p:cNvPr id="40" name="Rounded Rectangle 39"/>
          <p:cNvSpPr/>
          <p:nvPr/>
        </p:nvSpPr>
        <p:spPr>
          <a:xfrm>
            <a:off x="14939010" y="5417820"/>
            <a:ext cx="2548890" cy="1577339"/>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governance.png"/>
          <p:cNvPicPr>
            <a:picLocks noChangeAspect="1"/>
          </p:cNvPicPr>
          <p:nvPr/>
        </p:nvPicPr>
        <p:blipFill>
          <a:blip r:embed="rId8"/>
          <a:stretch>
            <a:fillRect/>
          </a:stretch>
        </p:blipFill>
        <p:spPr>
          <a:xfrm>
            <a:off x="16007715" y="5692140"/>
            <a:ext cx="411479" cy="411479"/>
          </a:xfrm>
          <a:prstGeom prst="rect">
            <a:avLst/>
          </a:prstGeom>
        </p:spPr>
      </p:pic>
      <p:sp>
        <p:nvSpPr>
          <p:cNvPr id="42" name="TextBox 41"/>
          <p:cNvSpPr txBox="1"/>
          <p:nvPr/>
        </p:nvSpPr>
        <p:spPr>
          <a:xfrm>
            <a:off x="14939010" y="6309359"/>
            <a:ext cx="2548890" cy="384048"/>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GOVERNANCE</a:t>
            </a:r>
          </a:p>
        </p:txBody>
      </p:sp>
      <p:sp>
        <p:nvSpPr>
          <p:cNvPr id="43" name="TextBox 42"/>
          <p:cNvSpPr txBox="1"/>
          <p:nvPr/>
        </p:nvSpPr>
        <p:spPr>
          <a:xfrm>
            <a:off x="14939010" y="6652259"/>
            <a:ext cx="2548890" cy="356616"/>
          </a:xfrm>
          <a:prstGeom prst="rect">
            <a:avLst/>
          </a:prstGeom>
          <a:noFill/>
        </p:spPr>
        <p:txBody>
          <a:bodyPr wrap="square" lIns="0" rIns="0" tIns="0" bIns="0">
            <a:spAutoFit/>
          </a:bodyPr>
          <a:lstStyle/>
          <a:p>
            <a:pPr algn="ctr">
              <a:lnSpc>
                <a:spcPct val="115000"/>
              </a:lnSpc>
            </a:pPr>
            <a:r>
              <a:rPr sz="1200" spc="150">
                <a:solidFill>
                  <a:srgbClr val="AFC4C2"/>
                </a:solidFill>
                <a:latin typeface="TT Commons Pro"/>
              </a:rPr>
              <a:t>voice + stewardship</a:t>
            </a:r>
          </a:p>
        </p:txBody>
      </p:sp>
      <p:sp>
        <p:nvSpPr>
          <p:cNvPr id="44" name="Down Arrow 43"/>
          <p:cNvSpPr/>
          <p:nvPr/>
        </p:nvSpPr>
        <p:spPr>
          <a:xfrm>
            <a:off x="8915400" y="7200900"/>
            <a:ext cx="384048" cy="466344"/>
          </a:xfrm>
          <a:prstGeom prst="down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788670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IT RUNS ON — COORDINATION INFRASTRUCTURE</a:t>
            </a:r>
          </a:p>
        </p:txBody>
      </p:sp>
      <p:sp>
        <p:nvSpPr>
          <p:cNvPr id="46" name="Rounded Rectangle 45"/>
          <p:cNvSpPr/>
          <p:nvPr/>
        </p:nvSpPr>
        <p:spPr>
          <a:xfrm>
            <a:off x="822959" y="8339328"/>
            <a:ext cx="16664940" cy="850392"/>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4440" y="8572500"/>
            <a:ext cx="15910559" cy="466344"/>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agreements · roles · tasks · scheduling · shared records · treasury · governance · payments · attestation</a:t>
            </a:r>
          </a:p>
        </p:txBody>
      </p:sp>
      <p:sp>
        <p:nvSpPr>
          <p:cNvPr id="48" name="TextBox 47"/>
          <p:cNvSpPr txBox="1"/>
          <p:nvPr/>
        </p:nvSpPr>
        <p:spPr>
          <a:xfrm>
            <a:off x="822959" y="9436608"/>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The complexity stays underneath. </a:t>
            </a:r>
            <a:r>
              <a:rPr sz="2175" spc="20">
                <a:solidFill>
                  <a:srgbClr val="EBCF9E"/>
                </a:solidFill>
                <a:latin typeface="Alike Italics"/>
              </a:rPr>
              <a:t>The experience stays human.</a:t>
            </a:r>
          </a:p>
        </p:txBody>
      </p:sp>
      <p:pic>
        <p:nvPicPr>
          <p:cNvPr id="49" name="Picture 48"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50" name="TextBox 4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1" name="TextBox 5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pic>
        <p:nvPicPr>
          <p:cNvPr id="22" name="Picture 2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sp>
        <p:nvSpPr>
          <p:cNvPr id="22" name="TextBox 21"/>
          <p:cNvSpPr txBox="1"/>
          <p:nvPr/>
        </p:nvSpPr>
        <p:spPr>
          <a:xfrm>
            <a:off x="822959" y="55549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EVERY FEATURE RUNS BOTH WAYS</a:t>
            </a:r>
          </a:p>
        </p:txBody>
      </p:sp>
      <p:pic>
        <p:nvPicPr>
          <p:cNvPr id="23" name="Picture 22" descr="project.png"/>
          <p:cNvPicPr>
            <a:picLocks noChangeAspect="1"/>
          </p:cNvPicPr>
          <p:nvPr/>
        </p:nvPicPr>
        <p:blipFill>
          <a:blip r:embed="rId3"/>
          <a:stretch>
            <a:fillRect/>
          </a:stretch>
        </p:blipFill>
        <p:spPr>
          <a:xfrm>
            <a:off x="1001268" y="6131052"/>
            <a:ext cx="329184" cy="329184"/>
          </a:xfrm>
          <a:prstGeom prst="rect">
            <a:avLst/>
          </a:prstGeom>
        </p:spPr>
      </p:pic>
      <p:sp>
        <p:nvSpPr>
          <p:cNvPr id="24" name="TextBox 23"/>
          <p:cNvSpPr txBox="1"/>
          <p:nvPr/>
        </p:nvSpPr>
        <p:spPr>
          <a:xfrm>
            <a:off x="1714500" y="6103620"/>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FIND A GIG</a:t>
            </a:r>
          </a:p>
        </p:txBody>
      </p:sp>
      <p:sp>
        <p:nvSpPr>
          <p:cNvPr id="25" name="TextBox 24"/>
          <p:cNvSpPr txBox="1"/>
          <p:nvPr/>
        </p:nvSpPr>
        <p:spPr>
          <a:xfrm>
            <a:off x="6652259" y="6103620"/>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26" name="TextBox 25"/>
          <p:cNvSpPr txBox="1"/>
          <p:nvPr/>
        </p:nvSpPr>
        <p:spPr>
          <a:xfrm>
            <a:off x="7749540" y="6103620"/>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OFFER PAID WORK</a:t>
            </a:r>
          </a:p>
        </p:txBody>
      </p:sp>
      <p:pic>
        <p:nvPicPr>
          <p:cNvPr id="27" name="Picture 26" descr="care.png"/>
          <p:cNvPicPr>
            <a:picLocks noChangeAspect="1"/>
          </p:cNvPicPr>
          <p:nvPr/>
        </p:nvPicPr>
        <p:blipFill>
          <a:blip r:embed="rId4"/>
          <a:stretch>
            <a:fillRect/>
          </a:stretch>
        </p:blipFill>
        <p:spPr>
          <a:xfrm>
            <a:off x="1001268" y="6734556"/>
            <a:ext cx="329184" cy="329184"/>
          </a:xfrm>
          <a:prstGeom prst="rect">
            <a:avLst/>
          </a:prstGeom>
        </p:spPr>
      </p:pic>
      <p:sp>
        <p:nvSpPr>
          <p:cNvPr id="28" name="TextBox 27"/>
          <p:cNvSpPr txBox="1"/>
          <p:nvPr/>
        </p:nvSpPr>
        <p:spPr>
          <a:xfrm>
            <a:off x="1714500" y="6707124"/>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ASK FOR HELP</a:t>
            </a:r>
          </a:p>
        </p:txBody>
      </p:sp>
      <p:sp>
        <p:nvSpPr>
          <p:cNvPr id="29" name="TextBox 28"/>
          <p:cNvSpPr txBox="1"/>
          <p:nvPr/>
        </p:nvSpPr>
        <p:spPr>
          <a:xfrm>
            <a:off x="6652259" y="6707124"/>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0" name="TextBox 29"/>
          <p:cNvSpPr txBox="1"/>
          <p:nvPr/>
        </p:nvSpPr>
        <p:spPr>
          <a:xfrm>
            <a:off x="7749540" y="6707124"/>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GIFT A SKILL</a:t>
            </a:r>
          </a:p>
        </p:txBody>
      </p:sp>
      <p:pic>
        <p:nvPicPr>
          <p:cNvPr id="31" name="Picture 30" descr="tool.png"/>
          <p:cNvPicPr>
            <a:picLocks noChangeAspect="1"/>
          </p:cNvPicPr>
          <p:nvPr/>
        </p:nvPicPr>
        <p:blipFill>
          <a:blip r:embed="rId5"/>
          <a:stretch>
            <a:fillRect/>
          </a:stretch>
        </p:blipFill>
        <p:spPr>
          <a:xfrm>
            <a:off x="1001268" y="7338059"/>
            <a:ext cx="329184" cy="329184"/>
          </a:xfrm>
          <a:prstGeom prst="rect">
            <a:avLst/>
          </a:prstGeom>
        </p:spPr>
      </p:pic>
      <p:sp>
        <p:nvSpPr>
          <p:cNvPr id="32" name="TextBox 31"/>
          <p:cNvSpPr txBox="1"/>
          <p:nvPr/>
        </p:nvSpPr>
        <p:spPr>
          <a:xfrm>
            <a:off x="1714500" y="7310628"/>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BORROW A TOOL</a:t>
            </a:r>
          </a:p>
        </p:txBody>
      </p:sp>
      <p:sp>
        <p:nvSpPr>
          <p:cNvPr id="33" name="TextBox 32"/>
          <p:cNvSpPr txBox="1"/>
          <p:nvPr/>
        </p:nvSpPr>
        <p:spPr>
          <a:xfrm>
            <a:off x="6652259" y="7310628"/>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4" name="TextBox 33"/>
          <p:cNvSpPr txBox="1"/>
          <p:nvPr/>
        </p:nvSpPr>
        <p:spPr>
          <a:xfrm>
            <a:off x="7749540" y="7310628"/>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SHARE A RESOURCE</a:t>
            </a:r>
          </a:p>
        </p:txBody>
      </p:sp>
      <p:pic>
        <p:nvPicPr>
          <p:cNvPr id="35" name="Picture 34" descr="listing.png"/>
          <p:cNvPicPr>
            <a:picLocks noChangeAspect="1"/>
          </p:cNvPicPr>
          <p:nvPr/>
        </p:nvPicPr>
        <p:blipFill>
          <a:blip r:embed="rId6"/>
          <a:stretch>
            <a:fillRect/>
          </a:stretch>
        </p:blipFill>
        <p:spPr>
          <a:xfrm>
            <a:off x="1001268" y="7941564"/>
            <a:ext cx="329184" cy="329184"/>
          </a:xfrm>
          <a:prstGeom prst="rect">
            <a:avLst/>
          </a:prstGeom>
        </p:spPr>
      </p:pic>
      <p:sp>
        <p:nvSpPr>
          <p:cNvPr id="36" name="TextBox 35"/>
          <p:cNvSpPr txBox="1"/>
          <p:nvPr/>
        </p:nvSpPr>
        <p:spPr>
          <a:xfrm>
            <a:off x="1714500" y="7914132"/>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BUY LOCAL</a:t>
            </a:r>
          </a:p>
        </p:txBody>
      </p:sp>
      <p:sp>
        <p:nvSpPr>
          <p:cNvPr id="37" name="TextBox 36"/>
          <p:cNvSpPr txBox="1"/>
          <p:nvPr/>
        </p:nvSpPr>
        <p:spPr>
          <a:xfrm>
            <a:off x="6652259" y="7914132"/>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8" name="TextBox 37"/>
          <p:cNvSpPr txBox="1"/>
          <p:nvPr/>
        </p:nvSpPr>
        <p:spPr>
          <a:xfrm>
            <a:off x="7749540" y="7914132"/>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 PRODUCTS</a:t>
            </a:r>
          </a:p>
        </p:txBody>
      </p:sp>
      <p:pic>
        <p:nvPicPr>
          <p:cNvPr id="39" name="Picture 3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LIFE · NETWORK IS A VERB</a:t>
            </a:r>
          </a:p>
        </p:txBody>
      </p:sp>
      <p:sp>
        <p:nvSpPr>
          <p:cNvPr id="4" name="TextBox 3"/>
          <p:cNvSpPr txBox="1"/>
          <p:nvPr/>
        </p:nvSpPr>
        <p:spPr>
          <a:xfrm>
            <a:off x="822959" y="1699869"/>
            <a:ext cx="612147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A need meets </a:t>
            </a:r>
          </a:p>
        </p:txBody>
      </p:sp>
      <p:sp>
        <p:nvSpPr>
          <p:cNvPr id="5" name="TextBox 4"/>
          <p:cNvSpPr txBox="1"/>
          <p:nvPr/>
        </p:nvSpPr>
        <p:spPr>
          <a:xfrm>
            <a:off x="5555551" y="1645919"/>
            <a:ext cx="3622833"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an offer.</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FINDING ONE ANOTHER IS ONLY THE BEGINNING</a:t>
            </a:r>
          </a:p>
        </p:txBody>
      </p:sp>
      <p:sp>
        <p:nvSpPr>
          <p:cNvPr id="7" name="Rounded Rectangle 6"/>
          <p:cNvSpPr/>
          <p:nvPr/>
        </p:nvSpPr>
        <p:spPr>
          <a:xfrm>
            <a:off x="82295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FIND</a:t>
            </a:r>
          </a:p>
        </p:txBody>
      </p:sp>
      <p:sp>
        <p:nvSpPr>
          <p:cNvPr id="9" name="TextBox 8"/>
          <p:cNvSpPr txBox="1"/>
          <p:nvPr/>
        </p:nvSpPr>
        <p:spPr>
          <a:xfrm>
            <a:off x="96011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the person or resource</a:t>
            </a:r>
          </a:p>
        </p:txBody>
      </p:sp>
      <p:sp>
        <p:nvSpPr>
          <p:cNvPr id="10" name="Right Arrow 9"/>
          <p:cNvSpPr/>
          <p:nvPr/>
        </p:nvSpPr>
        <p:spPr>
          <a:xfrm>
            <a:off x="4653153"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46929"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2337"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TRUST</a:t>
            </a:r>
          </a:p>
        </p:txBody>
      </p:sp>
      <p:sp>
        <p:nvSpPr>
          <p:cNvPr id="13" name="TextBox 12"/>
          <p:cNvSpPr txBox="1"/>
          <p:nvPr/>
        </p:nvSpPr>
        <p:spPr>
          <a:xfrm>
            <a:off x="5284089"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enough context</a:t>
            </a:r>
          </a:p>
        </p:txBody>
      </p:sp>
      <p:sp>
        <p:nvSpPr>
          <p:cNvPr id="14" name="Right Arrow 13"/>
          <p:cNvSpPr/>
          <p:nvPr/>
        </p:nvSpPr>
        <p:spPr>
          <a:xfrm>
            <a:off x="8977122"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089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630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COORDINATE</a:t>
            </a:r>
          </a:p>
        </p:txBody>
      </p:sp>
      <p:sp>
        <p:nvSpPr>
          <p:cNvPr id="17" name="TextBox 16"/>
          <p:cNvSpPr txBox="1"/>
          <p:nvPr/>
        </p:nvSpPr>
        <p:spPr>
          <a:xfrm>
            <a:off x="9608057"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agreements + roles</a:t>
            </a:r>
          </a:p>
        </p:txBody>
      </p:sp>
      <p:sp>
        <p:nvSpPr>
          <p:cNvPr id="18" name="Right Arrow 17"/>
          <p:cNvSpPr/>
          <p:nvPr/>
        </p:nvSpPr>
        <p:spPr>
          <a:xfrm>
            <a:off x="13301091" y="442341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3794867" y="3909060"/>
            <a:ext cx="3693033" cy="123444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30275" y="4101084"/>
            <a:ext cx="4022216" cy="411479"/>
          </a:xfrm>
          <a:prstGeom prst="rect">
            <a:avLst/>
          </a:prstGeom>
          <a:noFill/>
        </p:spPr>
        <p:txBody>
          <a:bodyPr wrap="none" lIns="0" rIns="0" tIns="0" bIns="0">
            <a:spAutoFit/>
          </a:bodyPr>
          <a:lstStyle/>
          <a:p>
            <a:pPr algn="ctr">
              <a:lnSpc>
                <a:spcPct val="115000"/>
              </a:lnSpc>
            </a:pPr>
            <a:r>
              <a:rPr sz="1500" spc="330">
                <a:solidFill>
                  <a:srgbClr val="9FE8DC"/>
                </a:solidFill>
                <a:latin typeface="TT Commons Pro"/>
              </a:rPr>
              <a:t>ACT</a:t>
            </a:r>
          </a:p>
        </p:txBody>
      </p:sp>
      <p:sp>
        <p:nvSpPr>
          <p:cNvPr id="21" name="TextBox 20"/>
          <p:cNvSpPr txBox="1"/>
          <p:nvPr/>
        </p:nvSpPr>
        <p:spPr>
          <a:xfrm>
            <a:off x="13932026" y="4512564"/>
            <a:ext cx="3418712" cy="411479"/>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exchange + verify</a:t>
            </a:r>
          </a:p>
        </p:txBody>
      </p:sp>
      <p:sp>
        <p:nvSpPr>
          <p:cNvPr id="22" name="TextBox 21"/>
          <p:cNvSpPr txBox="1"/>
          <p:nvPr/>
        </p:nvSpPr>
        <p:spPr>
          <a:xfrm>
            <a:off x="822959" y="55549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EVERY FEATURE RUNS BOTH WAYS</a:t>
            </a:r>
          </a:p>
        </p:txBody>
      </p:sp>
      <p:pic>
        <p:nvPicPr>
          <p:cNvPr id="23" name="Picture 22" descr="project.png"/>
          <p:cNvPicPr>
            <a:picLocks noChangeAspect="1"/>
          </p:cNvPicPr>
          <p:nvPr/>
        </p:nvPicPr>
        <p:blipFill>
          <a:blip r:embed="rId3"/>
          <a:stretch>
            <a:fillRect/>
          </a:stretch>
        </p:blipFill>
        <p:spPr>
          <a:xfrm>
            <a:off x="1001268" y="6131052"/>
            <a:ext cx="329184" cy="329184"/>
          </a:xfrm>
          <a:prstGeom prst="rect">
            <a:avLst/>
          </a:prstGeom>
        </p:spPr>
      </p:pic>
      <p:sp>
        <p:nvSpPr>
          <p:cNvPr id="24" name="TextBox 23"/>
          <p:cNvSpPr txBox="1"/>
          <p:nvPr/>
        </p:nvSpPr>
        <p:spPr>
          <a:xfrm>
            <a:off x="1714500" y="6103620"/>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FIND A GIG</a:t>
            </a:r>
          </a:p>
        </p:txBody>
      </p:sp>
      <p:sp>
        <p:nvSpPr>
          <p:cNvPr id="25" name="TextBox 24"/>
          <p:cNvSpPr txBox="1"/>
          <p:nvPr/>
        </p:nvSpPr>
        <p:spPr>
          <a:xfrm>
            <a:off x="6652259" y="6103620"/>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26" name="TextBox 25"/>
          <p:cNvSpPr txBox="1"/>
          <p:nvPr/>
        </p:nvSpPr>
        <p:spPr>
          <a:xfrm>
            <a:off x="7749540" y="6103620"/>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OFFER PAID WORK</a:t>
            </a:r>
          </a:p>
        </p:txBody>
      </p:sp>
      <p:pic>
        <p:nvPicPr>
          <p:cNvPr id="27" name="Picture 26" descr="care.png"/>
          <p:cNvPicPr>
            <a:picLocks noChangeAspect="1"/>
          </p:cNvPicPr>
          <p:nvPr/>
        </p:nvPicPr>
        <p:blipFill>
          <a:blip r:embed="rId4"/>
          <a:stretch>
            <a:fillRect/>
          </a:stretch>
        </p:blipFill>
        <p:spPr>
          <a:xfrm>
            <a:off x="1001268" y="6734556"/>
            <a:ext cx="329184" cy="329184"/>
          </a:xfrm>
          <a:prstGeom prst="rect">
            <a:avLst/>
          </a:prstGeom>
        </p:spPr>
      </p:pic>
      <p:sp>
        <p:nvSpPr>
          <p:cNvPr id="28" name="TextBox 27"/>
          <p:cNvSpPr txBox="1"/>
          <p:nvPr/>
        </p:nvSpPr>
        <p:spPr>
          <a:xfrm>
            <a:off x="1714500" y="6707124"/>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ASK FOR HELP</a:t>
            </a:r>
          </a:p>
        </p:txBody>
      </p:sp>
      <p:sp>
        <p:nvSpPr>
          <p:cNvPr id="29" name="TextBox 28"/>
          <p:cNvSpPr txBox="1"/>
          <p:nvPr/>
        </p:nvSpPr>
        <p:spPr>
          <a:xfrm>
            <a:off x="6652259" y="6707124"/>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0" name="TextBox 29"/>
          <p:cNvSpPr txBox="1"/>
          <p:nvPr/>
        </p:nvSpPr>
        <p:spPr>
          <a:xfrm>
            <a:off x="7749540" y="6707124"/>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GIFT A SKILL</a:t>
            </a:r>
          </a:p>
        </p:txBody>
      </p:sp>
      <p:pic>
        <p:nvPicPr>
          <p:cNvPr id="31" name="Picture 30" descr="tool.png"/>
          <p:cNvPicPr>
            <a:picLocks noChangeAspect="1"/>
          </p:cNvPicPr>
          <p:nvPr/>
        </p:nvPicPr>
        <p:blipFill>
          <a:blip r:embed="rId5"/>
          <a:stretch>
            <a:fillRect/>
          </a:stretch>
        </p:blipFill>
        <p:spPr>
          <a:xfrm>
            <a:off x="1001268" y="7338059"/>
            <a:ext cx="329184" cy="329184"/>
          </a:xfrm>
          <a:prstGeom prst="rect">
            <a:avLst/>
          </a:prstGeom>
        </p:spPr>
      </p:pic>
      <p:sp>
        <p:nvSpPr>
          <p:cNvPr id="32" name="TextBox 31"/>
          <p:cNvSpPr txBox="1"/>
          <p:nvPr/>
        </p:nvSpPr>
        <p:spPr>
          <a:xfrm>
            <a:off x="1714500" y="7310628"/>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BORROW A TOOL</a:t>
            </a:r>
          </a:p>
        </p:txBody>
      </p:sp>
      <p:sp>
        <p:nvSpPr>
          <p:cNvPr id="33" name="TextBox 32"/>
          <p:cNvSpPr txBox="1"/>
          <p:nvPr/>
        </p:nvSpPr>
        <p:spPr>
          <a:xfrm>
            <a:off x="6652259" y="7310628"/>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4" name="TextBox 33"/>
          <p:cNvSpPr txBox="1"/>
          <p:nvPr/>
        </p:nvSpPr>
        <p:spPr>
          <a:xfrm>
            <a:off x="7749540" y="7310628"/>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SHARE A RESOURCE</a:t>
            </a:r>
          </a:p>
        </p:txBody>
      </p:sp>
      <p:pic>
        <p:nvPicPr>
          <p:cNvPr id="35" name="Picture 34" descr="listing.png"/>
          <p:cNvPicPr>
            <a:picLocks noChangeAspect="1"/>
          </p:cNvPicPr>
          <p:nvPr/>
        </p:nvPicPr>
        <p:blipFill>
          <a:blip r:embed="rId6"/>
          <a:stretch>
            <a:fillRect/>
          </a:stretch>
        </p:blipFill>
        <p:spPr>
          <a:xfrm>
            <a:off x="1001268" y="7941564"/>
            <a:ext cx="329184" cy="329184"/>
          </a:xfrm>
          <a:prstGeom prst="rect">
            <a:avLst/>
          </a:prstGeom>
        </p:spPr>
      </p:pic>
      <p:sp>
        <p:nvSpPr>
          <p:cNvPr id="36" name="TextBox 35"/>
          <p:cNvSpPr txBox="1"/>
          <p:nvPr/>
        </p:nvSpPr>
        <p:spPr>
          <a:xfrm>
            <a:off x="1714500" y="7914132"/>
            <a:ext cx="49377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BUY LOCAL</a:t>
            </a:r>
          </a:p>
        </p:txBody>
      </p:sp>
      <p:sp>
        <p:nvSpPr>
          <p:cNvPr id="37" name="TextBox 36"/>
          <p:cNvSpPr txBox="1"/>
          <p:nvPr/>
        </p:nvSpPr>
        <p:spPr>
          <a:xfrm>
            <a:off x="6652259" y="7914132"/>
            <a:ext cx="960119" cy="411479"/>
          </a:xfrm>
          <a:prstGeom prst="rect">
            <a:avLst/>
          </a:prstGeom>
          <a:noFill/>
        </p:spPr>
        <p:txBody>
          <a:bodyPr wrap="none" lIns="0" rIns="0" tIns="0" bIns="0">
            <a:spAutoFit/>
          </a:bodyPr>
          <a:lstStyle/>
          <a:p>
            <a:pPr algn="ctr">
              <a:lnSpc>
                <a:spcPct val="115000"/>
              </a:lnSpc>
            </a:pPr>
            <a:r>
              <a:rPr sz="1650">
                <a:solidFill>
                  <a:srgbClr val="F0CC8B"/>
                </a:solidFill>
                <a:latin typeface="TT Commons Pro"/>
              </a:rPr>
              <a:t>↔</a:t>
            </a:r>
          </a:p>
        </p:txBody>
      </p:sp>
      <p:sp>
        <p:nvSpPr>
          <p:cNvPr id="38" name="TextBox 37"/>
          <p:cNvSpPr txBox="1"/>
          <p:nvPr/>
        </p:nvSpPr>
        <p:spPr>
          <a:xfrm>
            <a:off x="7749540" y="7914132"/>
            <a:ext cx="576072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 PRODUCTS</a:t>
            </a:r>
          </a:p>
        </p:txBody>
      </p:sp>
      <p:sp>
        <p:nvSpPr>
          <p:cNvPr id="39" name="Rounded Rectangle 38"/>
          <p:cNvSpPr/>
          <p:nvPr/>
        </p:nvSpPr>
        <p:spPr>
          <a:xfrm>
            <a:off x="13578840" y="5966459"/>
            <a:ext cx="3909060" cy="253746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921740" y="6240779"/>
            <a:ext cx="3291839" cy="2057400"/>
          </a:xfrm>
          <a:prstGeom prst="rect">
            <a:avLst/>
          </a:prstGeom>
          <a:noFill/>
        </p:spPr>
        <p:txBody>
          <a:bodyPr wrap="square" lIns="0" rIns="0" tIns="0" bIns="0">
            <a:spAutoFit/>
          </a:bodyPr>
          <a:lstStyle/>
          <a:p>
            <a:pPr algn="l">
              <a:lnSpc>
                <a:spcPct val="135000"/>
              </a:lnSpc>
            </a:pPr>
            <a:r>
              <a:rPr sz="1650">
                <a:solidFill>
                  <a:srgbClr val="9FE8DC"/>
                </a:solidFill>
                <a:latin typeface="TT Commons Pro Bold"/>
              </a:rPr>
              <a:t>I need something</a:t>
            </a:r>
          </a:p>
          <a:p>
            <a:pPr algn="l">
              <a:lnSpc>
                <a:spcPct val="135000"/>
              </a:lnSpc>
            </a:pPr>
            <a:r>
              <a:rPr sz="1575">
                <a:solidFill>
                  <a:srgbClr val="F2ECDD"/>
                </a:solidFill>
                <a:latin typeface="TT Commons Pro"/>
              </a:rPr>
              <a:t>→ find it</a:t>
            </a:r>
          </a:p>
          <a:p>
            <a:pPr algn="l">
              <a:lnSpc>
                <a:spcPct val="135000"/>
              </a:lnSpc>
            </a:pPr>
            <a:r>
              <a:rPr sz="1650">
                <a:solidFill>
                  <a:srgbClr val="9FE8DC"/>
                </a:solidFill>
                <a:latin typeface="TT Commons Pro Bold"/>
              </a:rPr>
              <a:t>I have something</a:t>
            </a:r>
          </a:p>
          <a:p>
            <a:pPr algn="l">
              <a:lnSpc>
                <a:spcPct val="135000"/>
              </a:lnSpc>
            </a:pPr>
            <a:r>
              <a:rPr sz="1575">
                <a:solidFill>
                  <a:srgbClr val="F2ECDD"/>
                </a:solidFill>
                <a:latin typeface="TT Commons Pro"/>
              </a:rPr>
              <a:t>→ share it</a:t>
            </a:r>
          </a:p>
          <a:p>
            <a:pPr algn="l">
              <a:lnSpc>
                <a:spcPct val="135000"/>
              </a:lnSpc>
            </a:pPr>
            <a:r>
              <a:rPr sz="1650">
                <a:solidFill>
                  <a:srgbClr val="9FE8DC"/>
                </a:solidFill>
                <a:latin typeface="TT Commons Pro Bold"/>
              </a:rPr>
              <a:t>I can do something</a:t>
            </a:r>
          </a:p>
          <a:p>
            <a:pPr algn="l">
              <a:lnSpc>
                <a:spcPct val="135000"/>
              </a:lnSpc>
            </a:pPr>
            <a:r>
              <a:rPr sz="1575">
                <a:solidFill>
                  <a:srgbClr val="F2ECDD"/>
                </a:solidFill>
                <a:latin typeface="TT Commons Pro"/>
              </a:rPr>
              <a:t>→ contribute it</a:t>
            </a:r>
          </a:p>
        </p:txBody>
      </p:sp>
      <p:sp>
        <p:nvSpPr>
          <p:cNvPr id="41" name="TextBox 40"/>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A network is something we </a:t>
            </a:r>
            <a:r>
              <a:rPr sz="2175" spc="20">
                <a:solidFill>
                  <a:srgbClr val="EBCF9E"/>
                </a:solidFill>
                <a:latin typeface="Alike Italics"/>
              </a:rPr>
              <a:t>do together</a:t>
            </a:r>
            <a:r>
              <a:rPr sz="2025">
                <a:solidFill>
                  <a:srgbClr val="F4EAD8"/>
                </a:solidFill>
                <a:latin typeface="TT Commons Pro Bold"/>
              </a:rPr>
              <a:t> — not a place we get shown things.</a:t>
            </a:r>
          </a:p>
        </p:txBody>
      </p:sp>
      <p:pic>
        <p:nvPicPr>
          <p:cNvPr id="42" name="Picture 4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43" name="TextBox 4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4" name="TextBox 4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pic>
        <p:nvPicPr>
          <p:cNvPr id="21" name="Picture 2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2" name="TextBox 2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3" name="TextBox 2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pic>
        <p:nvPicPr>
          <p:cNvPr id="36" name="Picture 35"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sp>
        <p:nvSpPr>
          <p:cNvPr id="36" name="Rounded Rectangle 35"/>
          <p:cNvSpPr/>
          <p:nvPr/>
        </p:nvSpPr>
        <p:spPr>
          <a:xfrm>
            <a:off x="822959"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3"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EMILY STARTS</a:t>
            </a:r>
          </a:p>
        </p:txBody>
      </p:sp>
      <p:sp>
        <p:nvSpPr>
          <p:cNvPr id="38" name="TextBox 37"/>
          <p:cNvSpPr txBox="1"/>
          <p:nvPr/>
        </p:nvSpPr>
        <p:spPr>
          <a:xfrm>
            <a:off x="1014983"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creek cleanup</a:t>
            </a:r>
          </a:p>
        </p:txBody>
      </p:sp>
      <p:sp>
        <p:nvSpPr>
          <p:cNvPr id="39" name="Right Arrow 38"/>
          <p:cNvSpPr/>
          <p:nvPr/>
        </p:nvSpPr>
        <p:spPr>
          <a:xfrm>
            <a:off x="4828032"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157216"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9240"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OFFERS GATHER</a:t>
            </a:r>
          </a:p>
        </p:txBody>
      </p:sp>
      <p:sp>
        <p:nvSpPr>
          <p:cNvPr id="42" name="TextBox 41"/>
          <p:cNvSpPr txBox="1"/>
          <p:nvPr/>
        </p:nvSpPr>
        <p:spPr>
          <a:xfrm>
            <a:off x="5349240"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plants + labor</a:t>
            </a:r>
          </a:p>
        </p:txBody>
      </p:sp>
      <p:sp>
        <p:nvSpPr>
          <p:cNvPr id="43" name="Right Arrow 42"/>
          <p:cNvSpPr/>
          <p:nvPr/>
        </p:nvSpPr>
        <p:spPr>
          <a:xfrm>
            <a:off x="9162288"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91472"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83496"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MOMENTUM GROWS</a:t>
            </a:r>
          </a:p>
        </p:txBody>
      </p:sp>
      <p:sp>
        <p:nvSpPr>
          <p:cNvPr id="46" name="TextBox 45"/>
          <p:cNvSpPr txBox="1"/>
          <p:nvPr/>
        </p:nvSpPr>
        <p:spPr>
          <a:xfrm>
            <a:off x="9683496"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roles</a:t>
            </a:r>
          </a:p>
        </p:txBody>
      </p:sp>
      <p:sp>
        <p:nvSpPr>
          <p:cNvPr id="47" name="Right Arrow 46"/>
          <p:cNvSpPr/>
          <p:nvPr/>
        </p:nvSpPr>
        <p:spPr>
          <a:xfrm>
            <a:off x="13496544"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825728"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017752"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WATERSHED HEALS</a:t>
            </a:r>
          </a:p>
        </p:txBody>
      </p:sp>
      <p:sp>
        <p:nvSpPr>
          <p:cNvPr id="50" name="TextBox 49"/>
          <p:cNvSpPr txBox="1"/>
          <p:nvPr/>
        </p:nvSpPr>
        <p:spPr>
          <a:xfrm>
            <a:off x="14017752"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clean water + care</a:t>
            </a:r>
          </a:p>
        </p:txBody>
      </p:sp>
      <p:pic>
        <p:nvPicPr>
          <p:cNvPr id="51" name="Picture 5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2" name="TextBox 5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3" name="TextBox 5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USER FLOWS · A TOOL OF INFINITE OPPORTUNITIES</a:t>
            </a:r>
          </a:p>
        </p:txBody>
      </p:sp>
      <p:sp>
        <p:nvSpPr>
          <p:cNvPr id="4" name="TextBox 3"/>
          <p:cNvSpPr txBox="1"/>
          <p:nvPr/>
        </p:nvSpPr>
        <p:spPr>
          <a:xfrm>
            <a:off x="822959" y="1699869"/>
            <a:ext cx="6897290" cy="945241"/>
          </a:xfrm>
          <a:prstGeom prst="rect">
            <a:avLst/>
          </a:prstGeom>
          <a:noFill/>
        </p:spPr>
        <p:txBody>
          <a:bodyPr wrap="none" lIns="0" rIns="0" tIns="0" bIns="0">
            <a:spAutoFit/>
          </a:bodyPr>
          <a:lstStyle/>
          <a:p>
            <a:pPr algn="l">
              <a:lnSpc>
                <a:spcPct val="115000"/>
              </a:lnSpc>
            </a:pPr>
            <a:r>
              <a:rPr sz="5133" spc="-69">
                <a:solidFill>
                  <a:srgbClr val="F4EAD8"/>
                </a:solidFill>
                <a:latin typeface="TT Commons Pro Bold"/>
              </a:rPr>
              <a:t>Rivr is the missing </a:t>
            </a:r>
          </a:p>
        </p:txBody>
      </p:sp>
      <p:sp>
        <p:nvSpPr>
          <p:cNvPr id="5" name="TextBox 4"/>
          <p:cNvSpPr txBox="1"/>
          <p:nvPr/>
        </p:nvSpPr>
        <p:spPr>
          <a:xfrm>
            <a:off x="6176200" y="1645919"/>
            <a:ext cx="10087927" cy="1043025"/>
          </a:xfrm>
          <a:prstGeom prst="rect">
            <a:avLst/>
          </a:prstGeom>
          <a:noFill/>
        </p:spPr>
        <p:txBody>
          <a:bodyPr wrap="none" lIns="0" rIns="0" tIns="0" bIns="0">
            <a:spAutoFit/>
          </a:bodyPr>
          <a:lstStyle/>
          <a:p>
            <a:pPr algn="l">
              <a:lnSpc>
                <a:spcPct val="115000"/>
              </a:lnSpc>
            </a:pPr>
            <a:r>
              <a:rPr sz="5664" spc="-75">
                <a:solidFill>
                  <a:srgbClr val="EBCF9E"/>
                </a:solidFill>
                <a:latin typeface="Ibarra Real Nova Italics"/>
              </a:rPr>
              <a:t>local coordination network.</a:t>
            </a:r>
          </a:p>
        </p:txBody>
      </p:sp>
      <p:sp>
        <p:nvSpPr>
          <p:cNvPr id="6" name="Rounded Rectangle 5"/>
          <p:cNvSpPr/>
          <p:nvPr/>
        </p:nvSpPr>
        <p:spPr>
          <a:xfrm>
            <a:off x="822959"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3"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MAYA NAMES A NEED</a:t>
            </a:r>
          </a:p>
        </p:txBody>
      </p:sp>
      <p:sp>
        <p:nvSpPr>
          <p:cNvPr id="8" name="TextBox 7"/>
          <p:cNvSpPr txBox="1"/>
          <p:nvPr/>
        </p:nvSpPr>
        <p:spPr>
          <a:xfrm>
            <a:off x="1014983"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neighborhood tool library</a:t>
            </a:r>
          </a:p>
        </p:txBody>
      </p:sp>
      <p:sp>
        <p:nvSpPr>
          <p:cNvPr id="9" name="Right Arrow 8"/>
          <p:cNvSpPr/>
          <p:nvPr/>
        </p:nvSpPr>
        <p:spPr>
          <a:xfrm>
            <a:off x="4828032"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AN OFFER ARRIVES</a:t>
            </a:r>
          </a:p>
        </p:txBody>
      </p:sp>
      <p:sp>
        <p:nvSpPr>
          <p:cNvPr id="12" name="TextBox 11"/>
          <p:cNvSpPr txBox="1"/>
          <p:nvPr/>
        </p:nvSpPr>
        <p:spPr>
          <a:xfrm>
            <a:off x="5349240"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venue + facilitation</a:t>
            </a:r>
          </a:p>
        </p:txBody>
      </p:sp>
      <p:sp>
        <p:nvSpPr>
          <p:cNvPr id="13" name="Right Arrow 12"/>
          <p:cNvSpPr/>
          <p:nvPr/>
        </p:nvSpPr>
        <p:spPr>
          <a:xfrm>
            <a:off x="9162288"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91472" y="34975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83496"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A PROJECT FORMS</a:t>
            </a:r>
          </a:p>
        </p:txBody>
      </p:sp>
      <p:sp>
        <p:nvSpPr>
          <p:cNvPr id="16" name="TextBox 15"/>
          <p:cNvSpPr txBox="1"/>
          <p:nvPr/>
        </p:nvSpPr>
        <p:spPr>
          <a:xfrm>
            <a:off x="9683496"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four paid gigs</a:t>
            </a:r>
          </a:p>
        </p:txBody>
      </p:sp>
      <p:sp>
        <p:nvSpPr>
          <p:cNvPr id="17" name="Right Arrow 16"/>
          <p:cNvSpPr/>
          <p:nvPr/>
        </p:nvSpPr>
        <p:spPr>
          <a:xfrm>
            <a:off x="13496544" y="39502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825728" y="34975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017752" y="3675887"/>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RESOURCES CIRCULATE</a:t>
            </a:r>
          </a:p>
        </p:txBody>
      </p:sp>
      <p:sp>
        <p:nvSpPr>
          <p:cNvPr id="20" name="TextBox 19"/>
          <p:cNvSpPr txBox="1"/>
          <p:nvPr/>
        </p:nvSpPr>
        <p:spPr>
          <a:xfrm>
            <a:off x="14017752" y="41010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tools stay local</a:t>
            </a:r>
          </a:p>
        </p:txBody>
      </p:sp>
      <p:sp>
        <p:nvSpPr>
          <p:cNvPr id="21" name="Rounded Rectangle 20"/>
          <p:cNvSpPr/>
          <p:nvPr/>
        </p:nvSpPr>
        <p:spPr>
          <a:xfrm>
            <a:off x="822959"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JOHN HOSTS</a:t>
            </a:r>
          </a:p>
        </p:txBody>
      </p:sp>
      <p:sp>
        <p:nvSpPr>
          <p:cNvPr id="23" name="TextBox 22"/>
          <p:cNvSpPr txBox="1"/>
          <p:nvPr/>
        </p:nvSpPr>
        <p:spPr>
          <a:xfrm>
            <a:off x="1014983"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community bike repair night</a:t>
            </a:r>
          </a:p>
        </p:txBody>
      </p:sp>
      <p:sp>
        <p:nvSpPr>
          <p:cNvPr id="24" name="Right Arrow 23"/>
          <p:cNvSpPr/>
          <p:nvPr/>
        </p:nvSpPr>
        <p:spPr>
          <a:xfrm>
            <a:off x="4828032"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157216"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PEOPLE FIND IT</a:t>
            </a:r>
          </a:p>
        </p:txBody>
      </p:sp>
      <p:sp>
        <p:nvSpPr>
          <p:cNvPr id="27" name="TextBox 26"/>
          <p:cNvSpPr txBox="1"/>
          <p:nvPr/>
        </p:nvSpPr>
        <p:spPr>
          <a:xfrm>
            <a:off x="5349240"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fixers + tools</a:t>
            </a:r>
          </a:p>
        </p:txBody>
      </p:sp>
      <p:sp>
        <p:nvSpPr>
          <p:cNvPr id="28" name="Right Arrow 27"/>
          <p:cNvSpPr/>
          <p:nvPr/>
        </p:nvSpPr>
        <p:spPr>
          <a:xfrm>
            <a:off x="9162288"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491472" y="48691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83496"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CREW KEEPS MEETING</a:t>
            </a:r>
          </a:p>
        </p:txBody>
      </p:sp>
      <p:sp>
        <p:nvSpPr>
          <p:cNvPr id="31" name="TextBox 30"/>
          <p:cNvSpPr txBox="1"/>
          <p:nvPr/>
        </p:nvSpPr>
        <p:spPr>
          <a:xfrm>
            <a:off x="9683496"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32" name="Right Arrow 31"/>
          <p:cNvSpPr/>
          <p:nvPr/>
        </p:nvSpPr>
        <p:spPr>
          <a:xfrm>
            <a:off x="13496544" y="53218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3825728" y="48691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017752" y="50474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CAPACITY BUILDS</a:t>
            </a:r>
          </a:p>
        </p:txBody>
      </p:sp>
      <p:sp>
        <p:nvSpPr>
          <p:cNvPr id="35" name="TextBox 34"/>
          <p:cNvSpPr txBox="1"/>
          <p:nvPr/>
        </p:nvSpPr>
        <p:spPr>
          <a:xfrm>
            <a:off x="14017752" y="54726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people + skills + trust</a:t>
            </a:r>
          </a:p>
        </p:txBody>
      </p:sp>
      <p:sp>
        <p:nvSpPr>
          <p:cNvPr id="36" name="Rounded Rectangle 35"/>
          <p:cNvSpPr/>
          <p:nvPr/>
        </p:nvSpPr>
        <p:spPr>
          <a:xfrm>
            <a:off x="822959"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3"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EMILY STARTS</a:t>
            </a:r>
          </a:p>
        </p:txBody>
      </p:sp>
      <p:sp>
        <p:nvSpPr>
          <p:cNvPr id="38" name="TextBox 37"/>
          <p:cNvSpPr txBox="1"/>
          <p:nvPr/>
        </p:nvSpPr>
        <p:spPr>
          <a:xfrm>
            <a:off x="1014983"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creek cleanup</a:t>
            </a:r>
          </a:p>
        </p:txBody>
      </p:sp>
      <p:sp>
        <p:nvSpPr>
          <p:cNvPr id="39" name="Right Arrow 38"/>
          <p:cNvSpPr/>
          <p:nvPr/>
        </p:nvSpPr>
        <p:spPr>
          <a:xfrm>
            <a:off x="4828032"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157216"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9240"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OFFERS GATHER</a:t>
            </a:r>
          </a:p>
        </p:txBody>
      </p:sp>
      <p:sp>
        <p:nvSpPr>
          <p:cNvPr id="42" name="TextBox 41"/>
          <p:cNvSpPr txBox="1"/>
          <p:nvPr/>
        </p:nvSpPr>
        <p:spPr>
          <a:xfrm>
            <a:off x="5349240"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plants + labor</a:t>
            </a:r>
          </a:p>
        </p:txBody>
      </p:sp>
      <p:sp>
        <p:nvSpPr>
          <p:cNvPr id="43" name="Right Arrow 42"/>
          <p:cNvSpPr/>
          <p:nvPr/>
        </p:nvSpPr>
        <p:spPr>
          <a:xfrm>
            <a:off x="9162288"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491472" y="62407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83496"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MOMENTUM GROWS</a:t>
            </a:r>
          </a:p>
        </p:txBody>
      </p:sp>
      <p:sp>
        <p:nvSpPr>
          <p:cNvPr id="46" name="TextBox 45"/>
          <p:cNvSpPr txBox="1"/>
          <p:nvPr/>
        </p:nvSpPr>
        <p:spPr>
          <a:xfrm>
            <a:off x="9683496"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funding + roles</a:t>
            </a:r>
          </a:p>
        </p:txBody>
      </p:sp>
      <p:sp>
        <p:nvSpPr>
          <p:cNvPr id="47" name="Right Arrow 46"/>
          <p:cNvSpPr/>
          <p:nvPr/>
        </p:nvSpPr>
        <p:spPr>
          <a:xfrm>
            <a:off x="13496544" y="66934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3825728" y="62407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017752" y="64190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WATERSHED HEALS</a:t>
            </a:r>
          </a:p>
        </p:txBody>
      </p:sp>
      <p:sp>
        <p:nvSpPr>
          <p:cNvPr id="50" name="TextBox 49"/>
          <p:cNvSpPr txBox="1"/>
          <p:nvPr/>
        </p:nvSpPr>
        <p:spPr>
          <a:xfrm>
            <a:off x="14017752" y="6844284"/>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clean water + care</a:t>
            </a:r>
          </a:p>
        </p:txBody>
      </p:sp>
      <p:sp>
        <p:nvSpPr>
          <p:cNvPr id="51" name="Rounded Rectangle 50"/>
          <p:cNvSpPr/>
          <p:nvPr/>
        </p:nvSpPr>
        <p:spPr>
          <a:xfrm>
            <a:off x="822959" y="76123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983"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DAVID OFFERS A SKILL</a:t>
            </a:r>
          </a:p>
        </p:txBody>
      </p:sp>
      <p:sp>
        <p:nvSpPr>
          <p:cNvPr id="53" name="TextBox 52"/>
          <p:cNvSpPr txBox="1"/>
          <p:nvPr/>
        </p:nvSpPr>
        <p:spPr>
          <a:xfrm>
            <a:off x="1014983"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pottery + lessons</a:t>
            </a:r>
          </a:p>
        </p:txBody>
      </p:sp>
      <p:sp>
        <p:nvSpPr>
          <p:cNvPr id="54" name="Right Arrow 53"/>
          <p:cNvSpPr/>
          <p:nvPr/>
        </p:nvSpPr>
        <p:spPr>
          <a:xfrm>
            <a:off x="4828032"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157216" y="76123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49240"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REBECCA HIRES HIM</a:t>
            </a:r>
          </a:p>
        </p:txBody>
      </p:sp>
      <p:sp>
        <p:nvSpPr>
          <p:cNvPr id="57" name="TextBox 56"/>
          <p:cNvSpPr txBox="1"/>
          <p:nvPr/>
        </p:nvSpPr>
        <p:spPr>
          <a:xfrm>
            <a:off x="5349240"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a class for her crew</a:t>
            </a:r>
          </a:p>
        </p:txBody>
      </p:sp>
      <p:sp>
        <p:nvSpPr>
          <p:cNvPr id="58" name="Right Arrow 57"/>
          <p:cNvSpPr/>
          <p:nvPr/>
        </p:nvSpPr>
        <p:spPr>
          <a:xfrm>
            <a:off x="9162288"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491472" y="7612379"/>
            <a:ext cx="3922776" cy="1124712"/>
          </a:xfrm>
          <a:prstGeom prst="roundRect">
            <a:avLst>
              <a:gd name="adj" fmla="val 14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683496"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THE CREW KEEPS MEETING</a:t>
            </a:r>
          </a:p>
        </p:txBody>
      </p:sp>
      <p:sp>
        <p:nvSpPr>
          <p:cNvPr id="61" name="TextBox 60"/>
          <p:cNvSpPr txBox="1"/>
          <p:nvPr/>
        </p:nvSpPr>
        <p:spPr>
          <a:xfrm>
            <a:off x="9683496"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monthly exchange</a:t>
            </a:r>
          </a:p>
        </p:txBody>
      </p:sp>
      <p:sp>
        <p:nvSpPr>
          <p:cNvPr id="62" name="Right Arrow 61"/>
          <p:cNvSpPr/>
          <p:nvPr/>
        </p:nvSpPr>
        <p:spPr>
          <a:xfrm>
            <a:off x="13496544" y="8065008"/>
            <a:ext cx="246888"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3825728" y="7612379"/>
            <a:ext cx="3922776" cy="1124712"/>
          </a:xfrm>
          <a:prstGeom prst="roundRect">
            <a:avLst>
              <a:gd name="adj" fmla="val 14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017752" y="7790688"/>
            <a:ext cx="3566160" cy="411479"/>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VALUE CIRCULATES</a:t>
            </a:r>
          </a:p>
        </p:txBody>
      </p:sp>
      <p:sp>
        <p:nvSpPr>
          <p:cNvPr id="65" name="TextBox 64"/>
          <p:cNvSpPr txBox="1"/>
          <p:nvPr/>
        </p:nvSpPr>
        <p:spPr>
          <a:xfrm>
            <a:off x="14017752" y="8215883"/>
            <a:ext cx="3566160" cy="411479"/>
          </a:xfrm>
          <a:prstGeom prst="rect">
            <a:avLst/>
          </a:prstGeom>
          <a:noFill/>
        </p:spPr>
        <p:txBody>
          <a:bodyPr wrap="none" lIns="0" rIns="0" tIns="0" bIns="0">
            <a:spAutoFit/>
          </a:bodyPr>
          <a:lstStyle/>
          <a:p>
            <a:pPr algn="l">
              <a:lnSpc>
                <a:spcPct val="115000"/>
              </a:lnSpc>
            </a:pPr>
            <a:r>
              <a:rPr sz="1425">
                <a:solidFill>
                  <a:srgbClr val="F2ECDD"/>
                </a:solidFill>
                <a:latin typeface="TT Commons Pro"/>
              </a:rPr>
              <a:t>earnings stay local</a:t>
            </a:r>
          </a:p>
        </p:txBody>
      </p:sp>
      <p:sp>
        <p:nvSpPr>
          <p:cNvPr id="66" name="TextBox 65"/>
          <p:cNvSpPr txBox="1"/>
          <p:nvPr/>
        </p:nvSpPr>
        <p:spPr>
          <a:xfrm>
            <a:off x="822959" y="9217152"/>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People, groups, places and work share context without collapsing into one feed —</a:t>
            </a:r>
          </a:p>
          <a:p>
            <a:pPr algn="ctr">
              <a:lnSpc>
                <a:spcPct val="140000"/>
              </a:lnSpc>
            </a:pPr>
            <a:r>
              <a:rPr sz="2100" spc="20">
                <a:solidFill>
                  <a:srgbClr val="9FE8DC"/>
                </a:solidFill>
                <a:latin typeface="Alike Italics"/>
              </a:rPr>
              <a:t>value circulates instead of leaking out.</a:t>
            </a:r>
          </a:p>
        </p:txBody>
      </p:sp>
      <p:pic>
        <p:nvPicPr>
          <p:cNvPr id="67" name="Picture 6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8" name="TextBox 6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9" name="TextBox 6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09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pic>
        <p:nvPicPr>
          <p:cNvPr id="18" name="Picture 17"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19" name="TextBox 1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0" name="TextBox 1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sp>
        <p:nvSpPr>
          <p:cNvPr id="18" name="TextBox 17"/>
          <p:cNvSpPr txBox="1"/>
          <p:nvPr/>
        </p:nvSpPr>
        <p:spPr>
          <a:xfrm>
            <a:off x="822959" y="63367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THAT SETS IN MOTION</a:t>
            </a:r>
          </a:p>
        </p:txBody>
      </p:sp>
      <p:sp>
        <p:nvSpPr>
          <p:cNvPr id="19" name="Rounded Rectangle 18"/>
          <p:cNvSpPr/>
          <p:nvPr/>
        </p:nvSpPr>
        <p:spPr>
          <a:xfrm>
            <a:off x="82295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VISIBILITY</a:t>
            </a:r>
          </a:p>
        </p:txBody>
      </p:sp>
      <p:sp>
        <p:nvSpPr>
          <p:cNvPr id="21" name="Right Arrow 20"/>
          <p:cNvSpPr/>
          <p:nvPr/>
        </p:nvSpPr>
        <p:spPr>
          <a:xfrm>
            <a:off x="3211830"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05606"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1013"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24" name="Right Arrow 23"/>
          <p:cNvSpPr/>
          <p:nvPr/>
        </p:nvSpPr>
        <p:spPr>
          <a:xfrm>
            <a:off x="6094476"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8251"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3659"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RELATIONSHIPS</a:t>
            </a:r>
          </a:p>
        </p:txBody>
      </p:sp>
      <p:sp>
        <p:nvSpPr>
          <p:cNvPr id="27" name="Right Arrow 26"/>
          <p:cNvSpPr/>
          <p:nvPr/>
        </p:nvSpPr>
        <p:spPr>
          <a:xfrm>
            <a:off x="8977122"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70897"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6305"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INTELLIGENCE</a:t>
            </a:r>
          </a:p>
        </p:txBody>
      </p:sp>
      <p:sp>
        <p:nvSpPr>
          <p:cNvPr id="30" name="Right Arrow 29"/>
          <p:cNvSpPr/>
          <p:nvPr/>
        </p:nvSpPr>
        <p:spPr>
          <a:xfrm>
            <a:off x="11859767"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53543"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188952"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CAPACITY</a:t>
            </a:r>
          </a:p>
        </p:txBody>
      </p:sp>
      <p:sp>
        <p:nvSpPr>
          <p:cNvPr id="33" name="Right Arrow 32"/>
          <p:cNvSpPr/>
          <p:nvPr/>
        </p:nvSpPr>
        <p:spPr>
          <a:xfrm>
            <a:off x="14742413"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23618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7159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RESILIENCE</a:t>
            </a:r>
          </a:p>
        </p:txBody>
      </p:sp>
      <p:pic>
        <p:nvPicPr>
          <p:cNvPr id="36" name="Picture 35"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37" name="TextBox 3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8" name="TextBox 3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SOLUTION IN WORLD · FLOW LOCAL. CONNECT GLOBAL.</a:t>
            </a:r>
          </a:p>
        </p:txBody>
      </p:sp>
      <p:sp>
        <p:nvSpPr>
          <p:cNvPr id="4" name="TextBox 3"/>
          <p:cNvSpPr txBox="1"/>
          <p:nvPr/>
        </p:nvSpPr>
        <p:spPr>
          <a:xfrm>
            <a:off x="822959" y="1699869"/>
            <a:ext cx="8388905"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A network that keeps </a:t>
            </a:r>
          </a:p>
        </p:txBody>
      </p:sp>
      <p:sp>
        <p:nvSpPr>
          <p:cNvPr id="5" name="TextBox 4"/>
          <p:cNvSpPr txBox="1"/>
          <p:nvPr/>
        </p:nvSpPr>
        <p:spPr>
          <a:xfrm>
            <a:off x="7369492" y="1645919"/>
            <a:ext cx="9319974" cy="1075620"/>
          </a:xfrm>
          <a:prstGeom prst="rect">
            <a:avLst/>
          </a:prstGeom>
          <a:noFill/>
        </p:spPr>
        <p:txBody>
          <a:bodyPr wrap="none" lIns="0" rIns="0" tIns="0" bIns="0">
            <a:spAutoFit/>
          </a:bodyPr>
          <a:lstStyle/>
          <a:p>
            <a:pPr algn="l">
              <a:lnSpc>
                <a:spcPct val="115000"/>
              </a:lnSpc>
            </a:pPr>
            <a:r>
              <a:rPr sz="5841" spc="-75">
                <a:solidFill>
                  <a:srgbClr val="99E6D9"/>
                </a:solidFill>
                <a:latin typeface="Ibarra Real Nova Italics"/>
              </a:rPr>
              <a:t>community in the center.</a:t>
            </a:r>
          </a:p>
        </p:txBody>
      </p:sp>
      <p:sp>
        <p:nvSpPr>
          <p:cNvPr id="6" name="Rounded Rectangle 5"/>
          <p:cNvSpPr/>
          <p:nvPr/>
        </p:nvSpPr>
        <p:spPr>
          <a:xfrm>
            <a:off x="822959"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ce.png"/>
          <p:cNvPicPr>
            <a:picLocks noChangeAspect="1"/>
          </p:cNvPicPr>
          <p:nvPr/>
        </p:nvPicPr>
        <p:blipFill>
          <a:blip r:embed="rId3"/>
          <a:stretch>
            <a:fillRect/>
          </a:stretch>
        </p:blipFill>
        <p:spPr>
          <a:xfrm>
            <a:off x="1152144" y="3895344"/>
            <a:ext cx="384048" cy="384048"/>
          </a:xfrm>
          <a:prstGeom prst="rect">
            <a:avLst/>
          </a:prstGeom>
        </p:spPr>
      </p:pic>
      <p:sp>
        <p:nvSpPr>
          <p:cNvPr id="8" name="TextBox 7"/>
          <p:cNvSpPr txBox="1"/>
          <p:nvPr/>
        </p:nvSpPr>
        <p:spPr>
          <a:xfrm>
            <a:off x="1810511"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LOCALLY-SCOPED</a:t>
            </a:r>
          </a:p>
        </p:txBody>
      </p:sp>
      <p:sp>
        <p:nvSpPr>
          <p:cNvPr id="9" name="TextBox 8"/>
          <p:cNvSpPr txBox="1"/>
          <p:nvPr/>
        </p:nvSpPr>
        <p:spPr>
          <a:xfrm>
            <a:off x="1165860"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People, service and purpose appear in the real places where life happens.</a:t>
            </a:r>
          </a:p>
        </p:txBody>
      </p:sp>
      <p:sp>
        <p:nvSpPr>
          <p:cNvPr id="10" name="Rounded Rectangle 9"/>
          <p:cNvSpPr/>
          <p:nvPr/>
        </p:nvSpPr>
        <p:spPr>
          <a:xfrm>
            <a:off x="6478524" y="3566160"/>
            <a:ext cx="5353812" cy="2400300"/>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png"/>
          <p:cNvPicPr>
            <a:picLocks noChangeAspect="1"/>
          </p:cNvPicPr>
          <p:nvPr/>
        </p:nvPicPr>
        <p:blipFill>
          <a:blip r:embed="rId4"/>
          <a:stretch>
            <a:fillRect/>
          </a:stretch>
        </p:blipFill>
        <p:spPr>
          <a:xfrm>
            <a:off x="6807708" y="3895344"/>
            <a:ext cx="384048" cy="384048"/>
          </a:xfrm>
          <a:prstGeom prst="rect">
            <a:avLst/>
          </a:prstGeom>
        </p:spPr>
      </p:pic>
      <p:sp>
        <p:nvSpPr>
          <p:cNvPr id="12" name="TextBox 11"/>
          <p:cNvSpPr txBox="1"/>
          <p:nvPr/>
        </p:nvSpPr>
        <p:spPr>
          <a:xfrm>
            <a:off x="7466075"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SOVEREIGN</a:t>
            </a:r>
          </a:p>
        </p:txBody>
      </p:sp>
      <p:sp>
        <p:nvSpPr>
          <p:cNvPr id="13" name="TextBox 12"/>
          <p:cNvSpPr txBox="1"/>
          <p:nvPr/>
        </p:nvSpPr>
        <p:spPr>
          <a:xfrm>
            <a:off x="6821424"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Communities keep their identity, rules, memory and authority. Even their data.</a:t>
            </a:r>
          </a:p>
        </p:txBody>
      </p:sp>
      <p:sp>
        <p:nvSpPr>
          <p:cNvPr id="14" name="Rounded Rectangle 13"/>
          <p:cNvSpPr/>
          <p:nvPr/>
        </p:nvSpPr>
        <p:spPr>
          <a:xfrm>
            <a:off x="12134088" y="3566160"/>
            <a:ext cx="5353812" cy="2400300"/>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are.png"/>
          <p:cNvPicPr>
            <a:picLocks noChangeAspect="1"/>
          </p:cNvPicPr>
          <p:nvPr/>
        </p:nvPicPr>
        <p:blipFill>
          <a:blip r:embed="rId5"/>
          <a:stretch>
            <a:fillRect/>
          </a:stretch>
        </p:blipFill>
        <p:spPr>
          <a:xfrm>
            <a:off x="12463272" y="3895344"/>
            <a:ext cx="384048" cy="384048"/>
          </a:xfrm>
          <a:prstGeom prst="rect">
            <a:avLst/>
          </a:prstGeom>
        </p:spPr>
      </p:pic>
      <p:sp>
        <p:nvSpPr>
          <p:cNvPr id="16" name="TextBox 15"/>
          <p:cNvSpPr txBox="1"/>
          <p:nvPr/>
        </p:nvSpPr>
        <p:spPr>
          <a:xfrm>
            <a:off x="13121640" y="3867912"/>
            <a:ext cx="4119372"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INTEROPERABLE</a:t>
            </a:r>
          </a:p>
        </p:txBody>
      </p:sp>
      <p:sp>
        <p:nvSpPr>
          <p:cNvPr id="17" name="TextBox 16"/>
          <p:cNvSpPr txBox="1"/>
          <p:nvPr/>
        </p:nvSpPr>
        <p:spPr>
          <a:xfrm>
            <a:off x="12476988" y="4498848"/>
            <a:ext cx="4668012" cy="123444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Connect other apps to your account, so information can flow across them.</a:t>
            </a:r>
          </a:p>
        </p:txBody>
      </p:sp>
      <p:sp>
        <p:nvSpPr>
          <p:cNvPr id="18" name="TextBox 17"/>
          <p:cNvSpPr txBox="1"/>
          <p:nvPr/>
        </p:nvSpPr>
        <p:spPr>
          <a:xfrm>
            <a:off x="822959" y="6336792"/>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WHAT THAT SETS IN MOTION</a:t>
            </a:r>
          </a:p>
        </p:txBody>
      </p:sp>
      <p:sp>
        <p:nvSpPr>
          <p:cNvPr id="19" name="Rounded Rectangle 18"/>
          <p:cNvSpPr/>
          <p:nvPr/>
        </p:nvSpPr>
        <p:spPr>
          <a:xfrm>
            <a:off x="82295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VISIBILITY</a:t>
            </a:r>
          </a:p>
        </p:txBody>
      </p:sp>
      <p:sp>
        <p:nvSpPr>
          <p:cNvPr id="21" name="Right Arrow 20"/>
          <p:cNvSpPr/>
          <p:nvPr/>
        </p:nvSpPr>
        <p:spPr>
          <a:xfrm>
            <a:off x="3211830"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05606"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1013"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EXCHANGE</a:t>
            </a:r>
          </a:p>
        </p:txBody>
      </p:sp>
      <p:sp>
        <p:nvSpPr>
          <p:cNvPr id="24" name="Right Arrow 23"/>
          <p:cNvSpPr/>
          <p:nvPr/>
        </p:nvSpPr>
        <p:spPr>
          <a:xfrm>
            <a:off x="6094476"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8251"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3659"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RELATIONSHIPS</a:t>
            </a:r>
          </a:p>
        </p:txBody>
      </p:sp>
      <p:sp>
        <p:nvSpPr>
          <p:cNvPr id="27" name="Right Arrow 26"/>
          <p:cNvSpPr/>
          <p:nvPr/>
        </p:nvSpPr>
        <p:spPr>
          <a:xfrm>
            <a:off x="8977122"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470897"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6305"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INTELLIGENCE</a:t>
            </a:r>
          </a:p>
        </p:txBody>
      </p:sp>
      <p:sp>
        <p:nvSpPr>
          <p:cNvPr id="30" name="Right Arrow 29"/>
          <p:cNvSpPr/>
          <p:nvPr/>
        </p:nvSpPr>
        <p:spPr>
          <a:xfrm>
            <a:off x="11859767"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53543"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188952"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CAPACITY</a:t>
            </a:r>
          </a:p>
        </p:txBody>
      </p:sp>
      <p:sp>
        <p:nvSpPr>
          <p:cNvPr id="33" name="Right Arrow 32"/>
          <p:cNvSpPr/>
          <p:nvPr/>
        </p:nvSpPr>
        <p:spPr>
          <a:xfrm>
            <a:off x="14742413" y="7029450"/>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236189" y="6789420"/>
            <a:ext cx="2251710"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071598" y="6912864"/>
            <a:ext cx="2580894"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RESILIENCE</a:t>
            </a:r>
          </a:p>
        </p:txBody>
      </p:sp>
      <p:cxnSp>
        <p:nvCxnSpPr>
          <p:cNvPr id="36" name="Connector 35"/>
          <p:cNvCxnSpPr/>
          <p:nvPr/>
        </p:nvCxnSpPr>
        <p:spPr>
          <a:xfrm>
            <a:off x="4389120"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983040"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389120"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3795199"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795199"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795199"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251960"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845880"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45880"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251960"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658039"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58039"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9134856"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28776"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134856"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8540935"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540935"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540935"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997696"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591616"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591616"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997696"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403775"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403775"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13853159" y="78867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4447080"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3853159" y="8915400"/>
            <a:ext cx="593921"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3259239" y="89154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13259239" y="8229600"/>
            <a:ext cx="0" cy="6858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3259239" y="7886700"/>
            <a:ext cx="593920" cy="342900"/>
          </a:xfrm>
          <a:prstGeom prst="line">
            <a:avLst/>
          </a:prstGeom>
          <a:ln w="9525">
            <a:solidFill>
              <a:srgbClr val="99E6D9"/>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3716000" y="77495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4309920"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4309920"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3716000" y="91211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3122079" y="87782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3122079" y="8092440"/>
            <a:ext cx="274320" cy="274320"/>
          </a:xfrm>
          <a:prstGeom prst="ellipse">
            <a:avLst/>
          </a:prstGeom>
          <a:solidFill>
            <a:srgbClr val="0D3E40"/>
          </a:solidFill>
          <a:ln w="1397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5417820" y="8572500"/>
            <a:ext cx="2688336" cy="0"/>
          </a:xfrm>
          <a:prstGeom prst="line">
            <a:avLst/>
          </a:prstGeom>
          <a:ln w="1397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163556" y="8572500"/>
            <a:ext cx="2660903" cy="0"/>
          </a:xfrm>
          <a:prstGeom prst="line">
            <a:avLst/>
          </a:prstGeom>
          <a:ln w="13970">
            <a:solidFill>
              <a:srgbClr val="F0CC8B"/>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22959" y="9532620"/>
            <a:ext cx="16596359" cy="466344"/>
          </a:xfrm>
          <a:prstGeom prst="rect">
            <a:avLst/>
          </a:prstGeom>
          <a:noFill/>
        </p:spPr>
        <p:txBody>
          <a:bodyPr wrap="square" lIns="0" rIns="0" tIns="0" bIns="0">
            <a:spAutoFit/>
          </a:bodyPr>
          <a:lstStyle/>
          <a:p>
            <a:pPr algn="ctr">
              <a:lnSpc>
                <a:spcPct val="115000"/>
              </a:lnSpc>
            </a:pPr>
            <a:r>
              <a:rPr sz="1950" spc="20">
                <a:solidFill>
                  <a:srgbClr val="9FE8DC"/>
                </a:solidFill>
                <a:latin typeface="Alike Italics"/>
              </a:rPr>
              <a:t>Strong local network ↔ strong local network — local capacity with global connection.</a:t>
            </a:r>
          </a:p>
        </p:txBody>
      </p:sp>
      <p:pic>
        <p:nvPicPr>
          <p:cNvPr id="75" name="Picture 74"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76" name="TextBox 7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77" name="TextBox 7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pic>
        <p:nvPicPr>
          <p:cNvPr id="14" name="Picture 13"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pic>
        <p:nvPicPr>
          <p:cNvPr id="22" name="Picture 2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sp>
        <p:nvSpPr>
          <p:cNvPr id="22" name="TextBox 21"/>
          <p:cNvSpPr txBox="1"/>
          <p:nvPr/>
        </p:nvSpPr>
        <p:spPr>
          <a:xfrm>
            <a:off x="9806940" y="3566160"/>
            <a:ext cx="7955279"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FUNDAMENTAL FEATURES — FREE FOR EVERY MEMBER</a:t>
            </a:r>
          </a:p>
        </p:txBody>
      </p:sp>
      <p:sp>
        <p:nvSpPr>
          <p:cNvPr id="23" name="Rounded Rectangle 22"/>
          <p:cNvSpPr/>
          <p:nvPr/>
        </p:nvSpPr>
        <p:spPr>
          <a:xfrm>
            <a:off x="980694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erson.png"/>
          <p:cNvPicPr>
            <a:picLocks noChangeAspect="1"/>
          </p:cNvPicPr>
          <p:nvPr/>
        </p:nvPicPr>
        <p:blipFill>
          <a:blip r:embed="rId7"/>
          <a:stretch>
            <a:fillRect/>
          </a:stretch>
        </p:blipFill>
        <p:spPr>
          <a:xfrm>
            <a:off x="10849355" y="4197096"/>
            <a:ext cx="301752" cy="301752"/>
          </a:xfrm>
          <a:prstGeom prst="rect">
            <a:avLst/>
          </a:prstGeom>
        </p:spPr>
      </p:pic>
      <p:sp>
        <p:nvSpPr>
          <p:cNvPr id="25" name="TextBox 24"/>
          <p:cNvSpPr txBox="1"/>
          <p:nvPr/>
        </p:nvSpPr>
        <p:spPr>
          <a:xfrm>
            <a:off x="980694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profile</a:t>
            </a:r>
          </a:p>
        </p:txBody>
      </p:sp>
      <p:sp>
        <p:nvSpPr>
          <p:cNvPr id="26" name="Rounded Rectangle 25"/>
          <p:cNvSpPr/>
          <p:nvPr/>
        </p:nvSpPr>
        <p:spPr>
          <a:xfrm>
            <a:off x="1241298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essage.png"/>
          <p:cNvPicPr>
            <a:picLocks noChangeAspect="1"/>
          </p:cNvPicPr>
          <p:nvPr/>
        </p:nvPicPr>
        <p:blipFill>
          <a:blip r:embed="rId8"/>
          <a:stretch>
            <a:fillRect/>
          </a:stretch>
        </p:blipFill>
        <p:spPr>
          <a:xfrm>
            <a:off x="13455396" y="4197096"/>
            <a:ext cx="301752" cy="301752"/>
          </a:xfrm>
          <a:prstGeom prst="rect">
            <a:avLst/>
          </a:prstGeom>
        </p:spPr>
      </p:pic>
      <p:sp>
        <p:nvSpPr>
          <p:cNvPr id="28" name="TextBox 27"/>
          <p:cNvSpPr txBox="1"/>
          <p:nvPr/>
        </p:nvSpPr>
        <p:spPr>
          <a:xfrm>
            <a:off x="1241298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social feed</a:t>
            </a:r>
          </a:p>
        </p:txBody>
      </p:sp>
      <p:sp>
        <p:nvSpPr>
          <p:cNvPr id="29" name="Rounded Rectangle 28"/>
          <p:cNvSpPr/>
          <p:nvPr/>
        </p:nvSpPr>
        <p:spPr>
          <a:xfrm>
            <a:off x="15019019"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vent.png"/>
          <p:cNvPicPr>
            <a:picLocks noChangeAspect="1"/>
          </p:cNvPicPr>
          <p:nvPr/>
        </p:nvPicPr>
        <p:blipFill>
          <a:blip r:embed="rId5"/>
          <a:stretch>
            <a:fillRect/>
          </a:stretch>
        </p:blipFill>
        <p:spPr>
          <a:xfrm>
            <a:off x="16061435" y="4197096"/>
            <a:ext cx="301752" cy="301752"/>
          </a:xfrm>
          <a:prstGeom prst="rect">
            <a:avLst/>
          </a:prstGeom>
        </p:spPr>
      </p:pic>
      <p:sp>
        <p:nvSpPr>
          <p:cNvPr id="31" name="TextBox 30"/>
          <p:cNvSpPr txBox="1"/>
          <p:nvPr/>
        </p:nvSpPr>
        <p:spPr>
          <a:xfrm>
            <a:off x="15019019"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calendar</a:t>
            </a:r>
          </a:p>
        </p:txBody>
      </p:sp>
      <p:sp>
        <p:nvSpPr>
          <p:cNvPr id="32" name="Rounded Rectangle 31"/>
          <p:cNvSpPr/>
          <p:nvPr/>
        </p:nvSpPr>
        <p:spPr>
          <a:xfrm>
            <a:off x="980694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roup.png"/>
          <p:cNvPicPr>
            <a:picLocks noChangeAspect="1"/>
          </p:cNvPicPr>
          <p:nvPr/>
        </p:nvPicPr>
        <p:blipFill>
          <a:blip r:embed="rId9"/>
          <a:stretch>
            <a:fillRect/>
          </a:stretch>
        </p:blipFill>
        <p:spPr>
          <a:xfrm>
            <a:off x="10849355" y="5294376"/>
            <a:ext cx="301752" cy="301752"/>
          </a:xfrm>
          <a:prstGeom prst="rect">
            <a:avLst/>
          </a:prstGeom>
        </p:spPr>
      </p:pic>
      <p:sp>
        <p:nvSpPr>
          <p:cNvPr id="34" name="TextBox 33"/>
          <p:cNvSpPr txBox="1"/>
          <p:nvPr/>
        </p:nvSpPr>
        <p:spPr>
          <a:xfrm>
            <a:off x="980694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directory</a:t>
            </a:r>
          </a:p>
        </p:txBody>
      </p:sp>
      <p:sp>
        <p:nvSpPr>
          <p:cNvPr id="35" name="Rounded Rectangle 34"/>
          <p:cNvSpPr/>
          <p:nvPr/>
        </p:nvSpPr>
        <p:spPr>
          <a:xfrm>
            <a:off x="1241298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place.png"/>
          <p:cNvPicPr>
            <a:picLocks noChangeAspect="1"/>
          </p:cNvPicPr>
          <p:nvPr/>
        </p:nvPicPr>
        <p:blipFill>
          <a:blip r:embed="rId10"/>
          <a:stretch>
            <a:fillRect/>
          </a:stretch>
        </p:blipFill>
        <p:spPr>
          <a:xfrm>
            <a:off x="13455396" y="5294376"/>
            <a:ext cx="301752" cy="301752"/>
          </a:xfrm>
          <a:prstGeom prst="rect">
            <a:avLst/>
          </a:prstGeom>
        </p:spPr>
      </p:pic>
      <p:sp>
        <p:nvSpPr>
          <p:cNvPr id="37" name="TextBox 36"/>
          <p:cNvSpPr txBox="1"/>
          <p:nvPr/>
        </p:nvSpPr>
        <p:spPr>
          <a:xfrm>
            <a:off x="1241298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map</a:t>
            </a:r>
          </a:p>
        </p:txBody>
      </p:sp>
      <p:sp>
        <p:nvSpPr>
          <p:cNvPr id="38" name="Rounded Rectangle 37"/>
          <p:cNvSpPr/>
          <p:nvPr/>
        </p:nvSpPr>
        <p:spPr>
          <a:xfrm>
            <a:off x="15019019"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essage.png"/>
          <p:cNvPicPr>
            <a:picLocks noChangeAspect="1"/>
          </p:cNvPicPr>
          <p:nvPr/>
        </p:nvPicPr>
        <p:blipFill>
          <a:blip r:embed="rId8"/>
          <a:stretch>
            <a:fillRect/>
          </a:stretch>
        </p:blipFill>
        <p:spPr>
          <a:xfrm>
            <a:off x="16061435" y="5294376"/>
            <a:ext cx="301752" cy="301752"/>
          </a:xfrm>
          <a:prstGeom prst="rect">
            <a:avLst/>
          </a:prstGeom>
        </p:spPr>
      </p:pic>
      <p:sp>
        <p:nvSpPr>
          <p:cNvPr id="40" name="TextBox 39"/>
          <p:cNvSpPr txBox="1"/>
          <p:nvPr/>
        </p:nvSpPr>
        <p:spPr>
          <a:xfrm>
            <a:off x="15019019"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messaging</a:t>
            </a:r>
          </a:p>
        </p:txBody>
      </p:sp>
      <p:sp>
        <p:nvSpPr>
          <p:cNvPr id="41" name="Rounded Rectangle 40"/>
          <p:cNvSpPr/>
          <p:nvPr/>
        </p:nvSpPr>
        <p:spPr>
          <a:xfrm>
            <a:off x="980694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oc.png"/>
          <p:cNvPicPr>
            <a:picLocks noChangeAspect="1"/>
          </p:cNvPicPr>
          <p:nvPr/>
        </p:nvPicPr>
        <p:blipFill>
          <a:blip r:embed="rId11"/>
          <a:stretch>
            <a:fillRect/>
          </a:stretch>
        </p:blipFill>
        <p:spPr>
          <a:xfrm>
            <a:off x="10849355" y="6391656"/>
            <a:ext cx="301752" cy="301752"/>
          </a:xfrm>
          <a:prstGeom prst="rect">
            <a:avLst/>
          </a:prstGeom>
        </p:spPr>
      </p:pic>
      <p:sp>
        <p:nvSpPr>
          <p:cNvPr id="43" name="TextBox 42"/>
          <p:cNvSpPr txBox="1"/>
          <p:nvPr/>
        </p:nvSpPr>
        <p:spPr>
          <a:xfrm>
            <a:off x="980694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bulletin</a:t>
            </a:r>
          </a:p>
        </p:txBody>
      </p:sp>
      <p:sp>
        <p:nvSpPr>
          <p:cNvPr id="44" name="Rounded Rectangle 43"/>
          <p:cNvSpPr/>
          <p:nvPr/>
        </p:nvSpPr>
        <p:spPr>
          <a:xfrm>
            <a:off x="1241298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isting.png"/>
          <p:cNvPicPr>
            <a:picLocks noChangeAspect="1"/>
          </p:cNvPicPr>
          <p:nvPr/>
        </p:nvPicPr>
        <p:blipFill>
          <a:blip r:embed="rId12"/>
          <a:stretch>
            <a:fillRect/>
          </a:stretch>
        </p:blipFill>
        <p:spPr>
          <a:xfrm>
            <a:off x="13455396" y="6391656"/>
            <a:ext cx="301752" cy="301752"/>
          </a:xfrm>
          <a:prstGeom prst="rect">
            <a:avLst/>
          </a:prstGeom>
        </p:spPr>
      </p:pic>
      <p:sp>
        <p:nvSpPr>
          <p:cNvPr id="46" name="TextBox 45"/>
          <p:cNvSpPr txBox="1"/>
          <p:nvPr/>
        </p:nvSpPr>
        <p:spPr>
          <a:xfrm>
            <a:off x="1241298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marketplace</a:t>
            </a:r>
          </a:p>
        </p:txBody>
      </p:sp>
      <p:sp>
        <p:nvSpPr>
          <p:cNvPr id="47" name="Rounded Rectangle 46"/>
          <p:cNvSpPr/>
          <p:nvPr/>
        </p:nvSpPr>
        <p:spPr>
          <a:xfrm>
            <a:off x="15019019"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org.png"/>
          <p:cNvPicPr>
            <a:picLocks noChangeAspect="1"/>
          </p:cNvPicPr>
          <p:nvPr/>
        </p:nvPicPr>
        <p:blipFill>
          <a:blip r:embed="rId13"/>
          <a:stretch>
            <a:fillRect/>
          </a:stretch>
        </p:blipFill>
        <p:spPr>
          <a:xfrm>
            <a:off x="16061435" y="6391656"/>
            <a:ext cx="301752" cy="301752"/>
          </a:xfrm>
          <a:prstGeom prst="rect">
            <a:avLst/>
          </a:prstGeom>
        </p:spPr>
      </p:pic>
      <p:sp>
        <p:nvSpPr>
          <p:cNvPr id="49" name="TextBox 48"/>
          <p:cNvSpPr txBox="1"/>
          <p:nvPr/>
        </p:nvSpPr>
        <p:spPr>
          <a:xfrm>
            <a:off x="15019019"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groups + orgs</a:t>
            </a:r>
          </a:p>
        </p:txBody>
      </p:sp>
      <p:pic>
        <p:nvPicPr>
          <p:cNvPr id="50" name="Picture 49"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51" name="TextBox 5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2" name="TextBox 5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HAND · THE DASHBOARD</a:t>
            </a:r>
          </a:p>
        </p:txBody>
      </p:sp>
      <p:sp>
        <p:nvSpPr>
          <p:cNvPr id="4" name="TextBox 3"/>
          <p:cNvSpPr txBox="1"/>
          <p:nvPr/>
        </p:nvSpPr>
        <p:spPr>
          <a:xfrm>
            <a:off x="822959" y="1699869"/>
            <a:ext cx="6935470"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Find your way in. </a:t>
            </a:r>
          </a:p>
        </p:txBody>
      </p:sp>
      <p:sp>
        <p:nvSpPr>
          <p:cNvPr id="5" name="TextBox 4"/>
          <p:cNvSpPr txBox="1"/>
          <p:nvPr/>
        </p:nvSpPr>
        <p:spPr>
          <a:xfrm>
            <a:off x="6206744" y="1645919"/>
            <a:ext cx="10516552"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Engage with what matters.</a:t>
            </a:r>
          </a:p>
        </p:txBody>
      </p:sp>
      <p:sp>
        <p:nvSpPr>
          <p:cNvPr id="6" name="Rounded Rectangle 5"/>
          <p:cNvSpPr/>
          <p:nvPr/>
        </p:nvSpPr>
        <p:spPr>
          <a:xfrm>
            <a:off x="822959" y="3497579"/>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arch.png"/>
          <p:cNvPicPr>
            <a:picLocks noChangeAspect="1"/>
          </p:cNvPicPr>
          <p:nvPr/>
        </p:nvPicPr>
        <p:blipFill>
          <a:blip r:embed="rId3"/>
          <a:stretch>
            <a:fillRect/>
          </a:stretch>
        </p:blipFill>
        <p:spPr>
          <a:xfrm>
            <a:off x="1152144" y="3826763"/>
            <a:ext cx="384048" cy="384048"/>
          </a:xfrm>
          <a:prstGeom prst="rect">
            <a:avLst/>
          </a:prstGeom>
        </p:spPr>
      </p:pic>
      <p:sp>
        <p:nvSpPr>
          <p:cNvPr id="8" name="TextBox 7"/>
          <p:cNvSpPr txBox="1"/>
          <p:nvPr/>
        </p:nvSpPr>
        <p:spPr>
          <a:xfrm>
            <a:off x="1810511"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DISCOVER</a:t>
            </a:r>
          </a:p>
        </p:txBody>
      </p:sp>
      <p:sp>
        <p:nvSpPr>
          <p:cNvPr id="9" name="TextBox 8"/>
          <p:cNvSpPr txBox="1"/>
          <p:nvPr/>
        </p:nvSpPr>
        <p:spPr>
          <a:xfrm>
            <a:off x="1165860"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See the living parts of a place.</a:t>
            </a:r>
          </a:p>
        </p:txBody>
      </p:sp>
      <p:sp>
        <p:nvSpPr>
          <p:cNvPr id="10" name="Rounded Rectangle 9"/>
          <p:cNvSpPr/>
          <p:nvPr/>
        </p:nvSpPr>
        <p:spPr>
          <a:xfrm>
            <a:off x="5225796" y="3497579"/>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ord.png"/>
          <p:cNvPicPr>
            <a:picLocks noChangeAspect="1"/>
          </p:cNvPicPr>
          <p:nvPr/>
        </p:nvPicPr>
        <p:blipFill>
          <a:blip r:embed="rId4"/>
          <a:stretch>
            <a:fillRect/>
          </a:stretch>
        </p:blipFill>
        <p:spPr>
          <a:xfrm>
            <a:off x="5554980" y="3826763"/>
            <a:ext cx="384048" cy="384048"/>
          </a:xfrm>
          <a:prstGeom prst="rect">
            <a:avLst/>
          </a:prstGeom>
        </p:spPr>
      </p:pic>
      <p:sp>
        <p:nvSpPr>
          <p:cNvPr id="12" name="TextBox 11"/>
          <p:cNvSpPr txBox="1"/>
          <p:nvPr/>
        </p:nvSpPr>
        <p:spPr>
          <a:xfrm>
            <a:off x="6213348" y="379933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COORDINATE</a:t>
            </a:r>
          </a:p>
        </p:txBody>
      </p:sp>
      <p:sp>
        <p:nvSpPr>
          <p:cNvPr id="13" name="TextBox 12"/>
          <p:cNvSpPr txBox="1"/>
          <p:nvPr/>
        </p:nvSpPr>
        <p:spPr>
          <a:xfrm>
            <a:off x="5568696" y="443026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Join a group. Claim a gig. Move the work.</a:t>
            </a:r>
          </a:p>
        </p:txBody>
      </p:sp>
      <p:sp>
        <p:nvSpPr>
          <p:cNvPr id="14" name="Rounded Rectangle 13"/>
          <p:cNvSpPr/>
          <p:nvPr/>
        </p:nvSpPr>
        <p:spPr>
          <a:xfrm>
            <a:off x="822959" y="5417820"/>
            <a:ext cx="4101084" cy="1645919"/>
          </a:xfrm>
          <a:prstGeom prst="roundRect">
            <a:avLst>
              <a:gd name="adj" fmla="val 6000"/>
            </a:avLst>
          </a:prstGeom>
          <a:solidFill>
            <a:srgbClr val="0D3E40"/>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ent.png"/>
          <p:cNvPicPr>
            <a:picLocks noChangeAspect="1"/>
          </p:cNvPicPr>
          <p:nvPr/>
        </p:nvPicPr>
        <p:blipFill>
          <a:blip r:embed="rId5"/>
          <a:stretch>
            <a:fillRect/>
          </a:stretch>
        </p:blipFill>
        <p:spPr>
          <a:xfrm>
            <a:off x="1152144" y="5747004"/>
            <a:ext cx="384048" cy="384048"/>
          </a:xfrm>
          <a:prstGeom prst="rect">
            <a:avLst/>
          </a:prstGeom>
        </p:spPr>
      </p:pic>
      <p:sp>
        <p:nvSpPr>
          <p:cNvPr id="16" name="TextBox 15"/>
          <p:cNvSpPr txBox="1"/>
          <p:nvPr/>
        </p:nvSpPr>
        <p:spPr>
          <a:xfrm>
            <a:off x="1810511"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GATHER</a:t>
            </a:r>
          </a:p>
        </p:txBody>
      </p:sp>
      <p:sp>
        <p:nvSpPr>
          <p:cNvPr id="17" name="TextBox 16"/>
          <p:cNvSpPr txBox="1"/>
          <p:nvPr/>
        </p:nvSpPr>
        <p:spPr>
          <a:xfrm>
            <a:off x="1165860"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Events that lead somewhere.</a:t>
            </a:r>
          </a:p>
        </p:txBody>
      </p:sp>
      <p:sp>
        <p:nvSpPr>
          <p:cNvPr id="18" name="Rounded Rectangle 17"/>
          <p:cNvSpPr/>
          <p:nvPr/>
        </p:nvSpPr>
        <p:spPr>
          <a:xfrm>
            <a:off x="5225796" y="5417820"/>
            <a:ext cx="4101084" cy="1645919"/>
          </a:xfrm>
          <a:prstGeom prst="roundRect">
            <a:avLst>
              <a:gd name="adj" fmla="val 6000"/>
            </a:avLst>
          </a:prstGeom>
          <a:solidFill>
            <a:srgbClr val="062A2C"/>
          </a:solidFill>
          <a:ln w="1809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oney.png"/>
          <p:cNvPicPr>
            <a:picLocks noChangeAspect="1"/>
          </p:cNvPicPr>
          <p:nvPr/>
        </p:nvPicPr>
        <p:blipFill>
          <a:blip r:embed="rId6"/>
          <a:stretch>
            <a:fillRect/>
          </a:stretch>
        </p:blipFill>
        <p:spPr>
          <a:xfrm>
            <a:off x="5554980" y="5747004"/>
            <a:ext cx="384048" cy="384048"/>
          </a:xfrm>
          <a:prstGeom prst="rect">
            <a:avLst/>
          </a:prstGeom>
        </p:spPr>
      </p:pic>
      <p:sp>
        <p:nvSpPr>
          <p:cNvPr id="20" name="TextBox 19"/>
          <p:cNvSpPr txBox="1"/>
          <p:nvPr/>
        </p:nvSpPr>
        <p:spPr>
          <a:xfrm>
            <a:off x="6213348" y="5719572"/>
            <a:ext cx="2866644" cy="411479"/>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EXCHANGE</a:t>
            </a:r>
          </a:p>
        </p:txBody>
      </p:sp>
      <p:sp>
        <p:nvSpPr>
          <p:cNvPr id="21" name="TextBox 20"/>
          <p:cNvSpPr txBox="1"/>
          <p:nvPr/>
        </p:nvSpPr>
        <p:spPr>
          <a:xfrm>
            <a:off x="5568696" y="6350508"/>
            <a:ext cx="3415284" cy="480059"/>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Value that can circulate nearby.</a:t>
            </a:r>
          </a:p>
        </p:txBody>
      </p:sp>
      <p:sp>
        <p:nvSpPr>
          <p:cNvPr id="22" name="TextBox 21"/>
          <p:cNvSpPr txBox="1"/>
          <p:nvPr/>
        </p:nvSpPr>
        <p:spPr>
          <a:xfrm>
            <a:off x="9806940" y="3566160"/>
            <a:ext cx="7955279"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FUNDAMENTAL FEATURES — FREE FOR EVERY MEMBER</a:t>
            </a:r>
          </a:p>
        </p:txBody>
      </p:sp>
      <p:sp>
        <p:nvSpPr>
          <p:cNvPr id="23" name="Rounded Rectangle 22"/>
          <p:cNvSpPr/>
          <p:nvPr/>
        </p:nvSpPr>
        <p:spPr>
          <a:xfrm>
            <a:off x="980694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erson.png"/>
          <p:cNvPicPr>
            <a:picLocks noChangeAspect="1"/>
          </p:cNvPicPr>
          <p:nvPr/>
        </p:nvPicPr>
        <p:blipFill>
          <a:blip r:embed="rId7"/>
          <a:stretch>
            <a:fillRect/>
          </a:stretch>
        </p:blipFill>
        <p:spPr>
          <a:xfrm>
            <a:off x="10849355" y="4197096"/>
            <a:ext cx="301752" cy="301752"/>
          </a:xfrm>
          <a:prstGeom prst="rect">
            <a:avLst/>
          </a:prstGeom>
        </p:spPr>
      </p:pic>
      <p:sp>
        <p:nvSpPr>
          <p:cNvPr id="25" name="TextBox 24"/>
          <p:cNvSpPr txBox="1"/>
          <p:nvPr/>
        </p:nvSpPr>
        <p:spPr>
          <a:xfrm>
            <a:off x="980694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profile</a:t>
            </a:r>
          </a:p>
        </p:txBody>
      </p:sp>
      <p:sp>
        <p:nvSpPr>
          <p:cNvPr id="26" name="Rounded Rectangle 25"/>
          <p:cNvSpPr/>
          <p:nvPr/>
        </p:nvSpPr>
        <p:spPr>
          <a:xfrm>
            <a:off x="12412980"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essage.png"/>
          <p:cNvPicPr>
            <a:picLocks noChangeAspect="1"/>
          </p:cNvPicPr>
          <p:nvPr/>
        </p:nvPicPr>
        <p:blipFill>
          <a:blip r:embed="rId8"/>
          <a:stretch>
            <a:fillRect/>
          </a:stretch>
        </p:blipFill>
        <p:spPr>
          <a:xfrm>
            <a:off x="13455396" y="4197096"/>
            <a:ext cx="301752" cy="301752"/>
          </a:xfrm>
          <a:prstGeom prst="rect">
            <a:avLst/>
          </a:prstGeom>
        </p:spPr>
      </p:pic>
      <p:sp>
        <p:nvSpPr>
          <p:cNvPr id="28" name="TextBox 27"/>
          <p:cNvSpPr txBox="1"/>
          <p:nvPr/>
        </p:nvSpPr>
        <p:spPr>
          <a:xfrm>
            <a:off x="12412980"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social feed</a:t>
            </a:r>
          </a:p>
        </p:txBody>
      </p:sp>
      <p:sp>
        <p:nvSpPr>
          <p:cNvPr id="29" name="Rounded Rectangle 28"/>
          <p:cNvSpPr/>
          <p:nvPr/>
        </p:nvSpPr>
        <p:spPr>
          <a:xfrm>
            <a:off x="15019019" y="404622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vent.png"/>
          <p:cNvPicPr>
            <a:picLocks noChangeAspect="1"/>
          </p:cNvPicPr>
          <p:nvPr/>
        </p:nvPicPr>
        <p:blipFill>
          <a:blip r:embed="rId5"/>
          <a:stretch>
            <a:fillRect/>
          </a:stretch>
        </p:blipFill>
        <p:spPr>
          <a:xfrm>
            <a:off x="16061435" y="4197096"/>
            <a:ext cx="301752" cy="301752"/>
          </a:xfrm>
          <a:prstGeom prst="rect">
            <a:avLst/>
          </a:prstGeom>
        </p:spPr>
      </p:pic>
      <p:sp>
        <p:nvSpPr>
          <p:cNvPr id="31" name="TextBox 30"/>
          <p:cNvSpPr txBox="1"/>
          <p:nvPr/>
        </p:nvSpPr>
        <p:spPr>
          <a:xfrm>
            <a:off x="15019019" y="459486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calendar</a:t>
            </a:r>
          </a:p>
        </p:txBody>
      </p:sp>
      <p:sp>
        <p:nvSpPr>
          <p:cNvPr id="32" name="Rounded Rectangle 31"/>
          <p:cNvSpPr/>
          <p:nvPr/>
        </p:nvSpPr>
        <p:spPr>
          <a:xfrm>
            <a:off x="980694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roup.png"/>
          <p:cNvPicPr>
            <a:picLocks noChangeAspect="1"/>
          </p:cNvPicPr>
          <p:nvPr/>
        </p:nvPicPr>
        <p:blipFill>
          <a:blip r:embed="rId9"/>
          <a:stretch>
            <a:fillRect/>
          </a:stretch>
        </p:blipFill>
        <p:spPr>
          <a:xfrm>
            <a:off x="10849355" y="5294376"/>
            <a:ext cx="301752" cy="301752"/>
          </a:xfrm>
          <a:prstGeom prst="rect">
            <a:avLst/>
          </a:prstGeom>
        </p:spPr>
      </p:pic>
      <p:sp>
        <p:nvSpPr>
          <p:cNvPr id="34" name="TextBox 33"/>
          <p:cNvSpPr txBox="1"/>
          <p:nvPr/>
        </p:nvSpPr>
        <p:spPr>
          <a:xfrm>
            <a:off x="980694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directory</a:t>
            </a:r>
          </a:p>
        </p:txBody>
      </p:sp>
      <p:sp>
        <p:nvSpPr>
          <p:cNvPr id="35" name="Rounded Rectangle 34"/>
          <p:cNvSpPr/>
          <p:nvPr/>
        </p:nvSpPr>
        <p:spPr>
          <a:xfrm>
            <a:off x="12412980"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place.png"/>
          <p:cNvPicPr>
            <a:picLocks noChangeAspect="1"/>
          </p:cNvPicPr>
          <p:nvPr/>
        </p:nvPicPr>
        <p:blipFill>
          <a:blip r:embed="rId10"/>
          <a:stretch>
            <a:fillRect/>
          </a:stretch>
        </p:blipFill>
        <p:spPr>
          <a:xfrm>
            <a:off x="13455396" y="5294376"/>
            <a:ext cx="301752" cy="301752"/>
          </a:xfrm>
          <a:prstGeom prst="rect">
            <a:avLst/>
          </a:prstGeom>
        </p:spPr>
      </p:pic>
      <p:sp>
        <p:nvSpPr>
          <p:cNvPr id="37" name="TextBox 36"/>
          <p:cNvSpPr txBox="1"/>
          <p:nvPr/>
        </p:nvSpPr>
        <p:spPr>
          <a:xfrm>
            <a:off x="12412980"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map</a:t>
            </a:r>
          </a:p>
        </p:txBody>
      </p:sp>
      <p:sp>
        <p:nvSpPr>
          <p:cNvPr id="38" name="Rounded Rectangle 37"/>
          <p:cNvSpPr/>
          <p:nvPr/>
        </p:nvSpPr>
        <p:spPr>
          <a:xfrm>
            <a:off x="15019019" y="514350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essage.png"/>
          <p:cNvPicPr>
            <a:picLocks noChangeAspect="1"/>
          </p:cNvPicPr>
          <p:nvPr/>
        </p:nvPicPr>
        <p:blipFill>
          <a:blip r:embed="rId8"/>
          <a:stretch>
            <a:fillRect/>
          </a:stretch>
        </p:blipFill>
        <p:spPr>
          <a:xfrm>
            <a:off x="16061435" y="5294376"/>
            <a:ext cx="301752" cy="301752"/>
          </a:xfrm>
          <a:prstGeom prst="rect">
            <a:avLst/>
          </a:prstGeom>
        </p:spPr>
      </p:pic>
      <p:sp>
        <p:nvSpPr>
          <p:cNvPr id="40" name="TextBox 39"/>
          <p:cNvSpPr txBox="1"/>
          <p:nvPr/>
        </p:nvSpPr>
        <p:spPr>
          <a:xfrm>
            <a:off x="15019019" y="569214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messaging</a:t>
            </a:r>
          </a:p>
        </p:txBody>
      </p:sp>
      <p:sp>
        <p:nvSpPr>
          <p:cNvPr id="41" name="Rounded Rectangle 40"/>
          <p:cNvSpPr/>
          <p:nvPr/>
        </p:nvSpPr>
        <p:spPr>
          <a:xfrm>
            <a:off x="980694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oc.png"/>
          <p:cNvPicPr>
            <a:picLocks noChangeAspect="1"/>
          </p:cNvPicPr>
          <p:nvPr/>
        </p:nvPicPr>
        <p:blipFill>
          <a:blip r:embed="rId11"/>
          <a:stretch>
            <a:fillRect/>
          </a:stretch>
        </p:blipFill>
        <p:spPr>
          <a:xfrm>
            <a:off x="10849355" y="6391656"/>
            <a:ext cx="301752" cy="301752"/>
          </a:xfrm>
          <a:prstGeom prst="rect">
            <a:avLst/>
          </a:prstGeom>
        </p:spPr>
      </p:pic>
      <p:sp>
        <p:nvSpPr>
          <p:cNvPr id="43" name="TextBox 42"/>
          <p:cNvSpPr txBox="1"/>
          <p:nvPr/>
        </p:nvSpPr>
        <p:spPr>
          <a:xfrm>
            <a:off x="980694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bulletin</a:t>
            </a:r>
          </a:p>
        </p:txBody>
      </p:sp>
      <p:sp>
        <p:nvSpPr>
          <p:cNvPr id="44" name="Rounded Rectangle 43"/>
          <p:cNvSpPr/>
          <p:nvPr/>
        </p:nvSpPr>
        <p:spPr>
          <a:xfrm>
            <a:off x="12412980"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listing.png"/>
          <p:cNvPicPr>
            <a:picLocks noChangeAspect="1"/>
          </p:cNvPicPr>
          <p:nvPr/>
        </p:nvPicPr>
        <p:blipFill>
          <a:blip r:embed="rId12"/>
          <a:stretch>
            <a:fillRect/>
          </a:stretch>
        </p:blipFill>
        <p:spPr>
          <a:xfrm>
            <a:off x="13455396" y="6391656"/>
            <a:ext cx="301752" cy="301752"/>
          </a:xfrm>
          <a:prstGeom prst="rect">
            <a:avLst/>
          </a:prstGeom>
        </p:spPr>
      </p:pic>
      <p:sp>
        <p:nvSpPr>
          <p:cNvPr id="46" name="TextBox 45"/>
          <p:cNvSpPr txBox="1"/>
          <p:nvPr/>
        </p:nvSpPr>
        <p:spPr>
          <a:xfrm>
            <a:off x="12412980"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marketplace</a:t>
            </a:r>
          </a:p>
        </p:txBody>
      </p:sp>
      <p:sp>
        <p:nvSpPr>
          <p:cNvPr id="47" name="Rounded Rectangle 46"/>
          <p:cNvSpPr/>
          <p:nvPr/>
        </p:nvSpPr>
        <p:spPr>
          <a:xfrm>
            <a:off x="15019019" y="6240780"/>
            <a:ext cx="2400300" cy="932688"/>
          </a:xfrm>
          <a:prstGeom prst="roundRect">
            <a:avLst>
              <a:gd name="adj" fmla="val 14000"/>
            </a:avLst>
          </a:prstGeom>
          <a:solidFill>
            <a:srgbClr val="084B4D"/>
          </a:solidFill>
          <a:ln w="13334">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org.png"/>
          <p:cNvPicPr>
            <a:picLocks noChangeAspect="1"/>
          </p:cNvPicPr>
          <p:nvPr/>
        </p:nvPicPr>
        <p:blipFill>
          <a:blip r:embed="rId13"/>
          <a:stretch>
            <a:fillRect/>
          </a:stretch>
        </p:blipFill>
        <p:spPr>
          <a:xfrm>
            <a:off x="16061435" y="6391656"/>
            <a:ext cx="301752" cy="301752"/>
          </a:xfrm>
          <a:prstGeom prst="rect">
            <a:avLst/>
          </a:prstGeom>
        </p:spPr>
      </p:pic>
      <p:sp>
        <p:nvSpPr>
          <p:cNvPr id="49" name="TextBox 48"/>
          <p:cNvSpPr txBox="1"/>
          <p:nvPr/>
        </p:nvSpPr>
        <p:spPr>
          <a:xfrm>
            <a:off x="15019019" y="6789420"/>
            <a:ext cx="2400300" cy="356616"/>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groups + orgs</a:t>
            </a:r>
          </a:p>
        </p:txBody>
      </p:sp>
      <p:sp>
        <p:nvSpPr>
          <p:cNvPr id="50" name="TextBox 49"/>
          <p:cNvSpPr txBox="1"/>
          <p:nvPr/>
        </p:nvSpPr>
        <p:spPr>
          <a:xfrm>
            <a:off x="822959" y="76123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WORKS</a:t>
            </a:r>
          </a:p>
        </p:txBody>
      </p:sp>
      <p:sp>
        <p:nvSpPr>
          <p:cNvPr id="51" name="Rounded Rectangle 50"/>
          <p:cNvSpPr/>
          <p:nvPr/>
        </p:nvSpPr>
        <p:spPr>
          <a:xfrm>
            <a:off x="822959"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JOIN A LOCALE</a:t>
            </a:r>
          </a:p>
        </p:txBody>
      </p:sp>
      <p:sp>
        <p:nvSpPr>
          <p:cNvPr id="53" name="Right Arrow 52"/>
          <p:cNvSpPr/>
          <p:nvPr/>
        </p:nvSpPr>
        <p:spPr>
          <a:xfrm>
            <a:off x="3788359"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282135"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7543"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DISCOVER NEARBY</a:t>
            </a:r>
          </a:p>
        </p:txBody>
      </p:sp>
      <p:sp>
        <p:nvSpPr>
          <p:cNvPr id="56" name="Right Arrow 55"/>
          <p:cNvSpPr/>
          <p:nvPr/>
        </p:nvSpPr>
        <p:spPr>
          <a:xfrm>
            <a:off x="7247534"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741310"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7671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CREATE</a:t>
            </a:r>
          </a:p>
        </p:txBody>
      </p:sp>
      <p:sp>
        <p:nvSpPr>
          <p:cNvPr id="59" name="Right Arrow 58"/>
          <p:cNvSpPr/>
          <p:nvPr/>
        </p:nvSpPr>
        <p:spPr>
          <a:xfrm>
            <a:off x="10706709"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1200485"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035893"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MATCH SKILLS + NEEDS</a:t>
            </a:r>
          </a:p>
        </p:txBody>
      </p:sp>
      <p:sp>
        <p:nvSpPr>
          <p:cNvPr id="62" name="Right Arrow 61"/>
          <p:cNvSpPr/>
          <p:nvPr/>
        </p:nvSpPr>
        <p:spPr>
          <a:xfrm>
            <a:off x="14165884" y="8305038"/>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4659660" y="8065008"/>
            <a:ext cx="2828239" cy="685800"/>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4495068" y="8188452"/>
            <a:ext cx="3157423" cy="411479"/>
          </a:xfrm>
          <a:prstGeom prst="rect">
            <a:avLst/>
          </a:prstGeom>
          <a:noFill/>
        </p:spPr>
        <p:txBody>
          <a:bodyPr wrap="none" lIns="0" rIns="0" tIns="0" bIns="0">
            <a:spAutoFit/>
          </a:bodyPr>
          <a:lstStyle/>
          <a:p>
            <a:pPr algn="ctr">
              <a:lnSpc>
                <a:spcPct val="115000"/>
              </a:lnSpc>
            </a:pPr>
            <a:r>
              <a:rPr sz="1275" spc="330">
                <a:solidFill>
                  <a:srgbClr val="9FE8DC"/>
                </a:solidFill>
                <a:latin typeface="TT Commons Pro"/>
              </a:rPr>
              <a:t>COORDINATE</a:t>
            </a:r>
          </a:p>
        </p:txBody>
      </p:sp>
      <p:pic>
        <p:nvPicPr>
          <p:cNvPr id="65" name="Picture 64"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66" name="TextBox 6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7" name="TextBox 6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pic>
        <p:nvPicPr>
          <p:cNvPr id="13" name="Picture 12"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pic>
        <p:nvPicPr>
          <p:cNvPr id="27" name="Picture 26"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28" name="TextBox 2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9" name="TextBox 2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sp>
        <p:nvSpPr>
          <p:cNvPr id="27" name="Rounded Rectangle 26"/>
          <p:cNvSpPr/>
          <p:nvPr/>
        </p:nvSpPr>
        <p:spPr>
          <a:xfrm>
            <a:off x="11002975"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ervice.png"/>
          <p:cNvPicPr>
            <a:picLocks noChangeAspect="1"/>
          </p:cNvPicPr>
          <p:nvPr/>
        </p:nvPicPr>
        <p:blipFill>
          <a:blip r:embed="rId6"/>
          <a:stretch>
            <a:fillRect/>
          </a:stretch>
        </p:blipFill>
        <p:spPr>
          <a:xfrm>
            <a:off x="12329312" y="3895344"/>
            <a:ext cx="438912" cy="438912"/>
          </a:xfrm>
          <a:prstGeom prst="rect">
            <a:avLst/>
          </a:prstGeom>
        </p:spPr>
      </p:pic>
      <p:sp>
        <p:nvSpPr>
          <p:cNvPr id="29" name="TextBox 28"/>
          <p:cNvSpPr txBox="1"/>
          <p:nvPr/>
        </p:nvSpPr>
        <p:spPr>
          <a:xfrm>
            <a:off x="11002975"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Provider</a:t>
            </a:r>
          </a:p>
        </p:txBody>
      </p:sp>
      <p:sp>
        <p:nvSpPr>
          <p:cNvPr id="30" name="TextBox 29"/>
          <p:cNvSpPr txBox="1"/>
          <p:nvPr/>
        </p:nvSpPr>
        <p:spPr>
          <a:xfrm>
            <a:off x="11002975"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$33</a:t>
            </a:r>
          </a:p>
        </p:txBody>
      </p:sp>
      <p:sp>
        <p:nvSpPr>
          <p:cNvPr id="31" name="TextBox 30"/>
          <p:cNvSpPr txBox="1"/>
          <p:nvPr/>
        </p:nvSpPr>
        <p:spPr>
          <a:xfrm>
            <a:off x="11002975"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2" name="TextBox 31"/>
          <p:cNvSpPr txBox="1"/>
          <p:nvPr/>
        </p:nvSpPr>
        <p:spPr>
          <a:xfrm>
            <a:off x="11167567"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OPERATORS WHO HOST + SELL</a:t>
            </a:r>
          </a:p>
        </p:txBody>
      </p:sp>
      <p:sp>
        <p:nvSpPr>
          <p:cNvPr id="33" name="TextBox 32"/>
          <p:cNvSpPr txBox="1"/>
          <p:nvPr/>
        </p:nvSpPr>
        <p:spPr>
          <a:xfrm>
            <a:off x="11222431"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Run events, services and sales from one trusted presence.</a:t>
            </a:r>
          </a:p>
        </p:txBody>
      </p:sp>
      <p:sp>
        <p:nvSpPr>
          <p:cNvPr id="34" name="Rounded Rectangle 33"/>
          <p:cNvSpPr/>
          <p:nvPr/>
        </p:nvSpPr>
        <p:spPr>
          <a:xfrm>
            <a:off x="14396313" y="3566160"/>
            <a:ext cx="3091586" cy="4800600"/>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org.png"/>
          <p:cNvPicPr>
            <a:picLocks noChangeAspect="1"/>
          </p:cNvPicPr>
          <p:nvPr/>
        </p:nvPicPr>
        <p:blipFill>
          <a:blip r:embed="rId7"/>
          <a:stretch>
            <a:fillRect/>
          </a:stretch>
        </p:blipFill>
        <p:spPr>
          <a:xfrm>
            <a:off x="15722650" y="3895344"/>
            <a:ext cx="438912" cy="438912"/>
          </a:xfrm>
          <a:prstGeom prst="rect">
            <a:avLst/>
          </a:prstGeom>
        </p:spPr>
      </p:pic>
      <p:sp>
        <p:nvSpPr>
          <p:cNvPr id="36" name="TextBox 35"/>
          <p:cNvSpPr txBox="1"/>
          <p:nvPr/>
        </p:nvSpPr>
        <p:spPr>
          <a:xfrm>
            <a:off x="14396313"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Organization</a:t>
            </a:r>
          </a:p>
        </p:txBody>
      </p:sp>
      <p:sp>
        <p:nvSpPr>
          <p:cNvPr id="37" name="TextBox 36"/>
          <p:cNvSpPr txBox="1"/>
          <p:nvPr/>
        </p:nvSpPr>
        <p:spPr>
          <a:xfrm>
            <a:off x="14396313" y="5129784"/>
            <a:ext cx="3091586" cy="548640"/>
          </a:xfrm>
          <a:prstGeom prst="rect">
            <a:avLst/>
          </a:prstGeom>
          <a:noFill/>
        </p:spPr>
        <p:txBody>
          <a:bodyPr wrap="none" lIns="0" rIns="0" tIns="0" bIns="0">
            <a:spAutoFit/>
          </a:bodyPr>
          <a:lstStyle/>
          <a:p>
            <a:pPr algn="ctr">
              <a:lnSpc>
                <a:spcPct val="115000"/>
              </a:lnSpc>
            </a:pPr>
            <a:r>
              <a:rPr sz="3750" spc="20">
                <a:solidFill>
                  <a:srgbClr val="EBCF9E"/>
                </a:solidFill>
                <a:latin typeface="TT Commons Pro Bold"/>
              </a:rPr>
              <a:t>$44</a:t>
            </a:r>
          </a:p>
        </p:txBody>
      </p:sp>
      <p:sp>
        <p:nvSpPr>
          <p:cNvPr id="38" name="TextBox 37"/>
          <p:cNvSpPr txBox="1"/>
          <p:nvPr/>
        </p:nvSpPr>
        <p:spPr>
          <a:xfrm>
            <a:off x="14396313"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9" name="TextBox 38"/>
          <p:cNvSpPr txBox="1"/>
          <p:nvPr/>
        </p:nvSpPr>
        <p:spPr>
          <a:xfrm>
            <a:off x="14560905"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TEAMS + CO-OPS + PROGRAMS</a:t>
            </a:r>
          </a:p>
        </p:txBody>
      </p:sp>
      <p:sp>
        <p:nvSpPr>
          <p:cNvPr id="40" name="TextBox 39"/>
          <p:cNvSpPr txBox="1"/>
          <p:nvPr/>
        </p:nvSpPr>
        <p:spPr>
          <a:xfrm>
            <a:off x="14615769"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Projects, jobs, governance, shared-economy tools, transparent financials.</a:t>
            </a:r>
          </a:p>
        </p:txBody>
      </p:sp>
      <p:pic>
        <p:nvPicPr>
          <p:cNvPr id="41" name="Picture 40"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0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FIVE PRODUCTS · ONE NETWORK</a:t>
            </a:r>
          </a:p>
        </p:txBody>
      </p:sp>
      <p:sp>
        <p:nvSpPr>
          <p:cNvPr id="4" name="TextBox 3"/>
          <p:cNvSpPr txBox="1"/>
          <p:nvPr/>
        </p:nvSpPr>
        <p:spPr>
          <a:xfrm>
            <a:off x="822959" y="1699869"/>
            <a:ext cx="10317797"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Choose what you want to </a:t>
            </a:r>
          </a:p>
        </p:txBody>
      </p:sp>
      <p:sp>
        <p:nvSpPr>
          <p:cNvPr id="5" name="TextBox 4"/>
          <p:cNvSpPr txBox="1"/>
          <p:nvPr/>
        </p:nvSpPr>
        <p:spPr>
          <a:xfrm>
            <a:off x="8912605" y="1645919"/>
            <a:ext cx="5492115" cy="1108214"/>
          </a:xfrm>
          <a:prstGeom prst="rect">
            <a:avLst/>
          </a:prstGeom>
          <a:noFill/>
        </p:spPr>
        <p:txBody>
          <a:bodyPr wrap="none" lIns="0" rIns="0" tIns="0" bIns="0">
            <a:spAutoFit/>
          </a:bodyPr>
          <a:lstStyle/>
          <a:p>
            <a:pPr algn="l">
              <a:lnSpc>
                <a:spcPct val="115000"/>
              </a:lnSpc>
            </a:pPr>
            <a:r>
              <a:rPr sz="6017" spc="-75">
                <a:solidFill>
                  <a:srgbClr val="EBCF9E"/>
                </a:solidFill>
                <a:latin typeface="Ibarra Real Nova Italics"/>
              </a:rPr>
              <a:t>make happen.</a:t>
            </a:r>
          </a:p>
        </p:txBody>
      </p:sp>
      <p:sp>
        <p:nvSpPr>
          <p:cNvPr id="6" name="Rounded Rectangle 5"/>
          <p:cNvSpPr/>
          <p:nvPr/>
        </p:nvSpPr>
        <p:spPr>
          <a:xfrm>
            <a:off x="822959"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png"/>
          <p:cNvPicPr>
            <a:picLocks noChangeAspect="1"/>
          </p:cNvPicPr>
          <p:nvPr/>
        </p:nvPicPr>
        <p:blipFill>
          <a:blip r:embed="rId3"/>
          <a:stretch>
            <a:fillRect/>
          </a:stretch>
        </p:blipFill>
        <p:spPr>
          <a:xfrm>
            <a:off x="2149297" y="3895344"/>
            <a:ext cx="438912" cy="438912"/>
          </a:xfrm>
          <a:prstGeom prst="rect">
            <a:avLst/>
          </a:prstGeom>
        </p:spPr>
      </p:pic>
      <p:sp>
        <p:nvSpPr>
          <p:cNvPr id="8" name="TextBox 7"/>
          <p:cNvSpPr txBox="1"/>
          <p:nvPr/>
        </p:nvSpPr>
        <p:spPr>
          <a:xfrm>
            <a:off x="822959"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Collaborator</a:t>
            </a:r>
          </a:p>
        </p:txBody>
      </p:sp>
      <p:sp>
        <p:nvSpPr>
          <p:cNvPr id="9" name="TextBox 8"/>
          <p:cNvSpPr txBox="1"/>
          <p:nvPr/>
        </p:nvSpPr>
        <p:spPr>
          <a:xfrm>
            <a:off x="822959"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$11</a:t>
            </a:r>
          </a:p>
        </p:txBody>
      </p:sp>
      <p:sp>
        <p:nvSpPr>
          <p:cNvPr id="10" name="TextBox 9"/>
          <p:cNvSpPr txBox="1"/>
          <p:nvPr/>
        </p:nvSpPr>
        <p:spPr>
          <a:xfrm>
            <a:off x="822959"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1" name="TextBox 10"/>
          <p:cNvSpPr txBox="1"/>
          <p:nvPr/>
        </p:nvSpPr>
        <p:spPr>
          <a:xfrm>
            <a:off x="987552"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PARTICIPANTS + CONTRIBUTORS</a:t>
            </a:r>
          </a:p>
        </p:txBody>
      </p:sp>
      <p:sp>
        <p:nvSpPr>
          <p:cNvPr id="12" name="TextBox 11"/>
          <p:cNvSpPr txBox="1"/>
          <p:nvPr/>
        </p:nvSpPr>
        <p:spPr>
          <a:xfrm>
            <a:off x="1042416"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Get paid for jobs, gigs + spaces. Bank account + wallet.</a:t>
            </a:r>
          </a:p>
        </p:txBody>
      </p:sp>
      <p:sp>
        <p:nvSpPr>
          <p:cNvPr id="13" name="Rounded Rectangle 12"/>
          <p:cNvSpPr/>
          <p:nvPr/>
        </p:nvSpPr>
        <p:spPr>
          <a:xfrm>
            <a:off x="4216298"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vent.png"/>
          <p:cNvPicPr>
            <a:picLocks noChangeAspect="1"/>
          </p:cNvPicPr>
          <p:nvPr/>
        </p:nvPicPr>
        <p:blipFill>
          <a:blip r:embed="rId4"/>
          <a:stretch>
            <a:fillRect/>
          </a:stretch>
        </p:blipFill>
        <p:spPr>
          <a:xfrm>
            <a:off x="5542635" y="3895344"/>
            <a:ext cx="438912" cy="438912"/>
          </a:xfrm>
          <a:prstGeom prst="rect">
            <a:avLst/>
          </a:prstGeom>
        </p:spPr>
      </p:pic>
      <p:sp>
        <p:nvSpPr>
          <p:cNvPr id="15" name="TextBox 14"/>
          <p:cNvSpPr txBox="1"/>
          <p:nvPr/>
        </p:nvSpPr>
        <p:spPr>
          <a:xfrm>
            <a:off x="4216298"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Host</a:t>
            </a:r>
          </a:p>
        </p:txBody>
      </p:sp>
      <p:sp>
        <p:nvSpPr>
          <p:cNvPr id="16" name="TextBox 15"/>
          <p:cNvSpPr txBox="1"/>
          <p:nvPr/>
        </p:nvSpPr>
        <p:spPr>
          <a:xfrm>
            <a:off x="4216298"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17" name="TextBox 16"/>
          <p:cNvSpPr txBox="1"/>
          <p:nvPr/>
        </p:nvSpPr>
        <p:spPr>
          <a:xfrm>
            <a:off x="4216298"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18" name="TextBox 17"/>
          <p:cNvSpPr txBox="1"/>
          <p:nvPr/>
        </p:nvSpPr>
        <p:spPr>
          <a:xfrm>
            <a:off x="4380890"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CONVENERS + EVENT MAKERS</a:t>
            </a:r>
          </a:p>
        </p:txBody>
      </p:sp>
      <p:sp>
        <p:nvSpPr>
          <p:cNvPr id="19" name="TextBox 18"/>
          <p:cNvSpPr txBox="1"/>
          <p:nvPr/>
        </p:nvSpPr>
        <p:spPr>
          <a:xfrm>
            <a:off x="4435754"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Easy event creation, sell tickets, live on the local map.</a:t>
            </a:r>
          </a:p>
        </p:txBody>
      </p:sp>
      <p:sp>
        <p:nvSpPr>
          <p:cNvPr id="20" name="Rounded Rectangle 19"/>
          <p:cNvSpPr/>
          <p:nvPr/>
        </p:nvSpPr>
        <p:spPr>
          <a:xfrm>
            <a:off x="7609636" y="3566160"/>
            <a:ext cx="3091586" cy="48006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ing.png"/>
          <p:cNvPicPr>
            <a:picLocks noChangeAspect="1"/>
          </p:cNvPicPr>
          <p:nvPr/>
        </p:nvPicPr>
        <p:blipFill>
          <a:blip r:embed="rId5"/>
          <a:stretch>
            <a:fillRect/>
          </a:stretch>
        </p:blipFill>
        <p:spPr>
          <a:xfrm>
            <a:off x="8935974" y="3895344"/>
            <a:ext cx="438912" cy="438912"/>
          </a:xfrm>
          <a:prstGeom prst="rect">
            <a:avLst/>
          </a:prstGeom>
        </p:spPr>
      </p:pic>
      <p:sp>
        <p:nvSpPr>
          <p:cNvPr id="22" name="TextBox 21"/>
          <p:cNvSpPr txBox="1"/>
          <p:nvPr/>
        </p:nvSpPr>
        <p:spPr>
          <a:xfrm>
            <a:off x="7609636"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Seller</a:t>
            </a:r>
          </a:p>
        </p:txBody>
      </p:sp>
      <p:sp>
        <p:nvSpPr>
          <p:cNvPr id="23" name="TextBox 22"/>
          <p:cNvSpPr txBox="1"/>
          <p:nvPr/>
        </p:nvSpPr>
        <p:spPr>
          <a:xfrm>
            <a:off x="7609636"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$22</a:t>
            </a:r>
          </a:p>
        </p:txBody>
      </p:sp>
      <p:sp>
        <p:nvSpPr>
          <p:cNvPr id="24" name="TextBox 23"/>
          <p:cNvSpPr txBox="1"/>
          <p:nvPr/>
        </p:nvSpPr>
        <p:spPr>
          <a:xfrm>
            <a:off x="7609636"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25" name="TextBox 24"/>
          <p:cNvSpPr txBox="1"/>
          <p:nvPr/>
        </p:nvSpPr>
        <p:spPr>
          <a:xfrm>
            <a:off x="7774228"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MAKERS + INDEPENDENT MARTS</a:t>
            </a:r>
          </a:p>
        </p:txBody>
      </p:sp>
      <p:sp>
        <p:nvSpPr>
          <p:cNvPr id="26" name="TextBox 25"/>
          <p:cNvSpPr txBox="1"/>
          <p:nvPr/>
        </p:nvSpPr>
        <p:spPr>
          <a:xfrm>
            <a:off x="7829092"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Flexible marketplace, offerings + vouchers, local customers.</a:t>
            </a:r>
          </a:p>
        </p:txBody>
      </p:sp>
      <p:sp>
        <p:nvSpPr>
          <p:cNvPr id="27" name="Rounded Rectangle 26"/>
          <p:cNvSpPr/>
          <p:nvPr/>
        </p:nvSpPr>
        <p:spPr>
          <a:xfrm>
            <a:off x="11002975" y="3566160"/>
            <a:ext cx="3091586" cy="4800600"/>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ervice.png"/>
          <p:cNvPicPr>
            <a:picLocks noChangeAspect="1"/>
          </p:cNvPicPr>
          <p:nvPr/>
        </p:nvPicPr>
        <p:blipFill>
          <a:blip r:embed="rId6"/>
          <a:stretch>
            <a:fillRect/>
          </a:stretch>
        </p:blipFill>
        <p:spPr>
          <a:xfrm>
            <a:off x="12329312" y="3895344"/>
            <a:ext cx="438912" cy="438912"/>
          </a:xfrm>
          <a:prstGeom prst="rect">
            <a:avLst/>
          </a:prstGeom>
        </p:spPr>
      </p:pic>
      <p:sp>
        <p:nvSpPr>
          <p:cNvPr id="29" name="TextBox 28"/>
          <p:cNvSpPr txBox="1"/>
          <p:nvPr/>
        </p:nvSpPr>
        <p:spPr>
          <a:xfrm>
            <a:off x="11002975"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Provider</a:t>
            </a:r>
          </a:p>
        </p:txBody>
      </p:sp>
      <p:sp>
        <p:nvSpPr>
          <p:cNvPr id="30" name="TextBox 29"/>
          <p:cNvSpPr txBox="1"/>
          <p:nvPr/>
        </p:nvSpPr>
        <p:spPr>
          <a:xfrm>
            <a:off x="11002975" y="5129784"/>
            <a:ext cx="3091586" cy="548640"/>
          </a:xfrm>
          <a:prstGeom prst="rect">
            <a:avLst/>
          </a:prstGeom>
          <a:noFill/>
        </p:spPr>
        <p:txBody>
          <a:bodyPr wrap="none" lIns="0" rIns="0" tIns="0" bIns="0">
            <a:spAutoFit/>
          </a:bodyPr>
          <a:lstStyle/>
          <a:p>
            <a:pPr algn="ctr">
              <a:lnSpc>
                <a:spcPct val="115000"/>
              </a:lnSpc>
            </a:pPr>
            <a:r>
              <a:rPr sz="3750" spc="20">
                <a:solidFill>
                  <a:srgbClr val="9FE8DC"/>
                </a:solidFill>
                <a:latin typeface="TT Commons Pro Bold"/>
              </a:rPr>
              <a:t>$33</a:t>
            </a:r>
          </a:p>
        </p:txBody>
      </p:sp>
      <p:sp>
        <p:nvSpPr>
          <p:cNvPr id="31" name="TextBox 30"/>
          <p:cNvSpPr txBox="1"/>
          <p:nvPr/>
        </p:nvSpPr>
        <p:spPr>
          <a:xfrm>
            <a:off x="11002975"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2" name="TextBox 31"/>
          <p:cNvSpPr txBox="1"/>
          <p:nvPr/>
        </p:nvSpPr>
        <p:spPr>
          <a:xfrm>
            <a:off x="11167567"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OPERATORS WHO HOST + SELL</a:t>
            </a:r>
          </a:p>
        </p:txBody>
      </p:sp>
      <p:sp>
        <p:nvSpPr>
          <p:cNvPr id="33" name="TextBox 32"/>
          <p:cNvSpPr txBox="1"/>
          <p:nvPr/>
        </p:nvSpPr>
        <p:spPr>
          <a:xfrm>
            <a:off x="11222431"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Run events, services and sales from one trusted presence.</a:t>
            </a:r>
          </a:p>
        </p:txBody>
      </p:sp>
      <p:sp>
        <p:nvSpPr>
          <p:cNvPr id="34" name="Rounded Rectangle 33"/>
          <p:cNvSpPr/>
          <p:nvPr/>
        </p:nvSpPr>
        <p:spPr>
          <a:xfrm>
            <a:off x="14396313" y="3566160"/>
            <a:ext cx="3091586" cy="4800600"/>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org.png"/>
          <p:cNvPicPr>
            <a:picLocks noChangeAspect="1"/>
          </p:cNvPicPr>
          <p:nvPr/>
        </p:nvPicPr>
        <p:blipFill>
          <a:blip r:embed="rId7"/>
          <a:stretch>
            <a:fillRect/>
          </a:stretch>
        </p:blipFill>
        <p:spPr>
          <a:xfrm>
            <a:off x="15722650" y="3895344"/>
            <a:ext cx="438912" cy="438912"/>
          </a:xfrm>
          <a:prstGeom prst="rect">
            <a:avLst/>
          </a:prstGeom>
        </p:spPr>
      </p:pic>
      <p:sp>
        <p:nvSpPr>
          <p:cNvPr id="36" name="TextBox 35"/>
          <p:cNvSpPr txBox="1"/>
          <p:nvPr/>
        </p:nvSpPr>
        <p:spPr>
          <a:xfrm>
            <a:off x="14396313" y="4581144"/>
            <a:ext cx="3091586" cy="466344"/>
          </a:xfrm>
          <a:prstGeom prst="rect">
            <a:avLst/>
          </a:prstGeom>
          <a:noFill/>
        </p:spPr>
        <p:txBody>
          <a:bodyPr wrap="none" lIns="0" rIns="0" tIns="0" bIns="0">
            <a:spAutoFit/>
          </a:bodyPr>
          <a:lstStyle/>
          <a:p>
            <a:pPr algn="ctr">
              <a:lnSpc>
                <a:spcPct val="115000"/>
              </a:lnSpc>
            </a:pPr>
            <a:r>
              <a:rPr sz="2100">
                <a:solidFill>
                  <a:srgbClr val="F4EAD8"/>
                </a:solidFill>
                <a:latin typeface="TT Commons Pro Bold"/>
              </a:rPr>
              <a:t>Organization</a:t>
            </a:r>
          </a:p>
        </p:txBody>
      </p:sp>
      <p:sp>
        <p:nvSpPr>
          <p:cNvPr id="37" name="TextBox 36"/>
          <p:cNvSpPr txBox="1"/>
          <p:nvPr/>
        </p:nvSpPr>
        <p:spPr>
          <a:xfrm>
            <a:off x="14396313" y="5129784"/>
            <a:ext cx="3091586" cy="548640"/>
          </a:xfrm>
          <a:prstGeom prst="rect">
            <a:avLst/>
          </a:prstGeom>
          <a:noFill/>
        </p:spPr>
        <p:txBody>
          <a:bodyPr wrap="none" lIns="0" rIns="0" tIns="0" bIns="0">
            <a:spAutoFit/>
          </a:bodyPr>
          <a:lstStyle/>
          <a:p>
            <a:pPr algn="ctr">
              <a:lnSpc>
                <a:spcPct val="115000"/>
              </a:lnSpc>
            </a:pPr>
            <a:r>
              <a:rPr sz="3750" spc="20">
                <a:solidFill>
                  <a:srgbClr val="EBCF9E"/>
                </a:solidFill>
                <a:latin typeface="TT Commons Pro Bold"/>
              </a:rPr>
              <a:t>$44</a:t>
            </a:r>
          </a:p>
        </p:txBody>
      </p:sp>
      <p:sp>
        <p:nvSpPr>
          <p:cNvPr id="38" name="TextBox 37"/>
          <p:cNvSpPr txBox="1"/>
          <p:nvPr/>
        </p:nvSpPr>
        <p:spPr>
          <a:xfrm>
            <a:off x="14396313" y="5788152"/>
            <a:ext cx="3091586" cy="384048"/>
          </a:xfrm>
          <a:prstGeom prst="rect">
            <a:avLst/>
          </a:prstGeom>
          <a:noFill/>
        </p:spPr>
        <p:txBody>
          <a:bodyPr wrap="none" lIns="0" rIns="0" tIns="0" bIns="0">
            <a:spAutoFit/>
          </a:bodyPr>
          <a:lstStyle/>
          <a:p>
            <a:pPr algn="ctr">
              <a:lnSpc>
                <a:spcPct val="115000"/>
              </a:lnSpc>
            </a:pPr>
            <a:r>
              <a:rPr sz="1350" spc="150">
                <a:solidFill>
                  <a:srgbClr val="AFC4C2"/>
                </a:solidFill>
                <a:latin typeface="TT Commons Pro"/>
              </a:rPr>
              <a:t>/ month</a:t>
            </a:r>
          </a:p>
        </p:txBody>
      </p:sp>
      <p:sp>
        <p:nvSpPr>
          <p:cNvPr id="39" name="TextBox 38"/>
          <p:cNvSpPr txBox="1"/>
          <p:nvPr/>
        </p:nvSpPr>
        <p:spPr>
          <a:xfrm>
            <a:off x="14560905" y="6281928"/>
            <a:ext cx="2762402" cy="411479"/>
          </a:xfrm>
          <a:prstGeom prst="rect">
            <a:avLst/>
          </a:prstGeom>
          <a:noFill/>
        </p:spPr>
        <p:txBody>
          <a:bodyPr wrap="square" lIns="0" rIns="0" tIns="0" bIns="0">
            <a:spAutoFit/>
          </a:bodyPr>
          <a:lstStyle/>
          <a:p>
            <a:pPr algn="ctr">
              <a:lnSpc>
                <a:spcPct val="115000"/>
              </a:lnSpc>
            </a:pPr>
            <a:r>
              <a:rPr sz="1125" spc="330">
                <a:solidFill>
                  <a:srgbClr val="9FE8DC"/>
                </a:solidFill>
                <a:latin typeface="TT Commons Pro"/>
              </a:rPr>
              <a:t>TEAMS + CO-OPS + PROGRAMS</a:t>
            </a:r>
          </a:p>
        </p:txBody>
      </p:sp>
      <p:sp>
        <p:nvSpPr>
          <p:cNvPr id="40" name="TextBox 39"/>
          <p:cNvSpPr txBox="1"/>
          <p:nvPr/>
        </p:nvSpPr>
        <p:spPr>
          <a:xfrm>
            <a:off x="14615769" y="6926579"/>
            <a:ext cx="2652674" cy="1234440"/>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Projects, jobs, governance, shared-economy tools, transparent financials.</a:t>
            </a:r>
          </a:p>
        </p:txBody>
      </p:sp>
      <p:sp>
        <p:nvSpPr>
          <p:cNvPr id="41" name="Rounded Rectangle 40"/>
          <p:cNvSpPr/>
          <p:nvPr/>
        </p:nvSpPr>
        <p:spPr>
          <a:xfrm>
            <a:off x="822959" y="8641080"/>
            <a:ext cx="16664940" cy="822959"/>
          </a:xfrm>
          <a:prstGeom prst="roundRect">
            <a:avLst>
              <a:gd name="adj" fmla="val 6000"/>
            </a:avLst>
          </a:prstGeom>
          <a:solidFill>
            <a:srgbClr val="084B4D"/>
          </a:solidFill>
          <a:ln w="1714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34440" y="8860536"/>
            <a:ext cx="15910559" cy="411479"/>
          </a:xfrm>
          <a:prstGeom prst="rect">
            <a:avLst/>
          </a:prstGeom>
          <a:noFill/>
        </p:spPr>
        <p:txBody>
          <a:bodyPr wrap="square" lIns="0" rIns="0" tIns="0" bIns="0">
            <a:spAutoFit/>
          </a:bodyPr>
          <a:lstStyle/>
          <a:p>
            <a:pPr algn="ctr">
              <a:lnSpc>
                <a:spcPct val="115000"/>
              </a:lnSpc>
            </a:pPr>
            <a:r>
              <a:rPr sz="1725">
                <a:solidFill>
                  <a:srgbClr val="F2ECDD"/>
                </a:solidFill>
                <a:latin typeface="TT Commons Pro"/>
              </a:rPr>
              <a:t>Basic membership is free. </a:t>
            </a:r>
            <a:r>
              <a:rPr sz="1725">
                <a:solidFill>
                  <a:srgbClr val="EBCF9E"/>
                </a:solidFill>
                <a:latin typeface="TT Commons Pro Bold"/>
              </a:rPr>
              <a:t>Start with your outcome, go deeper when you're ready — one subscription, not a stack of them.</a:t>
            </a:r>
            <a:r>
              <a:rPr sz="1500">
                <a:solidFill>
                  <a:srgbClr val="AFC4C2"/>
                </a:solidFill>
                <a:latin typeface="TT Commons Pro"/>
              </a:rPr>
              <a:t>   +$2.22 / mo processing</a:t>
            </a:r>
          </a:p>
        </p:txBody>
      </p:sp>
      <p:pic>
        <p:nvPicPr>
          <p:cNvPr id="43" name="Picture 42"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44" name="TextBox 4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5" name="TextBox 4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pic>
        <p:nvPicPr>
          <p:cNvPr id="10" name="Picture 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cxnSp>
        <p:nvCxnSpPr>
          <p:cNvPr id="10" name="Connector 9"/>
          <p:cNvCxnSpPr/>
          <p:nvPr/>
        </p:nvCxnSpPr>
        <p:spPr>
          <a:xfrm>
            <a:off x="4732020" y="5280660"/>
            <a:ext cx="7722108" cy="137159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8700" y="4978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3292" y="5116068"/>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relationships</a:t>
            </a:r>
          </a:p>
        </p:txBody>
      </p:sp>
      <p:cxnSp>
        <p:nvCxnSpPr>
          <p:cNvPr id="13" name="Connector 12"/>
          <p:cNvCxnSpPr/>
          <p:nvPr/>
        </p:nvCxnSpPr>
        <p:spPr>
          <a:xfrm>
            <a:off x="4732020" y="59664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8700" y="56647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3292" y="58018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history</a:t>
            </a:r>
          </a:p>
        </p:txBody>
      </p:sp>
      <p:cxnSp>
        <p:nvCxnSpPr>
          <p:cNvPr id="16" name="Connector 15"/>
          <p:cNvCxnSpPr/>
          <p:nvPr/>
        </p:nvCxnSpPr>
        <p:spPr>
          <a:xfrm>
            <a:off x="4732020" y="6652259"/>
            <a:ext cx="7722108" cy="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8700" y="63505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93292" y="64876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qualifications</a:t>
            </a:r>
          </a:p>
        </p:txBody>
      </p:sp>
      <p:cxnSp>
        <p:nvCxnSpPr>
          <p:cNvPr id="19" name="Connector 18"/>
          <p:cNvCxnSpPr/>
          <p:nvPr/>
        </p:nvCxnSpPr>
        <p:spPr>
          <a:xfrm flipV="1">
            <a:off x="4732020" y="66522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28700" y="70363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3292" y="71734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references</a:t>
            </a:r>
          </a:p>
        </p:txBody>
      </p:sp>
      <p:cxnSp>
        <p:nvCxnSpPr>
          <p:cNvPr id="22" name="Connector 21"/>
          <p:cNvCxnSpPr/>
          <p:nvPr/>
        </p:nvCxnSpPr>
        <p:spPr>
          <a:xfrm flipV="1">
            <a:off x="4732020" y="6652259"/>
            <a:ext cx="7722108" cy="13716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 y="77221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3292" y="78592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verified claims</a:t>
            </a:r>
          </a:p>
        </p:txBody>
      </p:sp>
      <p:cxnSp>
        <p:nvCxnSpPr>
          <p:cNvPr id="25" name="Connector 24"/>
          <p:cNvCxnSpPr/>
          <p:nvPr/>
        </p:nvCxnSpPr>
        <p:spPr>
          <a:xfrm flipV="1">
            <a:off x="4732020" y="6652259"/>
            <a:ext cx="7722108" cy="20574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8700" y="8407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3292" y="85450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contribution</a:t>
            </a:r>
          </a:p>
        </p:txBody>
      </p:sp>
      <p:sp>
        <p:nvSpPr>
          <p:cNvPr id="28" name="Oval 27"/>
          <p:cNvSpPr/>
          <p:nvPr/>
        </p:nvSpPr>
        <p:spPr>
          <a:xfrm>
            <a:off x="11864340" y="5349240"/>
            <a:ext cx="2606039" cy="2606039"/>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64340" y="6240779"/>
            <a:ext cx="2606039" cy="960119"/>
          </a:xfrm>
          <a:prstGeom prst="rect">
            <a:avLst/>
          </a:prstGeom>
          <a:noFill/>
        </p:spPr>
        <p:txBody>
          <a:bodyPr wrap="square" lIns="0" rIns="0" tIns="0" bIns="0">
            <a:spAutoFit/>
          </a:bodyPr>
          <a:lstStyle/>
          <a:p>
            <a:pPr algn="ctr">
              <a:lnSpc>
                <a:spcPct val="115000"/>
              </a:lnSpc>
            </a:pPr>
            <a:r>
              <a:rPr sz="1650" spc="330">
                <a:solidFill>
                  <a:srgbClr val="EBCF9E"/>
                </a:solidFill>
                <a:latin typeface="TT Commons Pro"/>
              </a:rPr>
              <a:t>ENOUGH
CONTEXT
TO ACT</a:t>
            </a:r>
          </a:p>
        </p:txBody>
      </p:sp>
      <p:sp>
        <p:nvSpPr>
          <p:cNvPr id="30" name="TextBox 29"/>
          <p:cNvSpPr txBox="1"/>
          <p:nvPr/>
        </p:nvSpPr>
        <p:spPr>
          <a:xfrm>
            <a:off x="5623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 NETWORK ALREADY KNOWS</a:t>
            </a:r>
          </a:p>
        </p:txBody>
      </p:sp>
      <p:pic>
        <p:nvPicPr>
          <p:cNvPr id="31" name="Picture 3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TRUST · CONTRIBUTION OVER POPULARITY</a:t>
            </a:r>
          </a:p>
        </p:txBody>
      </p:sp>
      <p:sp>
        <p:nvSpPr>
          <p:cNvPr id="4" name="TextBox 3"/>
          <p:cNvSpPr txBox="1"/>
          <p:nvPr/>
        </p:nvSpPr>
        <p:spPr>
          <a:xfrm>
            <a:off x="822959" y="1699869"/>
            <a:ext cx="6363017"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Trust is part of </a:t>
            </a:r>
          </a:p>
        </p:txBody>
      </p:sp>
      <p:sp>
        <p:nvSpPr>
          <p:cNvPr id="5" name="TextBox 4"/>
          <p:cNvSpPr txBox="1"/>
          <p:nvPr/>
        </p:nvSpPr>
        <p:spPr>
          <a:xfrm>
            <a:off x="5748782" y="1645919"/>
            <a:ext cx="5700474" cy="1173403"/>
          </a:xfrm>
          <a:prstGeom prst="rect">
            <a:avLst/>
          </a:prstGeom>
          <a:noFill/>
        </p:spPr>
        <p:txBody>
          <a:bodyPr wrap="none" lIns="0" rIns="0" tIns="0" bIns="0">
            <a:spAutoFit/>
          </a:bodyPr>
          <a:lstStyle/>
          <a:p>
            <a:pPr algn="l">
              <a:lnSpc>
                <a:spcPct val="115000"/>
              </a:lnSpc>
            </a:pPr>
            <a:r>
              <a:rPr sz="6372" spc="-75">
                <a:solidFill>
                  <a:srgbClr val="99E6D9"/>
                </a:solidFill>
                <a:latin typeface="Ibarra Real Nova Italics"/>
              </a:rPr>
              <a:t>coordination.</a:t>
            </a:r>
          </a:p>
        </p:txBody>
      </p:sp>
      <p:sp>
        <p:nvSpPr>
          <p:cNvPr id="6" name="TextBox 5"/>
          <p:cNvSpPr txBox="1"/>
          <p:nvPr/>
        </p:nvSpPr>
        <p:spPr>
          <a:xfrm>
            <a:off x="822959" y="3497579"/>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BEFORE ANYONE ACTS, THEY ASK</a:t>
            </a:r>
          </a:p>
        </p:txBody>
      </p:sp>
      <p:sp>
        <p:nvSpPr>
          <p:cNvPr id="7" name="TextBox 6"/>
          <p:cNvSpPr txBox="1"/>
          <p:nvPr/>
        </p:nvSpPr>
        <p:spPr>
          <a:xfrm>
            <a:off x="82295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Who is this person?</a:t>
            </a:r>
          </a:p>
        </p:txBody>
      </p:sp>
      <p:sp>
        <p:nvSpPr>
          <p:cNvPr id="8" name="TextBox 7"/>
          <p:cNvSpPr txBox="1"/>
          <p:nvPr/>
        </p:nvSpPr>
        <p:spPr>
          <a:xfrm>
            <a:off x="6446519"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Have they done this before?</a:t>
            </a:r>
          </a:p>
        </p:txBody>
      </p:sp>
      <p:sp>
        <p:nvSpPr>
          <p:cNvPr id="9" name="TextBox 8"/>
          <p:cNvSpPr txBox="1"/>
          <p:nvPr/>
        </p:nvSpPr>
        <p:spPr>
          <a:xfrm>
            <a:off x="12070080" y="3977639"/>
            <a:ext cx="5486400" cy="466344"/>
          </a:xfrm>
          <a:prstGeom prst="rect">
            <a:avLst/>
          </a:prstGeom>
          <a:noFill/>
        </p:spPr>
        <p:txBody>
          <a:bodyPr wrap="square" lIns="0" rIns="0" tIns="0" bIns="0">
            <a:spAutoFit/>
          </a:bodyPr>
          <a:lstStyle/>
          <a:p>
            <a:pPr algn="l">
              <a:lnSpc>
                <a:spcPct val="115000"/>
              </a:lnSpc>
            </a:pPr>
            <a:r>
              <a:rPr sz="1950" spc="20">
                <a:solidFill>
                  <a:srgbClr val="F0CC8B"/>
                </a:solidFill>
                <a:latin typeface="Alike Italics"/>
              </a:rPr>
              <a:t>?  </a:t>
            </a:r>
            <a:r>
              <a:rPr sz="1875" spc="20">
                <a:solidFill>
                  <a:srgbClr val="F2ECDD"/>
                </a:solidFill>
                <a:latin typeface="Alike Italics"/>
              </a:rPr>
              <a:t>Do we share relationships?</a:t>
            </a:r>
          </a:p>
        </p:txBody>
      </p:sp>
      <p:cxnSp>
        <p:nvCxnSpPr>
          <p:cNvPr id="10" name="Connector 9"/>
          <p:cNvCxnSpPr/>
          <p:nvPr/>
        </p:nvCxnSpPr>
        <p:spPr>
          <a:xfrm>
            <a:off x="4732020" y="5280660"/>
            <a:ext cx="7722108" cy="1371599"/>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8700" y="4978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3292" y="5116068"/>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relationships</a:t>
            </a:r>
          </a:p>
        </p:txBody>
      </p:sp>
      <p:cxnSp>
        <p:nvCxnSpPr>
          <p:cNvPr id="13" name="Connector 12"/>
          <p:cNvCxnSpPr/>
          <p:nvPr/>
        </p:nvCxnSpPr>
        <p:spPr>
          <a:xfrm>
            <a:off x="4732020" y="59664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8700" y="56647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3292" y="58018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history</a:t>
            </a:r>
          </a:p>
        </p:txBody>
      </p:sp>
      <p:cxnSp>
        <p:nvCxnSpPr>
          <p:cNvPr id="16" name="Connector 15"/>
          <p:cNvCxnSpPr/>
          <p:nvPr/>
        </p:nvCxnSpPr>
        <p:spPr>
          <a:xfrm>
            <a:off x="4732020" y="6652259"/>
            <a:ext cx="7722108" cy="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8700" y="63505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93292" y="64876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qualifications</a:t>
            </a:r>
          </a:p>
        </p:txBody>
      </p:sp>
      <p:cxnSp>
        <p:nvCxnSpPr>
          <p:cNvPr id="19" name="Connector 18"/>
          <p:cNvCxnSpPr/>
          <p:nvPr/>
        </p:nvCxnSpPr>
        <p:spPr>
          <a:xfrm flipV="1">
            <a:off x="4732020" y="6652259"/>
            <a:ext cx="7722108" cy="6858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28700" y="70363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3292" y="71734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references</a:t>
            </a:r>
          </a:p>
        </p:txBody>
      </p:sp>
      <p:cxnSp>
        <p:nvCxnSpPr>
          <p:cNvPr id="22" name="Connector 21"/>
          <p:cNvCxnSpPr/>
          <p:nvPr/>
        </p:nvCxnSpPr>
        <p:spPr>
          <a:xfrm flipV="1">
            <a:off x="4732020" y="6652259"/>
            <a:ext cx="7722108" cy="13716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 y="77221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3292" y="78592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verified claims</a:t>
            </a:r>
          </a:p>
        </p:txBody>
      </p:sp>
      <p:cxnSp>
        <p:nvCxnSpPr>
          <p:cNvPr id="25" name="Connector 24"/>
          <p:cNvCxnSpPr/>
          <p:nvPr/>
        </p:nvCxnSpPr>
        <p:spPr>
          <a:xfrm flipV="1">
            <a:off x="4732020" y="6652259"/>
            <a:ext cx="7722108" cy="2057400"/>
          </a:xfrm>
          <a:prstGeom prst="line">
            <a:avLst/>
          </a:prstGeom>
          <a:ln w="10160">
            <a:solidFill>
              <a:srgbClr val="1E5A58"/>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28700" y="8407908"/>
            <a:ext cx="3703320" cy="603504"/>
          </a:xfrm>
          <a:prstGeom prst="roundRect">
            <a:avLst>
              <a:gd name="adj" fmla="val 30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3292" y="8545067"/>
            <a:ext cx="3374136"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contribution</a:t>
            </a:r>
          </a:p>
        </p:txBody>
      </p:sp>
      <p:sp>
        <p:nvSpPr>
          <p:cNvPr id="28" name="Oval 27"/>
          <p:cNvSpPr/>
          <p:nvPr/>
        </p:nvSpPr>
        <p:spPr>
          <a:xfrm>
            <a:off x="11864340" y="5349240"/>
            <a:ext cx="2606039" cy="2606039"/>
          </a:xfrm>
          <a:prstGeom prst="ellipse">
            <a:avLst/>
          </a:prstGeom>
          <a:solidFill>
            <a:srgbClr val="084B4D"/>
          </a:solidFill>
          <a:ln w="1778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64340" y="6240779"/>
            <a:ext cx="2606039" cy="960119"/>
          </a:xfrm>
          <a:prstGeom prst="rect">
            <a:avLst/>
          </a:prstGeom>
          <a:noFill/>
        </p:spPr>
        <p:txBody>
          <a:bodyPr wrap="square" lIns="0" rIns="0" tIns="0" bIns="0">
            <a:spAutoFit/>
          </a:bodyPr>
          <a:lstStyle/>
          <a:p>
            <a:pPr algn="ctr">
              <a:lnSpc>
                <a:spcPct val="115000"/>
              </a:lnSpc>
            </a:pPr>
            <a:r>
              <a:rPr sz="1650" spc="330">
                <a:solidFill>
                  <a:srgbClr val="EBCF9E"/>
                </a:solidFill>
                <a:latin typeface="TT Commons Pro"/>
              </a:rPr>
              <a:t>ENOUGH
CONTEXT
TO ACT</a:t>
            </a:r>
          </a:p>
        </p:txBody>
      </p:sp>
      <p:sp>
        <p:nvSpPr>
          <p:cNvPr id="30" name="TextBox 29"/>
          <p:cNvSpPr txBox="1"/>
          <p:nvPr/>
        </p:nvSpPr>
        <p:spPr>
          <a:xfrm>
            <a:off x="5623559" y="480060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 NETWORK ALREADY KNOWS</a:t>
            </a:r>
          </a:p>
        </p:txBody>
      </p:sp>
      <p:sp>
        <p:nvSpPr>
          <p:cNvPr id="31" name="TextBox 30"/>
          <p:cNvSpPr txBox="1"/>
          <p:nvPr/>
        </p:nvSpPr>
        <p:spPr>
          <a:xfrm>
            <a:off x="822959" y="870965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SO CONTRIBUTION CAN OUTWEIGH POPULARITY</a:t>
            </a:r>
          </a:p>
        </p:txBody>
      </p:sp>
      <p:sp>
        <p:nvSpPr>
          <p:cNvPr id="32" name="TextBox 31"/>
          <p:cNvSpPr txBox="1"/>
          <p:nvPr/>
        </p:nvSpPr>
        <p:spPr>
          <a:xfrm>
            <a:off x="822959" y="9121140"/>
            <a:ext cx="16596359" cy="466344"/>
          </a:xfrm>
          <a:prstGeom prst="rect">
            <a:avLst/>
          </a:prstGeom>
          <a:noFill/>
        </p:spPr>
        <p:txBody>
          <a:bodyPr wrap="square" lIns="0" rIns="0" tIns="0" bIns="0">
            <a:spAutoFit/>
          </a:bodyPr>
          <a:lstStyle/>
          <a:p>
            <a:pPr algn="l">
              <a:lnSpc>
                <a:spcPct val="115000"/>
              </a:lnSpc>
            </a:pPr>
            <a:r>
              <a:rPr sz="1800">
                <a:solidFill>
                  <a:srgbClr val="F2ECDD"/>
                </a:solidFill>
                <a:latin typeface="TT Commons Pro"/>
              </a:rPr>
              <a:t>Most platforms measure followers, likes and views. </a:t>
            </a:r>
            <a:r>
              <a:rPr sz="1800">
                <a:solidFill>
                  <a:srgbClr val="9FE8DC"/>
                </a:solidFill>
                <a:latin typeface="TT Commons Pro Bold"/>
              </a:rPr>
              <a:t>Rivr can measure projects helped, work completed, people supported.</a:t>
            </a:r>
          </a:p>
        </p:txBody>
      </p:sp>
      <p:pic>
        <p:nvPicPr>
          <p:cNvPr id="33" name="Picture 3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4" name="TextBox 3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5" name="TextBox 3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LIFE · ORGANIZATIONS</a:t>
            </a:r>
          </a:p>
        </p:txBody>
      </p:sp>
      <p:sp>
        <p:nvSpPr>
          <p:cNvPr id="4" name="TextBox 3"/>
          <p:cNvSpPr txBox="1"/>
          <p:nvPr/>
        </p:nvSpPr>
        <p:spPr>
          <a:xfrm>
            <a:off x="822959" y="1699869"/>
            <a:ext cx="1229693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place where the organization can </a:t>
            </a:r>
          </a:p>
        </p:txBody>
      </p:sp>
      <p:sp>
        <p:nvSpPr>
          <p:cNvPr id="5" name="TextBox 4"/>
          <p:cNvSpPr txBox="1"/>
          <p:nvPr/>
        </p:nvSpPr>
        <p:spPr>
          <a:xfrm>
            <a:off x="10495914" y="1645919"/>
            <a:ext cx="5718333"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actually operate.</a:t>
            </a:r>
          </a:p>
        </p:txBody>
      </p:sp>
      <p:sp>
        <p:nvSpPr>
          <p:cNvPr id="6" name="TextBox 5"/>
          <p:cNvSpPr txBox="1"/>
          <p:nvPr/>
        </p:nvSpPr>
        <p:spPr>
          <a:xfrm>
            <a:off x="822959" y="336042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NOT ANOTHER GROUP CHAT ABOUT THE ORGANIZATION</a:t>
            </a:r>
          </a:p>
        </p:txBody>
      </p:sp>
      <p:sp>
        <p:nvSpPr>
          <p:cNvPr id="7" name="Rounded Rectangle 6"/>
          <p:cNvSpPr/>
          <p:nvPr/>
        </p:nvSpPr>
        <p:spPr>
          <a:xfrm>
            <a:off x="822959"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3"/>
          <a:stretch>
            <a:fillRect/>
          </a:stretch>
        </p:blipFill>
        <p:spPr>
          <a:xfrm>
            <a:off x="1933956" y="4046220"/>
            <a:ext cx="356616" cy="356616"/>
          </a:xfrm>
          <a:prstGeom prst="rect">
            <a:avLst/>
          </a:prstGeom>
        </p:spPr>
      </p:pic>
      <p:sp>
        <p:nvSpPr>
          <p:cNvPr id="9" name="TextBox 8"/>
          <p:cNvSpPr txBox="1"/>
          <p:nvPr/>
        </p:nvSpPr>
        <p:spPr>
          <a:xfrm>
            <a:off x="82295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documents</a:t>
            </a:r>
          </a:p>
        </p:txBody>
      </p:sp>
      <p:sp>
        <p:nvSpPr>
          <p:cNvPr id="10" name="Rounded Rectangle 9"/>
          <p:cNvSpPr/>
          <p:nvPr/>
        </p:nvSpPr>
        <p:spPr>
          <a:xfrm>
            <a:off x="3607308"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4"/>
          <a:stretch>
            <a:fillRect/>
          </a:stretch>
        </p:blipFill>
        <p:spPr>
          <a:xfrm>
            <a:off x="4718304" y="4046220"/>
            <a:ext cx="356616" cy="356616"/>
          </a:xfrm>
          <a:prstGeom prst="rect">
            <a:avLst/>
          </a:prstGeom>
        </p:spPr>
      </p:pic>
      <p:sp>
        <p:nvSpPr>
          <p:cNvPr id="12" name="TextBox 11"/>
          <p:cNvSpPr txBox="1"/>
          <p:nvPr/>
        </p:nvSpPr>
        <p:spPr>
          <a:xfrm>
            <a:off x="3607308"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projects</a:t>
            </a:r>
          </a:p>
        </p:txBody>
      </p:sp>
      <p:sp>
        <p:nvSpPr>
          <p:cNvPr id="13" name="Rounded Rectangle 12"/>
          <p:cNvSpPr/>
          <p:nvPr/>
        </p:nvSpPr>
        <p:spPr>
          <a:xfrm>
            <a:off x="6391655"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4"/>
          <a:stretch>
            <a:fillRect/>
          </a:stretch>
        </p:blipFill>
        <p:spPr>
          <a:xfrm>
            <a:off x="7502652" y="4046220"/>
            <a:ext cx="356616" cy="356616"/>
          </a:xfrm>
          <a:prstGeom prst="rect">
            <a:avLst/>
          </a:prstGeom>
        </p:spPr>
      </p:pic>
      <p:sp>
        <p:nvSpPr>
          <p:cNvPr id="15" name="TextBox 14"/>
          <p:cNvSpPr txBox="1"/>
          <p:nvPr/>
        </p:nvSpPr>
        <p:spPr>
          <a:xfrm>
            <a:off x="6391655"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jobs</a:t>
            </a:r>
          </a:p>
        </p:txBody>
      </p:sp>
      <p:sp>
        <p:nvSpPr>
          <p:cNvPr id="16" name="Rounded Rectangle 15"/>
          <p:cNvSpPr/>
          <p:nvPr/>
        </p:nvSpPr>
        <p:spPr>
          <a:xfrm>
            <a:off x="9176004"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5"/>
          <a:stretch>
            <a:fillRect/>
          </a:stretch>
        </p:blipFill>
        <p:spPr>
          <a:xfrm>
            <a:off x="10286999" y="4046220"/>
            <a:ext cx="356616" cy="356616"/>
          </a:xfrm>
          <a:prstGeom prst="rect">
            <a:avLst/>
          </a:prstGeom>
        </p:spPr>
      </p:pic>
      <p:sp>
        <p:nvSpPr>
          <p:cNvPr id="18" name="TextBox 17"/>
          <p:cNvSpPr txBox="1"/>
          <p:nvPr/>
        </p:nvSpPr>
        <p:spPr>
          <a:xfrm>
            <a:off x="9176004"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tasks</a:t>
            </a:r>
          </a:p>
        </p:txBody>
      </p:sp>
      <p:sp>
        <p:nvSpPr>
          <p:cNvPr id="19" name="Rounded Rectangle 18"/>
          <p:cNvSpPr/>
          <p:nvPr/>
        </p:nvSpPr>
        <p:spPr>
          <a:xfrm>
            <a:off x="11960351"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6"/>
          <a:stretch>
            <a:fillRect/>
          </a:stretch>
        </p:blipFill>
        <p:spPr>
          <a:xfrm>
            <a:off x="13071347" y="4046220"/>
            <a:ext cx="356616" cy="356616"/>
          </a:xfrm>
          <a:prstGeom prst="rect">
            <a:avLst/>
          </a:prstGeom>
        </p:spPr>
      </p:pic>
      <p:sp>
        <p:nvSpPr>
          <p:cNvPr id="21" name="TextBox 20"/>
          <p:cNvSpPr txBox="1"/>
          <p:nvPr/>
        </p:nvSpPr>
        <p:spPr>
          <a:xfrm>
            <a:off x="11960351"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qualifications</a:t>
            </a:r>
          </a:p>
        </p:txBody>
      </p:sp>
      <p:sp>
        <p:nvSpPr>
          <p:cNvPr id="22" name="Rounded Rectangle 21"/>
          <p:cNvSpPr/>
          <p:nvPr/>
        </p:nvSpPr>
        <p:spPr>
          <a:xfrm>
            <a:off x="14744699"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7"/>
          <a:stretch>
            <a:fillRect/>
          </a:stretch>
        </p:blipFill>
        <p:spPr>
          <a:xfrm>
            <a:off x="15855695" y="4046220"/>
            <a:ext cx="356616" cy="356616"/>
          </a:xfrm>
          <a:prstGeom prst="rect">
            <a:avLst/>
          </a:prstGeom>
        </p:spPr>
      </p:pic>
      <p:sp>
        <p:nvSpPr>
          <p:cNvPr id="24" name="TextBox 23"/>
          <p:cNvSpPr txBox="1"/>
          <p:nvPr/>
        </p:nvSpPr>
        <p:spPr>
          <a:xfrm>
            <a:off x="1474469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roles</a:t>
            </a:r>
          </a:p>
        </p:txBody>
      </p:sp>
      <p:sp>
        <p:nvSpPr>
          <p:cNvPr id="25" name="Rounded Rectangle 24"/>
          <p:cNvSpPr/>
          <p:nvPr/>
        </p:nvSpPr>
        <p:spPr>
          <a:xfrm>
            <a:off x="822959"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8"/>
          <a:stretch>
            <a:fillRect/>
          </a:stretch>
        </p:blipFill>
        <p:spPr>
          <a:xfrm>
            <a:off x="1933956" y="5582412"/>
            <a:ext cx="356616" cy="356616"/>
          </a:xfrm>
          <a:prstGeom prst="rect">
            <a:avLst/>
          </a:prstGeom>
        </p:spPr>
      </p:pic>
      <p:sp>
        <p:nvSpPr>
          <p:cNvPr id="27" name="TextBox 26"/>
          <p:cNvSpPr txBox="1"/>
          <p:nvPr/>
        </p:nvSpPr>
        <p:spPr>
          <a:xfrm>
            <a:off x="82295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contributions</a:t>
            </a:r>
          </a:p>
        </p:txBody>
      </p:sp>
      <p:sp>
        <p:nvSpPr>
          <p:cNvPr id="28" name="Rounded Rectangle 27"/>
          <p:cNvSpPr/>
          <p:nvPr/>
        </p:nvSpPr>
        <p:spPr>
          <a:xfrm>
            <a:off x="3607308"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9"/>
          <a:stretch>
            <a:fillRect/>
          </a:stretch>
        </p:blipFill>
        <p:spPr>
          <a:xfrm>
            <a:off x="4718304" y="5582412"/>
            <a:ext cx="356616" cy="356616"/>
          </a:xfrm>
          <a:prstGeom prst="rect">
            <a:avLst/>
          </a:prstGeom>
        </p:spPr>
      </p:pic>
      <p:sp>
        <p:nvSpPr>
          <p:cNvPr id="30" name="TextBox 29"/>
          <p:cNvSpPr txBox="1"/>
          <p:nvPr/>
        </p:nvSpPr>
        <p:spPr>
          <a:xfrm>
            <a:off x="3607308"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governance</a:t>
            </a:r>
          </a:p>
        </p:txBody>
      </p:sp>
      <p:sp>
        <p:nvSpPr>
          <p:cNvPr id="31" name="Rounded Rectangle 30"/>
          <p:cNvSpPr/>
          <p:nvPr/>
        </p:nvSpPr>
        <p:spPr>
          <a:xfrm>
            <a:off x="6391655"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asury.png"/>
          <p:cNvPicPr>
            <a:picLocks noChangeAspect="1"/>
          </p:cNvPicPr>
          <p:nvPr/>
        </p:nvPicPr>
        <p:blipFill>
          <a:blip r:embed="rId10"/>
          <a:stretch>
            <a:fillRect/>
          </a:stretch>
        </p:blipFill>
        <p:spPr>
          <a:xfrm>
            <a:off x="7502652" y="5582412"/>
            <a:ext cx="356616" cy="356616"/>
          </a:xfrm>
          <a:prstGeom prst="rect">
            <a:avLst/>
          </a:prstGeom>
        </p:spPr>
      </p:pic>
      <p:sp>
        <p:nvSpPr>
          <p:cNvPr id="33" name="TextBox 32"/>
          <p:cNvSpPr txBox="1"/>
          <p:nvPr/>
        </p:nvSpPr>
        <p:spPr>
          <a:xfrm>
            <a:off x="6391655"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treasury</a:t>
            </a:r>
          </a:p>
        </p:txBody>
      </p:sp>
      <p:sp>
        <p:nvSpPr>
          <p:cNvPr id="34" name="Rounded Rectangle 33"/>
          <p:cNvSpPr/>
          <p:nvPr/>
        </p:nvSpPr>
        <p:spPr>
          <a:xfrm>
            <a:off x="9176004"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money.png"/>
          <p:cNvPicPr>
            <a:picLocks noChangeAspect="1"/>
          </p:cNvPicPr>
          <p:nvPr/>
        </p:nvPicPr>
        <p:blipFill>
          <a:blip r:embed="rId11"/>
          <a:stretch>
            <a:fillRect/>
          </a:stretch>
        </p:blipFill>
        <p:spPr>
          <a:xfrm>
            <a:off x="10286999" y="5582412"/>
            <a:ext cx="356616" cy="356616"/>
          </a:xfrm>
          <a:prstGeom prst="rect">
            <a:avLst/>
          </a:prstGeom>
        </p:spPr>
      </p:pic>
      <p:sp>
        <p:nvSpPr>
          <p:cNvPr id="36" name="TextBox 35"/>
          <p:cNvSpPr txBox="1"/>
          <p:nvPr/>
        </p:nvSpPr>
        <p:spPr>
          <a:xfrm>
            <a:off x="9176004"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payments</a:t>
            </a:r>
          </a:p>
        </p:txBody>
      </p:sp>
      <p:sp>
        <p:nvSpPr>
          <p:cNvPr id="37" name="Rounded Rectangle 36"/>
          <p:cNvSpPr/>
          <p:nvPr/>
        </p:nvSpPr>
        <p:spPr>
          <a:xfrm>
            <a:off x="11960351"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erson.png"/>
          <p:cNvPicPr>
            <a:picLocks noChangeAspect="1"/>
          </p:cNvPicPr>
          <p:nvPr/>
        </p:nvPicPr>
        <p:blipFill>
          <a:blip r:embed="rId12"/>
          <a:stretch>
            <a:fillRect/>
          </a:stretch>
        </p:blipFill>
        <p:spPr>
          <a:xfrm>
            <a:off x="13071347" y="5582412"/>
            <a:ext cx="356616" cy="356616"/>
          </a:xfrm>
          <a:prstGeom prst="rect">
            <a:avLst/>
          </a:prstGeom>
        </p:spPr>
      </p:pic>
      <p:sp>
        <p:nvSpPr>
          <p:cNvPr id="39" name="TextBox 38"/>
          <p:cNvSpPr txBox="1"/>
          <p:nvPr/>
        </p:nvSpPr>
        <p:spPr>
          <a:xfrm>
            <a:off x="11960351"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membership</a:t>
            </a:r>
          </a:p>
        </p:txBody>
      </p:sp>
      <p:sp>
        <p:nvSpPr>
          <p:cNvPr id="40" name="Rounded Rectangle 39"/>
          <p:cNvSpPr/>
          <p:nvPr/>
        </p:nvSpPr>
        <p:spPr>
          <a:xfrm>
            <a:off x="14744699"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vent.png"/>
          <p:cNvPicPr>
            <a:picLocks noChangeAspect="1"/>
          </p:cNvPicPr>
          <p:nvPr/>
        </p:nvPicPr>
        <p:blipFill>
          <a:blip r:embed="rId13"/>
          <a:stretch>
            <a:fillRect/>
          </a:stretch>
        </p:blipFill>
        <p:spPr>
          <a:xfrm>
            <a:off x="15855695" y="5582412"/>
            <a:ext cx="356616" cy="356616"/>
          </a:xfrm>
          <a:prstGeom prst="rect">
            <a:avLst/>
          </a:prstGeom>
        </p:spPr>
      </p:pic>
      <p:sp>
        <p:nvSpPr>
          <p:cNvPr id="42" name="TextBox 41"/>
          <p:cNvSpPr txBox="1"/>
          <p:nvPr/>
        </p:nvSpPr>
        <p:spPr>
          <a:xfrm>
            <a:off x="1474469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events</a:t>
            </a:r>
          </a:p>
        </p:txBody>
      </p:sp>
      <p:pic>
        <p:nvPicPr>
          <p:cNvPr id="43" name="Picture 42"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44" name="TextBox 4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5" name="TextBox 4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LIFE · ORGANIZATIONS</a:t>
            </a:r>
          </a:p>
        </p:txBody>
      </p:sp>
      <p:sp>
        <p:nvSpPr>
          <p:cNvPr id="4" name="TextBox 3"/>
          <p:cNvSpPr txBox="1"/>
          <p:nvPr/>
        </p:nvSpPr>
        <p:spPr>
          <a:xfrm>
            <a:off x="822959" y="1699869"/>
            <a:ext cx="12296933" cy="880052"/>
          </a:xfrm>
          <a:prstGeom prst="rect">
            <a:avLst/>
          </a:prstGeom>
          <a:noFill/>
        </p:spPr>
        <p:txBody>
          <a:bodyPr wrap="none" lIns="0" rIns="0" tIns="0" bIns="0">
            <a:spAutoFit/>
          </a:bodyPr>
          <a:lstStyle/>
          <a:p>
            <a:pPr algn="l">
              <a:lnSpc>
                <a:spcPct val="115000"/>
              </a:lnSpc>
            </a:pPr>
            <a:r>
              <a:rPr sz="4779" spc="-65">
                <a:solidFill>
                  <a:srgbClr val="F4EAD8"/>
                </a:solidFill>
                <a:latin typeface="TT Commons Pro Bold"/>
              </a:rPr>
              <a:t>A place where the organization can </a:t>
            </a:r>
          </a:p>
        </p:txBody>
      </p:sp>
      <p:sp>
        <p:nvSpPr>
          <p:cNvPr id="5" name="TextBox 4"/>
          <p:cNvSpPr txBox="1"/>
          <p:nvPr/>
        </p:nvSpPr>
        <p:spPr>
          <a:xfrm>
            <a:off x="10495914" y="1645919"/>
            <a:ext cx="5718333" cy="977836"/>
          </a:xfrm>
          <a:prstGeom prst="rect">
            <a:avLst/>
          </a:prstGeom>
          <a:noFill/>
        </p:spPr>
        <p:txBody>
          <a:bodyPr wrap="none" lIns="0" rIns="0" tIns="0" bIns="0">
            <a:spAutoFit/>
          </a:bodyPr>
          <a:lstStyle/>
          <a:p>
            <a:pPr algn="l">
              <a:lnSpc>
                <a:spcPct val="115000"/>
              </a:lnSpc>
            </a:pPr>
            <a:r>
              <a:rPr sz="5309" spc="-75">
                <a:solidFill>
                  <a:srgbClr val="99E6D9"/>
                </a:solidFill>
                <a:latin typeface="Ibarra Real Nova Italics"/>
              </a:rPr>
              <a:t>actually operate.</a:t>
            </a:r>
          </a:p>
        </p:txBody>
      </p:sp>
      <p:sp>
        <p:nvSpPr>
          <p:cNvPr id="6" name="TextBox 5"/>
          <p:cNvSpPr txBox="1"/>
          <p:nvPr/>
        </p:nvSpPr>
        <p:spPr>
          <a:xfrm>
            <a:off x="822959" y="336042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NOT ANOTHER GROUP CHAT ABOUT THE ORGANIZATION</a:t>
            </a:r>
          </a:p>
        </p:txBody>
      </p:sp>
      <p:sp>
        <p:nvSpPr>
          <p:cNvPr id="7" name="Rounded Rectangle 6"/>
          <p:cNvSpPr/>
          <p:nvPr/>
        </p:nvSpPr>
        <p:spPr>
          <a:xfrm>
            <a:off x="822959"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c.png"/>
          <p:cNvPicPr>
            <a:picLocks noChangeAspect="1"/>
          </p:cNvPicPr>
          <p:nvPr/>
        </p:nvPicPr>
        <p:blipFill>
          <a:blip r:embed="rId3"/>
          <a:stretch>
            <a:fillRect/>
          </a:stretch>
        </p:blipFill>
        <p:spPr>
          <a:xfrm>
            <a:off x="1933956" y="4046220"/>
            <a:ext cx="356616" cy="356616"/>
          </a:xfrm>
          <a:prstGeom prst="rect">
            <a:avLst/>
          </a:prstGeom>
        </p:spPr>
      </p:pic>
      <p:sp>
        <p:nvSpPr>
          <p:cNvPr id="9" name="TextBox 8"/>
          <p:cNvSpPr txBox="1"/>
          <p:nvPr/>
        </p:nvSpPr>
        <p:spPr>
          <a:xfrm>
            <a:off x="82295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documents</a:t>
            </a:r>
          </a:p>
        </p:txBody>
      </p:sp>
      <p:sp>
        <p:nvSpPr>
          <p:cNvPr id="10" name="Rounded Rectangle 9"/>
          <p:cNvSpPr/>
          <p:nvPr/>
        </p:nvSpPr>
        <p:spPr>
          <a:xfrm>
            <a:off x="3607308"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ject.png"/>
          <p:cNvPicPr>
            <a:picLocks noChangeAspect="1"/>
          </p:cNvPicPr>
          <p:nvPr/>
        </p:nvPicPr>
        <p:blipFill>
          <a:blip r:embed="rId4"/>
          <a:stretch>
            <a:fillRect/>
          </a:stretch>
        </p:blipFill>
        <p:spPr>
          <a:xfrm>
            <a:off x="4718304" y="4046220"/>
            <a:ext cx="356616" cy="356616"/>
          </a:xfrm>
          <a:prstGeom prst="rect">
            <a:avLst/>
          </a:prstGeom>
        </p:spPr>
      </p:pic>
      <p:sp>
        <p:nvSpPr>
          <p:cNvPr id="12" name="TextBox 11"/>
          <p:cNvSpPr txBox="1"/>
          <p:nvPr/>
        </p:nvSpPr>
        <p:spPr>
          <a:xfrm>
            <a:off x="3607308"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projects</a:t>
            </a:r>
          </a:p>
        </p:txBody>
      </p:sp>
      <p:sp>
        <p:nvSpPr>
          <p:cNvPr id="13" name="Rounded Rectangle 12"/>
          <p:cNvSpPr/>
          <p:nvPr/>
        </p:nvSpPr>
        <p:spPr>
          <a:xfrm>
            <a:off x="6391655"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ject.png"/>
          <p:cNvPicPr>
            <a:picLocks noChangeAspect="1"/>
          </p:cNvPicPr>
          <p:nvPr/>
        </p:nvPicPr>
        <p:blipFill>
          <a:blip r:embed="rId4"/>
          <a:stretch>
            <a:fillRect/>
          </a:stretch>
        </p:blipFill>
        <p:spPr>
          <a:xfrm>
            <a:off x="7502652" y="4046220"/>
            <a:ext cx="356616" cy="356616"/>
          </a:xfrm>
          <a:prstGeom prst="rect">
            <a:avLst/>
          </a:prstGeom>
        </p:spPr>
      </p:pic>
      <p:sp>
        <p:nvSpPr>
          <p:cNvPr id="15" name="TextBox 14"/>
          <p:cNvSpPr txBox="1"/>
          <p:nvPr/>
        </p:nvSpPr>
        <p:spPr>
          <a:xfrm>
            <a:off x="6391655"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jobs</a:t>
            </a:r>
          </a:p>
        </p:txBody>
      </p:sp>
      <p:sp>
        <p:nvSpPr>
          <p:cNvPr id="16" name="Rounded Rectangle 15"/>
          <p:cNvSpPr/>
          <p:nvPr/>
        </p:nvSpPr>
        <p:spPr>
          <a:xfrm>
            <a:off x="9176004"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sk.png"/>
          <p:cNvPicPr>
            <a:picLocks noChangeAspect="1"/>
          </p:cNvPicPr>
          <p:nvPr/>
        </p:nvPicPr>
        <p:blipFill>
          <a:blip r:embed="rId5"/>
          <a:stretch>
            <a:fillRect/>
          </a:stretch>
        </p:blipFill>
        <p:spPr>
          <a:xfrm>
            <a:off x="10286999" y="4046220"/>
            <a:ext cx="356616" cy="356616"/>
          </a:xfrm>
          <a:prstGeom prst="rect">
            <a:avLst/>
          </a:prstGeom>
        </p:spPr>
      </p:pic>
      <p:sp>
        <p:nvSpPr>
          <p:cNvPr id="18" name="TextBox 17"/>
          <p:cNvSpPr txBox="1"/>
          <p:nvPr/>
        </p:nvSpPr>
        <p:spPr>
          <a:xfrm>
            <a:off x="9176004"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tasks</a:t>
            </a:r>
          </a:p>
        </p:txBody>
      </p:sp>
      <p:sp>
        <p:nvSpPr>
          <p:cNvPr id="19" name="Rounded Rectangle 18"/>
          <p:cNvSpPr/>
          <p:nvPr/>
        </p:nvSpPr>
        <p:spPr>
          <a:xfrm>
            <a:off x="11960351" y="3813048"/>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adge.png"/>
          <p:cNvPicPr>
            <a:picLocks noChangeAspect="1"/>
          </p:cNvPicPr>
          <p:nvPr/>
        </p:nvPicPr>
        <p:blipFill>
          <a:blip r:embed="rId6"/>
          <a:stretch>
            <a:fillRect/>
          </a:stretch>
        </p:blipFill>
        <p:spPr>
          <a:xfrm>
            <a:off x="13071347" y="4046220"/>
            <a:ext cx="356616" cy="356616"/>
          </a:xfrm>
          <a:prstGeom prst="rect">
            <a:avLst/>
          </a:prstGeom>
        </p:spPr>
      </p:pic>
      <p:sp>
        <p:nvSpPr>
          <p:cNvPr id="21" name="TextBox 20"/>
          <p:cNvSpPr txBox="1"/>
          <p:nvPr/>
        </p:nvSpPr>
        <p:spPr>
          <a:xfrm>
            <a:off x="11960351"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qualifications</a:t>
            </a:r>
          </a:p>
        </p:txBody>
      </p:sp>
      <p:sp>
        <p:nvSpPr>
          <p:cNvPr id="22" name="Rounded Rectangle 21"/>
          <p:cNvSpPr/>
          <p:nvPr/>
        </p:nvSpPr>
        <p:spPr>
          <a:xfrm>
            <a:off x="14744699" y="3813048"/>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le.png"/>
          <p:cNvPicPr>
            <a:picLocks noChangeAspect="1"/>
          </p:cNvPicPr>
          <p:nvPr/>
        </p:nvPicPr>
        <p:blipFill>
          <a:blip r:embed="rId7"/>
          <a:stretch>
            <a:fillRect/>
          </a:stretch>
        </p:blipFill>
        <p:spPr>
          <a:xfrm>
            <a:off x="15855695" y="4046220"/>
            <a:ext cx="356616" cy="356616"/>
          </a:xfrm>
          <a:prstGeom prst="rect">
            <a:avLst/>
          </a:prstGeom>
        </p:spPr>
      </p:pic>
      <p:sp>
        <p:nvSpPr>
          <p:cNvPr id="24" name="TextBox 23"/>
          <p:cNvSpPr txBox="1"/>
          <p:nvPr/>
        </p:nvSpPr>
        <p:spPr>
          <a:xfrm>
            <a:off x="14744699" y="4581144"/>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roles</a:t>
            </a:r>
          </a:p>
        </p:txBody>
      </p:sp>
      <p:sp>
        <p:nvSpPr>
          <p:cNvPr id="25" name="Rounded Rectangle 24"/>
          <p:cNvSpPr/>
          <p:nvPr/>
        </p:nvSpPr>
        <p:spPr>
          <a:xfrm>
            <a:off x="822959"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erify.png"/>
          <p:cNvPicPr>
            <a:picLocks noChangeAspect="1"/>
          </p:cNvPicPr>
          <p:nvPr/>
        </p:nvPicPr>
        <p:blipFill>
          <a:blip r:embed="rId8"/>
          <a:stretch>
            <a:fillRect/>
          </a:stretch>
        </p:blipFill>
        <p:spPr>
          <a:xfrm>
            <a:off x="1933956" y="5582412"/>
            <a:ext cx="356616" cy="356616"/>
          </a:xfrm>
          <a:prstGeom prst="rect">
            <a:avLst/>
          </a:prstGeom>
        </p:spPr>
      </p:pic>
      <p:sp>
        <p:nvSpPr>
          <p:cNvPr id="27" name="TextBox 26"/>
          <p:cNvSpPr txBox="1"/>
          <p:nvPr/>
        </p:nvSpPr>
        <p:spPr>
          <a:xfrm>
            <a:off x="82295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contributions</a:t>
            </a:r>
          </a:p>
        </p:txBody>
      </p:sp>
      <p:sp>
        <p:nvSpPr>
          <p:cNvPr id="28" name="Rounded Rectangle 27"/>
          <p:cNvSpPr/>
          <p:nvPr/>
        </p:nvSpPr>
        <p:spPr>
          <a:xfrm>
            <a:off x="3607308"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governance.png"/>
          <p:cNvPicPr>
            <a:picLocks noChangeAspect="1"/>
          </p:cNvPicPr>
          <p:nvPr/>
        </p:nvPicPr>
        <p:blipFill>
          <a:blip r:embed="rId9"/>
          <a:stretch>
            <a:fillRect/>
          </a:stretch>
        </p:blipFill>
        <p:spPr>
          <a:xfrm>
            <a:off x="4718304" y="5582412"/>
            <a:ext cx="356616" cy="356616"/>
          </a:xfrm>
          <a:prstGeom prst="rect">
            <a:avLst/>
          </a:prstGeom>
        </p:spPr>
      </p:pic>
      <p:sp>
        <p:nvSpPr>
          <p:cNvPr id="30" name="TextBox 29"/>
          <p:cNvSpPr txBox="1"/>
          <p:nvPr/>
        </p:nvSpPr>
        <p:spPr>
          <a:xfrm>
            <a:off x="3607308"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governance</a:t>
            </a:r>
          </a:p>
        </p:txBody>
      </p:sp>
      <p:sp>
        <p:nvSpPr>
          <p:cNvPr id="31" name="Rounded Rectangle 30"/>
          <p:cNvSpPr/>
          <p:nvPr/>
        </p:nvSpPr>
        <p:spPr>
          <a:xfrm>
            <a:off x="6391655"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reasury.png"/>
          <p:cNvPicPr>
            <a:picLocks noChangeAspect="1"/>
          </p:cNvPicPr>
          <p:nvPr/>
        </p:nvPicPr>
        <p:blipFill>
          <a:blip r:embed="rId10"/>
          <a:stretch>
            <a:fillRect/>
          </a:stretch>
        </p:blipFill>
        <p:spPr>
          <a:xfrm>
            <a:off x="7502652" y="5582412"/>
            <a:ext cx="356616" cy="356616"/>
          </a:xfrm>
          <a:prstGeom prst="rect">
            <a:avLst/>
          </a:prstGeom>
        </p:spPr>
      </p:pic>
      <p:sp>
        <p:nvSpPr>
          <p:cNvPr id="33" name="TextBox 32"/>
          <p:cNvSpPr txBox="1"/>
          <p:nvPr/>
        </p:nvSpPr>
        <p:spPr>
          <a:xfrm>
            <a:off x="6391655"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treasury</a:t>
            </a:r>
          </a:p>
        </p:txBody>
      </p:sp>
      <p:sp>
        <p:nvSpPr>
          <p:cNvPr id="34" name="Rounded Rectangle 33"/>
          <p:cNvSpPr/>
          <p:nvPr/>
        </p:nvSpPr>
        <p:spPr>
          <a:xfrm>
            <a:off x="9176004"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money.png"/>
          <p:cNvPicPr>
            <a:picLocks noChangeAspect="1"/>
          </p:cNvPicPr>
          <p:nvPr/>
        </p:nvPicPr>
        <p:blipFill>
          <a:blip r:embed="rId11"/>
          <a:stretch>
            <a:fillRect/>
          </a:stretch>
        </p:blipFill>
        <p:spPr>
          <a:xfrm>
            <a:off x="10286999" y="5582412"/>
            <a:ext cx="356616" cy="356616"/>
          </a:xfrm>
          <a:prstGeom prst="rect">
            <a:avLst/>
          </a:prstGeom>
        </p:spPr>
      </p:pic>
      <p:sp>
        <p:nvSpPr>
          <p:cNvPr id="36" name="TextBox 35"/>
          <p:cNvSpPr txBox="1"/>
          <p:nvPr/>
        </p:nvSpPr>
        <p:spPr>
          <a:xfrm>
            <a:off x="9176004"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payments</a:t>
            </a:r>
          </a:p>
        </p:txBody>
      </p:sp>
      <p:sp>
        <p:nvSpPr>
          <p:cNvPr id="37" name="Rounded Rectangle 36"/>
          <p:cNvSpPr/>
          <p:nvPr/>
        </p:nvSpPr>
        <p:spPr>
          <a:xfrm>
            <a:off x="11960351" y="5349240"/>
            <a:ext cx="2578608" cy="1303019"/>
          </a:xfrm>
          <a:prstGeom prst="roundRect">
            <a:avLst>
              <a:gd name="adj" fmla="val 12000"/>
            </a:avLst>
          </a:prstGeom>
          <a:solidFill>
            <a:srgbClr val="062A2C"/>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erson.png"/>
          <p:cNvPicPr>
            <a:picLocks noChangeAspect="1"/>
          </p:cNvPicPr>
          <p:nvPr/>
        </p:nvPicPr>
        <p:blipFill>
          <a:blip r:embed="rId12"/>
          <a:stretch>
            <a:fillRect/>
          </a:stretch>
        </p:blipFill>
        <p:spPr>
          <a:xfrm>
            <a:off x="13071347" y="5582412"/>
            <a:ext cx="356616" cy="356616"/>
          </a:xfrm>
          <a:prstGeom prst="rect">
            <a:avLst/>
          </a:prstGeom>
        </p:spPr>
      </p:pic>
      <p:sp>
        <p:nvSpPr>
          <p:cNvPr id="39" name="TextBox 38"/>
          <p:cNvSpPr txBox="1"/>
          <p:nvPr/>
        </p:nvSpPr>
        <p:spPr>
          <a:xfrm>
            <a:off x="11960351"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membership</a:t>
            </a:r>
          </a:p>
        </p:txBody>
      </p:sp>
      <p:sp>
        <p:nvSpPr>
          <p:cNvPr id="40" name="Rounded Rectangle 39"/>
          <p:cNvSpPr/>
          <p:nvPr/>
        </p:nvSpPr>
        <p:spPr>
          <a:xfrm>
            <a:off x="14744699" y="5349240"/>
            <a:ext cx="2578608" cy="1303019"/>
          </a:xfrm>
          <a:prstGeom prst="roundRect">
            <a:avLst>
              <a:gd name="adj" fmla="val 12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vent.png"/>
          <p:cNvPicPr>
            <a:picLocks noChangeAspect="1"/>
          </p:cNvPicPr>
          <p:nvPr/>
        </p:nvPicPr>
        <p:blipFill>
          <a:blip r:embed="rId13"/>
          <a:stretch>
            <a:fillRect/>
          </a:stretch>
        </p:blipFill>
        <p:spPr>
          <a:xfrm>
            <a:off x="15855695" y="5582412"/>
            <a:ext cx="356616" cy="356616"/>
          </a:xfrm>
          <a:prstGeom prst="rect">
            <a:avLst/>
          </a:prstGeom>
        </p:spPr>
      </p:pic>
      <p:sp>
        <p:nvSpPr>
          <p:cNvPr id="42" name="TextBox 41"/>
          <p:cNvSpPr txBox="1"/>
          <p:nvPr/>
        </p:nvSpPr>
        <p:spPr>
          <a:xfrm>
            <a:off x="14744699" y="6117336"/>
            <a:ext cx="2578608" cy="384048"/>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events</a:t>
            </a:r>
          </a:p>
        </p:txBody>
      </p:sp>
      <p:sp>
        <p:nvSpPr>
          <p:cNvPr id="43" name="TextBox 42"/>
          <p:cNvSpPr txBox="1"/>
          <p:nvPr/>
        </p:nvSpPr>
        <p:spPr>
          <a:xfrm>
            <a:off x="822959" y="706374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AND THE BORING QUESTIONS GET ANSWERS</a:t>
            </a:r>
          </a:p>
        </p:txBody>
      </p:sp>
      <p:sp>
        <p:nvSpPr>
          <p:cNvPr id="44" name="TextBox 43"/>
          <p:cNvSpPr txBox="1"/>
          <p:nvPr/>
        </p:nvSpPr>
        <p:spPr>
          <a:xfrm>
            <a:off x="822959" y="7543800"/>
            <a:ext cx="576072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COMMITMENT</a:t>
            </a:r>
          </a:p>
        </p:txBody>
      </p:sp>
      <p:sp>
        <p:nvSpPr>
          <p:cNvPr id="45" name="TextBox 44"/>
          <p:cNvSpPr txBox="1"/>
          <p:nvPr/>
        </p:nvSpPr>
        <p:spPr>
          <a:xfrm>
            <a:off x="6720840" y="7543800"/>
            <a:ext cx="3291839"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WHO</a:t>
            </a:r>
          </a:p>
        </p:txBody>
      </p:sp>
      <p:sp>
        <p:nvSpPr>
          <p:cNvPr id="46" name="TextBox 45"/>
          <p:cNvSpPr txBox="1"/>
          <p:nvPr/>
        </p:nvSpPr>
        <p:spPr>
          <a:xfrm>
            <a:off x="1014984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STATUS</a:t>
            </a:r>
          </a:p>
        </p:txBody>
      </p:sp>
      <p:sp>
        <p:nvSpPr>
          <p:cNvPr id="47" name="TextBox 46"/>
          <p:cNvSpPr txBox="1"/>
          <p:nvPr/>
        </p:nvSpPr>
        <p:spPr>
          <a:xfrm>
            <a:off x="13030200" y="7543800"/>
            <a:ext cx="2743200" cy="356616"/>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VALUE</a:t>
            </a:r>
          </a:p>
        </p:txBody>
      </p:sp>
      <p:cxnSp>
        <p:nvCxnSpPr>
          <p:cNvPr id="48" name="Connector 47"/>
          <p:cNvCxnSpPr/>
          <p:nvPr/>
        </p:nvCxnSpPr>
        <p:spPr>
          <a:xfrm>
            <a:off x="822959" y="7927848"/>
            <a:ext cx="16184881"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22959" y="8119871"/>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build the greenhouse beds</a:t>
            </a:r>
          </a:p>
        </p:txBody>
      </p:sp>
      <p:sp>
        <p:nvSpPr>
          <p:cNvPr id="50" name="TextBox 49"/>
          <p:cNvSpPr txBox="1"/>
          <p:nvPr/>
        </p:nvSpPr>
        <p:spPr>
          <a:xfrm>
            <a:off x="6720840" y="8119871"/>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M. Rivera</a:t>
            </a:r>
          </a:p>
        </p:txBody>
      </p:sp>
      <p:sp>
        <p:nvSpPr>
          <p:cNvPr id="51" name="TextBox 50"/>
          <p:cNvSpPr txBox="1"/>
          <p:nvPr/>
        </p:nvSpPr>
        <p:spPr>
          <a:xfrm>
            <a:off x="10149840" y="8119871"/>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52" name="TextBox 51"/>
          <p:cNvSpPr txBox="1"/>
          <p:nvPr/>
        </p:nvSpPr>
        <p:spPr>
          <a:xfrm>
            <a:off x="13030200" y="8119871"/>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$240</a:t>
            </a:r>
          </a:p>
        </p:txBody>
      </p:sp>
      <p:sp>
        <p:nvSpPr>
          <p:cNvPr id="53" name="TextBox 52"/>
          <p:cNvSpPr txBox="1"/>
          <p:nvPr/>
        </p:nvSpPr>
        <p:spPr>
          <a:xfrm>
            <a:off x="822959" y="8613648"/>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run Saturday's market stall</a:t>
            </a:r>
          </a:p>
        </p:txBody>
      </p:sp>
      <p:sp>
        <p:nvSpPr>
          <p:cNvPr id="54" name="TextBox 53"/>
          <p:cNvSpPr txBox="1"/>
          <p:nvPr/>
        </p:nvSpPr>
        <p:spPr>
          <a:xfrm>
            <a:off x="6720840" y="8613648"/>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K. Osei</a:t>
            </a:r>
          </a:p>
        </p:txBody>
      </p:sp>
      <p:sp>
        <p:nvSpPr>
          <p:cNvPr id="55" name="TextBox 54"/>
          <p:cNvSpPr txBox="1"/>
          <p:nvPr/>
        </p:nvSpPr>
        <p:spPr>
          <a:xfrm>
            <a:off x="1014984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in progress</a:t>
            </a:r>
          </a:p>
        </p:txBody>
      </p:sp>
      <p:sp>
        <p:nvSpPr>
          <p:cNvPr id="56" name="TextBox 55"/>
          <p:cNvSpPr txBox="1"/>
          <p:nvPr/>
        </p:nvSpPr>
        <p:spPr>
          <a:xfrm>
            <a:off x="13030200" y="8613648"/>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shared</a:t>
            </a:r>
          </a:p>
        </p:txBody>
      </p:sp>
      <p:sp>
        <p:nvSpPr>
          <p:cNvPr id="57" name="TextBox 56"/>
          <p:cNvSpPr txBox="1"/>
          <p:nvPr/>
        </p:nvSpPr>
        <p:spPr>
          <a:xfrm>
            <a:off x="822959" y="9107424"/>
            <a:ext cx="576072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repair the shared van</a:t>
            </a:r>
          </a:p>
        </p:txBody>
      </p:sp>
      <p:sp>
        <p:nvSpPr>
          <p:cNvPr id="58" name="TextBox 57"/>
          <p:cNvSpPr txBox="1"/>
          <p:nvPr/>
        </p:nvSpPr>
        <p:spPr>
          <a:xfrm>
            <a:off x="6720840" y="9107424"/>
            <a:ext cx="3291839"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T. Lindqvist</a:t>
            </a:r>
          </a:p>
        </p:txBody>
      </p:sp>
      <p:sp>
        <p:nvSpPr>
          <p:cNvPr id="59" name="TextBox 58"/>
          <p:cNvSpPr txBox="1"/>
          <p:nvPr/>
        </p:nvSpPr>
        <p:spPr>
          <a:xfrm>
            <a:off x="10149840" y="9107424"/>
            <a:ext cx="2743200" cy="384048"/>
          </a:xfrm>
          <a:prstGeom prst="rect">
            <a:avLst/>
          </a:prstGeom>
          <a:noFill/>
        </p:spPr>
        <p:txBody>
          <a:bodyPr wrap="none" lIns="0" rIns="0" tIns="0" bIns="0">
            <a:spAutoFit/>
          </a:bodyPr>
          <a:lstStyle/>
          <a:p>
            <a:pPr algn="l">
              <a:lnSpc>
                <a:spcPct val="115000"/>
              </a:lnSpc>
            </a:pPr>
            <a:r>
              <a:rPr sz="1575">
                <a:solidFill>
                  <a:srgbClr val="EBCF9E"/>
                </a:solidFill>
                <a:latin typeface="TT Commons Pro"/>
              </a:rPr>
              <a:t>delivered ✓</a:t>
            </a:r>
          </a:p>
        </p:txBody>
      </p:sp>
      <p:sp>
        <p:nvSpPr>
          <p:cNvPr id="60" name="TextBox 59"/>
          <p:cNvSpPr txBox="1"/>
          <p:nvPr/>
        </p:nvSpPr>
        <p:spPr>
          <a:xfrm>
            <a:off x="13030200" y="9107424"/>
            <a:ext cx="2743200" cy="384048"/>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 hrs credit</a:t>
            </a:r>
          </a:p>
        </p:txBody>
      </p:sp>
      <p:sp>
        <p:nvSpPr>
          <p:cNvPr id="61" name="TextBox 60"/>
          <p:cNvSpPr txBox="1"/>
          <p:nvPr/>
        </p:nvSpPr>
        <p:spPr>
          <a:xfrm>
            <a:off x="822959" y="966978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The ledger is social infrastructure before it is financial infrastructure.</a:t>
            </a:r>
          </a:p>
        </p:txBody>
      </p:sp>
      <p:pic>
        <p:nvPicPr>
          <p:cNvPr id="62" name="Picture 61" descr="rivr-symbol-light.png"/>
          <p:cNvPicPr>
            <a:picLocks noChangeAspect="1"/>
          </p:cNvPicPr>
          <p:nvPr/>
        </p:nvPicPr>
        <p:blipFill>
          <a:blip r:embed="rId14"/>
          <a:stretch>
            <a:fillRect/>
          </a:stretch>
        </p:blipFill>
        <p:spPr>
          <a:xfrm>
            <a:off x="576072" y="9518904"/>
            <a:ext cx="521208" cy="521208"/>
          </a:xfrm>
          <a:prstGeom prst="rect">
            <a:avLst/>
          </a:prstGeom>
        </p:spPr>
      </p:pic>
      <p:sp>
        <p:nvSpPr>
          <p:cNvPr id="63" name="TextBox 6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4" name="TextBox 6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pic>
        <p:nvPicPr>
          <p:cNvPr id="13" name="Picture 1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sp>
        <p:nvSpPr>
          <p:cNvPr id="13" name="TextBox 12"/>
          <p:cNvSpPr txBox="1"/>
          <p:nvPr/>
        </p:nvSpPr>
        <p:spPr>
          <a:xfrm>
            <a:off x="3977639" y="356616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CAN MOVE</a:t>
            </a:r>
          </a:p>
        </p:txBody>
      </p:sp>
      <p:sp>
        <p:nvSpPr>
          <p:cNvPr id="14" name="TextBox 13"/>
          <p:cNvSpPr txBox="1"/>
          <p:nvPr/>
        </p:nvSpPr>
        <p:spPr>
          <a:xfrm>
            <a:off x="370332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sold</a:t>
            </a:r>
          </a:p>
        </p:txBody>
      </p:sp>
      <p:sp>
        <p:nvSpPr>
          <p:cNvPr id="15" name="TextBox 14"/>
          <p:cNvSpPr txBox="1"/>
          <p:nvPr/>
        </p:nvSpPr>
        <p:spPr>
          <a:xfrm>
            <a:off x="556869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rented</a:t>
            </a:r>
          </a:p>
        </p:txBody>
      </p:sp>
      <p:sp>
        <p:nvSpPr>
          <p:cNvPr id="16" name="TextBox 15"/>
          <p:cNvSpPr txBox="1"/>
          <p:nvPr/>
        </p:nvSpPr>
        <p:spPr>
          <a:xfrm>
            <a:off x="7434071"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traded</a:t>
            </a:r>
          </a:p>
        </p:txBody>
      </p:sp>
      <p:sp>
        <p:nvSpPr>
          <p:cNvPr id="17" name="TextBox 16"/>
          <p:cNvSpPr txBox="1"/>
          <p:nvPr/>
        </p:nvSpPr>
        <p:spPr>
          <a:xfrm>
            <a:off x="9299448"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lent</a:t>
            </a:r>
          </a:p>
        </p:txBody>
      </p:sp>
      <p:sp>
        <p:nvSpPr>
          <p:cNvPr id="18" name="TextBox 17"/>
          <p:cNvSpPr txBox="1"/>
          <p:nvPr/>
        </p:nvSpPr>
        <p:spPr>
          <a:xfrm>
            <a:off x="11164824"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shared</a:t>
            </a:r>
          </a:p>
        </p:txBody>
      </p:sp>
      <p:sp>
        <p:nvSpPr>
          <p:cNvPr id="19" name="TextBox 18"/>
          <p:cNvSpPr txBox="1"/>
          <p:nvPr/>
        </p:nvSpPr>
        <p:spPr>
          <a:xfrm>
            <a:off x="1303020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gifted</a:t>
            </a:r>
          </a:p>
        </p:txBody>
      </p:sp>
      <p:sp>
        <p:nvSpPr>
          <p:cNvPr id="20" name="TextBox 19"/>
          <p:cNvSpPr txBox="1"/>
          <p:nvPr/>
        </p:nvSpPr>
        <p:spPr>
          <a:xfrm>
            <a:off x="1489557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mutual credit</a:t>
            </a:r>
          </a:p>
        </p:txBody>
      </p:sp>
      <p:sp>
        <p:nvSpPr>
          <p:cNvPr id="21" name="Oval 20"/>
          <p:cNvSpPr/>
          <p:nvPr/>
        </p:nvSpPr>
        <p:spPr>
          <a:xfrm>
            <a:off x="4471416"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6791"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91321"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67544"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32920"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887450"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663672"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141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5946"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02167"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67544"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022074"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9829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663672"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60570"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36791"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02167"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56698"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932920"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798296"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752826"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471416"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36791"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91321"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067544"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932920"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3887450"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663672"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47141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425946"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02167"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67544"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022074"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79829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5663672"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560570"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36791"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02167"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56698"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932920"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798296"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752826"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4" name="TextBox 6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5" name="TextBox 6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PLURAL EXCHANGE</a:t>
            </a:r>
          </a:p>
        </p:txBody>
      </p:sp>
      <p:sp>
        <p:nvSpPr>
          <p:cNvPr id="4" name="TextBox 3"/>
          <p:cNvSpPr txBox="1"/>
          <p:nvPr/>
        </p:nvSpPr>
        <p:spPr>
          <a:xfrm>
            <a:off x="822959" y="1699869"/>
            <a:ext cx="13405326"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Not every exchange begins and ends </a:t>
            </a:r>
          </a:p>
        </p:txBody>
      </p:sp>
      <p:sp>
        <p:nvSpPr>
          <p:cNvPr id="5" name="TextBox 4"/>
          <p:cNvSpPr txBox="1"/>
          <p:nvPr/>
        </p:nvSpPr>
        <p:spPr>
          <a:xfrm>
            <a:off x="11382628" y="1645919"/>
            <a:ext cx="4503896" cy="1010431"/>
          </a:xfrm>
          <a:prstGeom prst="rect">
            <a:avLst/>
          </a:prstGeom>
          <a:noFill/>
        </p:spPr>
        <p:txBody>
          <a:bodyPr wrap="none" lIns="0" rIns="0" tIns="0" bIns="0">
            <a:spAutoFit/>
          </a:bodyPr>
          <a:lstStyle/>
          <a:p>
            <a:pPr algn="l">
              <a:lnSpc>
                <a:spcPct val="115000"/>
              </a:lnSpc>
            </a:pPr>
            <a:r>
              <a:rPr sz="5487" spc="-75">
                <a:solidFill>
                  <a:srgbClr val="F0CC8B"/>
                </a:solidFill>
                <a:latin typeface="Ibarra Real Nova Italics"/>
              </a:rPr>
              <a:t>with money.</a:t>
            </a:r>
          </a:p>
        </p:txBody>
      </p:sp>
      <p:sp>
        <p:nvSpPr>
          <p:cNvPr id="6" name="TextBox 5"/>
          <p:cNvSpPr txBox="1"/>
          <p:nvPr/>
        </p:nvSpPr>
        <p:spPr>
          <a:xfrm>
            <a:off x="1028700" y="356616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WHAT PEOPLE HAVE</a:t>
            </a:r>
          </a:p>
        </p:txBody>
      </p:sp>
      <p:sp>
        <p:nvSpPr>
          <p:cNvPr id="7" name="TextBox 6"/>
          <p:cNvSpPr txBox="1"/>
          <p:nvPr/>
        </p:nvSpPr>
        <p:spPr>
          <a:xfrm>
            <a:off x="1028700" y="4320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time</a:t>
            </a:r>
          </a:p>
        </p:txBody>
      </p:sp>
      <p:sp>
        <p:nvSpPr>
          <p:cNvPr id="8" name="TextBox 7"/>
          <p:cNvSpPr txBox="1"/>
          <p:nvPr/>
        </p:nvSpPr>
        <p:spPr>
          <a:xfrm>
            <a:off x="1028700" y="50063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skills</a:t>
            </a:r>
          </a:p>
        </p:txBody>
      </p:sp>
      <p:sp>
        <p:nvSpPr>
          <p:cNvPr id="9" name="TextBox 8"/>
          <p:cNvSpPr txBox="1"/>
          <p:nvPr/>
        </p:nvSpPr>
        <p:spPr>
          <a:xfrm>
            <a:off x="1028700" y="56921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tools</a:t>
            </a:r>
          </a:p>
        </p:txBody>
      </p:sp>
      <p:sp>
        <p:nvSpPr>
          <p:cNvPr id="10" name="TextBox 9"/>
          <p:cNvSpPr txBox="1"/>
          <p:nvPr/>
        </p:nvSpPr>
        <p:spPr>
          <a:xfrm>
            <a:off x="1028700" y="63779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food</a:t>
            </a:r>
          </a:p>
        </p:txBody>
      </p:sp>
      <p:sp>
        <p:nvSpPr>
          <p:cNvPr id="11" name="TextBox 10"/>
          <p:cNvSpPr txBox="1"/>
          <p:nvPr/>
        </p:nvSpPr>
        <p:spPr>
          <a:xfrm>
            <a:off x="1028700" y="70637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space</a:t>
            </a:r>
          </a:p>
        </p:txBody>
      </p:sp>
      <p:sp>
        <p:nvSpPr>
          <p:cNvPr id="12" name="TextBox 11"/>
          <p:cNvSpPr txBox="1"/>
          <p:nvPr/>
        </p:nvSpPr>
        <p:spPr>
          <a:xfrm>
            <a:off x="1028700" y="7749540"/>
            <a:ext cx="2743200" cy="411479"/>
          </a:xfrm>
          <a:prstGeom prst="rect">
            <a:avLst/>
          </a:prstGeom>
          <a:noFill/>
        </p:spPr>
        <p:txBody>
          <a:bodyPr wrap="none" lIns="0" rIns="0" tIns="0" bIns="0">
            <a:spAutoFit/>
          </a:bodyPr>
          <a:lstStyle/>
          <a:p>
            <a:pPr algn="l">
              <a:lnSpc>
                <a:spcPct val="115000"/>
              </a:lnSpc>
            </a:pPr>
            <a:r>
              <a:rPr sz="1725">
                <a:solidFill>
                  <a:srgbClr val="F2ECDD"/>
                </a:solidFill>
                <a:latin typeface="TT Commons Pro"/>
              </a:rPr>
              <a:t>knowledge</a:t>
            </a:r>
          </a:p>
        </p:txBody>
      </p:sp>
      <p:sp>
        <p:nvSpPr>
          <p:cNvPr id="13" name="TextBox 12"/>
          <p:cNvSpPr txBox="1"/>
          <p:nvPr/>
        </p:nvSpPr>
        <p:spPr>
          <a:xfrm>
            <a:off x="3977639" y="356616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HOW IT CAN MOVE</a:t>
            </a:r>
          </a:p>
        </p:txBody>
      </p:sp>
      <p:sp>
        <p:nvSpPr>
          <p:cNvPr id="14" name="TextBox 13"/>
          <p:cNvSpPr txBox="1"/>
          <p:nvPr/>
        </p:nvSpPr>
        <p:spPr>
          <a:xfrm>
            <a:off x="370332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sold</a:t>
            </a:r>
          </a:p>
        </p:txBody>
      </p:sp>
      <p:sp>
        <p:nvSpPr>
          <p:cNvPr id="15" name="TextBox 14"/>
          <p:cNvSpPr txBox="1"/>
          <p:nvPr/>
        </p:nvSpPr>
        <p:spPr>
          <a:xfrm>
            <a:off x="556869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rented</a:t>
            </a:r>
          </a:p>
        </p:txBody>
      </p:sp>
      <p:sp>
        <p:nvSpPr>
          <p:cNvPr id="16" name="TextBox 15"/>
          <p:cNvSpPr txBox="1"/>
          <p:nvPr/>
        </p:nvSpPr>
        <p:spPr>
          <a:xfrm>
            <a:off x="7434071"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traded</a:t>
            </a:r>
          </a:p>
        </p:txBody>
      </p:sp>
      <p:sp>
        <p:nvSpPr>
          <p:cNvPr id="17" name="TextBox 16"/>
          <p:cNvSpPr txBox="1"/>
          <p:nvPr/>
        </p:nvSpPr>
        <p:spPr>
          <a:xfrm>
            <a:off x="9299448"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lent</a:t>
            </a:r>
          </a:p>
        </p:txBody>
      </p:sp>
      <p:sp>
        <p:nvSpPr>
          <p:cNvPr id="18" name="TextBox 17"/>
          <p:cNvSpPr txBox="1"/>
          <p:nvPr/>
        </p:nvSpPr>
        <p:spPr>
          <a:xfrm>
            <a:off x="11164824"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shared</a:t>
            </a:r>
          </a:p>
        </p:txBody>
      </p:sp>
      <p:sp>
        <p:nvSpPr>
          <p:cNvPr id="19" name="TextBox 18"/>
          <p:cNvSpPr txBox="1"/>
          <p:nvPr/>
        </p:nvSpPr>
        <p:spPr>
          <a:xfrm>
            <a:off x="13030200"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gifted</a:t>
            </a:r>
          </a:p>
        </p:txBody>
      </p:sp>
      <p:sp>
        <p:nvSpPr>
          <p:cNvPr id="20" name="TextBox 19"/>
          <p:cNvSpPr txBox="1"/>
          <p:nvPr/>
        </p:nvSpPr>
        <p:spPr>
          <a:xfrm>
            <a:off x="14895576" y="3950208"/>
            <a:ext cx="2414016"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mutual credit</a:t>
            </a:r>
          </a:p>
        </p:txBody>
      </p:sp>
      <p:sp>
        <p:nvSpPr>
          <p:cNvPr id="21" name="Oval 20"/>
          <p:cNvSpPr/>
          <p:nvPr/>
        </p:nvSpPr>
        <p:spPr>
          <a:xfrm>
            <a:off x="4471416"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36791"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91321"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67544"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32920"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887450" y="4450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663672" y="4361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141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5946"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02167"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067544"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2022074" y="51366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3798296"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663672" y="50474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60570"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36791"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02167"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56698"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932920"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798296" y="57332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5752826" y="58224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471416"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36791"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91321"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067544"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1932920"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3887450" y="65082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663672" y="64190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47141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425946"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202167"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67544"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022074" y="71940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3798296"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5663672" y="71048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560570"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36791"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8202167"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56698"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932920"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3798296" y="7790688"/>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752826" y="7879842"/>
            <a:ext cx="150876" cy="150876"/>
          </a:xfrm>
          <a:prstGeom prst="ellipse">
            <a:avLst/>
          </a:prstGeom>
          <a:solidFill>
            <a:srgbClr val="144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22959" y="8503920"/>
            <a:ext cx="16664940" cy="1069848"/>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34440" y="8750808"/>
            <a:ext cx="15910559" cy="685800"/>
          </a:xfrm>
          <a:prstGeom prst="rect">
            <a:avLst/>
          </a:prstGeom>
          <a:noFill/>
        </p:spPr>
        <p:txBody>
          <a:bodyPr wrap="square" lIns="0" rIns="0" tIns="0" bIns="0">
            <a:spAutoFit/>
          </a:bodyPr>
          <a:lstStyle/>
          <a:p>
            <a:pPr algn="l">
              <a:lnSpc>
                <a:spcPct val="140000"/>
              </a:lnSpc>
            </a:pPr>
            <a:r>
              <a:rPr sz="1725">
                <a:solidFill>
                  <a:srgbClr val="F2ECDD"/>
                </a:solidFill>
                <a:latin typeface="TT Commons Pro"/>
              </a:rPr>
              <a:t>Someone wants a $400 bike and has $200. </a:t>
            </a:r>
            <a:r>
              <a:rPr sz="1725">
                <a:solidFill>
                  <a:srgbClr val="EBCF9E"/>
                </a:solidFill>
                <a:latin typeface="TT Commons Pro Bold"/>
              </a:rPr>
              <a:t>$200 cash + a photography voucher + a service trade — and the bike moves.</a:t>
            </a:r>
          </a:p>
          <a:p>
            <a:pPr algn="l">
              <a:lnSpc>
                <a:spcPct val="140000"/>
              </a:lnSpc>
            </a:pPr>
            <a:r>
              <a:rPr sz="1725">
                <a:solidFill>
                  <a:srgbClr val="F2ECDD"/>
                </a:solidFill>
                <a:latin typeface="TT Commons Pro"/>
              </a:rPr>
              <a:t>The question stops being “do I have enough dollars” and becomes “what forms of value exist between us?”</a:t>
            </a:r>
          </a:p>
        </p:txBody>
      </p:sp>
      <p:pic>
        <p:nvPicPr>
          <p:cNvPr id="65" name="Picture 6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66" name="TextBox 6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67" name="TextBox 6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9" name="TextBox 1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0" name="TextBox 1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pic>
        <p:nvPicPr>
          <p:cNvPr id="29" name="Picture 28"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0" name="TextBox 2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1" name="TextBox 3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sp>
        <p:nvSpPr>
          <p:cNvPr id="29" name="Rounded Rectangle 28"/>
          <p:cNvSpPr/>
          <p:nvPr/>
        </p:nvSpPr>
        <p:spPr>
          <a:xfrm>
            <a:off x="822959" y="6995159"/>
            <a:ext cx="16664940" cy="932688"/>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7242048"/>
            <a:ext cx="159105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One unified fee across every rail — </a:t>
            </a:r>
            <a:r>
              <a:rPr sz="1950">
                <a:solidFill>
                  <a:srgbClr val="EBCF9E"/>
                </a:solidFill>
                <a:latin typeface="TT Commons Pro Bold"/>
              </a:rPr>
              <a:t>3.3% + $1.49</a:t>
            </a:r>
            <a:r>
              <a:rPr sz="1800">
                <a:solidFill>
                  <a:srgbClr val="F2ECDD"/>
                </a:solidFill>
                <a:latin typeface="TT Commons Pro"/>
              </a:rPr>
              <a:t> per transaction, the patronage-eligible revenue that flows back to members.</a:t>
            </a:r>
          </a:p>
        </p:txBody>
      </p:sp>
      <p:pic>
        <p:nvPicPr>
          <p:cNvPr id="31" name="Picture 30"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3.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FUNNELS ARE LIVE · RIVR PAY</a:t>
            </a:r>
          </a:p>
        </p:txBody>
      </p:sp>
      <p:sp>
        <p:nvSpPr>
          <p:cNvPr id="4" name="TextBox 3"/>
          <p:cNvSpPr txBox="1"/>
          <p:nvPr/>
        </p:nvSpPr>
        <p:spPr>
          <a:xfrm>
            <a:off x="822959" y="1699869"/>
            <a:ext cx="924520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Currency can keep its </a:t>
            </a:r>
          </a:p>
        </p:txBody>
      </p:sp>
      <p:sp>
        <p:nvSpPr>
          <p:cNvPr id="5" name="TextBox 4"/>
          <p:cNvSpPr txBox="1"/>
          <p:nvPr/>
        </p:nvSpPr>
        <p:spPr>
          <a:xfrm>
            <a:off x="8054530" y="1645919"/>
            <a:ext cx="5819536"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meaning here.</a:t>
            </a:r>
          </a:p>
        </p:txBody>
      </p:sp>
      <p:sp>
        <p:nvSpPr>
          <p:cNvPr id="6" name="Rounded Rectangle 5"/>
          <p:cNvSpPr/>
          <p:nvPr/>
        </p:nvSpPr>
        <p:spPr>
          <a:xfrm>
            <a:off x="822959"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01  ACCEPT</a:t>
            </a:r>
          </a:p>
        </p:txBody>
      </p:sp>
      <p:pic>
        <p:nvPicPr>
          <p:cNvPr id="8" name="Picture 7" descr="money.png"/>
          <p:cNvPicPr>
            <a:picLocks noChangeAspect="1"/>
          </p:cNvPicPr>
          <p:nvPr/>
        </p:nvPicPr>
        <p:blipFill>
          <a:blip r:embed="rId3"/>
          <a:stretch>
            <a:fillRect/>
          </a:stretch>
        </p:blipFill>
        <p:spPr>
          <a:xfrm>
            <a:off x="1207008" y="4361688"/>
            <a:ext cx="384048" cy="384048"/>
          </a:xfrm>
          <a:prstGeom prst="rect">
            <a:avLst/>
          </a:prstGeom>
        </p:spPr>
      </p:pic>
      <p:sp>
        <p:nvSpPr>
          <p:cNvPr id="9" name="TextBox 8"/>
          <p:cNvSpPr txBox="1"/>
          <p:nvPr/>
        </p:nvSpPr>
        <p:spPr>
          <a:xfrm>
            <a:off x="1097280"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Tap to pay with Rivr Pay</a:t>
            </a:r>
          </a:p>
        </p:txBody>
      </p:sp>
      <p:sp>
        <p:nvSpPr>
          <p:cNvPr id="10" name="TextBox 9"/>
          <p:cNvSpPr txBox="1"/>
          <p:nvPr/>
        </p:nvSpPr>
        <p:spPr>
          <a:xfrm>
            <a:off x="1097280"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Contactless card-present payment from a compatible phone.</a:t>
            </a:r>
          </a:p>
        </p:txBody>
      </p:sp>
      <p:sp>
        <p:nvSpPr>
          <p:cNvPr id="11" name="Right Arrow 10"/>
          <p:cNvSpPr/>
          <p:nvPr/>
        </p:nvSpPr>
        <p:spPr>
          <a:xfrm>
            <a:off x="4855464"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61204"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5524"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02  SETTLE</a:t>
            </a:r>
          </a:p>
        </p:txBody>
      </p:sp>
      <p:pic>
        <p:nvPicPr>
          <p:cNvPr id="14" name="Picture 13" descr="share.png"/>
          <p:cNvPicPr>
            <a:picLocks noChangeAspect="1"/>
          </p:cNvPicPr>
          <p:nvPr/>
        </p:nvPicPr>
        <p:blipFill>
          <a:blip r:embed="rId4"/>
          <a:stretch>
            <a:fillRect/>
          </a:stretch>
        </p:blipFill>
        <p:spPr>
          <a:xfrm>
            <a:off x="5445252" y="4361688"/>
            <a:ext cx="384048" cy="384048"/>
          </a:xfrm>
          <a:prstGeom prst="rect">
            <a:avLst/>
          </a:prstGeom>
        </p:spPr>
      </p:pic>
      <p:sp>
        <p:nvSpPr>
          <p:cNvPr id="15" name="TextBox 14"/>
          <p:cNvSpPr txBox="1"/>
          <p:nvPr/>
        </p:nvSpPr>
        <p:spPr>
          <a:xfrm>
            <a:off x="5335524"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Connected seller payouts</a:t>
            </a:r>
          </a:p>
        </p:txBody>
      </p:sp>
      <p:sp>
        <p:nvSpPr>
          <p:cNvPr id="16" name="TextBox 15"/>
          <p:cNvSpPr txBox="1"/>
          <p:nvPr/>
        </p:nvSpPr>
        <p:spPr>
          <a:xfrm>
            <a:off x="5335524"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Orders, receipts, fees and payouts stay together on Stripe Connect.</a:t>
            </a:r>
          </a:p>
        </p:txBody>
      </p:sp>
      <p:sp>
        <p:nvSpPr>
          <p:cNvPr id="17" name="Right Arrow 16"/>
          <p:cNvSpPr/>
          <p:nvPr/>
        </p:nvSpPr>
        <p:spPr>
          <a:xfrm>
            <a:off x="9093708"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99447" y="3566160"/>
            <a:ext cx="3977639"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7"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03  RESERVE</a:t>
            </a:r>
          </a:p>
        </p:txBody>
      </p:sp>
      <p:pic>
        <p:nvPicPr>
          <p:cNvPr id="20" name="Picture 19" descr="treasury.png"/>
          <p:cNvPicPr>
            <a:picLocks noChangeAspect="1"/>
          </p:cNvPicPr>
          <p:nvPr/>
        </p:nvPicPr>
        <p:blipFill>
          <a:blip r:embed="rId5"/>
          <a:stretch>
            <a:fillRect/>
          </a:stretch>
        </p:blipFill>
        <p:spPr>
          <a:xfrm>
            <a:off x="9683496" y="4361688"/>
            <a:ext cx="384048" cy="384048"/>
          </a:xfrm>
          <a:prstGeom prst="rect">
            <a:avLst/>
          </a:prstGeom>
        </p:spPr>
      </p:pic>
      <p:sp>
        <p:nvSpPr>
          <p:cNvPr id="21" name="TextBox 20"/>
          <p:cNvSpPr txBox="1"/>
          <p:nvPr/>
        </p:nvSpPr>
        <p:spPr>
          <a:xfrm>
            <a:off x="9573767"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Choose a tax set-aside</a:t>
            </a:r>
          </a:p>
        </p:txBody>
      </p:sp>
      <p:sp>
        <p:nvSpPr>
          <p:cNvPr id="22" name="TextBox 21"/>
          <p:cNvSpPr txBox="1"/>
          <p:nvPr/>
        </p:nvSpPr>
        <p:spPr>
          <a:xfrm>
            <a:off x="9573767"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Pick a rate; part of each payout stays reserved as your money.</a:t>
            </a:r>
          </a:p>
        </p:txBody>
      </p:sp>
      <p:sp>
        <p:nvSpPr>
          <p:cNvPr id="23" name="Right Arrow 22"/>
          <p:cNvSpPr/>
          <p:nvPr/>
        </p:nvSpPr>
        <p:spPr>
          <a:xfrm>
            <a:off x="13331951" y="5047488"/>
            <a:ext cx="164592" cy="192024"/>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537692" y="3566160"/>
            <a:ext cx="3977639"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12011" y="3840479"/>
            <a:ext cx="34290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04  CONTROL</a:t>
            </a:r>
          </a:p>
        </p:txBody>
      </p:sp>
      <p:pic>
        <p:nvPicPr>
          <p:cNvPr id="26" name="Picture 25" descr="governance.png"/>
          <p:cNvPicPr>
            <a:picLocks noChangeAspect="1"/>
          </p:cNvPicPr>
          <p:nvPr/>
        </p:nvPicPr>
        <p:blipFill>
          <a:blip r:embed="rId6"/>
          <a:stretch>
            <a:fillRect/>
          </a:stretch>
        </p:blipFill>
        <p:spPr>
          <a:xfrm>
            <a:off x="13921739" y="4361688"/>
            <a:ext cx="384048" cy="384048"/>
          </a:xfrm>
          <a:prstGeom prst="rect">
            <a:avLst/>
          </a:prstGeom>
        </p:spPr>
      </p:pic>
      <p:sp>
        <p:nvSpPr>
          <p:cNvPr id="27" name="TextBox 26"/>
          <p:cNvSpPr txBox="1"/>
          <p:nvPr/>
        </p:nvSpPr>
        <p:spPr>
          <a:xfrm>
            <a:off x="13812011" y="4910328"/>
            <a:ext cx="3429000" cy="466344"/>
          </a:xfrm>
          <a:prstGeom prst="rect">
            <a:avLst/>
          </a:prstGeom>
          <a:noFill/>
        </p:spPr>
        <p:txBody>
          <a:bodyPr wrap="square" lIns="0" rIns="0" tIns="0" bIns="0">
            <a:spAutoFit/>
          </a:bodyPr>
          <a:lstStyle/>
          <a:p>
            <a:pPr algn="l">
              <a:lnSpc>
                <a:spcPct val="130000"/>
              </a:lnSpc>
            </a:pPr>
            <a:r>
              <a:rPr sz="1575">
                <a:solidFill>
                  <a:srgbClr val="F4EAD8"/>
                </a:solidFill>
                <a:latin typeface="TT Commons Pro Bold"/>
              </a:rPr>
              <a:t>Treasuries + cards by subgroup</a:t>
            </a:r>
          </a:p>
        </p:txBody>
      </p:sp>
      <p:sp>
        <p:nvSpPr>
          <p:cNvPr id="28" name="TextBox 27"/>
          <p:cNvSpPr txBox="1"/>
          <p:nvPr/>
        </p:nvSpPr>
        <p:spPr>
          <a:xfrm>
            <a:off x="13812011" y="5568696"/>
            <a:ext cx="3429000" cy="960119"/>
          </a:xfrm>
          <a:prstGeom prst="rect">
            <a:avLst/>
          </a:prstGeom>
          <a:noFill/>
        </p:spPr>
        <p:txBody>
          <a:bodyPr wrap="square" lIns="0" rIns="0" tIns="0" bIns="0">
            <a:spAutoFit/>
          </a:bodyPr>
          <a:lstStyle/>
          <a:p>
            <a:pPr algn="l">
              <a:lnSpc>
                <a:spcPct val="135000"/>
              </a:lnSpc>
            </a:pPr>
            <a:r>
              <a:rPr sz="1425">
                <a:solidFill>
                  <a:srgbClr val="F2ECDD"/>
                </a:solidFill>
                <a:latin typeface="TT Commons Pro"/>
              </a:rPr>
              <a:t>Hold the funds. Fund the work. Keep spending in context.</a:t>
            </a:r>
          </a:p>
        </p:txBody>
      </p:sp>
      <p:sp>
        <p:nvSpPr>
          <p:cNvPr id="29" name="Rounded Rectangle 28"/>
          <p:cNvSpPr/>
          <p:nvPr/>
        </p:nvSpPr>
        <p:spPr>
          <a:xfrm>
            <a:off x="822959" y="6995159"/>
            <a:ext cx="16664940" cy="932688"/>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7242048"/>
            <a:ext cx="15910559" cy="466344"/>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One unified fee across every rail — </a:t>
            </a:r>
            <a:r>
              <a:rPr sz="1950">
                <a:solidFill>
                  <a:srgbClr val="EBCF9E"/>
                </a:solidFill>
                <a:latin typeface="TT Commons Pro Bold"/>
              </a:rPr>
              <a:t>3.3% + $1.49</a:t>
            </a:r>
            <a:r>
              <a:rPr sz="1800">
                <a:solidFill>
                  <a:srgbClr val="F2ECDD"/>
                </a:solidFill>
                <a:latin typeface="TT Commons Pro"/>
              </a:rPr>
              <a:t> per transaction, the patronage-eligible revenue that flows back to members.</a:t>
            </a:r>
          </a:p>
        </p:txBody>
      </p:sp>
      <p:sp>
        <p:nvSpPr>
          <p:cNvPr id="31" name="TextBox 30"/>
          <p:cNvSpPr txBox="1"/>
          <p:nvPr/>
        </p:nvSpPr>
        <p:spPr>
          <a:xfrm>
            <a:off x="822959" y="82296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AND WHERE CURRENCY ISN'T THE POINT</a:t>
            </a:r>
          </a:p>
        </p:txBody>
      </p:sp>
      <p:sp>
        <p:nvSpPr>
          <p:cNvPr id="32" name="Rounded Rectangle 31"/>
          <p:cNvSpPr/>
          <p:nvPr/>
        </p:nvSpPr>
        <p:spPr>
          <a:xfrm>
            <a:off x="822959"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token.png"/>
          <p:cNvPicPr>
            <a:picLocks noChangeAspect="1"/>
          </p:cNvPicPr>
          <p:nvPr/>
        </p:nvPicPr>
        <p:blipFill>
          <a:blip r:embed="rId7"/>
          <a:stretch>
            <a:fillRect/>
          </a:stretch>
        </p:blipFill>
        <p:spPr>
          <a:xfrm>
            <a:off x="1083563" y="8874252"/>
            <a:ext cx="301752" cy="301752"/>
          </a:xfrm>
          <a:prstGeom prst="rect">
            <a:avLst/>
          </a:prstGeom>
        </p:spPr>
      </p:pic>
      <p:sp>
        <p:nvSpPr>
          <p:cNvPr id="34" name="TextBox 33"/>
          <p:cNvSpPr txBox="1"/>
          <p:nvPr/>
        </p:nvSpPr>
        <p:spPr>
          <a:xfrm>
            <a:off x="1618488"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crypto + mutual credit</a:t>
            </a:r>
          </a:p>
        </p:txBody>
      </p:sp>
      <p:sp>
        <p:nvSpPr>
          <p:cNvPr id="35" name="Rounded Rectangle 34"/>
          <p:cNvSpPr/>
          <p:nvPr/>
        </p:nvSpPr>
        <p:spPr>
          <a:xfrm>
            <a:off x="5061204"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hare.png"/>
          <p:cNvPicPr>
            <a:picLocks noChangeAspect="1"/>
          </p:cNvPicPr>
          <p:nvPr/>
        </p:nvPicPr>
        <p:blipFill>
          <a:blip r:embed="rId4"/>
          <a:stretch>
            <a:fillRect/>
          </a:stretch>
        </p:blipFill>
        <p:spPr>
          <a:xfrm>
            <a:off x="5321808" y="8874252"/>
            <a:ext cx="301752" cy="301752"/>
          </a:xfrm>
          <a:prstGeom prst="rect">
            <a:avLst/>
          </a:prstGeom>
        </p:spPr>
      </p:pic>
      <p:sp>
        <p:nvSpPr>
          <p:cNvPr id="37" name="TextBox 36"/>
          <p:cNvSpPr txBox="1"/>
          <p:nvPr/>
        </p:nvSpPr>
        <p:spPr>
          <a:xfrm>
            <a:off x="5856731"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transparent trades</a:t>
            </a:r>
          </a:p>
        </p:txBody>
      </p:sp>
      <p:sp>
        <p:nvSpPr>
          <p:cNvPr id="38" name="Rounded Rectangle 37"/>
          <p:cNvSpPr/>
          <p:nvPr/>
        </p:nvSpPr>
        <p:spPr>
          <a:xfrm>
            <a:off x="9299447"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gift.png"/>
          <p:cNvPicPr>
            <a:picLocks noChangeAspect="1"/>
          </p:cNvPicPr>
          <p:nvPr/>
        </p:nvPicPr>
        <p:blipFill>
          <a:blip r:embed="rId8"/>
          <a:stretch>
            <a:fillRect/>
          </a:stretch>
        </p:blipFill>
        <p:spPr>
          <a:xfrm>
            <a:off x="9560051" y="8874252"/>
            <a:ext cx="301752" cy="301752"/>
          </a:xfrm>
          <a:prstGeom prst="rect">
            <a:avLst/>
          </a:prstGeom>
        </p:spPr>
      </p:pic>
      <p:sp>
        <p:nvSpPr>
          <p:cNvPr id="40" name="TextBox 39"/>
          <p:cNvSpPr txBox="1"/>
          <p:nvPr/>
        </p:nvSpPr>
        <p:spPr>
          <a:xfrm>
            <a:off x="10094976"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vouchers + gifts</a:t>
            </a:r>
          </a:p>
        </p:txBody>
      </p:sp>
      <p:sp>
        <p:nvSpPr>
          <p:cNvPr id="41" name="Rounded Rectangle 40"/>
          <p:cNvSpPr/>
          <p:nvPr/>
        </p:nvSpPr>
        <p:spPr>
          <a:xfrm>
            <a:off x="13537692" y="8668512"/>
            <a:ext cx="3977639" cy="713232"/>
          </a:xfrm>
          <a:prstGeom prst="roundRect">
            <a:avLst>
              <a:gd name="adj" fmla="val 26000"/>
            </a:avLst>
          </a:prstGeom>
          <a:solidFill>
            <a:srgbClr val="0D3E40"/>
          </a:solidFill>
          <a:ln w="14287">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tool.png"/>
          <p:cNvPicPr>
            <a:picLocks noChangeAspect="1"/>
          </p:cNvPicPr>
          <p:nvPr/>
        </p:nvPicPr>
        <p:blipFill>
          <a:blip r:embed="rId9"/>
          <a:stretch>
            <a:fillRect/>
          </a:stretch>
        </p:blipFill>
        <p:spPr>
          <a:xfrm>
            <a:off x="13798296" y="8874252"/>
            <a:ext cx="301752" cy="301752"/>
          </a:xfrm>
          <a:prstGeom prst="rect">
            <a:avLst/>
          </a:prstGeom>
        </p:spPr>
      </p:pic>
      <p:sp>
        <p:nvSpPr>
          <p:cNvPr id="43" name="TextBox 42"/>
          <p:cNvSpPr txBox="1"/>
          <p:nvPr/>
        </p:nvSpPr>
        <p:spPr>
          <a:xfrm>
            <a:off x="14333219" y="8846820"/>
            <a:ext cx="3017520" cy="384048"/>
          </a:xfrm>
          <a:prstGeom prst="rect">
            <a:avLst/>
          </a:prstGeom>
          <a:noFill/>
        </p:spPr>
        <p:txBody>
          <a:bodyPr wrap="none" lIns="0" rIns="0" tIns="0" bIns="0">
            <a:spAutoFit/>
          </a:bodyPr>
          <a:lstStyle/>
          <a:p>
            <a:pPr algn="l">
              <a:lnSpc>
                <a:spcPct val="115000"/>
              </a:lnSpc>
            </a:pPr>
            <a:r>
              <a:rPr sz="1425">
                <a:solidFill>
                  <a:srgbClr val="F2ECDD"/>
                </a:solidFill>
                <a:latin typeface="TT Commons Pro"/>
              </a:rPr>
              <a:t>skills + resources</a:t>
            </a:r>
          </a:p>
        </p:txBody>
      </p:sp>
      <p:pic>
        <p:nvPicPr>
          <p:cNvPr id="44" name="Picture 43"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pic>
        <p:nvPicPr>
          <p:cNvPr id="176" name="Picture 175"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77" name="TextBox 17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8" name="TextBox 17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sp>
        <p:nvSpPr>
          <p:cNvPr id="176" name="TextBox 175"/>
          <p:cNvSpPr txBox="1"/>
          <p:nvPr/>
        </p:nvSpPr>
        <p:spPr>
          <a:xfrm>
            <a:off x="9052559" y="359359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SO A PLACE CAN FINALLY ASK</a:t>
            </a:r>
          </a:p>
        </p:txBody>
      </p:sp>
      <p:sp>
        <p:nvSpPr>
          <p:cNvPr id="177" name="Rounded Rectangle 176"/>
          <p:cNvSpPr/>
          <p:nvPr/>
        </p:nvSpPr>
        <p:spPr>
          <a:xfrm>
            <a:off x="9052559" y="41148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9395459" y="43068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SHORTAGES</a:t>
            </a:r>
          </a:p>
        </p:txBody>
      </p:sp>
      <p:sp>
        <p:nvSpPr>
          <p:cNvPr id="179" name="TextBox 178"/>
          <p:cNvSpPr txBox="1"/>
          <p:nvPr/>
        </p:nvSpPr>
        <p:spPr>
          <a:xfrm>
            <a:off x="9395459" y="47183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Where is unmet demand that no one can currently see?</a:t>
            </a:r>
          </a:p>
        </p:txBody>
      </p:sp>
      <p:sp>
        <p:nvSpPr>
          <p:cNvPr id="180" name="Rounded Rectangle 179"/>
          <p:cNvSpPr/>
          <p:nvPr/>
        </p:nvSpPr>
        <p:spPr>
          <a:xfrm>
            <a:off x="9052559" y="54864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395459" y="56784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UNDERUSED CAPACITY</a:t>
            </a:r>
          </a:p>
        </p:txBody>
      </p:sp>
      <p:sp>
        <p:nvSpPr>
          <p:cNvPr id="182" name="TextBox 181"/>
          <p:cNvSpPr txBox="1"/>
          <p:nvPr/>
        </p:nvSpPr>
        <p:spPr>
          <a:xfrm>
            <a:off x="9395459" y="60899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sits idle three blocks away?</a:t>
            </a:r>
          </a:p>
        </p:txBody>
      </p:sp>
      <p:pic>
        <p:nvPicPr>
          <p:cNvPr id="183" name="Picture 182"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84" name="TextBox 18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5" name="TextBox 18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4.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PRODUCTS IN WORLD · ECONOMIC INTELLIGENCE</a:t>
            </a:r>
          </a:p>
        </p:txBody>
      </p:sp>
      <p:sp>
        <p:nvSpPr>
          <p:cNvPr id="4" name="TextBox 3"/>
          <p:cNvSpPr txBox="1"/>
          <p:nvPr/>
        </p:nvSpPr>
        <p:spPr>
          <a:xfrm>
            <a:off x="822959" y="1699869"/>
            <a:ext cx="3915409" cy="1075620"/>
          </a:xfrm>
          <a:prstGeom prst="rect">
            <a:avLst/>
          </a:prstGeom>
          <a:noFill/>
        </p:spPr>
        <p:txBody>
          <a:bodyPr wrap="none" lIns="0" rIns="0" tIns="0" bIns="0">
            <a:spAutoFit/>
          </a:bodyPr>
          <a:lstStyle/>
          <a:p>
            <a:pPr algn="l">
              <a:lnSpc>
                <a:spcPct val="115000"/>
              </a:lnSpc>
            </a:pPr>
            <a:r>
              <a:rPr sz="5841" spc="-79">
                <a:solidFill>
                  <a:srgbClr val="F4EAD8"/>
                </a:solidFill>
                <a:latin typeface="TT Commons Pro Bold"/>
              </a:rPr>
              <a:t>Patterns </a:t>
            </a:r>
          </a:p>
        </p:txBody>
      </p:sp>
      <p:sp>
        <p:nvSpPr>
          <p:cNvPr id="5" name="TextBox 4"/>
          <p:cNvSpPr txBox="1"/>
          <p:nvPr/>
        </p:nvSpPr>
        <p:spPr>
          <a:xfrm>
            <a:off x="3790695" y="1645919"/>
            <a:ext cx="6093380" cy="1173403"/>
          </a:xfrm>
          <a:prstGeom prst="rect">
            <a:avLst/>
          </a:prstGeom>
          <a:noFill/>
        </p:spPr>
        <p:txBody>
          <a:bodyPr wrap="none" lIns="0" rIns="0" tIns="0" bIns="0">
            <a:spAutoFit/>
          </a:bodyPr>
          <a:lstStyle/>
          <a:p>
            <a:pPr algn="l">
              <a:lnSpc>
                <a:spcPct val="115000"/>
              </a:lnSpc>
            </a:pPr>
            <a:r>
              <a:rPr sz="6372" spc="-75">
                <a:solidFill>
                  <a:srgbClr val="EBCF9E"/>
                </a:solidFill>
                <a:latin typeface="Ibarra Real Nova Italics"/>
              </a:rPr>
              <a:t>become visible.</a:t>
            </a:r>
          </a:p>
        </p:txBody>
      </p:sp>
      <p:cxnSp>
        <p:nvCxnSpPr>
          <p:cNvPr id="6" name="Connector 5"/>
          <p:cNvCxnSpPr/>
          <p:nvPr/>
        </p:nvCxnSpPr>
        <p:spPr>
          <a:xfrm>
            <a:off x="4866436"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92672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986662"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46188"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05253"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63804"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21790"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79158"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35858"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91839"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447053"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01449" y="4566327"/>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54979" y="4596179"/>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07597"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59255"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09908"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59510"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8017"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5388"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01578"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6548"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90257"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3266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73741"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7251209">
            <a:off x="54521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53598"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74188"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93050"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10166"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25522"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39103"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50898"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60896"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569088"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75468"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580028"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582767" y="6316655"/>
            <a:ext cx="912"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582767" y="6377940"/>
            <a:ext cx="912"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580028"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575468"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569088"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60896"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50898"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6539103"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525522"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6510166"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93050"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474188"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53598"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51209">
            <a:off x="6480809"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H="1">
            <a:off x="6073741"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3266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990257"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946548"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901578"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855388"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017"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759510"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709908"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659255"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607597"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554979"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5501449"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5447053"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5391839"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5335858"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5279158"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5221790"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5163804"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5105253"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5046188"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4986662"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492672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4866436"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4451209">
            <a:off x="5452109"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4125832" y="8395992"/>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65897" y="8383168"/>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4006371" y="8368565"/>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947306" y="8352195"/>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888755" y="8334073"/>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3830769" y="8314214"/>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3773401" y="8292638"/>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3716701" y="8269362"/>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3660720" y="824440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3605506" y="8217796"/>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3551110" y="8189552"/>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3497580" y="8159700"/>
            <a:ext cx="53530"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3444962" y="8128267"/>
            <a:ext cx="52618"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3393304" y="8095281"/>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3342651" y="8060770"/>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3293049" y="8024766"/>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3244542" y="7987300"/>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3197171" y="7948407"/>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3150981" y="7908119"/>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106011" y="7866473"/>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062302" y="78235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019891" y="7779257"/>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2978818" y="7733763"/>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2939118" y="7687067"/>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05" name="Isosceles Triangle 104"/>
          <p:cNvSpPr/>
          <p:nvPr/>
        </p:nvSpPr>
        <p:spPr>
          <a:xfrm rot="18051209">
            <a:off x="3394710" y="805683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H="1" flipV="1">
            <a:off x="2578371" y="7040168"/>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2559509" y="698185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2542393" y="692299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2527037" y="686366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2513456" y="6803893"/>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2501661" y="6743747"/>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2491663" y="6683277"/>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2483471" y="6622535"/>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2477091" y="6561576"/>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2472531" y="6500455"/>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469792" y="64392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68879" y="6377940"/>
            <a:ext cx="913" cy="6128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468879" y="6316655"/>
            <a:ext cx="913" cy="6128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69792" y="6255424"/>
            <a:ext cx="2739" cy="6123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472531" y="6194303"/>
            <a:ext cx="4560" cy="6112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477091" y="6133344"/>
            <a:ext cx="6380" cy="609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483471" y="6072602"/>
            <a:ext cx="8192" cy="6074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491663" y="6012132"/>
            <a:ext cx="9998" cy="604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01661" y="5951986"/>
            <a:ext cx="11795" cy="601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13456" y="5892218"/>
            <a:ext cx="13581" cy="5976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27037" y="5832881"/>
            <a:ext cx="15356" cy="5933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542393" y="5774028"/>
            <a:ext cx="17116" cy="5885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2559509" y="5715711"/>
            <a:ext cx="18862" cy="5831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2578371" y="5657981"/>
            <a:ext cx="20590" cy="5773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rot="51209">
            <a:off x="2366010" y="6275070"/>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flipV="1">
            <a:off x="2939118" y="5022116"/>
            <a:ext cx="39700" cy="4669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2978818" y="4976622"/>
            <a:ext cx="41073" cy="4549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019891" y="4932373"/>
            <a:ext cx="42411" cy="4424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062302" y="4889406"/>
            <a:ext cx="43709" cy="42967"/>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106011" y="4847760"/>
            <a:ext cx="44970" cy="4164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150981" y="4807472"/>
            <a:ext cx="46190" cy="40288"/>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197171" y="4768579"/>
            <a:ext cx="47371" cy="3889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44542" y="4731113"/>
            <a:ext cx="48507" cy="3746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93049" y="4695109"/>
            <a:ext cx="49602" cy="3600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342651" y="4660598"/>
            <a:ext cx="50653" cy="345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393304" y="4627612"/>
            <a:ext cx="51658" cy="3298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444962" y="4596179"/>
            <a:ext cx="52617" cy="314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497579" y="4566327"/>
            <a:ext cx="53531" cy="2985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551110" y="4538083"/>
            <a:ext cx="54396" cy="2824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5506" y="4511472"/>
            <a:ext cx="55214" cy="26611"/>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60720" y="4486517"/>
            <a:ext cx="55981" cy="24955"/>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716701" y="4463241"/>
            <a:ext cx="56700" cy="232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773401" y="4441665"/>
            <a:ext cx="57368" cy="21576"/>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830769" y="4421806"/>
            <a:ext cx="57986" cy="19859"/>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888755" y="4403684"/>
            <a:ext cx="58551" cy="18122"/>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947306" y="4387314"/>
            <a:ext cx="59065" cy="16370"/>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006371" y="4372711"/>
            <a:ext cx="59526" cy="1460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065897" y="4359887"/>
            <a:ext cx="59935" cy="12824"/>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125832" y="4348854"/>
            <a:ext cx="60291" cy="11033"/>
          </a:xfrm>
          <a:prstGeom prst="line">
            <a:avLst/>
          </a:prstGeom>
          <a:ln w="12700">
            <a:solidFill>
              <a:srgbClr val="99E6D9"/>
            </a:solidFill>
          </a:ln>
        </p:spPr>
        <p:style>
          <a:lnRef idx="2">
            <a:schemeClr val="accent1"/>
          </a:lnRef>
          <a:fillRef idx="0">
            <a:schemeClr val="accent1"/>
          </a:fillRef>
          <a:effectRef idx="1">
            <a:schemeClr val="accent1"/>
          </a:effectRef>
          <a:fontRef idx="minor">
            <a:schemeClr val="tx1"/>
          </a:fontRef>
        </p:style>
      </p:cxnSp>
      <p:sp>
        <p:nvSpPr>
          <p:cNvPr id="155" name="Isosceles Triangle 154"/>
          <p:cNvSpPr/>
          <p:nvPr/>
        </p:nvSpPr>
        <p:spPr>
          <a:xfrm rot="3651209">
            <a:off x="3394709" y="449330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03320" y="5554980"/>
            <a:ext cx="1645920" cy="1645920"/>
          </a:xfrm>
          <a:prstGeom prst="ellipse">
            <a:avLst/>
          </a:prstGeom>
          <a:solidFill>
            <a:srgbClr val="084B4D"/>
          </a:solidFill>
          <a:ln w="1651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703320" y="6158484"/>
            <a:ext cx="1645920" cy="466344"/>
          </a:xfrm>
          <a:prstGeom prst="rect">
            <a:avLst/>
          </a:prstGeom>
          <a:noFill/>
        </p:spPr>
        <p:txBody>
          <a:bodyPr wrap="none" lIns="0" rIns="0" tIns="0" bIns="0">
            <a:spAutoFit/>
          </a:bodyPr>
          <a:lstStyle/>
          <a:p>
            <a:pPr algn="ctr">
              <a:lnSpc>
                <a:spcPct val="115000"/>
              </a:lnSpc>
            </a:pPr>
            <a:r>
              <a:rPr sz="1500" spc="330">
                <a:solidFill>
                  <a:srgbClr val="EBCF9E"/>
                </a:solidFill>
                <a:latin typeface="TT Commons Pro"/>
              </a:rPr>
              <a:t>THE LOOP</a:t>
            </a:r>
          </a:p>
        </p:txBody>
      </p:sp>
      <p:sp>
        <p:nvSpPr>
          <p:cNvPr id="158" name="Oval 157"/>
          <p:cNvSpPr/>
          <p:nvPr/>
        </p:nvSpPr>
        <p:spPr>
          <a:xfrm>
            <a:off x="3977639" y="37719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search.png"/>
          <p:cNvPicPr>
            <a:picLocks noChangeAspect="1"/>
          </p:cNvPicPr>
          <p:nvPr/>
        </p:nvPicPr>
        <p:blipFill>
          <a:blip r:embed="rId3"/>
          <a:stretch>
            <a:fillRect/>
          </a:stretch>
        </p:blipFill>
        <p:spPr>
          <a:xfrm>
            <a:off x="4320540" y="3922776"/>
            <a:ext cx="411479" cy="411479"/>
          </a:xfrm>
          <a:prstGeom prst="rect">
            <a:avLst/>
          </a:prstGeom>
        </p:spPr>
      </p:pic>
      <p:sp>
        <p:nvSpPr>
          <p:cNvPr id="160" name="TextBox 159"/>
          <p:cNvSpPr txBox="1"/>
          <p:nvPr/>
        </p:nvSpPr>
        <p:spPr>
          <a:xfrm>
            <a:off x="3634739" y="44028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visibility</a:t>
            </a:r>
          </a:p>
        </p:txBody>
      </p:sp>
      <p:sp>
        <p:nvSpPr>
          <p:cNvPr id="161" name="Oval 160"/>
          <p:cNvSpPr/>
          <p:nvPr/>
        </p:nvSpPr>
        <p:spPr>
          <a:xfrm>
            <a:off x="5759400"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coord.png"/>
          <p:cNvPicPr>
            <a:picLocks noChangeAspect="1"/>
          </p:cNvPicPr>
          <p:nvPr/>
        </p:nvPicPr>
        <p:blipFill>
          <a:blip r:embed="rId4"/>
          <a:stretch>
            <a:fillRect/>
          </a:stretch>
        </p:blipFill>
        <p:spPr>
          <a:xfrm>
            <a:off x="6102300" y="4951476"/>
            <a:ext cx="411479" cy="411479"/>
          </a:xfrm>
          <a:prstGeom prst="rect">
            <a:avLst/>
          </a:prstGeom>
        </p:spPr>
      </p:pic>
      <p:sp>
        <p:nvSpPr>
          <p:cNvPr id="163" name="TextBox 162"/>
          <p:cNvSpPr txBox="1"/>
          <p:nvPr/>
        </p:nvSpPr>
        <p:spPr>
          <a:xfrm>
            <a:off x="5416500"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coordination</a:t>
            </a:r>
          </a:p>
        </p:txBody>
      </p:sp>
      <p:sp>
        <p:nvSpPr>
          <p:cNvPr id="164" name="Oval 163"/>
          <p:cNvSpPr/>
          <p:nvPr/>
        </p:nvSpPr>
        <p:spPr>
          <a:xfrm>
            <a:off x="5759400"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5" name="Picture 164" descr="money.png"/>
          <p:cNvPicPr>
            <a:picLocks noChangeAspect="1"/>
          </p:cNvPicPr>
          <p:nvPr/>
        </p:nvPicPr>
        <p:blipFill>
          <a:blip r:embed="rId5"/>
          <a:stretch>
            <a:fillRect/>
          </a:stretch>
        </p:blipFill>
        <p:spPr>
          <a:xfrm>
            <a:off x="6102300" y="7008876"/>
            <a:ext cx="411479" cy="411479"/>
          </a:xfrm>
          <a:prstGeom prst="rect">
            <a:avLst/>
          </a:prstGeom>
        </p:spPr>
      </p:pic>
      <p:sp>
        <p:nvSpPr>
          <p:cNvPr id="166" name="TextBox 165"/>
          <p:cNvSpPr txBox="1"/>
          <p:nvPr/>
        </p:nvSpPr>
        <p:spPr>
          <a:xfrm>
            <a:off x="5416500"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exchange</a:t>
            </a:r>
          </a:p>
        </p:txBody>
      </p:sp>
      <p:sp>
        <p:nvSpPr>
          <p:cNvPr id="167" name="Oval 166"/>
          <p:cNvSpPr/>
          <p:nvPr/>
        </p:nvSpPr>
        <p:spPr>
          <a:xfrm>
            <a:off x="3977639" y="78867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group.png"/>
          <p:cNvPicPr>
            <a:picLocks noChangeAspect="1"/>
          </p:cNvPicPr>
          <p:nvPr/>
        </p:nvPicPr>
        <p:blipFill>
          <a:blip r:embed="rId6"/>
          <a:stretch>
            <a:fillRect/>
          </a:stretch>
        </p:blipFill>
        <p:spPr>
          <a:xfrm>
            <a:off x="4320540" y="8037576"/>
            <a:ext cx="411479" cy="411479"/>
          </a:xfrm>
          <a:prstGeom prst="rect">
            <a:avLst/>
          </a:prstGeom>
        </p:spPr>
      </p:pic>
      <p:sp>
        <p:nvSpPr>
          <p:cNvPr id="169" name="TextBox 168"/>
          <p:cNvSpPr txBox="1"/>
          <p:nvPr/>
        </p:nvSpPr>
        <p:spPr>
          <a:xfrm>
            <a:off x="3634739" y="85176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relationships</a:t>
            </a:r>
          </a:p>
        </p:txBody>
      </p:sp>
      <p:sp>
        <p:nvSpPr>
          <p:cNvPr id="170" name="Oval 169"/>
          <p:cNvSpPr/>
          <p:nvPr/>
        </p:nvSpPr>
        <p:spPr>
          <a:xfrm>
            <a:off x="2195879" y="68580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1" name="Picture 170" descr="chart.png"/>
          <p:cNvPicPr>
            <a:picLocks noChangeAspect="1"/>
          </p:cNvPicPr>
          <p:nvPr/>
        </p:nvPicPr>
        <p:blipFill>
          <a:blip r:embed="rId7"/>
          <a:stretch>
            <a:fillRect/>
          </a:stretch>
        </p:blipFill>
        <p:spPr>
          <a:xfrm>
            <a:off x="2538779" y="7008876"/>
            <a:ext cx="411479" cy="411479"/>
          </a:xfrm>
          <a:prstGeom prst="rect">
            <a:avLst/>
          </a:prstGeom>
        </p:spPr>
      </p:pic>
      <p:sp>
        <p:nvSpPr>
          <p:cNvPr id="172" name="TextBox 171"/>
          <p:cNvSpPr txBox="1"/>
          <p:nvPr/>
        </p:nvSpPr>
        <p:spPr>
          <a:xfrm>
            <a:off x="1852979" y="74889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intelligence</a:t>
            </a:r>
          </a:p>
        </p:txBody>
      </p:sp>
      <p:sp>
        <p:nvSpPr>
          <p:cNvPr id="173" name="Oval 172"/>
          <p:cNvSpPr/>
          <p:nvPr/>
        </p:nvSpPr>
        <p:spPr>
          <a:xfrm>
            <a:off x="2195879" y="4800600"/>
            <a:ext cx="1097280" cy="1097280"/>
          </a:xfrm>
          <a:prstGeom prst="ellipse">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org.png"/>
          <p:cNvPicPr>
            <a:picLocks noChangeAspect="1"/>
          </p:cNvPicPr>
          <p:nvPr/>
        </p:nvPicPr>
        <p:blipFill>
          <a:blip r:embed="rId8"/>
          <a:stretch>
            <a:fillRect/>
          </a:stretch>
        </p:blipFill>
        <p:spPr>
          <a:xfrm>
            <a:off x="2538779" y="4951476"/>
            <a:ext cx="411479" cy="411479"/>
          </a:xfrm>
          <a:prstGeom prst="rect">
            <a:avLst/>
          </a:prstGeom>
        </p:spPr>
      </p:pic>
      <p:sp>
        <p:nvSpPr>
          <p:cNvPr id="175" name="TextBox 174"/>
          <p:cNvSpPr txBox="1"/>
          <p:nvPr/>
        </p:nvSpPr>
        <p:spPr>
          <a:xfrm>
            <a:off x="1852979" y="5431536"/>
            <a:ext cx="1783080" cy="411479"/>
          </a:xfrm>
          <a:prstGeom prst="rect">
            <a:avLst/>
          </a:prstGeom>
          <a:noFill/>
        </p:spPr>
        <p:txBody>
          <a:bodyPr wrap="none" lIns="0" rIns="0" tIns="0" bIns="0">
            <a:spAutoFit/>
          </a:bodyPr>
          <a:lstStyle/>
          <a:p>
            <a:pPr algn="ctr">
              <a:lnSpc>
                <a:spcPct val="115000"/>
              </a:lnSpc>
            </a:pPr>
            <a:r>
              <a:rPr sz="1275" spc="150">
                <a:solidFill>
                  <a:srgbClr val="F2ECDD"/>
                </a:solidFill>
                <a:latin typeface="TT Commons Pro"/>
              </a:rPr>
              <a:t>capacity</a:t>
            </a:r>
          </a:p>
        </p:txBody>
      </p:sp>
      <p:sp>
        <p:nvSpPr>
          <p:cNvPr id="176" name="TextBox 175"/>
          <p:cNvSpPr txBox="1"/>
          <p:nvPr/>
        </p:nvSpPr>
        <p:spPr>
          <a:xfrm>
            <a:off x="9052559" y="3593592"/>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SO A PLACE CAN FINALLY ASK</a:t>
            </a:r>
          </a:p>
        </p:txBody>
      </p:sp>
      <p:sp>
        <p:nvSpPr>
          <p:cNvPr id="177" name="Rounded Rectangle 176"/>
          <p:cNvSpPr/>
          <p:nvPr/>
        </p:nvSpPr>
        <p:spPr>
          <a:xfrm>
            <a:off x="9052559" y="41148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9395459" y="43068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SHORTAGES</a:t>
            </a:r>
          </a:p>
        </p:txBody>
      </p:sp>
      <p:sp>
        <p:nvSpPr>
          <p:cNvPr id="179" name="TextBox 178"/>
          <p:cNvSpPr txBox="1"/>
          <p:nvPr/>
        </p:nvSpPr>
        <p:spPr>
          <a:xfrm>
            <a:off x="9395459" y="47183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Where is unmet demand that no one can currently see?</a:t>
            </a:r>
          </a:p>
        </p:txBody>
      </p:sp>
      <p:sp>
        <p:nvSpPr>
          <p:cNvPr id="180" name="Rounded Rectangle 179"/>
          <p:cNvSpPr/>
          <p:nvPr/>
        </p:nvSpPr>
        <p:spPr>
          <a:xfrm>
            <a:off x="9052559" y="54864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395459" y="56784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UNDERUSED CAPACITY</a:t>
            </a:r>
          </a:p>
        </p:txBody>
      </p:sp>
      <p:sp>
        <p:nvSpPr>
          <p:cNvPr id="182" name="TextBox 181"/>
          <p:cNvSpPr txBox="1"/>
          <p:nvPr/>
        </p:nvSpPr>
        <p:spPr>
          <a:xfrm>
            <a:off x="9395459" y="60899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sits idle three blocks away?</a:t>
            </a:r>
          </a:p>
        </p:txBody>
      </p:sp>
      <p:sp>
        <p:nvSpPr>
          <p:cNvPr id="183" name="Rounded Rectangle 182"/>
          <p:cNvSpPr/>
          <p:nvPr/>
        </p:nvSpPr>
        <p:spPr>
          <a:xfrm>
            <a:off x="9052559" y="6858000"/>
            <a:ext cx="8435340" cy="1207008"/>
          </a:xfrm>
          <a:prstGeom prst="roundRect">
            <a:avLst>
              <a:gd name="adj" fmla="val 6000"/>
            </a:avLst>
          </a:prstGeom>
          <a:solidFill>
            <a:srgbClr val="0D3E40"/>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9395459" y="7050023"/>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SOURCING</a:t>
            </a:r>
          </a:p>
        </p:txBody>
      </p:sp>
      <p:sp>
        <p:nvSpPr>
          <p:cNvPr id="185" name="TextBox 184"/>
          <p:cNvSpPr txBox="1"/>
          <p:nvPr/>
        </p:nvSpPr>
        <p:spPr>
          <a:xfrm>
            <a:off x="9395459" y="74615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do we repeatedly source from elsewhere?</a:t>
            </a:r>
          </a:p>
        </p:txBody>
      </p:sp>
      <p:sp>
        <p:nvSpPr>
          <p:cNvPr id="186" name="Rounded Rectangle 185"/>
          <p:cNvSpPr/>
          <p:nvPr/>
        </p:nvSpPr>
        <p:spPr>
          <a:xfrm>
            <a:off x="9052559" y="8229600"/>
            <a:ext cx="8435340" cy="1207008"/>
          </a:xfrm>
          <a:prstGeom prst="roundRect">
            <a:avLst>
              <a:gd name="adj" fmla="val 6000"/>
            </a:avLst>
          </a:prstGeom>
          <a:solidFill>
            <a:srgbClr val="062A2C"/>
          </a:solidFill>
          <a:ln w="16192">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9395459" y="8421624"/>
            <a:ext cx="7680959"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NEW ENTERPRISE</a:t>
            </a:r>
          </a:p>
        </p:txBody>
      </p:sp>
      <p:sp>
        <p:nvSpPr>
          <p:cNvPr id="188" name="TextBox 187"/>
          <p:cNvSpPr txBox="1"/>
          <p:nvPr/>
        </p:nvSpPr>
        <p:spPr>
          <a:xfrm>
            <a:off x="9395459" y="8833104"/>
            <a:ext cx="7680959"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What business could meet a recurring need and be viable here?</a:t>
            </a:r>
          </a:p>
        </p:txBody>
      </p:sp>
      <p:sp>
        <p:nvSpPr>
          <p:cNvPr id="189" name="TextBox 188"/>
          <p:cNvSpPr txBox="1"/>
          <p:nvPr/>
        </p:nvSpPr>
        <p:spPr>
          <a:xfrm>
            <a:off x="822959" y="9573768"/>
            <a:ext cx="16596359" cy="1097280"/>
          </a:xfrm>
          <a:prstGeom prst="rect">
            <a:avLst/>
          </a:prstGeom>
          <a:noFill/>
        </p:spPr>
        <p:txBody>
          <a:bodyPr wrap="square" lIns="0" rIns="0" tIns="0" bIns="0">
            <a:spAutoFit/>
          </a:bodyPr>
          <a:lstStyle/>
          <a:p>
            <a:pPr algn="ctr">
              <a:lnSpc>
                <a:spcPct val="140000"/>
              </a:lnSpc>
            </a:pPr>
            <a:r>
              <a:rPr sz="1950">
                <a:solidFill>
                  <a:srgbClr val="F4EAD8"/>
                </a:solidFill>
                <a:latin typeface="TT Commons Pro Bold"/>
              </a:rPr>
              <a:t>A feedback system for developing local capacity — </a:t>
            </a:r>
            <a:r>
              <a:rPr sz="2100" spc="20">
                <a:solidFill>
                  <a:srgbClr val="9FE8DC"/>
                </a:solidFill>
                <a:latin typeface="Alike Italics"/>
              </a:rPr>
              <a:t>not merely a marketplace for what already exists.</a:t>
            </a:r>
          </a:p>
        </p:txBody>
      </p:sp>
      <p:pic>
        <p:nvPicPr>
          <p:cNvPr id="190" name="Picture 189"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191" name="TextBox 19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2" name="TextBox 19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7200900"/>
            <a:ext cx="80924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7475220"/>
            <a:ext cx="7406640" cy="685800"/>
          </a:xfrm>
          <a:prstGeom prst="rect">
            <a:avLst/>
          </a:prstGeom>
          <a:noFill/>
        </p:spPr>
        <p:txBody>
          <a:bodyPr wrap="square" lIns="0" rIns="0" tIns="0" bIns="0">
            <a:spAutoFit/>
          </a:bodyPr>
          <a:lstStyle/>
          <a:p>
            <a:pPr algn="l">
              <a:lnSpc>
                <a:spcPct val="140000"/>
              </a:lnSpc>
            </a:pPr>
            <a:r>
              <a:rPr sz="1350" spc="330">
                <a:solidFill>
                  <a:srgbClr val="EBCF9E"/>
                </a:solidFill>
                <a:latin typeface="TT Commons Pro"/>
              </a:rPr>
              <a:t>PROVE WITHOUT REVEALING</a:t>
            </a:r>
          </a:p>
          <a:p>
            <a:pPr algn="l">
              <a:lnSpc>
                <a:spcPct val="140000"/>
              </a:lnSpc>
            </a:pPr>
            <a:r>
              <a:rPr sz="1575">
                <a:solidFill>
                  <a:srgbClr val="F2ECDD"/>
                </a:solidFill>
                <a:latin typeface="TT Commons Pro"/>
              </a:rPr>
              <a:t>Qualified? In the area? Eligible? Yes or no — nothing else.</a:t>
            </a:r>
          </a:p>
        </p:txBody>
      </p:sp>
      <p:pic>
        <p:nvPicPr>
          <p:cNvPr id="39" name="Picture 3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5.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DATA SOVEREIGNTY · APPROPRIATE VISIBILITY</a:t>
            </a:r>
          </a:p>
        </p:txBody>
      </p:sp>
      <p:sp>
        <p:nvSpPr>
          <p:cNvPr id="4" name="TextBox 3"/>
          <p:cNvSpPr txBox="1"/>
          <p:nvPr/>
        </p:nvSpPr>
        <p:spPr>
          <a:xfrm>
            <a:off x="822959" y="1699869"/>
            <a:ext cx="847177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Connection without </a:t>
            </a:r>
          </a:p>
        </p:txBody>
      </p:sp>
      <p:sp>
        <p:nvSpPr>
          <p:cNvPr id="5" name="TextBox 4"/>
          <p:cNvSpPr txBox="1"/>
          <p:nvPr/>
        </p:nvSpPr>
        <p:spPr>
          <a:xfrm>
            <a:off x="7435786" y="1645919"/>
            <a:ext cx="396811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exposure.</a:t>
            </a:r>
          </a:p>
        </p:txBody>
      </p:sp>
      <p:sp>
        <p:nvSpPr>
          <p:cNvPr id="6" name="TextBox 5"/>
          <p:cNvSpPr txBox="1"/>
          <p:nvPr/>
        </p:nvSpPr>
        <p:spPr>
          <a:xfrm>
            <a:off x="960119" y="3497579"/>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WHO IS ASKING</a:t>
            </a:r>
          </a:p>
        </p:txBody>
      </p:sp>
      <p:sp>
        <p:nvSpPr>
          <p:cNvPr id="7" name="TextBox 6"/>
          <p:cNvSpPr txBox="1"/>
          <p:nvPr/>
        </p:nvSpPr>
        <p:spPr>
          <a:xfrm>
            <a:off x="5897879" y="3497579"/>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WHAT THEY SEE</a:t>
            </a:r>
          </a:p>
        </p:txBody>
      </p:sp>
      <p:sp>
        <p:nvSpPr>
          <p:cNvPr id="8" name="TextBox 7"/>
          <p:cNvSpPr txBox="1"/>
          <p:nvPr/>
        </p:nvSpPr>
        <p:spPr>
          <a:xfrm>
            <a:off x="576072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name</a:t>
            </a:r>
          </a:p>
        </p:txBody>
      </p:sp>
      <p:sp>
        <p:nvSpPr>
          <p:cNvPr id="9" name="TextBox 8"/>
          <p:cNvSpPr txBox="1"/>
          <p:nvPr/>
        </p:nvSpPr>
        <p:spPr>
          <a:xfrm>
            <a:off x="788670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skills</a:t>
            </a:r>
          </a:p>
        </p:txBody>
      </p:sp>
      <p:sp>
        <p:nvSpPr>
          <p:cNvPr id="10" name="TextBox 9"/>
          <p:cNvSpPr txBox="1"/>
          <p:nvPr/>
        </p:nvSpPr>
        <p:spPr>
          <a:xfrm>
            <a:off x="10012680"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location</a:t>
            </a:r>
          </a:p>
        </p:txBody>
      </p:sp>
      <p:sp>
        <p:nvSpPr>
          <p:cNvPr id="11" name="TextBox 10"/>
          <p:cNvSpPr txBox="1"/>
          <p:nvPr/>
        </p:nvSpPr>
        <p:spPr>
          <a:xfrm>
            <a:off x="1213865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contact</a:t>
            </a:r>
          </a:p>
        </p:txBody>
      </p:sp>
      <p:sp>
        <p:nvSpPr>
          <p:cNvPr id="12" name="TextBox 11"/>
          <p:cNvSpPr txBox="1"/>
          <p:nvPr/>
        </p:nvSpPr>
        <p:spPr>
          <a:xfrm>
            <a:off x="14264639" y="3909060"/>
            <a:ext cx="2674620" cy="384048"/>
          </a:xfrm>
          <a:prstGeom prst="rect">
            <a:avLst/>
          </a:prstGeom>
          <a:noFill/>
        </p:spPr>
        <p:txBody>
          <a:bodyPr wrap="none" lIns="0" rIns="0" tIns="0" bIns="0">
            <a:spAutoFit/>
          </a:bodyPr>
          <a:lstStyle/>
          <a:p>
            <a:pPr algn="ctr">
              <a:lnSpc>
                <a:spcPct val="115000"/>
              </a:lnSpc>
            </a:pPr>
            <a:r>
              <a:rPr sz="1350" spc="150">
                <a:solidFill>
                  <a:srgbClr val="9FE8DC"/>
                </a:solidFill>
                <a:latin typeface="TT Commons Pro"/>
              </a:rPr>
              <a:t>history</a:t>
            </a:r>
          </a:p>
        </p:txBody>
      </p:sp>
      <p:sp>
        <p:nvSpPr>
          <p:cNvPr id="13" name="TextBox 12"/>
          <p:cNvSpPr txBox="1"/>
          <p:nvPr/>
        </p:nvSpPr>
        <p:spPr>
          <a:xfrm>
            <a:off x="960119" y="43754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 neighbor</a:t>
            </a:r>
          </a:p>
        </p:txBody>
      </p:sp>
      <p:sp>
        <p:nvSpPr>
          <p:cNvPr id="14" name="Oval 13"/>
          <p:cNvSpPr/>
          <p:nvPr/>
        </p:nvSpPr>
        <p:spPr>
          <a:xfrm>
            <a:off x="665911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85098" y="43891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1107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3705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5163038" y="43891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19" y="50612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my group</a:t>
            </a:r>
          </a:p>
        </p:txBody>
      </p:sp>
      <p:sp>
        <p:nvSpPr>
          <p:cNvPr id="20" name="Oval 19"/>
          <p:cNvSpPr/>
          <p:nvPr/>
        </p:nvSpPr>
        <p:spPr>
          <a:xfrm>
            <a:off x="665911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8509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1107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3705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63038" y="50749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19" y="57470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an employer</a:t>
            </a:r>
          </a:p>
        </p:txBody>
      </p:sp>
      <p:sp>
        <p:nvSpPr>
          <p:cNvPr id="26" name="Oval 25"/>
          <p:cNvSpPr/>
          <p:nvPr/>
        </p:nvSpPr>
        <p:spPr>
          <a:xfrm>
            <a:off x="665911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78509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1078" y="57607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03705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163038" y="57607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19" y="6432804"/>
            <a:ext cx="466344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the wider network</a:t>
            </a:r>
          </a:p>
        </p:txBody>
      </p:sp>
      <p:sp>
        <p:nvSpPr>
          <p:cNvPr id="32" name="Oval 31"/>
          <p:cNvSpPr/>
          <p:nvPr/>
        </p:nvSpPr>
        <p:spPr>
          <a:xfrm>
            <a:off x="6659118" y="6446520"/>
            <a:ext cx="329184" cy="329184"/>
          </a:xfrm>
          <a:prstGeom prst="ellipse">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8509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1107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03705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63038" y="6446520"/>
            <a:ext cx="329184" cy="329184"/>
          </a:xfrm>
          <a:prstGeom prst="ellipse">
            <a:avLst/>
          </a:prstGeom>
          <a:noFill/>
          <a:ln w="12700">
            <a:solidFill>
              <a:srgbClr val="2A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7200900"/>
            <a:ext cx="8092440" cy="1165860"/>
          </a:xfrm>
          <a:prstGeom prst="roundRect">
            <a:avLst>
              <a:gd name="adj" fmla="val 6000"/>
            </a:avLst>
          </a:prstGeom>
          <a:solidFill>
            <a:srgbClr val="0D3E40"/>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7475220"/>
            <a:ext cx="7406640" cy="685800"/>
          </a:xfrm>
          <a:prstGeom prst="rect">
            <a:avLst/>
          </a:prstGeom>
          <a:noFill/>
        </p:spPr>
        <p:txBody>
          <a:bodyPr wrap="square" lIns="0" rIns="0" tIns="0" bIns="0">
            <a:spAutoFit/>
          </a:bodyPr>
          <a:lstStyle/>
          <a:p>
            <a:pPr algn="l">
              <a:lnSpc>
                <a:spcPct val="140000"/>
              </a:lnSpc>
            </a:pPr>
            <a:r>
              <a:rPr sz="1350" spc="330">
                <a:solidFill>
                  <a:srgbClr val="EBCF9E"/>
                </a:solidFill>
                <a:latin typeface="TT Commons Pro"/>
              </a:rPr>
              <a:t>PROVE WITHOUT REVEALING</a:t>
            </a:r>
          </a:p>
          <a:p>
            <a:pPr algn="l">
              <a:lnSpc>
                <a:spcPct val="140000"/>
              </a:lnSpc>
            </a:pPr>
            <a:r>
              <a:rPr sz="1575">
                <a:solidFill>
                  <a:srgbClr val="F2ECDD"/>
                </a:solidFill>
                <a:latin typeface="TT Commons Pro"/>
              </a:rPr>
              <a:t>Qualified? In the area? Eligible? Yes or no — nothing else.</a:t>
            </a:r>
          </a:p>
        </p:txBody>
      </p:sp>
      <p:sp>
        <p:nvSpPr>
          <p:cNvPr id="39" name="Rounded Rectangle 38"/>
          <p:cNvSpPr/>
          <p:nvPr/>
        </p:nvSpPr>
        <p:spPr>
          <a:xfrm>
            <a:off x="9395459" y="7200900"/>
            <a:ext cx="8092440" cy="1165860"/>
          </a:xfrm>
          <a:prstGeom prst="roundRect">
            <a:avLst>
              <a:gd name="adj" fmla="val 6000"/>
            </a:avLst>
          </a:prstGeom>
          <a:solidFill>
            <a:srgbClr val="084B4D"/>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06940" y="7475220"/>
            <a:ext cx="7406640" cy="685800"/>
          </a:xfrm>
          <a:prstGeom prst="rect">
            <a:avLst/>
          </a:prstGeom>
          <a:noFill/>
        </p:spPr>
        <p:txBody>
          <a:bodyPr wrap="square" lIns="0" rIns="0" tIns="0" bIns="0">
            <a:spAutoFit/>
          </a:bodyPr>
          <a:lstStyle/>
          <a:p>
            <a:pPr algn="l">
              <a:lnSpc>
                <a:spcPct val="140000"/>
              </a:lnSpc>
            </a:pPr>
            <a:r>
              <a:rPr sz="1350" spc="330">
                <a:solidFill>
                  <a:srgbClr val="9FE8DC"/>
                </a:solidFill>
                <a:latin typeface="TT Commons Pro"/>
              </a:rPr>
              <a:t>AND AI RAISES THE STAKES</a:t>
            </a:r>
          </a:p>
          <a:p>
            <a:pPr algn="l">
              <a:lnSpc>
                <a:spcPct val="140000"/>
              </a:lnSpc>
            </a:pPr>
            <a:r>
              <a:rPr sz="1575">
                <a:solidFill>
                  <a:srgbClr val="F2ECDD"/>
                </a:solidFill>
                <a:latin typeface="TT Commons Pro"/>
              </a:rPr>
              <a:t>Another centralized layer — or local agency. Sovereign instances are live today.</a:t>
            </a:r>
          </a:p>
        </p:txBody>
      </p:sp>
      <p:sp>
        <p:nvSpPr>
          <p:cNvPr id="41" name="TextBox 40"/>
          <p:cNvSpPr txBox="1"/>
          <p:nvPr/>
        </p:nvSpPr>
        <p:spPr>
          <a:xfrm>
            <a:off x="822959" y="8846820"/>
            <a:ext cx="16596359" cy="1097280"/>
          </a:xfrm>
          <a:prstGeom prst="rect">
            <a:avLst/>
          </a:prstGeom>
          <a:noFill/>
        </p:spPr>
        <p:txBody>
          <a:bodyPr wrap="square" lIns="0" rIns="0" tIns="0" bIns="0">
            <a:spAutoFit/>
          </a:bodyPr>
          <a:lstStyle/>
          <a:p>
            <a:pPr algn="ctr">
              <a:lnSpc>
                <a:spcPct val="140000"/>
              </a:lnSpc>
            </a:pPr>
            <a:r>
              <a:rPr sz="2025">
                <a:solidFill>
                  <a:srgbClr val="F4EAD8"/>
                </a:solidFill>
                <a:latin typeface="TT Commons Pro Bold"/>
              </a:rPr>
              <a:t>The goal is not secrecy. It's </a:t>
            </a:r>
            <a:r>
              <a:rPr sz="2175" spc="20">
                <a:solidFill>
                  <a:srgbClr val="EBCF9E"/>
                </a:solidFill>
                <a:latin typeface="Alike Italics"/>
              </a:rPr>
              <a:t>appropriate visibility.</a:t>
            </a:r>
          </a:p>
        </p:txBody>
      </p:sp>
      <p:pic>
        <p:nvPicPr>
          <p:cNvPr id="42" name="Picture 4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3" name="TextBox 4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4" name="TextBox 4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pic>
        <p:nvPicPr>
          <p:cNvPr id="19" name="Picture 1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0" name="TextBox 1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1" name="TextBox 2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pic>
        <p:nvPicPr>
          <p:cNvPr id="160" name="Picture 159" descr="rivr-symbol-light.png"/>
          <p:cNvPicPr>
            <a:picLocks noChangeAspect="1"/>
          </p:cNvPicPr>
          <p:nvPr/>
        </p:nvPicPr>
        <p:blipFill>
          <a:blip r:embed="rId8"/>
          <a:stretch>
            <a:fillRect/>
          </a:stretch>
        </p:blipFill>
        <p:spPr>
          <a:xfrm>
            <a:off x="576072" y="9518904"/>
            <a:ext cx="521208" cy="521208"/>
          </a:xfrm>
          <a:prstGeom prst="rect">
            <a:avLst/>
          </a:prstGeom>
        </p:spPr>
      </p:pic>
      <p:sp>
        <p:nvSpPr>
          <p:cNvPr id="161" name="TextBox 16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2" name="TextBox 16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sp>
        <p:nvSpPr>
          <p:cNvPr id="160" name="TextBox 159"/>
          <p:cNvSpPr txBox="1"/>
          <p:nvPr/>
        </p:nvSpPr>
        <p:spPr>
          <a:xfrm>
            <a:off x="822959" y="672084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FOUR MEMBER CLASSES · ONE MEMBER, ONE VOTE</a:t>
            </a:r>
          </a:p>
        </p:txBody>
      </p:sp>
      <p:sp>
        <p:nvSpPr>
          <p:cNvPr id="161" name="Rounded Rectangle 160"/>
          <p:cNvSpPr/>
          <p:nvPr/>
        </p:nvSpPr>
        <p:spPr>
          <a:xfrm>
            <a:off x="822959"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9848"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3" name="Picture 162" descr="person.png"/>
          <p:cNvPicPr>
            <a:picLocks noChangeAspect="1"/>
          </p:cNvPicPr>
          <p:nvPr/>
        </p:nvPicPr>
        <p:blipFill>
          <a:blip r:embed="rId3"/>
          <a:stretch>
            <a:fillRect/>
          </a:stretch>
        </p:blipFill>
        <p:spPr>
          <a:xfrm>
            <a:off x="1152144" y="7763256"/>
            <a:ext cx="329184" cy="329184"/>
          </a:xfrm>
          <a:prstGeom prst="rect">
            <a:avLst/>
          </a:prstGeom>
        </p:spPr>
      </p:pic>
      <p:sp>
        <p:nvSpPr>
          <p:cNvPr id="164" name="TextBox 163"/>
          <p:cNvSpPr txBox="1"/>
          <p:nvPr/>
        </p:nvSpPr>
        <p:spPr>
          <a:xfrm>
            <a:off x="1728216"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GENERAL MEMBERS</a:t>
            </a:r>
          </a:p>
        </p:txBody>
      </p:sp>
      <p:sp>
        <p:nvSpPr>
          <p:cNvPr id="165" name="Rounded Rectangle 164"/>
          <p:cNvSpPr/>
          <p:nvPr/>
        </p:nvSpPr>
        <p:spPr>
          <a:xfrm>
            <a:off x="5061204" y="7159752"/>
            <a:ext cx="3977639" cy="1261872"/>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308092"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7" name="Picture 166" descr="org.png"/>
          <p:cNvPicPr>
            <a:picLocks noChangeAspect="1"/>
          </p:cNvPicPr>
          <p:nvPr/>
        </p:nvPicPr>
        <p:blipFill>
          <a:blip r:embed="rId8"/>
          <a:stretch>
            <a:fillRect/>
          </a:stretch>
        </p:blipFill>
        <p:spPr>
          <a:xfrm>
            <a:off x="5390388" y="7763256"/>
            <a:ext cx="329184" cy="329184"/>
          </a:xfrm>
          <a:prstGeom prst="rect">
            <a:avLst/>
          </a:prstGeom>
        </p:spPr>
      </p:pic>
      <p:sp>
        <p:nvSpPr>
          <p:cNvPr id="168" name="TextBox 167"/>
          <p:cNvSpPr txBox="1"/>
          <p:nvPr/>
        </p:nvSpPr>
        <p:spPr>
          <a:xfrm>
            <a:off x="5966459"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CHAPTER MEMBERS</a:t>
            </a:r>
          </a:p>
        </p:txBody>
      </p:sp>
      <p:sp>
        <p:nvSpPr>
          <p:cNvPr id="169" name="Rounded Rectangle 168"/>
          <p:cNvSpPr/>
          <p:nvPr/>
        </p:nvSpPr>
        <p:spPr>
          <a:xfrm>
            <a:off x="9299447"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546335"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LABOR CLASS</a:t>
            </a:r>
          </a:p>
        </p:txBody>
      </p:sp>
      <p:pic>
        <p:nvPicPr>
          <p:cNvPr id="171" name="Picture 170" descr="work.png"/>
          <p:cNvPicPr>
            <a:picLocks noChangeAspect="1"/>
          </p:cNvPicPr>
          <p:nvPr/>
        </p:nvPicPr>
        <p:blipFill>
          <a:blip r:embed="rId9"/>
          <a:stretch>
            <a:fillRect/>
          </a:stretch>
        </p:blipFill>
        <p:spPr>
          <a:xfrm>
            <a:off x="9628632" y="7763256"/>
            <a:ext cx="329184" cy="329184"/>
          </a:xfrm>
          <a:prstGeom prst="rect">
            <a:avLst/>
          </a:prstGeom>
        </p:spPr>
      </p:pic>
      <p:sp>
        <p:nvSpPr>
          <p:cNvPr id="172" name="TextBox 171"/>
          <p:cNvSpPr txBox="1"/>
          <p:nvPr/>
        </p:nvSpPr>
        <p:spPr>
          <a:xfrm>
            <a:off x="10204704"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WORKER MEMBERS</a:t>
            </a:r>
          </a:p>
        </p:txBody>
      </p:sp>
      <p:sp>
        <p:nvSpPr>
          <p:cNvPr id="173" name="Rounded Rectangle 172"/>
          <p:cNvSpPr/>
          <p:nvPr/>
        </p:nvSpPr>
        <p:spPr>
          <a:xfrm>
            <a:off x="13537692" y="7159752"/>
            <a:ext cx="3977639" cy="1261872"/>
          </a:xfrm>
          <a:prstGeom prst="roundRect">
            <a:avLst>
              <a:gd name="adj" fmla="val 6000"/>
            </a:avLst>
          </a:prstGeom>
          <a:solidFill>
            <a:srgbClr val="062A2C"/>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3784580" y="7324344"/>
            <a:ext cx="3429000" cy="329184"/>
          </a:xfrm>
          <a:prstGeom prst="rect">
            <a:avLst/>
          </a:prstGeom>
          <a:noFill/>
        </p:spPr>
        <p:txBody>
          <a:bodyPr wrap="none" lIns="0" rIns="0" tIns="0" bIns="0">
            <a:spAutoFit/>
          </a:bodyPr>
          <a:lstStyle/>
          <a:p>
            <a:pPr algn="l">
              <a:lnSpc>
                <a:spcPct val="115000"/>
              </a:lnSpc>
            </a:pPr>
            <a:r>
              <a:rPr sz="1125" spc="330">
                <a:solidFill>
                  <a:srgbClr val="EBCF9E"/>
                </a:solidFill>
                <a:latin typeface="TT Commons Pro"/>
              </a:rPr>
              <a:t>INVESTOR CLASS</a:t>
            </a:r>
          </a:p>
        </p:txBody>
      </p:sp>
      <p:pic>
        <p:nvPicPr>
          <p:cNvPr id="175" name="Picture 174" descr="badge.png"/>
          <p:cNvPicPr>
            <a:picLocks noChangeAspect="1"/>
          </p:cNvPicPr>
          <p:nvPr/>
        </p:nvPicPr>
        <p:blipFill>
          <a:blip r:embed="rId7"/>
          <a:stretch>
            <a:fillRect/>
          </a:stretch>
        </p:blipFill>
        <p:spPr>
          <a:xfrm>
            <a:off x="13866876" y="7763256"/>
            <a:ext cx="329184" cy="329184"/>
          </a:xfrm>
          <a:prstGeom prst="rect">
            <a:avLst/>
          </a:prstGeom>
        </p:spPr>
      </p:pic>
      <p:sp>
        <p:nvSpPr>
          <p:cNvPr id="176" name="TextBox 175"/>
          <p:cNvSpPr txBox="1"/>
          <p:nvPr/>
        </p:nvSpPr>
        <p:spPr>
          <a:xfrm>
            <a:off x="14442947"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STEWARD MEMBERS</a:t>
            </a:r>
          </a:p>
        </p:txBody>
      </p:sp>
      <p:pic>
        <p:nvPicPr>
          <p:cNvPr id="177" name="Picture 176"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178" name="TextBox 17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79" name="TextBox 17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6.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CO-OP MODEL · RIVR LCA + PBC · COLORADO</a:t>
            </a:r>
          </a:p>
        </p:txBody>
      </p:sp>
      <p:sp>
        <p:nvSpPr>
          <p:cNvPr id="4" name="TextBox 3"/>
          <p:cNvSpPr txBox="1"/>
          <p:nvPr/>
        </p:nvSpPr>
        <p:spPr>
          <a:xfrm>
            <a:off x="822959" y="1699869"/>
            <a:ext cx="412130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Capital is </a:t>
            </a:r>
          </a:p>
        </p:txBody>
      </p:sp>
      <p:sp>
        <p:nvSpPr>
          <p:cNvPr id="5" name="TextBox 4"/>
          <p:cNvSpPr txBox="1"/>
          <p:nvPr/>
        </p:nvSpPr>
        <p:spPr>
          <a:xfrm>
            <a:off x="3955415" y="1645919"/>
            <a:ext cx="3974068"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decoupled</a:t>
            </a:r>
          </a:p>
        </p:txBody>
      </p:sp>
      <p:sp>
        <p:nvSpPr>
          <p:cNvPr id="6" name="TextBox 5"/>
          <p:cNvSpPr txBox="1"/>
          <p:nvPr/>
        </p:nvSpPr>
        <p:spPr>
          <a:xfrm>
            <a:off x="6970077" y="1699869"/>
            <a:ext cx="7507684"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from governance.</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350" spc="330">
                <a:solidFill>
                  <a:srgbClr val="D3B7A5"/>
                </a:solidFill>
                <a:latin typeface="TT Commons Pro"/>
              </a:rPr>
              <a:t>MOST PLATFORMS — VALUE CONCENTRATES UPWARD</a:t>
            </a:r>
          </a:p>
        </p:txBody>
      </p:sp>
      <p:sp>
        <p:nvSpPr>
          <p:cNvPr id="8" name="Rounded Rectangle 7"/>
          <p:cNvSpPr/>
          <p:nvPr/>
        </p:nvSpPr>
        <p:spPr>
          <a:xfrm>
            <a:off x="822959" y="3909060"/>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3963924"/>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attention</a:t>
            </a:r>
          </a:p>
        </p:txBody>
      </p:sp>
      <p:cxnSp>
        <p:nvCxnSpPr>
          <p:cNvPr id="10" name="Connector 9"/>
          <p:cNvCxnSpPr/>
          <p:nvPr/>
        </p:nvCxnSpPr>
        <p:spPr>
          <a:xfrm>
            <a:off x="3771900" y="4142232"/>
            <a:ext cx="1303020" cy="38404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59" y="4485132"/>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 y="4539996"/>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data</a:t>
            </a:r>
          </a:p>
        </p:txBody>
      </p:sp>
      <p:cxnSp>
        <p:nvCxnSpPr>
          <p:cNvPr id="13" name="Connector 12"/>
          <p:cNvCxnSpPr/>
          <p:nvPr/>
        </p:nvCxnSpPr>
        <p:spPr>
          <a:xfrm flipV="1">
            <a:off x="3771900" y="4526279"/>
            <a:ext cx="1303020" cy="192025"/>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59" y="5061204"/>
            <a:ext cx="2880360" cy="466344"/>
          </a:xfrm>
          <a:prstGeom prst="roundRect">
            <a:avLst>
              <a:gd name="adj" fmla="val 30000"/>
            </a:avLst>
          </a:prstGeom>
          <a:solidFill>
            <a:srgbClr val="084B4D"/>
          </a:solidFill>
          <a:ln w="13334">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5116068"/>
            <a:ext cx="2606039" cy="356616"/>
          </a:xfrm>
          <a:prstGeom prst="rect">
            <a:avLst/>
          </a:prstGeom>
          <a:noFill/>
        </p:spPr>
        <p:txBody>
          <a:bodyPr wrap="none" lIns="0" rIns="0" tIns="0" bIns="0">
            <a:spAutoFit/>
          </a:bodyPr>
          <a:lstStyle/>
          <a:p>
            <a:pPr algn="l">
              <a:lnSpc>
                <a:spcPct val="115000"/>
              </a:lnSpc>
            </a:pPr>
            <a:r>
              <a:rPr sz="1425">
                <a:solidFill>
                  <a:srgbClr val="AFC4C2"/>
                </a:solidFill>
                <a:latin typeface="TT Commons Pro"/>
              </a:rPr>
              <a:t>transactions</a:t>
            </a:r>
          </a:p>
        </p:txBody>
      </p:sp>
      <p:cxnSp>
        <p:nvCxnSpPr>
          <p:cNvPr id="16" name="Connector 15"/>
          <p:cNvCxnSpPr/>
          <p:nvPr/>
        </p:nvCxnSpPr>
        <p:spPr>
          <a:xfrm flipV="1">
            <a:off x="3771900" y="4526279"/>
            <a:ext cx="1303020" cy="768097"/>
          </a:xfrm>
          <a:prstGeom prst="line">
            <a:avLst/>
          </a:prstGeom>
          <a:ln w="10160">
            <a:solidFill>
              <a:srgbClr val="D3B7A5"/>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143500" y="3977639"/>
            <a:ext cx="1097280" cy="1097280"/>
          </a:xfrm>
          <a:prstGeom prst="ellipse">
            <a:avLst/>
          </a:prstGeom>
          <a:solidFill>
            <a:srgbClr val="084B4D"/>
          </a:solidFill>
          <a:ln w="1397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9179" y="4389120"/>
            <a:ext cx="1645919" cy="356616"/>
          </a:xfrm>
          <a:prstGeom prst="rect">
            <a:avLst/>
          </a:prstGeom>
          <a:noFill/>
        </p:spPr>
        <p:txBody>
          <a:bodyPr wrap="none" lIns="0" rIns="0" tIns="0" bIns="0">
            <a:spAutoFit/>
          </a:bodyPr>
          <a:lstStyle/>
          <a:p>
            <a:pPr algn="ctr">
              <a:lnSpc>
                <a:spcPct val="115000"/>
              </a:lnSpc>
            </a:pPr>
            <a:r>
              <a:rPr sz="1125" spc="330">
                <a:solidFill>
                  <a:srgbClr val="D3B7A5"/>
                </a:solidFill>
                <a:latin typeface="TT Commons Pro"/>
              </a:rPr>
              <a:t>PLATFORM</a:t>
            </a:r>
          </a:p>
        </p:txBody>
      </p:sp>
      <p:sp>
        <p:nvSpPr>
          <p:cNvPr id="19" name="TextBox 18"/>
          <p:cNvSpPr txBox="1"/>
          <p:nvPr/>
        </p:nvSpPr>
        <p:spPr>
          <a:xfrm>
            <a:off x="8778240" y="3429000"/>
            <a:ext cx="822960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RIVR — VALUE RETURNS TO PARTICIPANTS</a:t>
            </a:r>
          </a:p>
        </p:txBody>
      </p:sp>
      <p:cxnSp>
        <p:nvCxnSpPr>
          <p:cNvPr id="20" name="Connector 19"/>
          <p:cNvCxnSpPr/>
          <p:nvPr/>
        </p:nvCxnSpPr>
        <p:spPr>
          <a:xfrm>
            <a:off x="13447989"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496499"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544593"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592212"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639294"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685780"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731612"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776732"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821083"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64608"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072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48965"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9690"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029377"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067976"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05438"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41715"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176763"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10537"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42994"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74094"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303796"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332064"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358862"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44" name="Isosceles Triangle 43"/>
          <p:cNvSpPr/>
          <p:nvPr/>
        </p:nvSpPr>
        <p:spPr>
          <a:xfrm rot="7621072">
            <a:off x="13886820"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14557594"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56228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565208"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4565765"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4563396"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4559265"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4553376"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14545739"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4536361"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14525255"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14512436"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4497918"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1448172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14463865"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14444372"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4423268"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14400578"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4376332"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4350559"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4323293"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4294568"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26442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23288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4200010"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1941072">
            <a:off x="14395048"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13700329"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3654043"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3607143"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3559687"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3511737"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3463351"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3414592"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3365521"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3316200"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3266691"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3217057"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3167359" y="6267329"/>
            <a:ext cx="49698"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3117662" y="6267329"/>
            <a:ext cx="49697" cy="8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3068028" y="6264681"/>
            <a:ext cx="49634" cy="26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3018519" y="6260272"/>
            <a:ext cx="49509" cy="440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969198" y="6254106"/>
            <a:ext cx="49321" cy="616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920127" y="6246193"/>
            <a:ext cx="49071" cy="79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871368" y="6236542"/>
            <a:ext cx="48759" cy="96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2822982" y="6225164"/>
            <a:ext cx="48386" cy="113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2775032" y="6212075"/>
            <a:ext cx="47950" cy="1308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2727576" y="6197291"/>
            <a:ext cx="47456" cy="147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2680676" y="6180831"/>
            <a:ext cx="46900" cy="1646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2634390" y="6162715"/>
            <a:ext cx="46286" cy="1811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2588776" y="6142966"/>
            <a:ext cx="45614" cy="197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94" name="Isosceles Triangle 93"/>
          <p:cNvSpPr/>
          <p:nvPr/>
        </p:nvSpPr>
        <p:spPr>
          <a:xfrm rot="16261072">
            <a:off x="13064490" y="6165342"/>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flipH="1" flipV="1">
            <a:off x="12101831" y="5775788"/>
            <a:ext cx="32878" cy="372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070298" y="5737366"/>
            <a:ext cx="31533" cy="3842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040151" y="5697848"/>
            <a:ext cx="30147" cy="3951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011426" y="5657283"/>
            <a:ext cx="28725" cy="4056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1984160" y="5615724"/>
            <a:ext cx="27266" cy="4155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1958387" y="5573223"/>
            <a:ext cx="25773" cy="425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1934141" y="5529833"/>
            <a:ext cx="24246" cy="4339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911451" y="5485609"/>
            <a:ext cx="22690" cy="4422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890347" y="5440606"/>
            <a:ext cx="21104" cy="4500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870854" y="5394883"/>
            <a:ext cx="19493" cy="457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852998" y="5348496"/>
            <a:ext cx="17856" cy="4638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836801" y="5301504"/>
            <a:ext cx="16197" cy="469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822283" y="5253966"/>
            <a:ext cx="14518" cy="4753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809464" y="5205943"/>
            <a:ext cx="12819" cy="4802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798358" y="5157495"/>
            <a:ext cx="11106" cy="4844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788980" y="5108682"/>
            <a:ext cx="9378" cy="4881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781343" y="5059568"/>
            <a:ext cx="7637" cy="4911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775454" y="5010213"/>
            <a:ext cx="5889" cy="4935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771323" y="4960680"/>
            <a:ext cx="4131" cy="495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768954" y="4911031"/>
            <a:ext cx="2369" cy="4964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768350" y="4861330"/>
            <a:ext cx="604" cy="4970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1768350" y="4811638"/>
            <a:ext cx="1161" cy="4969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1769511" y="4762019"/>
            <a:ext cx="2927" cy="49619"/>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1772438" y="4712536"/>
            <a:ext cx="4687" cy="4948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20581072">
            <a:off x="11733931" y="5198634"/>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0" name="Connector 119"/>
          <p:cNvCxnSpPr/>
          <p:nvPr/>
        </p:nvCxnSpPr>
        <p:spPr>
          <a:xfrm flipV="1">
            <a:off x="11950563" y="4135959"/>
            <a:ext cx="25294" cy="4278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975857" y="4094097"/>
            <a:ext cx="26798" cy="4186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2002655" y="4053213"/>
            <a:ext cx="28268" cy="4088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2030923" y="4013359"/>
            <a:ext cx="29702" cy="3985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12060625" y="3974585"/>
            <a:ext cx="31100" cy="3877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091725" y="3936940"/>
            <a:ext cx="32457" cy="376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2124182" y="3900472"/>
            <a:ext cx="33774" cy="364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157956" y="3865227"/>
            <a:ext cx="35048" cy="3524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193004" y="3831249"/>
            <a:ext cx="36277" cy="3397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229281" y="3798581"/>
            <a:ext cx="37462" cy="32668"/>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266743" y="3767264"/>
            <a:ext cx="38599" cy="3131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305342" y="3737339"/>
            <a:ext cx="39687" cy="29925"/>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345029" y="3708842"/>
            <a:ext cx="40725" cy="28497"/>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2385754" y="3681810"/>
            <a:ext cx="41711" cy="2703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427465" y="3656276"/>
            <a:ext cx="42646" cy="255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2470111" y="3632274"/>
            <a:ext cx="43525" cy="2400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2513636" y="3609832"/>
            <a:ext cx="44351" cy="22442"/>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2557987" y="3588981"/>
            <a:ext cx="45120" cy="20851"/>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2603107" y="3569745"/>
            <a:ext cx="45832" cy="1923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648939" y="3552149"/>
            <a:ext cx="46486" cy="17596"/>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695425" y="3536216"/>
            <a:ext cx="47082" cy="15933"/>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742507" y="3521966"/>
            <a:ext cx="47619" cy="142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790126" y="3509416"/>
            <a:ext cx="48094" cy="12550"/>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838220" y="3498582"/>
            <a:ext cx="48510" cy="10834"/>
          </a:xfrm>
          <a:prstGeom prst="line">
            <a:avLst/>
          </a:prstGeom>
          <a:ln w="12700">
            <a:solidFill>
              <a:srgbClr val="F0CC8B"/>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3301072">
            <a:off x="12242159" y="3634469"/>
            <a:ext cx="205739" cy="205739"/>
          </a:xfrm>
          <a:prstGeom prst="triangle">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2714732" y="3017520"/>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person.png"/>
          <p:cNvPicPr>
            <a:picLocks noChangeAspect="1"/>
          </p:cNvPicPr>
          <p:nvPr/>
        </p:nvPicPr>
        <p:blipFill>
          <a:blip r:embed="rId3"/>
          <a:stretch>
            <a:fillRect/>
          </a:stretch>
        </p:blipFill>
        <p:spPr>
          <a:xfrm>
            <a:off x="12961619" y="3072383"/>
            <a:ext cx="411479" cy="411479"/>
          </a:xfrm>
          <a:prstGeom prst="rect">
            <a:avLst/>
          </a:prstGeom>
        </p:spPr>
      </p:pic>
      <p:sp>
        <p:nvSpPr>
          <p:cNvPr id="147" name="TextBox 146"/>
          <p:cNvSpPr txBox="1"/>
          <p:nvPr/>
        </p:nvSpPr>
        <p:spPr>
          <a:xfrm>
            <a:off x="12371832" y="3552444"/>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members</a:t>
            </a:r>
          </a:p>
        </p:txBody>
      </p:sp>
      <p:sp>
        <p:nvSpPr>
          <p:cNvPr id="148" name="Oval 147"/>
          <p:cNvSpPr/>
          <p:nvPr/>
        </p:nvSpPr>
        <p:spPr>
          <a:xfrm>
            <a:off x="14045290"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coord.png"/>
          <p:cNvPicPr>
            <a:picLocks noChangeAspect="1"/>
          </p:cNvPicPr>
          <p:nvPr/>
        </p:nvPicPr>
        <p:blipFill>
          <a:blip r:embed="rId4"/>
          <a:stretch>
            <a:fillRect/>
          </a:stretch>
        </p:blipFill>
        <p:spPr>
          <a:xfrm>
            <a:off x="14292178" y="4039091"/>
            <a:ext cx="411479" cy="411479"/>
          </a:xfrm>
          <a:prstGeom prst="rect">
            <a:avLst/>
          </a:prstGeom>
        </p:spPr>
      </p:pic>
      <p:sp>
        <p:nvSpPr>
          <p:cNvPr id="150" name="TextBox 149"/>
          <p:cNvSpPr txBox="1"/>
          <p:nvPr/>
        </p:nvSpPr>
        <p:spPr>
          <a:xfrm>
            <a:off x="13702390"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use</a:t>
            </a:r>
          </a:p>
        </p:txBody>
      </p:sp>
      <p:sp>
        <p:nvSpPr>
          <p:cNvPr id="151" name="Oval 150"/>
          <p:cNvSpPr/>
          <p:nvPr/>
        </p:nvSpPr>
        <p:spPr>
          <a:xfrm>
            <a:off x="13537062"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money.png"/>
          <p:cNvPicPr>
            <a:picLocks noChangeAspect="1"/>
          </p:cNvPicPr>
          <p:nvPr/>
        </p:nvPicPr>
        <p:blipFill>
          <a:blip r:embed="rId5"/>
          <a:stretch>
            <a:fillRect/>
          </a:stretch>
        </p:blipFill>
        <p:spPr>
          <a:xfrm>
            <a:off x="13783950" y="5603256"/>
            <a:ext cx="411479" cy="411479"/>
          </a:xfrm>
          <a:prstGeom prst="rect">
            <a:avLst/>
          </a:prstGeom>
        </p:spPr>
      </p:pic>
      <p:sp>
        <p:nvSpPr>
          <p:cNvPr id="153" name="TextBox 152"/>
          <p:cNvSpPr txBox="1"/>
          <p:nvPr/>
        </p:nvSpPr>
        <p:spPr>
          <a:xfrm>
            <a:off x="13194162"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revenue</a:t>
            </a:r>
          </a:p>
        </p:txBody>
      </p:sp>
      <p:sp>
        <p:nvSpPr>
          <p:cNvPr id="154" name="Oval 153"/>
          <p:cNvSpPr/>
          <p:nvPr/>
        </p:nvSpPr>
        <p:spPr>
          <a:xfrm>
            <a:off x="11892401" y="5548392"/>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5" name="Picture 154" descr="gift.png"/>
          <p:cNvPicPr>
            <a:picLocks noChangeAspect="1"/>
          </p:cNvPicPr>
          <p:nvPr/>
        </p:nvPicPr>
        <p:blipFill>
          <a:blip r:embed="rId6"/>
          <a:stretch>
            <a:fillRect/>
          </a:stretch>
        </p:blipFill>
        <p:spPr>
          <a:xfrm>
            <a:off x="12139289" y="5603256"/>
            <a:ext cx="411479" cy="411479"/>
          </a:xfrm>
          <a:prstGeom prst="rect">
            <a:avLst/>
          </a:prstGeom>
        </p:spPr>
      </p:pic>
      <p:sp>
        <p:nvSpPr>
          <p:cNvPr id="156" name="TextBox 155"/>
          <p:cNvSpPr txBox="1"/>
          <p:nvPr/>
        </p:nvSpPr>
        <p:spPr>
          <a:xfrm>
            <a:off x="11549501" y="6083316"/>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patronage</a:t>
            </a:r>
          </a:p>
        </p:txBody>
      </p:sp>
      <p:sp>
        <p:nvSpPr>
          <p:cNvPr id="157" name="Oval 156"/>
          <p:cNvSpPr/>
          <p:nvPr/>
        </p:nvSpPr>
        <p:spPr>
          <a:xfrm>
            <a:off x="11384173" y="3984227"/>
            <a:ext cx="905256" cy="905256"/>
          </a:xfrm>
          <a:prstGeom prst="ellipse">
            <a:avLst/>
          </a:prstGeom>
          <a:solidFill>
            <a:srgbClr val="0D3E40"/>
          </a:solidFill>
          <a:ln w="1524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8" name="Picture 157" descr="badge.png"/>
          <p:cNvPicPr>
            <a:picLocks noChangeAspect="1"/>
          </p:cNvPicPr>
          <p:nvPr/>
        </p:nvPicPr>
        <p:blipFill>
          <a:blip r:embed="rId7"/>
          <a:stretch>
            <a:fillRect/>
          </a:stretch>
        </p:blipFill>
        <p:spPr>
          <a:xfrm>
            <a:off x="11631061" y="4039091"/>
            <a:ext cx="411479" cy="411479"/>
          </a:xfrm>
          <a:prstGeom prst="rect">
            <a:avLst/>
          </a:prstGeom>
        </p:spPr>
      </p:pic>
      <p:sp>
        <p:nvSpPr>
          <p:cNvPr id="159" name="TextBox 158"/>
          <p:cNvSpPr txBox="1"/>
          <p:nvPr/>
        </p:nvSpPr>
        <p:spPr>
          <a:xfrm>
            <a:off x="11041273" y="4519151"/>
            <a:ext cx="1591056" cy="411479"/>
          </a:xfrm>
          <a:prstGeom prst="rect">
            <a:avLst/>
          </a:prstGeom>
          <a:noFill/>
        </p:spPr>
        <p:txBody>
          <a:bodyPr wrap="none" lIns="0" rIns="0" tIns="0" bIns="0">
            <a:spAutoFit/>
          </a:bodyPr>
          <a:lstStyle/>
          <a:p>
            <a:pPr algn="ctr">
              <a:lnSpc>
                <a:spcPct val="115000"/>
              </a:lnSpc>
            </a:pPr>
            <a:r>
              <a:rPr sz="1200" spc="150">
                <a:solidFill>
                  <a:srgbClr val="F2ECDD"/>
                </a:solidFill>
                <a:latin typeface="TT Commons Pro"/>
              </a:rPr>
              <a:t>stake</a:t>
            </a:r>
          </a:p>
        </p:txBody>
      </p:sp>
      <p:sp>
        <p:nvSpPr>
          <p:cNvPr id="160" name="TextBox 159"/>
          <p:cNvSpPr txBox="1"/>
          <p:nvPr/>
        </p:nvSpPr>
        <p:spPr>
          <a:xfrm>
            <a:off x="822959" y="672084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FOUR MEMBER CLASSES · ONE MEMBER, ONE VOTE</a:t>
            </a:r>
          </a:p>
        </p:txBody>
      </p:sp>
      <p:sp>
        <p:nvSpPr>
          <p:cNvPr id="161" name="Rounded Rectangle 160"/>
          <p:cNvSpPr/>
          <p:nvPr/>
        </p:nvSpPr>
        <p:spPr>
          <a:xfrm>
            <a:off x="822959"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069848"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3" name="Picture 162" descr="person.png"/>
          <p:cNvPicPr>
            <a:picLocks noChangeAspect="1"/>
          </p:cNvPicPr>
          <p:nvPr/>
        </p:nvPicPr>
        <p:blipFill>
          <a:blip r:embed="rId3"/>
          <a:stretch>
            <a:fillRect/>
          </a:stretch>
        </p:blipFill>
        <p:spPr>
          <a:xfrm>
            <a:off x="1152144" y="7763256"/>
            <a:ext cx="329184" cy="329184"/>
          </a:xfrm>
          <a:prstGeom prst="rect">
            <a:avLst/>
          </a:prstGeom>
        </p:spPr>
      </p:pic>
      <p:sp>
        <p:nvSpPr>
          <p:cNvPr id="164" name="TextBox 163"/>
          <p:cNvSpPr txBox="1"/>
          <p:nvPr/>
        </p:nvSpPr>
        <p:spPr>
          <a:xfrm>
            <a:off x="1728216"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GENERAL MEMBERS</a:t>
            </a:r>
          </a:p>
        </p:txBody>
      </p:sp>
      <p:sp>
        <p:nvSpPr>
          <p:cNvPr id="165" name="Rounded Rectangle 164"/>
          <p:cNvSpPr/>
          <p:nvPr/>
        </p:nvSpPr>
        <p:spPr>
          <a:xfrm>
            <a:off x="5061204" y="7159752"/>
            <a:ext cx="3977639" cy="1261872"/>
          </a:xfrm>
          <a:prstGeom prst="roundRect">
            <a:avLst>
              <a:gd name="adj" fmla="val 6000"/>
            </a:avLst>
          </a:prstGeom>
          <a:solidFill>
            <a:srgbClr val="062A2C"/>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308092"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PATRON CLASS</a:t>
            </a:r>
          </a:p>
        </p:txBody>
      </p:sp>
      <p:pic>
        <p:nvPicPr>
          <p:cNvPr id="167" name="Picture 166" descr="org.png"/>
          <p:cNvPicPr>
            <a:picLocks noChangeAspect="1"/>
          </p:cNvPicPr>
          <p:nvPr/>
        </p:nvPicPr>
        <p:blipFill>
          <a:blip r:embed="rId8"/>
          <a:stretch>
            <a:fillRect/>
          </a:stretch>
        </p:blipFill>
        <p:spPr>
          <a:xfrm>
            <a:off x="5390388" y="7763256"/>
            <a:ext cx="329184" cy="329184"/>
          </a:xfrm>
          <a:prstGeom prst="rect">
            <a:avLst/>
          </a:prstGeom>
        </p:spPr>
      </p:pic>
      <p:sp>
        <p:nvSpPr>
          <p:cNvPr id="168" name="TextBox 167"/>
          <p:cNvSpPr txBox="1"/>
          <p:nvPr/>
        </p:nvSpPr>
        <p:spPr>
          <a:xfrm>
            <a:off x="5966459"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CHAPTER MEMBERS</a:t>
            </a:r>
          </a:p>
        </p:txBody>
      </p:sp>
      <p:sp>
        <p:nvSpPr>
          <p:cNvPr id="169" name="Rounded Rectangle 168"/>
          <p:cNvSpPr/>
          <p:nvPr/>
        </p:nvSpPr>
        <p:spPr>
          <a:xfrm>
            <a:off x="9299447" y="7159752"/>
            <a:ext cx="3977639" cy="1261872"/>
          </a:xfrm>
          <a:prstGeom prst="roundRect">
            <a:avLst>
              <a:gd name="adj" fmla="val 6000"/>
            </a:avLst>
          </a:prstGeom>
          <a:solidFill>
            <a:srgbClr val="0D3E40"/>
          </a:solidFill>
          <a:ln w="17145">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546335" y="7324344"/>
            <a:ext cx="3429000" cy="329184"/>
          </a:xfrm>
          <a:prstGeom prst="rect">
            <a:avLst/>
          </a:prstGeom>
          <a:noFill/>
        </p:spPr>
        <p:txBody>
          <a:bodyPr wrap="none" lIns="0" rIns="0" tIns="0" bIns="0">
            <a:spAutoFit/>
          </a:bodyPr>
          <a:lstStyle/>
          <a:p>
            <a:pPr algn="l">
              <a:lnSpc>
                <a:spcPct val="115000"/>
              </a:lnSpc>
            </a:pPr>
            <a:r>
              <a:rPr sz="1125" spc="330">
                <a:solidFill>
                  <a:srgbClr val="9FE8DC"/>
                </a:solidFill>
                <a:latin typeface="TT Commons Pro"/>
              </a:rPr>
              <a:t>LABOR CLASS</a:t>
            </a:r>
          </a:p>
        </p:txBody>
      </p:sp>
      <p:pic>
        <p:nvPicPr>
          <p:cNvPr id="171" name="Picture 170" descr="work.png"/>
          <p:cNvPicPr>
            <a:picLocks noChangeAspect="1"/>
          </p:cNvPicPr>
          <p:nvPr/>
        </p:nvPicPr>
        <p:blipFill>
          <a:blip r:embed="rId9"/>
          <a:stretch>
            <a:fillRect/>
          </a:stretch>
        </p:blipFill>
        <p:spPr>
          <a:xfrm>
            <a:off x="9628632" y="7763256"/>
            <a:ext cx="329184" cy="329184"/>
          </a:xfrm>
          <a:prstGeom prst="rect">
            <a:avLst/>
          </a:prstGeom>
        </p:spPr>
      </p:pic>
      <p:sp>
        <p:nvSpPr>
          <p:cNvPr id="172" name="TextBox 171"/>
          <p:cNvSpPr txBox="1"/>
          <p:nvPr/>
        </p:nvSpPr>
        <p:spPr>
          <a:xfrm>
            <a:off x="10204704"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WORKER MEMBERS</a:t>
            </a:r>
          </a:p>
        </p:txBody>
      </p:sp>
      <p:sp>
        <p:nvSpPr>
          <p:cNvPr id="173" name="Rounded Rectangle 172"/>
          <p:cNvSpPr/>
          <p:nvPr/>
        </p:nvSpPr>
        <p:spPr>
          <a:xfrm>
            <a:off x="13537692" y="7159752"/>
            <a:ext cx="3977639" cy="1261872"/>
          </a:xfrm>
          <a:prstGeom prst="roundRect">
            <a:avLst>
              <a:gd name="adj" fmla="val 6000"/>
            </a:avLst>
          </a:prstGeom>
          <a:solidFill>
            <a:srgbClr val="062A2C"/>
          </a:solidFill>
          <a:ln w="20955">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3784580" y="7324344"/>
            <a:ext cx="3429000" cy="329184"/>
          </a:xfrm>
          <a:prstGeom prst="rect">
            <a:avLst/>
          </a:prstGeom>
          <a:noFill/>
        </p:spPr>
        <p:txBody>
          <a:bodyPr wrap="none" lIns="0" rIns="0" tIns="0" bIns="0">
            <a:spAutoFit/>
          </a:bodyPr>
          <a:lstStyle/>
          <a:p>
            <a:pPr algn="l">
              <a:lnSpc>
                <a:spcPct val="115000"/>
              </a:lnSpc>
            </a:pPr>
            <a:r>
              <a:rPr sz="1125" spc="330">
                <a:solidFill>
                  <a:srgbClr val="EBCF9E"/>
                </a:solidFill>
                <a:latin typeface="TT Commons Pro"/>
              </a:rPr>
              <a:t>INVESTOR CLASS</a:t>
            </a:r>
          </a:p>
        </p:txBody>
      </p:sp>
      <p:pic>
        <p:nvPicPr>
          <p:cNvPr id="175" name="Picture 174" descr="badge.png"/>
          <p:cNvPicPr>
            <a:picLocks noChangeAspect="1"/>
          </p:cNvPicPr>
          <p:nvPr/>
        </p:nvPicPr>
        <p:blipFill>
          <a:blip r:embed="rId7"/>
          <a:stretch>
            <a:fillRect/>
          </a:stretch>
        </p:blipFill>
        <p:spPr>
          <a:xfrm>
            <a:off x="13866876" y="7763256"/>
            <a:ext cx="329184" cy="329184"/>
          </a:xfrm>
          <a:prstGeom prst="rect">
            <a:avLst/>
          </a:prstGeom>
        </p:spPr>
      </p:pic>
      <p:sp>
        <p:nvSpPr>
          <p:cNvPr id="176" name="TextBox 175"/>
          <p:cNvSpPr txBox="1"/>
          <p:nvPr/>
        </p:nvSpPr>
        <p:spPr>
          <a:xfrm>
            <a:off x="14442947" y="7763256"/>
            <a:ext cx="2743200" cy="384048"/>
          </a:xfrm>
          <a:prstGeom prst="rect">
            <a:avLst/>
          </a:prstGeom>
          <a:noFill/>
        </p:spPr>
        <p:txBody>
          <a:bodyPr wrap="none" lIns="0" rIns="0" tIns="0" bIns="0">
            <a:spAutoFit/>
          </a:bodyPr>
          <a:lstStyle/>
          <a:p>
            <a:pPr algn="l">
              <a:lnSpc>
                <a:spcPct val="115000"/>
              </a:lnSpc>
            </a:pPr>
            <a:r>
              <a:rPr sz="1500" spc="180">
                <a:solidFill>
                  <a:srgbClr val="F4EAD8"/>
                </a:solidFill>
                <a:latin typeface="TT Commons Pro"/>
              </a:rPr>
              <a:t>STEWARD MEMBERS</a:t>
            </a:r>
          </a:p>
        </p:txBody>
      </p:sp>
      <p:sp>
        <p:nvSpPr>
          <p:cNvPr id="177" name="TextBox 176"/>
          <p:cNvSpPr txBox="1"/>
          <p:nvPr/>
        </p:nvSpPr>
        <p:spPr>
          <a:xfrm>
            <a:off x="822959" y="8668512"/>
            <a:ext cx="2194560" cy="521208"/>
          </a:xfrm>
          <a:prstGeom prst="rect">
            <a:avLst/>
          </a:prstGeom>
          <a:noFill/>
        </p:spPr>
        <p:txBody>
          <a:bodyPr wrap="none" lIns="0" rIns="0" tIns="0" bIns="0">
            <a:spAutoFit/>
          </a:bodyPr>
          <a:lstStyle/>
          <a:p>
            <a:pPr algn="l">
              <a:lnSpc>
                <a:spcPct val="115000"/>
              </a:lnSpc>
            </a:pPr>
            <a:r>
              <a:rPr sz="3000">
                <a:solidFill>
                  <a:srgbClr val="EBCF9E"/>
                </a:solidFill>
                <a:latin typeface="TT Commons Pro Bold"/>
              </a:rPr>
              <a:t>1 = 1</a:t>
            </a:r>
          </a:p>
        </p:txBody>
      </p:sp>
      <p:sp>
        <p:nvSpPr>
          <p:cNvPr id="178" name="TextBox 177"/>
          <p:cNvSpPr txBox="1"/>
          <p:nvPr/>
        </p:nvSpPr>
        <p:spPr>
          <a:xfrm>
            <a:off x="822959" y="9244584"/>
            <a:ext cx="5349240" cy="411479"/>
          </a:xfrm>
          <a:prstGeom prst="rect">
            <a:avLst/>
          </a:prstGeom>
          <a:noFill/>
        </p:spPr>
        <p:txBody>
          <a:bodyPr wrap="square" lIns="0" rIns="0" tIns="0" bIns="0">
            <a:spAutoFit/>
          </a:bodyPr>
          <a:lstStyle/>
          <a:p>
            <a:pPr algn="l">
              <a:lnSpc>
                <a:spcPct val="115000"/>
              </a:lnSpc>
            </a:pPr>
            <a:r>
              <a:rPr sz="1425">
                <a:solidFill>
                  <a:srgbClr val="F2ECDD"/>
                </a:solidFill>
                <a:latin typeface="TT Commons Pro"/>
              </a:rPr>
              <a:t>one member, one vote — no proxies</a:t>
            </a:r>
          </a:p>
        </p:txBody>
      </p:sp>
      <p:sp>
        <p:nvSpPr>
          <p:cNvPr id="179" name="TextBox 178"/>
          <p:cNvSpPr txBox="1"/>
          <p:nvPr/>
        </p:nvSpPr>
        <p:spPr>
          <a:xfrm>
            <a:off x="6473952" y="8668512"/>
            <a:ext cx="2194560" cy="521208"/>
          </a:xfrm>
          <a:prstGeom prst="rect">
            <a:avLst/>
          </a:prstGeom>
          <a:noFill/>
        </p:spPr>
        <p:txBody>
          <a:bodyPr wrap="none" lIns="0" rIns="0" tIns="0" bIns="0">
            <a:spAutoFit/>
          </a:bodyPr>
          <a:lstStyle/>
          <a:p>
            <a:pPr algn="l">
              <a:lnSpc>
                <a:spcPct val="115000"/>
              </a:lnSpc>
            </a:pPr>
            <a:r>
              <a:rPr sz="3000">
                <a:solidFill>
                  <a:srgbClr val="EBCF9E"/>
                </a:solidFill>
                <a:latin typeface="TT Commons Pro Bold"/>
              </a:rPr>
              <a:t>100M</a:t>
            </a:r>
          </a:p>
        </p:txBody>
      </p:sp>
      <p:sp>
        <p:nvSpPr>
          <p:cNvPr id="180" name="TextBox 179"/>
          <p:cNvSpPr txBox="1"/>
          <p:nvPr/>
        </p:nvSpPr>
        <p:spPr>
          <a:xfrm>
            <a:off x="6473952" y="9244584"/>
            <a:ext cx="5349240" cy="411479"/>
          </a:xfrm>
          <a:prstGeom prst="rect">
            <a:avLst/>
          </a:prstGeom>
          <a:noFill/>
        </p:spPr>
        <p:txBody>
          <a:bodyPr wrap="square" lIns="0" rIns="0" tIns="0" bIns="0">
            <a:spAutoFit/>
          </a:bodyPr>
          <a:lstStyle/>
          <a:p>
            <a:pPr algn="l">
              <a:lnSpc>
                <a:spcPct val="115000"/>
              </a:lnSpc>
            </a:pPr>
            <a:r>
              <a:rPr sz="1425">
                <a:solidFill>
                  <a:srgbClr val="F2ECDD"/>
                </a:solidFill>
                <a:latin typeface="TT Commons Pro"/>
              </a:rPr>
              <a:t>authorized Steward Shares · 20M / 80M</a:t>
            </a:r>
          </a:p>
        </p:txBody>
      </p:sp>
      <p:sp>
        <p:nvSpPr>
          <p:cNvPr id="181" name="TextBox 180"/>
          <p:cNvSpPr txBox="1"/>
          <p:nvPr/>
        </p:nvSpPr>
        <p:spPr>
          <a:xfrm>
            <a:off x="12124944" y="8668512"/>
            <a:ext cx="2194560" cy="521208"/>
          </a:xfrm>
          <a:prstGeom prst="rect">
            <a:avLst/>
          </a:prstGeom>
          <a:noFill/>
        </p:spPr>
        <p:txBody>
          <a:bodyPr wrap="none" lIns="0" rIns="0" tIns="0" bIns="0">
            <a:spAutoFit/>
          </a:bodyPr>
          <a:lstStyle/>
          <a:p>
            <a:pPr algn="l">
              <a:lnSpc>
                <a:spcPct val="115000"/>
              </a:lnSpc>
            </a:pPr>
            <a:r>
              <a:rPr sz="3000">
                <a:solidFill>
                  <a:srgbClr val="EBCF9E"/>
                </a:solidFill>
                <a:latin typeface="TT Commons Pro Bold"/>
              </a:rPr>
              <a:t>5-yr</a:t>
            </a:r>
          </a:p>
        </p:txBody>
      </p:sp>
      <p:sp>
        <p:nvSpPr>
          <p:cNvPr id="182" name="TextBox 181"/>
          <p:cNvSpPr txBox="1"/>
          <p:nvPr/>
        </p:nvSpPr>
        <p:spPr>
          <a:xfrm>
            <a:off x="12124944" y="9244584"/>
            <a:ext cx="5349240" cy="411479"/>
          </a:xfrm>
          <a:prstGeom prst="rect">
            <a:avLst/>
          </a:prstGeom>
          <a:noFill/>
        </p:spPr>
        <p:txBody>
          <a:bodyPr wrap="square" lIns="0" rIns="0" tIns="0" bIns="0">
            <a:spAutoFit/>
          </a:bodyPr>
          <a:lstStyle/>
          <a:p>
            <a:pPr algn="l">
              <a:lnSpc>
                <a:spcPct val="115000"/>
              </a:lnSpc>
            </a:pPr>
            <a:r>
              <a:rPr sz="1425">
                <a:solidFill>
                  <a:srgbClr val="F2ECDD"/>
                </a:solidFill>
                <a:latin typeface="TT Commons Pro"/>
              </a:rPr>
              <a:t>board terms, insulated from market cycles</a:t>
            </a:r>
          </a:p>
        </p:txBody>
      </p:sp>
      <p:sp>
        <p:nvSpPr>
          <p:cNvPr id="183" name="TextBox 182"/>
          <p:cNvSpPr txBox="1"/>
          <p:nvPr/>
        </p:nvSpPr>
        <p:spPr>
          <a:xfrm>
            <a:off x="822959" y="9738359"/>
            <a:ext cx="16596359" cy="1097280"/>
          </a:xfrm>
          <a:prstGeom prst="rect">
            <a:avLst/>
          </a:prstGeom>
          <a:noFill/>
        </p:spPr>
        <p:txBody>
          <a:bodyPr wrap="square" lIns="0" rIns="0" tIns="0" bIns="0">
            <a:spAutoFit/>
          </a:bodyPr>
          <a:lstStyle/>
          <a:p>
            <a:pPr algn="ctr">
              <a:lnSpc>
                <a:spcPct val="140000"/>
              </a:lnSpc>
            </a:pPr>
            <a:r>
              <a:rPr sz="1725">
                <a:solidFill>
                  <a:srgbClr val="F2ECDD"/>
                </a:solidFill>
                <a:latin typeface="TT Commons Pro"/>
              </a:rPr>
              <a:t>Anti-capture is structural: cooperative ownership, PBC purpose, federation, sovereign data, and the freedom to leave. </a:t>
            </a:r>
            <a:r>
              <a:rPr sz="1875" spc="20">
                <a:solidFill>
                  <a:srgbClr val="9FE8DC"/>
                </a:solidFill>
                <a:latin typeface="Alike Italics"/>
              </a:rPr>
              <a:t>“Power over the rules is real power.”</a:t>
            </a:r>
          </a:p>
        </p:txBody>
      </p:sp>
      <p:pic>
        <p:nvPicPr>
          <p:cNvPr id="184" name="Picture 183" descr="rivr-symbol-light.png"/>
          <p:cNvPicPr>
            <a:picLocks noChangeAspect="1"/>
          </p:cNvPicPr>
          <p:nvPr/>
        </p:nvPicPr>
        <p:blipFill>
          <a:blip r:embed="rId10"/>
          <a:stretch>
            <a:fillRect/>
          </a:stretch>
        </p:blipFill>
        <p:spPr>
          <a:xfrm>
            <a:off x="576072" y="9518904"/>
            <a:ext cx="521208" cy="521208"/>
          </a:xfrm>
          <a:prstGeom prst="rect">
            <a:avLst/>
          </a:prstGeom>
        </p:spPr>
      </p:pic>
      <p:sp>
        <p:nvSpPr>
          <p:cNvPr id="185" name="TextBox 18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86" name="TextBox 18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19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pic>
        <p:nvPicPr>
          <p:cNvPr id="30" name="Picture 2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1" name="TextBox 3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2" name="TextBox 3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pic>
        <p:nvPicPr>
          <p:cNvPr id="39" name="Picture 38"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0" name="TextBox 39"/>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1" name="TextBox 40"/>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sp>
        <p:nvSpPr>
          <p:cNvPr id="39" name="Rounded Rectangle 38"/>
          <p:cNvSpPr/>
          <p:nvPr/>
        </p:nvSpPr>
        <p:spPr>
          <a:xfrm>
            <a:off x="822959" y="7708392"/>
            <a:ext cx="8092440" cy="109728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7955279"/>
            <a:ext cx="7406640" cy="685800"/>
          </a:xfrm>
          <a:prstGeom prst="rect">
            <a:avLst/>
          </a:prstGeom>
          <a:noFill/>
        </p:spPr>
        <p:txBody>
          <a:bodyPr wrap="square" lIns="0" rIns="0" tIns="0" bIns="0">
            <a:spAutoFit/>
          </a:bodyPr>
          <a:lstStyle/>
          <a:p>
            <a:pPr algn="l">
              <a:lnSpc>
                <a:spcPct val="140000"/>
              </a:lnSpc>
            </a:pPr>
            <a:r>
              <a:rPr sz="1350" spc="330">
                <a:solidFill>
                  <a:srgbClr val="9FE8DC"/>
                </a:solidFill>
                <a:latin typeface="TT Commons Pro"/>
              </a:rPr>
              <a:t>REAL ON DAY ONE</a:t>
            </a:r>
          </a:p>
          <a:p>
            <a:pPr algn="l">
              <a:lnSpc>
                <a:spcPct val="140000"/>
              </a:lnSpc>
            </a:pPr>
            <a:r>
              <a:rPr sz="1575">
                <a:solidFill>
                  <a:srgbClr val="F2ECDD"/>
                </a:solidFill>
                <a:latin typeface="TT Commons Pro"/>
              </a:rPr>
              <a:t>The saving exists before anyone else joins — no network effect required.</a:t>
            </a:r>
          </a:p>
        </p:txBody>
      </p:sp>
      <p:pic>
        <p:nvPicPr>
          <p:cNvPr id="41" name="Picture 40"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2" name="TextBox 4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3" name="TextBox 4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7.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COMPETITIVE LANDSCAPE · PRIME ADVANTAGE</a:t>
            </a:r>
          </a:p>
        </p:txBody>
      </p:sp>
      <p:sp>
        <p:nvSpPr>
          <p:cNvPr id="4" name="TextBox 3"/>
          <p:cNvSpPr txBox="1"/>
          <p:nvPr/>
        </p:nvSpPr>
        <p:spPr>
          <a:xfrm>
            <a:off x="822959" y="1699869"/>
            <a:ext cx="8829913" cy="977836"/>
          </a:xfrm>
          <a:prstGeom prst="rect">
            <a:avLst/>
          </a:prstGeom>
          <a:noFill/>
        </p:spPr>
        <p:txBody>
          <a:bodyPr wrap="none" lIns="0" rIns="0" tIns="0" bIns="0">
            <a:spAutoFit/>
          </a:bodyPr>
          <a:lstStyle/>
          <a:p>
            <a:pPr algn="l">
              <a:lnSpc>
                <a:spcPct val="115000"/>
              </a:lnSpc>
            </a:pPr>
            <a:r>
              <a:rPr sz="5309" spc="-72">
                <a:solidFill>
                  <a:srgbClr val="F4EAD8"/>
                </a:solidFill>
                <a:latin typeface="TT Commons Pro Bold"/>
              </a:rPr>
              <a:t>Compare the features. </a:t>
            </a:r>
          </a:p>
        </p:txBody>
      </p:sp>
      <p:sp>
        <p:nvSpPr>
          <p:cNvPr id="5" name="TextBox 4"/>
          <p:cNvSpPr txBox="1"/>
          <p:nvPr/>
        </p:nvSpPr>
        <p:spPr>
          <a:xfrm>
            <a:off x="7722298" y="1645919"/>
            <a:ext cx="7807880" cy="1075620"/>
          </a:xfrm>
          <a:prstGeom prst="rect">
            <a:avLst/>
          </a:prstGeom>
          <a:noFill/>
        </p:spPr>
        <p:txBody>
          <a:bodyPr wrap="none" lIns="0" rIns="0" tIns="0" bIns="0">
            <a:spAutoFit/>
          </a:bodyPr>
          <a:lstStyle/>
          <a:p>
            <a:pPr algn="l">
              <a:lnSpc>
                <a:spcPct val="115000"/>
              </a:lnSpc>
            </a:pPr>
            <a:r>
              <a:rPr sz="5841" spc="-75">
                <a:solidFill>
                  <a:srgbClr val="F0CC8B"/>
                </a:solidFill>
                <a:latin typeface="Ibarra Real Nova Italics"/>
              </a:rPr>
              <a:t>Then count the apps.</a:t>
            </a:r>
          </a:p>
        </p:txBody>
      </p:sp>
      <p:sp>
        <p:nvSpPr>
          <p:cNvPr id="6" name="Rounded Rectangle 5"/>
          <p:cNvSpPr/>
          <p:nvPr/>
        </p:nvSpPr>
        <p:spPr>
          <a:xfrm>
            <a:off x="82295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Facebook</a:t>
            </a:r>
          </a:p>
        </p:txBody>
      </p:sp>
      <p:sp>
        <p:nvSpPr>
          <p:cNvPr id="8" name="Rounded Rectangle 7"/>
          <p:cNvSpPr/>
          <p:nvPr/>
        </p:nvSpPr>
        <p:spPr>
          <a:xfrm>
            <a:off x="3607308"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7308"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Nextdoor</a:t>
            </a:r>
          </a:p>
        </p:txBody>
      </p:sp>
      <p:sp>
        <p:nvSpPr>
          <p:cNvPr id="10" name="Rounded Rectangle 9"/>
          <p:cNvSpPr/>
          <p:nvPr/>
        </p:nvSpPr>
        <p:spPr>
          <a:xfrm>
            <a:off x="6391655"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5"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Meetup</a:t>
            </a:r>
          </a:p>
        </p:txBody>
      </p:sp>
      <p:sp>
        <p:nvSpPr>
          <p:cNvPr id="12" name="Rounded Rectangle 11"/>
          <p:cNvSpPr/>
          <p:nvPr/>
        </p:nvSpPr>
        <p:spPr>
          <a:xfrm>
            <a:off x="9176004"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6004"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Eventbrite</a:t>
            </a:r>
          </a:p>
        </p:txBody>
      </p:sp>
      <p:sp>
        <p:nvSpPr>
          <p:cNvPr id="14" name="Rounded Rectangle 13"/>
          <p:cNvSpPr/>
          <p:nvPr/>
        </p:nvSpPr>
        <p:spPr>
          <a:xfrm>
            <a:off x="11960351"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60351"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Asana</a:t>
            </a:r>
          </a:p>
        </p:txBody>
      </p:sp>
      <p:sp>
        <p:nvSpPr>
          <p:cNvPr id="16" name="Rounded Rectangle 15"/>
          <p:cNvSpPr/>
          <p:nvPr/>
        </p:nvSpPr>
        <p:spPr>
          <a:xfrm>
            <a:off x="14744699" y="3429000"/>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44699" y="3483864"/>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Slack</a:t>
            </a:r>
          </a:p>
        </p:txBody>
      </p:sp>
      <p:sp>
        <p:nvSpPr>
          <p:cNvPr id="18" name="Rounded Rectangle 17"/>
          <p:cNvSpPr/>
          <p:nvPr/>
        </p:nvSpPr>
        <p:spPr>
          <a:xfrm>
            <a:off x="82295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Venmo</a:t>
            </a:r>
          </a:p>
        </p:txBody>
      </p:sp>
      <p:sp>
        <p:nvSpPr>
          <p:cNvPr id="20" name="Rounded Rectangle 19"/>
          <p:cNvSpPr/>
          <p:nvPr/>
        </p:nvSpPr>
        <p:spPr>
          <a:xfrm>
            <a:off x="3607308"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7308"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Workspace</a:t>
            </a:r>
          </a:p>
        </p:txBody>
      </p:sp>
      <p:sp>
        <p:nvSpPr>
          <p:cNvPr id="22" name="Rounded Rectangle 21"/>
          <p:cNvSpPr/>
          <p:nvPr/>
        </p:nvSpPr>
        <p:spPr>
          <a:xfrm>
            <a:off x="6391655"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1655"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Square</a:t>
            </a:r>
          </a:p>
        </p:txBody>
      </p:sp>
      <p:sp>
        <p:nvSpPr>
          <p:cNvPr id="24" name="Rounded Rectangle 23"/>
          <p:cNvSpPr/>
          <p:nvPr/>
        </p:nvSpPr>
        <p:spPr>
          <a:xfrm>
            <a:off x="9176004"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Shopify</a:t>
            </a:r>
          </a:p>
        </p:txBody>
      </p:sp>
      <p:sp>
        <p:nvSpPr>
          <p:cNvPr id="26" name="Rounded Rectangle 25"/>
          <p:cNvSpPr/>
          <p:nvPr/>
        </p:nvSpPr>
        <p:spPr>
          <a:xfrm>
            <a:off x="11960351"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60351"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Luma</a:t>
            </a:r>
          </a:p>
        </p:txBody>
      </p:sp>
      <p:sp>
        <p:nvSpPr>
          <p:cNvPr id="28" name="Rounded Rectangle 27"/>
          <p:cNvSpPr/>
          <p:nvPr/>
        </p:nvSpPr>
        <p:spPr>
          <a:xfrm>
            <a:off x="14744699" y="4032504"/>
            <a:ext cx="2578608" cy="466344"/>
          </a:xfrm>
          <a:prstGeom prst="roundRect">
            <a:avLst>
              <a:gd name="adj" fmla="val 30000"/>
            </a:avLst>
          </a:prstGeom>
          <a:solidFill>
            <a:srgbClr val="084B4D"/>
          </a:solidFill>
          <a:ln w="11429">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744699" y="4087368"/>
            <a:ext cx="2578608" cy="356616"/>
          </a:xfrm>
          <a:prstGeom prst="rect">
            <a:avLst/>
          </a:prstGeom>
          <a:noFill/>
        </p:spPr>
        <p:txBody>
          <a:bodyPr wrap="square" lIns="0" rIns="0" tIns="0" bIns="0">
            <a:spAutoFit/>
          </a:bodyPr>
          <a:lstStyle/>
          <a:p>
            <a:pPr algn="ctr">
              <a:lnSpc>
                <a:spcPct val="115000"/>
              </a:lnSpc>
            </a:pPr>
            <a:r>
              <a:rPr sz="1275" spc="150">
                <a:solidFill>
                  <a:srgbClr val="AFC4C2"/>
                </a:solidFill>
                <a:latin typeface="TT Commons Pro"/>
              </a:rPr>
              <a:t>AI</a:t>
            </a:r>
          </a:p>
        </p:txBody>
      </p:sp>
      <p:sp>
        <p:nvSpPr>
          <p:cNvPr id="30" name="Rounded Rectangle 29"/>
          <p:cNvSpPr/>
          <p:nvPr/>
        </p:nvSpPr>
        <p:spPr>
          <a:xfrm>
            <a:off x="3291839" y="5143500"/>
            <a:ext cx="3520440" cy="1645919"/>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39" y="456742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$328.20</a:t>
            </a:r>
          </a:p>
        </p:txBody>
      </p:sp>
      <p:sp>
        <p:nvSpPr>
          <p:cNvPr id="32" name="TextBox 31"/>
          <p:cNvSpPr txBox="1"/>
          <p:nvPr/>
        </p:nvSpPr>
        <p:spPr>
          <a:xfrm>
            <a:off x="3291839"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recognizable app stack
/ month, 5-seat org</a:t>
            </a:r>
          </a:p>
        </p:txBody>
      </p:sp>
      <p:sp>
        <p:nvSpPr>
          <p:cNvPr id="33" name="Rounded Rectangle 32"/>
          <p:cNvSpPr/>
          <p:nvPr/>
        </p:nvSpPr>
        <p:spPr>
          <a:xfrm>
            <a:off x="7360920" y="6558429"/>
            <a:ext cx="3520440" cy="230990"/>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5982357"/>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$46.06</a:t>
            </a:r>
          </a:p>
        </p:txBody>
      </p:sp>
      <p:sp>
        <p:nvSpPr>
          <p:cNvPr id="35" name="TextBox 34"/>
          <p:cNvSpPr txBox="1"/>
          <p:nvPr/>
        </p:nvSpPr>
        <p:spPr>
          <a:xfrm>
            <a:off x="736092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Rivr organization
/ month</a:t>
            </a:r>
          </a:p>
        </p:txBody>
      </p:sp>
      <p:sp>
        <p:nvSpPr>
          <p:cNvPr id="36" name="Rounded Rectangle 35"/>
          <p:cNvSpPr/>
          <p:nvPr/>
        </p:nvSpPr>
        <p:spPr>
          <a:xfrm>
            <a:off x="11430000" y="5374490"/>
            <a:ext cx="3520440" cy="1414929"/>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0" y="4798418"/>
            <a:ext cx="3520440" cy="493776"/>
          </a:xfrm>
          <a:prstGeom prst="rect">
            <a:avLst/>
          </a:prstGeom>
          <a:noFill/>
        </p:spPr>
        <p:txBody>
          <a:bodyPr wrap="none" lIns="0" rIns="0" tIns="0" bIns="0">
            <a:spAutoFit/>
          </a:bodyPr>
          <a:lstStyle/>
          <a:p>
            <a:pPr algn="ctr">
              <a:lnSpc>
                <a:spcPct val="115000"/>
              </a:lnSpc>
            </a:pPr>
            <a:r>
              <a:rPr sz="2250" spc="180">
                <a:solidFill>
                  <a:srgbClr val="F4EAD8"/>
                </a:solidFill>
                <a:latin typeface="TT Commons Pro"/>
              </a:rPr>
              <a:t>$282.14</a:t>
            </a:r>
          </a:p>
        </p:txBody>
      </p:sp>
      <p:sp>
        <p:nvSpPr>
          <p:cNvPr id="38" name="TextBox 37"/>
          <p:cNvSpPr txBox="1"/>
          <p:nvPr/>
        </p:nvSpPr>
        <p:spPr>
          <a:xfrm>
            <a:off x="11430000" y="6981444"/>
            <a:ext cx="3520440" cy="466344"/>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saved each month
≈ $3,546.68 / yr</a:t>
            </a:r>
          </a:p>
        </p:txBody>
      </p:sp>
      <p:sp>
        <p:nvSpPr>
          <p:cNvPr id="39" name="Rounded Rectangle 38"/>
          <p:cNvSpPr/>
          <p:nvPr/>
        </p:nvSpPr>
        <p:spPr>
          <a:xfrm>
            <a:off x="822959" y="7708392"/>
            <a:ext cx="8092440" cy="109728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7955279"/>
            <a:ext cx="7406640" cy="685800"/>
          </a:xfrm>
          <a:prstGeom prst="rect">
            <a:avLst/>
          </a:prstGeom>
          <a:noFill/>
        </p:spPr>
        <p:txBody>
          <a:bodyPr wrap="square" lIns="0" rIns="0" tIns="0" bIns="0">
            <a:spAutoFit/>
          </a:bodyPr>
          <a:lstStyle/>
          <a:p>
            <a:pPr algn="l">
              <a:lnSpc>
                <a:spcPct val="140000"/>
              </a:lnSpc>
            </a:pPr>
            <a:r>
              <a:rPr sz="1350" spc="330">
                <a:solidFill>
                  <a:srgbClr val="9FE8DC"/>
                </a:solidFill>
                <a:latin typeface="TT Commons Pro"/>
              </a:rPr>
              <a:t>REAL ON DAY ONE</a:t>
            </a:r>
          </a:p>
          <a:p>
            <a:pPr algn="l">
              <a:lnSpc>
                <a:spcPct val="140000"/>
              </a:lnSpc>
            </a:pPr>
            <a:r>
              <a:rPr sz="1575">
                <a:solidFill>
                  <a:srgbClr val="F2ECDD"/>
                </a:solidFill>
                <a:latin typeface="TT Commons Pro"/>
              </a:rPr>
              <a:t>The saving exists before anyone else joins — no network effect required.</a:t>
            </a:r>
          </a:p>
        </p:txBody>
      </p:sp>
      <p:sp>
        <p:nvSpPr>
          <p:cNvPr id="41" name="Rounded Rectangle 40"/>
          <p:cNvSpPr/>
          <p:nvPr/>
        </p:nvSpPr>
        <p:spPr>
          <a:xfrm>
            <a:off x="9395459" y="7708392"/>
            <a:ext cx="8092440" cy="10972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06940" y="7955279"/>
            <a:ext cx="7406640" cy="685800"/>
          </a:xfrm>
          <a:prstGeom prst="rect">
            <a:avLst/>
          </a:prstGeom>
          <a:noFill/>
        </p:spPr>
        <p:txBody>
          <a:bodyPr wrap="square" lIns="0" rIns="0" tIns="0" bIns="0">
            <a:spAutoFit/>
          </a:bodyPr>
          <a:lstStyle/>
          <a:p>
            <a:pPr algn="l">
              <a:lnSpc>
                <a:spcPct val="140000"/>
              </a:lnSpc>
            </a:pPr>
            <a:r>
              <a:rPr sz="1350" spc="330">
                <a:solidFill>
                  <a:srgbClr val="EBCF9E"/>
                </a:solidFill>
                <a:latin typeface="TT Commons Pro"/>
              </a:rPr>
              <a:t>AND THE PRODUCT HAS TO BE GOOD</a:t>
            </a:r>
          </a:p>
          <a:p>
            <a:pPr algn="l">
              <a:lnSpc>
                <a:spcPct val="140000"/>
              </a:lnSpc>
            </a:pPr>
            <a:r>
              <a:rPr sz="1575">
                <a:solidFill>
                  <a:srgbClr val="F2ECDD"/>
                </a:solidFill>
                <a:latin typeface="TT Commons Pro"/>
              </a:rPr>
              <a:t>Ethical architecture cannot compensate for bad UX.</a:t>
            </a:r>
          </a:p>
        </p:txBody>
      </p:sp>
      <p:sp>
        <p:nvSpPr>
          <p:cNvPr id="43" name="TextBox 42"/>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800">
                <a:solidFill>
                  <a:srgbClr val="F2ECDD"/>
                </a:solidFill>
                <a:latin typeface="TT Commons Pro"/>
              </a:rPr>
              <a:t>The goal is not a nicer alternative on the margins — it is to take enough of the market to change what the market rewards.</a:t>
            </a:r>
          </a:p>
          <a:p>
            <a:pPr algn="ctr">
              <a:lnSpc>
                <a:spcPct val="140000"/>
              </a:lnSpc>
            </a:pPr>
            <a:r>
              <a:rPr sz="1950" spc="20">
                <a:solidFill>
                  <a:srgbClr val="EBCF9E"/>
                </a:solidFill>
                <a:latin typeface="Alike Italics"/>
              </a:rPr>
              <a:t>A cooperative lead firm. “Build a new model that makes the existing model obsolete.” — Buckminster Fuller</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pic>
        <p:nvPicPr>
          <p:cNvPr id="14" name="Picture 13"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5" name="TextBox 1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6" name="TextBox 1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pic>
        <p:nvPicPr>
          <p:cNvPr id="22" name="Picture 21"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sp>
        <p:nvSpPr>
          <p:cNvPr id="22" name="Rounded Rectangle 21"/>
          <p:cNvSpPr/>
          <p:nvPr/>
        </p:nvSpPr>
        <p:spPr>
          <a:xfrm>
            <a:off x="822959" y="7132320"/>
            <a:ext cx="8161020" cy="13716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7379208"/>
            <a:ext cx="7406640" cy="960119"/>
          </a:xfrm>
          <a:prstGeom prst="rect">
            <a:avLst/>
          </a:prstGeom>
          <a:noFill/>
        </p:spPr>
        <p:txBody>
          <a:bodyPr wrap="square" lIns="0" rIns="0" tIns="0" bIns="0">
            <a:spAutoFit/>
          </a:bodyPr>
          <a:lstStyle/>
          <a:p>
            <a:pPr algn="l">
              <a:lnSpc>
                <a:spcPct val="135000"/>
              </a:lnSpc>
            </a:pPr>
            <a:r>
              <a:rPr sz="1350" spc="330">
                <a:solidFill>
                  <a:srgbClr val="EBCF9E"/>
                </a:solidFill>
                <a:latin typeface="TT Commons Pro"/>
              </a:rPr>
              <a:t>WE HAVE DONE THIS BEFORE</a:t>
            </a:r>
          </a:p>
          <a:p>
            <a:pPr algn="l">
              <a:lnSpc>
                <a:spcPct val="135000"/>
              </a:lnSpc>
            </a:pPr>
            <a:r>
              <a:rPr sz="1575">
                <a:solidFill>
                  <a:srgbClr val="F2ECDD"/>
                </a:solidFill>
                <a:latin typeface="TT Commons Pro"/>
              </a:rPr>
              <a:t>ONE Boulder 2020–2023: nearly </a:t>
            </a:r>
            <a:r>
              <a:rPr sz="1575">
                <a:solidFill>
                  <a:srgbClr val="F4EAD8"/>
                </a:solidFill>
                <a:latin typeface="TT Commons Pro Bold"/>
              </a:rPr>
              <a:t>4,800 users</a:t>
            </a:r>
            <a:r>
              <a:rPr sz="1575">
                <a:solidFill>
                  <a:srgbClr val="F2ECDD"/>
                </a:solidFill>
                <a:latin typeface="TT Commons Pro"/>
              </a:rPr>
              <a:t> on one locale's events;</a:t>
            </a:r>
          </a:p>
          <a:p>
            <a:pPr algn="l">
              <a:lnSpc>
                <a:spcPct val="135000"/>
              </a:lnSpc>
            </a:pPr>
            <a:r>
              <a:rPr sz="1575">
                <a:solidFill>
                  <a:srgbClr val="F2ECDD"/>
                </a:solidFill>
                <a:latin typeface="TT Commons Pro"/>
              </a:rPr>
              <a:t>42% of high-activity users converted to paid.</a:t>
            </a:r>
          </a:p>
        </p:txBody>
      </p:sp>
      <p:pic>
        <p:nvPicPr>
          <p:cNvPr id="24" name="Picture 23"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8.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TRACTION · THIS IS NOT A MOCKUP</a:t>
            </a:r>
          </a:p>
        </p:txBody>
      </p:sp>
      <p:sp>
        <p:nvSpPr>
          <p:cNvPr id="4" name="TextBox 3"/>
          <p:cNvSpPr txBox="1"/>
          <p:nvPr/>
        </p:nvSpPr>
        <p:spPr>
          <a:xfrm>
            <a:off x="822959" y="1699869"/>
            <a:ext cx="64124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platform is </a:t>
            </a:r>
          </a:p>
        </p:txBody>
      </p:sp>
      <p:sp>
        <p:nvSpPr>
          <p:cNvPr id="5" name="TextBox 4"/>
          <p:cNvSpPr txBox="1"/>
          <p:nvPr/>
        </p:nvSpPr>
        <p:spPr>
          <a:xfrm>
            <a:off x="5788342" y="1645919"/>
            <a:ext cx="7665005"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built and running.</a:t>
            </a:r>
          </a:p>
        </p:txBody>
      </p:sp>
      <p:sp>
        <p:nvSpPr>
          <p:cNvPr id="6" name="Rounded Rectangle 5"/>
          <p:cNvSpPr/>
          <p:nvPr/>
        </p:nvSpPr>
        <p:spPr>
          <a:xfrm>
            <a:off x="822959" y="3497579"/>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ing.png"/>
          <p:cNvPicPr>
            <a:picLocks noChangeAspect="1"/>
          </p:cNvPicPr>
          <p:nvPr/>
        </p:nvPicPr>
        <p:blipFill>
          <a:blip r:embed="rId3"/>
          <a:stretch>
            <a:fillRect/>
          </a:stretch>
        </p:blipFill>
        <p:spPr>
          <a:xfrm>
            <a:off x="1179576" y="3799331"/>
            <a:ext cx="384048" cy="384048"/>
          </a:xfrm>
          <a:prstGeom prst="rect">
            <a:avLst/>
          </a:prstGeom>
        </p:spPr>
      </p:pic>
      <p:sp>
        <p:nvSpPr>
          <p:cNvPr id="8" name="TextBox 7"/>
          <p:cNvSpPr txBox="1"/>
          <p:nvPr/>
        </p:nvSpPr>
        <p:spPr>
          <a:xfrm>
            <a:off x="1851660"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LIVE NETWORK</a:t>
            </a:r>
          </a:p>
        </p:txBody>
      </p:sp>
      <p:sp>
        <p:nvSpPr>
          <p:cNvPr id="9" name="TextBox 8"/>
          <p:cNvSpPr txBox="1"/>
          <p:nvPr/>
        </p:nvSpPr>
        <p:spPr>
          <a:xfrm>
            <a:off x="1207008"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app.rivr.social live — sovereign instances federating into one network.</a:t>
            </a:r>
          </a:p>
        </p:txBody>
      </p:sp>
      <p:sp>
        <p:nvSpPr>
          <p:cNvPr id="10" name="Rounded Rectangle 9"/>
          <p:cNvSpPr/>
          <p:nvPr/>
        </p:nvSpPr>
        <p:spPr>
          <a:xfrm>
            <a:off x="9436608" y="3497579"/>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ney.png"/>
          <p:cNvPicPr>
            <a:picLocks noChangeAspect="1"/>
          </p:cNvPicPr>
          <p:nvPr/>
        </p:nvPicPr>
        <p:blipFill>
          <a:blip r:embed="rId4"/>
          <a:stretch>
            <a:fillRect/>
          </a:stretch>
        </p:blipFill>
        <p:spPr>
          <a:xfrm>
            <a:off x="9793224" y="3799331"/>
            <a:ext cx="384048" cy="384048"/>
          </a:xfrm>
          <a:prstGeom prst="rect">
            <a:avLst/>
          </a:prstGeom>
        </p:spPr>
      </p:pic>
      <p:sp>
        <p:nvSpPr>
          <p:cNvPr id="12" name="TextBox 11"/>
          <p:cNvSpPr txBox="1"/>
          <p:nvPr/>
        </p:nvSpPr>
        <p:spPr>
          <a:xfrm>
            <a:off x="10465308" y="3799332"/>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FULL ECONOMIC LOOP</a:t>
            </a:r>
          </a:p>
        </p:txBody>
      </p:sp>
      <p:sp>
        <p:nvSpPr>
          <p:cNvPr id="13" name="TextBox 12"/>
          <p:cNvSpPr txBox="1"/>
          <p:nvPr/>
        </p:nvSpPr>
        <p:spPr>
          <a:xfrm>
            <a:off x="9820656" y="4320540"/>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Marketplace, ticketing, jobs → attestation → payout, cent-exact on Stripe.</a:t>
            </a:r>
          </a:p>
        </p:txBody>
      </p:sp>
      <p:sp>
        <p:nvSpPr>
          <p:cNvPr id="14" name="Rounded Rectangle 13"/>
          <p:cNvSpPr/>
          <p:nvPr/>
        </p:nvSpPr>
        <p:spPr>
          <a:xfrm>
            <a:off x="822959" y="5253228"/>
            <a:ext cx="8161020" cy="157733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overnance.png"/>
          <p:cNvPicPr>
            <a:picLocks noChangeAspect="1"/>
          </p:cNvPicPr>
          <p:nvPr/>
        </p:nvPicPr>
        <p:blipFill>
          <a:blip r:embed="rId5"/>
          <a:stretch>
            <a:fillRect/>
          </a:stretch>
        </p:blipFill>
        <p:spPr>
          <a:xfrm>
            <a:off x="1179576" y="5554980"/>
            <a:ext cx="384048" cy="384048"/>
          </a:xfrm>
          <a:prstGeom prst="rect">
            <a:avLst/>
          </a:prstGeom>
        </p:spPr>
      </p:pic>
      <p:sp>
        <p:nvSpPr>
          <p:cNvPr id="16" name="TextBox 15"/>
          <p:cNvSpPr txBox="1"/>
          <p:nvPr/>
        </p:nvSpPr>
        <p:spPr>
          <a:xfrm>
            <a:off x="1851660"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REAL GOVERNANCE</a:t>
            </a:r>
          </a:p>
        </p:txBody>
      </p:sp>
      <p:sp>
        <p:nvSpPr>
          <p:cNvPr id="17" name="TextBox 16"/>
          <p:cNvSpPr txBox="1"/>
          <p:nvPr/>
        </p:nvSpPr>
        <p:spPr>
          <a:xfrm>
            <a:off x="1207008"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Six ballot styles, eligibility gates, weighted voting — in production.</a:t>
            </a:r>
          </a:p>
        </p:txBody>
      </p:sp>
      <p:sp>
        <p:nvSpPr>
          <p:cNvPr id="18" name="Rounded Rectangle 17"/>
          <p:cNvSpPr/>
          <p:nvPr/>
        </p:nvSpPr>
        <p:spPr>
          <a:xfrm>
            <a:off x="9436608" y="5253228"/>
            <a:ext cx="8161020" cy="157733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dea.png"/>
          <p:cNvPicPr>
            <a:picLocks noChangeAspect="1"/>
          </p:cNvPicPr>
          <p:nvPr/>
        </p:nvPicPr>
        <p:blipFill>
          <a:blip r:embed="rId6"/>
          <a:stretch>
            <a:fillRect/>
          </a:stretch>
        </p:blipFill>
        <p:spPr>
          <a:xfrm>
            <a:off x="9793224" y="5554980"/>
            <a:ext cx="384048" cy="384048"/>
          </a:xfrm>
          <a:prstGeom prst="rect">
            <a:avLst/>
          </a:prstGeom>
        </p:spPr>
      </p:pic>
      <p:sp>
        <p:nvSpPr>
          <p:cNvPr id="20" name="TextBox 19"/>
          <p:cNvSpPr txBox="1"/>
          <p:nvPr/>
        </p:nvSpPr>
        <p:spPr>
          <a:xfrm>
            <a:off x="10465308" y="5554979"/>
            <a:ext cx="67208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AI-NATIVE</a:t>
            </a:r>
          </a:p>
        </p:txBody>
      </p:sp>
      <p:sp>
        <p:nvSpPr>
          <p:cNvPr id="21" name="TextBox 20"/>
          <p:cNvSpPr txBox="1"/>
          <p:nvPr/>
        </p:nvSpPr>
        <p:spPr>
          <a:xfrm>
            <a:off x="9820656" y="6076188"/>
            <a:ext cx="7406640" cy="617220"/>
          </a:xfrm>
          <a:prstGeom prst="rect">
            <a:avLst/>
          </a:prstGeom>
          <a:noFill/>
        </p:spPr>
        <p:txBody>
          <a:bodyPr wrap="square" lIns="0" rIns="0" tIns="0" bIns="0">
            <a:spAutoFit/>
          </a:bodyPr>
          <a:lstStyle/>
          <a:p>
            <a:pPr algn="l">
              <a:lnSpc>
                <a:spcPct val="135000"/>
              </a:lnSpc>
            </a:pPr>
            <a:r>
              <a:rPr sz="1500">
                <a:solidFill>
                  <a:srgbClr val="F2ECDD"/>
                </a:solidFill>
                <a:latin typeface="TT Commons Pro"/>
              </a:rPr>
              <a:t>Org assistant on first-party credentials; a 118-tool MCP surface.</a:t>
            </a:r>
          </a:p>
        </p:txBody>
      </p:sp>
      <p:sp>
        <p:nvSpPr>
          <p:cNvPr id="22" name="Rounded Rectangle 21"/>
          <p:cNvSpPr/>
          <p:nvPr/>
        </p:nvSpPr>
        <p:spPr>
          <a:xfrm>
            <a:off x="822959" y="7132320"/>
            <a:ext cx="8161020" cy="13716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7379208"/>
            <a:ext cx="7406640" cy="960119"/>
          </a:xfrm>
          <a:prstGeom prst="rect">
            <a:avLst/>
          </a:prstGeom>
          <a:noFill/>
        </p:spPr>
        <p:txBody>
          <a:bodyPr wrap="square" lIns="0" rIns="0" tIns="0" bIns="0">
            <a:spAutoFit/>
          </a:bodyPr>
          <a:lstStyle/>
          <a:p>
            <a:pPr algn="l">
              <a:lnSpc>
                <a:spcPct val="135000"/>
              </a:lnSpc>
            </a:pPr>
            <a:r>
              <a:rPr sz="1350" spc="330">
                <a:solidFill>
                  <a:srgbClr val="EBCF9E"/>
                </a:solidFill>
                <a:latin typeface="TT Commons Pro"/>
              </a:rPr>
              <a:t>WE HAVE DONE THIS BEFORE</a:t>
            </a:r>
          </a:p>
          <a:p>
            <a:pPr algn="l">
              <a:lnSpc>
                <a:spcPct val="135000"/>
              </a:lnSpc>
            </a:pPr>
            <a:r>
              <a:rPr sz="1575">
                <a:solidFill>
                  <a:srgbClr val="F2ECDD"/>
                </a:solidFill>
                <a:latin typeface="TT Commons Pro"/>
              </a:rPr>
              <a:t>ONE Boulder 2020–2023: nearly </a:t>
            </a:r>
            <a:r>
              <a:rPr sz="1575">
                <a:solidFill>
                  <a:srgbClr val="F4EAD8"/>
                </a:solidFill>
                <a:latin typeface="TT Commons Pro Bold"/>
              </a:rPr>
              <a:t>4,800 users</a:t>
            </a:r>
            <a:r>
              <a:rPr sz="1575">
                <a:solidFill>
                  <a:srgbClr val="F2ECDD"/>
                </a:solidFill>
                <a:latin typeface="TT Commons Pro"/>
              </a:rPr>
              <a:t> on one locale's events;</a:t>
            </a:r>
          </a:p>
          <a:p>
            <a:pPr algn="l">
              <a:lnSpc>
                <a:spcPct val="135000"/>
              </a:lnSpc>
            </a:pPr>
            <a:r>
              <a:rPr sz="1575">
                <a:solidFill>
                  <a:srgbClr val="F2ECDD"/>
                </a:solidFill>
                <a:latin typeface="TT Commons Pro"/>
              </a:rPr>
              <a:t>42% of high-activity users converted to paid.</a:t>
            </a:r>
          </a:p>
        </p:txBody>
      </p:sp>
      <p:sp>
        <p:nvSpPr>
          <p:cNvPr id="24" name="TextBox 23"/>
          <p:cNvSpPr txBox="1"/>
          <p:nvPr/>
        </p:nvSpPr>
        <p:spPr>
          <a:xfrm>
            <a:off x="9395459" y="7132320"/>
            <a:ext cx="822960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GROW ONE PLACE DEEP AT A TIME</a:t>
            </a:r>
          </a:p>
        </p:txBody>
      </p:sp>
      <p:sp>
        <p:nvSpPr>
          <p:cNvPr id="25" name="Rounded Rectangle 24"/>
          <p:cNvSpPr/>
          <p:nvPr/>
        </p:nvSpPr>
        <p:spPr>
          <a:xfrm>
            <a:off x="9395459"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0867"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SEED</a:t>
            </a:r>
          </a:p>
        </p:txBody>
      </p:sp>
      <p:sp>
        <p:nvSpPr>
          <p:cNvPr id="27" name="Right Arrow 26"/>
          <p:cNvSpPr/>
          <p:nvPr/>
        </p:nvSpPr>
        <p:spPr>
          <a:xfrm>
            <a:off x="11082528"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576304"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11712"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ANCHOR</a:t>
            </a:r>
          </a:p>
        </p:txBody>
      </p:sp>
      <p:sp>
        <p:nvSpPr>
          <p:cNvPr id="30" name="Right Arrow 29"/>
          <p:cNvSpPr/>
          <p:nvPr/>
        </p:nvSpPr>
        <p:spPr>
          <a:xfrm>
            <a:off x="13263372"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3757147"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92556"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DENSITY</a:t>
            </a:r>
          </a:p>
        </p:txBody>
      </p:sp>
      <p:sp>
        <p:nvSpPr>
          <p:cNvPr id="33" name="Right Arrow 32"/>
          <p:cNvSpPr/>
          <p:nvPr/>
        </p:nvSpPr>
        <p:spPr>
          <a:xfrm>
            <a:off x="15444216" y="7797546"/>
            <a:ext cx="356616" cy="205739"/>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5937992" y="7543800"/>
            <a:ext cx="1549908" cy="713232"/>
          </a:xfrm>
          <a:prstGeom prst="roundRect">
            <a:avLst>
              <a:gd name="adj" fmla="val 14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773400" y="7680959"/>
            <a:ext cx="1879092" cy="411479"/>
          </a:xfrm>
          <a:prstGeom prst="rect">
            <a:avLst/>
          </a:prstGeom>
          <a:noFill/>
        </p:spPr>
        <p:txBody>
          <a:bodyPr wrap="none" lIns="0" rIns="0" tIns="0" bIns="0">
            <a:spAutoFit/>
          </a:bodyPr>
          <a:lstStyle/>
          <a:p>
            <a:pPr algn="ctr">
              <a:lnSpc>
                <a:spcPct val="115000"/>
              </a:lnSpc>
            </a:pPr>
            <a:r>
              <a:rPr sz="1200" spc="330">
                <a:solidFill>
                  <a:srgbClr val="9FE8DC"/>
                </a:solidFill>
                <a:latin typeface="TT Commons Pro"/>
              </a:rPr>
              <a:t>REPLICATE</a:t>
            </a:r>
          </a:p>
        </p:txBody>
      </p:sp>
      <p:sp>
        <p:nvSpPr>
          <p:cNvPr id="36" name="TextBox 35"/>
          <p:cNvSpPr txBox="1"/>
          <p:nvPr/>
        </p:nvSpPr>
        <p:spPr>
          <a:xfrm>
            <a:off x="822959" y="8915400"/>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This seed round funds go-to-market — not a science project. </a:t>
            </a:r>
            <a:r>
              <a:rPr sz="2025" spc="20">
                <a:solidFill>
                  <a:srgbClr val="EBCF9E"/>
                </a:solidFill>
                <a:latin typeface="Alike Italics"/>
              </a:rPr>
              <a:t>Starting local, again, in Boulder.</a:t>
            </a:r>
          </a:p>
        </p:txBody>
      </p:sp>
      <p:pic>
        <p:nvPicPr>
          <p:cNvPr id="37" name="Picture 36" descr="rivr-symbol-light.png"/>
          <p:cNvPicPr>
            <a:picLocks noChangeAspect="1"/>
          </p:cNvPicPr>
          <p:nvPr/>
        </p:nvPicPr>
        <p:blipFill>
          <a:blip r:embed="rId7"/>
          <a:stretch>
            <a:fillRect/>
          </a:stretch>
        </p:blipFill>
        <p:spPr>
          <a:xfrm>
            <a:off x="576072" y="9518904"/>
            <a:ext cx="521208" cy="521208"/>
          </a:xfrm>
          <a:prstGeom prst="rect">
            <a:avLst/>
          </a:prstGeom>
        </p:spPr>
      </p:pic>
      <p:sp>
        <p:nvSpPr>
          <p:cNvPr id="38" name="TextBox 3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9" name="TextBox 3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pic>
        <p:nvPicPr>
          <p:cNvPr id="25" name="Picture 24"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6" name="TextBox 2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7" name="TextBox 2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sp>
        <p:nvSpPr>
          <p:cNvPr id="25" name="TextBox 24"/>
          <p:cNvSpPr txBox="1"/>
          <p:nvPr/>
        </p:nvSpPr>
        <p:spPr>
          <a:xfrm>
            <a:off x="8503920"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FEE SURPLUS</a:t>
            </a:r>
          </a:p>
        </p:txBody>
      </p:sp>
      <p:sp>
        <p:nvSpPr>
          <p:cNvPr id="26" name="Rounded Rectangle 25"/>
          <p:cNvSpPr/>
          <p:nvPr/>
        </p:nvSpPr>
        <p:spPr>
          <a:xfrm>
            <a:off x="8503920" y="3922776"/>
            <a:ext cx="438912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4251959"/>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50%  </a:t>
            </a:r>
            <a:r>
              <a:rPr sz="1650">
                <a:solidFill>
                  <a:srgbClr val="F2ECDD"/>
                </a:solidFill>
                <a:latin typeface="TT Commons Pro"/>
              </a:rPr>
              <a:t>Association</a:t>
            </a:r>
          </a:p>
        </p:txBody>
      </p:sp>
      <p:sp>
        <p:nvSpPr>
          <p:cNvPr id="28" name="Rounded Rectangle 27"/>
          <p:cNvSpPr/>
          <p:nvPr/>
        </p:nvSpPr>
        <p:spPr>
          <a:xfrm>
            <a:off x="8503920" y="4636008"/>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4965192"/>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Fee-paying member</a:t>
            </a:r>
          </a:p>
        </p:txBody>
      </p:sp>
      <p:sp>
        <p:nvSpPr>
          <p:cNvPr id="30" name="Rounded Rectangle 29"/>
          <p:cNvSpPr/>
          <p:nvPr/>
        </p:nvSpPr>
        <p:spPr>
          <a:xfrm>
            <a:off x="8503920" y="5349240"/>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5678423"/>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Chapter</a:t>
            </a:r>
          </a:p>
        </p:txBody>
      </p:sp>
      <p:pic>
        <p:nvPicPr>
          <p:cNvPr id="32" name="Picture 3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33" name="TextBox 3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4" name="TextBox 3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19.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REVENUE CASCADE · COOPERATIVE ECONOMICS</a:t>
            </a:r>
          </a:p>
        </p:txBody>
      </p:sp>
      <p:sp>
        <p:nvSpPr>
          <p:cNvPr id="4" name="TextBox 3"/>
          <p:cNvSpPr txBox="1"/>
          <p:nvPr/>
        </p:nvSpPr>
        <p:spPr>
          <a:xfrm>
            <a:off x="822959" y="1699869"/>
            <a:ext cx="310411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Where </a:t>
            </a:r>
          </a:p>
        </p:txBody>
      </p:sp>
      <p:sp>
        <p:nvSpPr>
          <p:cNvPr id="5" name="TextBox 4"/>
          <p:cNvSpPr txBox="1"/>
          <p:nvPr/>
        </p:nvSpPr>
        <p:spPr>
          <a:xfrm>
            <a:off x="3141662" y="1645919"/>
            <a:ext cx="4902755" cy="1140809"/>
          </a:xfrm>
          <a:prstGeom prst="rect">
            <a:avLst/>
          </a:prstGeom>
          <a:noFill/>
        </p:spPr>
        <p:txBody>
          <a:bodyPr wrap="none" lIns="0" rIns="0" tIns="0" bIns="0">
            <a:spAutoFit/>
          </a:bodyPr>
          <a:lstStyle/>
          <a:p>
            <a:pPr algn="l">
              <a:lnSpc>
                <a:spcPct val="115000"/>
              </a:lnSpc>
            </a:pPr>
            <a:r>
              <a:rPr sz="6195" spc="-75">
                <a:solidFill>
                  <a:srgbClr val="99E6D9"/>
                </a:solidFill>
                <a:latin typeface="Ibarra Real Nova Italics"/>
              </a:rPr>
              <a:t>every dollar</a:t>
            </a:r>
          </a:p>
        </p:txBody>
      </p:sp>
      <p:sp>
        <p:nvSpPr>
          <p:cNvPr id="6" name="TextBox 5"/>
          <p:cNvSpPr txBox="1"/>
          <p:nvPr/>
        </p:nvSpPr>
        <p:spPr>
          <a:xfrm>
            <a:off x="6899275" y="1699869"/>
            <a:ext cx="2580243"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 goes.</a:t>
            </a:r>
          </a:p>
        </p:txBody>
      </p:sp>
      <p:sp>
        <p:nvSpPr>
          <p:cNvPr id="7" name="TextBox 6"/>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MEMBERSHIP VELOCITY, NOT FEE INFLATION</a:t>
            </a:r>
          </a:p>
        </p:txBody>
      </p:sp>
      <p:sp>
        <p:nvSpPr>
          <p:cNvPr id="8" name="TextBox 7"/>
          <p:cNvSpPr txBox="1"/>
          <p:nvPr/>
        </p:nvSpPr>
        <p:spPr>
          <a:xfrm>
            <a:off x="822959" y="392277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Collaborator</a:t>
            </a:r>
          </a:p>
        </p:txBody>
      </p:sp>
      <p:sp>
        <p:nvSpPr>
          <p:cNvPr id="9" name="TextBox 8"/>
          <p:cNvSpPr txBox="1"/>
          <p:nvPr/>
        </p:nvSpPr>
        <p:spPr>
          <a:xfrm>
            <a:off x="4526279" y="392277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15%</a:t>
            </a:r>
          </a:p>
        </p:txBody>
      </p:sp>
      <p:sp>
        <p:nvSpPr>
          <p:cNvPr id="10" name="TextBox 9"/>
          <p:cNvSpPr txBox="1"/>
          <p:nvPr/>
        </p:nvSpPr>
        <p:spPr>
          <a:xfrm>
            <a:off x="6035040" y="392277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$11</a:t>
            </a:r>
          </a:p>
        </p:txBody>
      </p:sp>
      <p:sp>
        <p:nvSpPr>
          <p:cNvPr id="11" name="TextBox 10"/>
          <p:cNvSpPr txBox="1"/>
          <p:nvPr/>
        </p:nvSpPr>
        <p:spPr>
          <a:xfrm>
            <a:off x="822959" y="447141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Seller</a:t>
            </a:r>
          </a:p>
        </p:txBody>
      </p:sp>
      <p:sp>
        <p:nvSpPr>
          <p:cNvPr id="12" name="TextBox 11"/>
          <p:cNvSpPr txBox="1"/>
          <p:nvPr/>
        </p:nvSpPr>
        <p:spPr>
          <a:xfrm>
            <a:off x="4526279" y="447141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3" name="TextBox 12"/>
          <p:cNvSpPr txBox="1"/>
          <p:nvPr/>
        </p:nvSpPr>
        <p:spPr>
          <a:xfrm>
            <a:off x="6035040" y="447141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4" name="TextBox 13"/>
          <p:cNvSpPr txBox="1"/>
          <p:nvPr/>
        </p:nvSpPr>
        <p:spPr>
          <a:xfrm>
            <a:off x="822959" y="502005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Host / Producer</a:t>
            </a:r>
          </a:p>
        </p:txBody>
      </p:sp>
      <p:sp>
        <p:nvSpPr>
          <p:cNvPr id="15" name="TextBox 14"/>
          <p:cNvSpPr txBox="1"/>
          <p:nvPr/>
        </p:nvSpPr>
        <p:spPr>
          <a:xfrm>
            <a:off x="4526279" y="502005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7%</a:t>
            </a:r>
          </a:p>
        </p:txBody>
      </p:sp>
      <p:sp>
        <p:nvSpPr>
          <p:cNvPr id="16" name="TextBox 15"/>
          <p:cNvSpPr txBox="1"/>
          <p:nvPr/>
        </p:nvSpPr>
        <p:spPr>
          <a:xfrm>
            <a:off x="6035040" y="502005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$22</a:t>
            </a:r>
          </a:p>
        </p:txBody>
      </p:sp>
      <p:sp>
        <p:nvSpPr>
          <p:cNvPr id="17" name="TextBox 16"/>
          <p:cNvSpPr txBox="1"/>
          <p:nvPr/>
        </p:nvSpPr>
        <p:spPr>
          <a:xfrm>
            <a:off x="822959" y="556869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Organizer</a:t>
            </a:r>
          </a:p>
        </p:txBody>
      </p:sp>
      <p:sp>
        <p:nvSpPr>
          <p:cNvPr id="18" name="TextBox 17"/>
          <p:cNvSpPr txBox="1"/>
          <p:nvPr/>
        </p:nvSpPr>
        <p:spPr>
          <a:xfrm>
            <a:off x="4526279" y="556869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10%</a:t>
            </a:r>
          </a:p>
        </p:txBody>
      </p:sp>
      <p:sp>
        <p:nvSpPr>
          <p:cNvPr id="19" name="TextBox 18"/>
          <p:cNvSpPr txBox="1"/>
          <p:nvPr/>
        </p:nvSpPr>
        <p:spPr>
          <a:xfrm>
            <a:off x="6035040" y="556869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$44</a:t>
            </a:r>
          </a:p>
        </p:txBody>
      </p:sp>
      <p:sp>
        <p:nvSpPr>
          <p:cNvPr id="20" name="TextBox 19"/>
          <p:cNvSpPr txBox="1"/>
          <p:nvPr/>
        </p:nvSpPr>
        <p:spPr>
          <a:xfrm>
            <a:off x="822959" y="6117336"/>
            <a:ext cx="3566160" cy="411479"/>
          </a:xfrm>
          <a:prstGeom prst="rect">
            <a:avLst/>
          </a:prstGeom>
          <a:noFill/>
        </p:spPr>
        <p:txBody>
          <a:bodyPr wrap="none" lIns="0" rIns="0" tIns="0" bIns="0">
            <a:spAutoFit/>
          </a:bodyPr>
          <a:lstStyle/>
          <a:p>
            <a:pPr algn="l">
              <a:lnSpc>
                <a:spcPct val="115000"/>
              </a:lnSpc>
            </a:pPr>
            <a:r>
              <a:rPr sz="1650">
                <a:solidFill>
                  <a:srgbClr val="F2ECDD"/>
                </a:solidFill>
                <a:latin typeface="TT Commons Pro"/>
              </a:rPr>
              <a:t>Free users</a:t>
            </a:r>
          </a:p>
        </p:txBody>
      </p:sp>
      <p:sp>
        <p:nvSpPr>
          <p:cNvPr id="21" name="TextBox 20"/>
          <p:cNvSpPr txBox="1"/>
          <p:nvPr/>
        </p:nvSpPr>
        <p:spPr>
          <a:xfrm>
            <a:off x="4526279" y="6117336"/>
            <a:ext cx="1371600" cy="411479"/>
          </a:xfrm>
          <a:prstGeom prst="rect">
            <a:avLst/>
          </a:prstGeom>
          <a:noFill/>
        </p:spPr>
        <p:txBody>
          <a:bodyPr wrap="none" lIns="0" rIns="0" tIns="0" bIns="0">
            <a:spAutoFit/>
          </a:bodyPr>
          <a:lstStyle/>
          <a:p>
            <a:pPr algn="l">
              <a:lnSpc>
                <a:spcPct val="115000"/>
              </a:lnSpc>
            </a:pPr>
            <a:r>
              <a:rPr sz="1650">
                <a:solidFill>
                  <a:srgbClr val="AFC4C2"/>
                </a:solidFill>
                <a:latin typeface="TT Commons Pro"/>
              </a:rPr>
              <a:t>58%</a:t>
            </a:r>
          </a:p>
        </p:txBody>
      </p:sp>
      <p:sp>
        <p:nvSpPr>
          <p:cNvPr id="22" name="TextBox 21"/>
          <p:cNvSpPr txBox="1"/>
          <p:nvPr/>
        </p:nvSpPr>
        <p:spPr>
          <a:xfrm>
            <a:off x="6035040" y="6117336"/>
            <a:ext cx="1371600" cy="411479"/>
          </a:xfrm>
          <a:prstGeom prst="rect">
            <a:avLst/>
          </a:prstGeom>
          <a:noFill/>
        </p:spPr>
        <p:txBody>
          <a:bodyPr wrap="none" lIns="0" rIns="0" tIns="0" bIns="0">
            <a:spAutoFit/>
          </a:bodyPr>
          <a:lstStyle/>
          <a:p>
            <a:pPr algn="l">
              <a:lnSpc>
                <a:spcPct val="115000"/>
              </a:lnSpc>
            </a:pPr>
            <a:r>
              <a:rPr sz="1650" spc="330">
                <a:solidFill>
                  <a:srgbClr val="EBCF9E"/>
                </a:solidFill>
                <a:latin typeface="TT Commons Pro"/>
              </a:rPr>
              <a:t>—</a:t>
            </a:r>
          </a:p>
        </p:txBody>
      </p:sp>
      <p:sp>
        <p:nvSpPr>
          <p:cNvPr id="23" name="Rounded Rectangle 22"/>
          <p:cNvSpPr/>
          <p:nvPr/>
        </p:nvSpPr>
        <p:spPr>
          <a:xfrm>
            <a:off x="822959" y="6789420"/>
            <a:ext cx="6858000" cy="822959"/>
          </a:xfrm>
          <a:prstGeom prst="roundRect">
            <a:avLst>
              <a:gd name="adj" fmla="val 6000"/>
            </a:avLst>
          </a:prstGeom>
          <a:solidFill>
            <a:srgbClr val="084B4D"/>
          </a:solidFill>
          <a:ln w="1905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 y="6995159"/>
            <a:ext cx="6172200" cy="411479"/>
          </a:xfrm>
          <a:prstGeom prst="rect">
            <a:avLst/>
          </a:prstGeom>
          <a:noFill/>
        </p:spPr>
        <p:txBody>
          <a:bodyPr wrap="none" lIns="0" rIns="0" tIns="0" bIns="0">
            <a:spAutoFit/>
          </a:bodyPr>
          <a:lstStyle/>
          <a:p>
            <a:pPr algn="l">
              <a:lnSpc>
                <a:spcPct val="115000"/>
              </a:lnSpc>
            </a:pPr>
            <a:r>
              <a:rPr sz="1950">
                <a:solidFill>
                  <a:srgbClr val="EBCF9E"/>
                </a:solidFill>
                <a:latin typeface="TT Commons Pro Bold"/>
              </a:rPr>
              <a:t>3.3% + $1.49</a:t>
            </a:r>
            <a:r>
              <a:rPr sz="1425">
                <a:solidFill>
                  <a:srgbClr val="F2ECDD"/>
                </a:solidFill>
                <a:latin typeface="TT Commons Pro"/>
              </a:rPr>
              <a:t>  unified · patronage-eligible</a:t>
            </a:r>
          </a:p>
        </p:txBody>
      </p:sp>
      <p:sp>
        <p:nvSpPr>
          <p:cNvPr id="25" name="TextBox 24"/>
          <p:cNvSpPr txBox="1"/>
          <p:nvPr/>
        </p:nvSpPr>
        <p:spPr>
          <a:xfrm>
            <a:off x="8503920"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FEE SURPLUS</a:t>
            </a:r>
          </a:p>
        </p:txBody>
      </p:sp>
      <p:sp>
        <p:nvSpPr>
          <p:cNvPr id="26" name="Rounded Rectangle 25"/>
          <p:cNvSpPr/>
          <p:nvPr/>
        </p:nvSpPr>
        <p:spPr>
          <a:xfrm>
            <a:off x="8503920" y="3922776"/>
            <a:ext cx="438912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4251959"/>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50%  </a:t>
            </a:r>
            <a:r>
              <a:rPr sz="1650">
                <a:solidFill>
                  <a:srgbClr val="F2ECDD"/>
                </a:solidFill>
                <a:latin typeface="TT Commons Pro"/>
              </a:rPr>
              <a:t>Association</a:t>
            </a:r>
          </a:p>
        </p:txBody>
      </p:sp>
      <p:sp>
        <p:nvSpPr>
          <p:cNvPr id="28" name="Rounded Rectangle 27"/>
          <p:cNvSpPr/>
          <p:nvPr/>
        </p:nvSpPr>
        <p:spPr>
          <a:xfrm>
            <a:off x="8503920" y="4636008"/>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4965192"/>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Fee-paying member</a:t>
            </a:r>
          </a:p>
        </p:txBody>
      </p:sp>
      <p:sp>
        <p:nvSpPr>
          <p:cNvPr id="30" name="Rounded Rectangle 29"/>
          <p:cNvSpPr/>
          <p:nvPr/>
        </p:nvSpPr>
        <p:spPr>
          <a:xfrm>
            <a:off x="8503920" y="5349240"/>
            <a:ext cx="2194560" cy="301752"/>
          </a:xfrm>
          <a:prstGeom prst="roundRect">
            <a:avLst>
              <a:gd name="adj" fmla="val 18000"/>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5678423"/>
            <a:ext cx="5486400" cy="384048"/>
          </a:xfrm>
          <a:prstGeom prst="rect">
            <a:avLst/>
          </a:prstGeom>
          <a:noFill/>
        </p:spPr>
        <p:txBody>
          <a:bodyPr wrap="none" lIns="0" rIns="0" tIns="0" bIns="0">
            <a:spAutoFit/>
          </a:bodyPr>
          <a:lstStyle/>
          <a:p>
            <a:pPr algn="l">
              <a:lnSpc>
                <a:spcPct val="115000"/>
              </a:lnSpc>
            </a:pPr>
            <a:r>
              <a:rPr sz="1650">
                <a:solidFill>
                  <a:srgbClr val="9FE8DC"/>
                </a:solidFill>
                <a:latin typeface="TT Commons Pro Bold"/>
              </a:rPr>
              <a:t>25%  </a:t>
            </a:r>
            <a:r>
              <a:rPr sz="1650">
                <a:solidFill>
                  <a:srgbClr val="F2ECDD"/>
                </a:solidFill>
                <a:latin typeface="TT Commons Pro"/>
              </a:rPr>
              <a:t>Chapter</a:t>
            </a:r>
          </a:p>
        </p:txBody>
      </p:sp>
      <p:sp>
        <p:nvSpPr>
          <p:cNvPr id="32" name="TextBox 31"/>
          <p:cNvSpPr txBox="1"/>
          <p:nvPr/>
        </p:nvSpPr>
        <p:spPr>
          <a:xfrm>
            <a:off x="8503920" y="6172200"/>
            <a:ext cx="822960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RETAINED PROFIT — AFTER TAX</a:t>
            </a:r>
          </a:p>
        </p:txBody>
      </p:sp>
      <p:sp>
        <p:nvSpPr>
          <p:cNvPr id="33" name="Rounded Rectangle 32"/>
          <p:cNvSpPr/>
          <p:nvPr/>
        </p:nvSpPr>
        <p:spPr>
          <a:xfrm>
            <a:off x="8503920" y="66659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0" y="66385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Stewards</a:t>
            </a:r>
          </a:p>
        </p:txBody>
      </p:sp>
      <p:sp>
        <p:nvSpPr>
          <p:cNvPr id="35" name="Rounded Rectangle 34"/>
          <p:cNvSpPr/>
          <p:nvPr/>
        </p:nvSpPr>
        <p:spPr>
          <a:xfrm>
            <a:off x="8503920" y="73517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0" y="73243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Workers</a:t>
            </a:r>
          </a:p>
        </p:txBody>
      </p:sp>
      <p:sp>
        <p:nvSpPr>
          <p:cNvPr id="37" name="Rounded Rectangle 36"/>
          <p:cNvSpPr/>
          <p:nvPr/>
        </p:nvSpPr>
        <p:spPr>
          <a:xfrm>
            <a:off x="8503920" y="8037576"/>
            <a:ext cx="2194560" cy="301752"/>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0" y="8010144"/>
            <a:ext cx="5486400" cy="384048"/>
          </a:xfrm>
          <a:prstGeom prst="rect">
            <a:avLst/>
          </a:prstGeom>
          <a:noFill/>
        </p:spPr>
        <p:txBody>
          <a:bodyPr wrap="none" lIns="0" rIns="0" tIns="0" bIns="0">
            <a:spAutoFit/>
          </a:bodyPr>
          <a:lstStyle/>
          <a:p>
            <a:pPr algn="l">
              <a:lnSpc>
                <a:spcPct val="115000"/>
              </a:lnSpc>
            </a:pPr>
            <a:r>
              <a:rPr sz="1650">
                <a:solidFill>
                  <a:srgbClr val="EBCF9E"/>
                </a:solidFill>
                <a:latin typeface="TT Commons Pro Bold"/>
              </a:rPr>
              <a:t>33%  </a:t>
            </a:r>
            <a:r>
              <a:rPr sz="1650">
                <a:solidFill>
                  <a:srgbClr val="F2ECDD"/>
                </a:solidFill>
                <a:latin typeface="TT Commons Pro"/>
              </a:rPr>
              <a:t>Reserves</a:t>
            </a:r>
          </a:p>
        </p:txBody>
      </p:sp>
      <p:sp>
        <p:nvSpPr>
          <p:cNvPr id="39" name="TextBox 38"/>
          <p:cNvSpPr txBox="1"/>
          <p:nvPr/>
        </p:nvSpPr>
        <p:spPr>
          <a:xfrm>
            <a:off x="822959" y="9052559"/>
            <a:ext cx="16596359" cy="1097280"/>
          </a:xfrm>
          <a:prstGeom prst="rect">
            <a:avLst/>
          </a:prstGeom>
          <a:noFill/>
        </p:spPr>
        <p:txBody>
          <a:bodyPr wrap="square" lIns="0" rIns="0" tIns="0" bIns="0">
            <a:spAutoFit/>
          </a:bodyPr>
          <a:lstStyle/>
          <a:p>
            <a:pPr algn="ctr">
              <a:lnSpc>
                <a:spcPct val="140000"/>
              </a:lnSpc>
            </a:pPr>
            <a:r>
              <a:rPr sz="1875">
                <a:solidFill>
                  <a:srgbClr val="F2ECDD"/>
                </a:solidFill>
                <a:latin typeface="TT Commons Pro"/>
              </a:rPr>
              <a:t>Every patronage refund arrives </a:t>
            </a:r>
            <a:r>
              <a:rPr sz="1875">
                <a:solidFill>
                  <a:srgbClr val="EBCF9E"/>
                </a:solidFill>
                <a:latin typeface="TT Commons Pro Bold"/>
              </a:rPr>
              <a:t>20% cash + 80% member capital</a:t>
            </a:r>
            <a:r>
              <a:rPr sz="1875">
                <a:solidFill>
                  <a:srgbClr val="F2ECDD"/>
                </a:solidFill>
                <a:latin typeface="TT Commons Pro"/>
              </a:rPr>
              <a:t> — members build equity with every sale.</a:t>
            </a:r>
          </a:p>
        </p:txBody>
      </p:sp>
      <p:pic>
        <p:nvPicPr>
          <p:cNvPr id="40" name="Picture 3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1" name="TextBox 4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2" name="TextBox 4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pic>
        <p:nvPicPr>
          <p:cNvPr id="22" name="Picture 21"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3" name="TextBox 2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4" name="TextBox 2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pic>
        <p:nvPicPr>
          <p:cNvPr id="44" name="Picture 4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5" name="TextBox 4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6" name="TextBox 4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sp>
        <p:nvSpPr>
          <p:cNvPr id="44" name="Rounded Rectangle 43"/>
          <p:cNvSpPr/>
          <p:nvPr/>
        </p:nvSpPr>
        <p:spPr>
          <a:xfrm>
            <a:off x="8778240" y="6789420"/>
            <a:ext cx="8709659" cy="850392"/>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1140" y="6995159"/>
            <a:ext cx="8092440" cy="411479"/>
          </a:xfrm>
          <a:prstGeom prst="rect">
            <a:avLst/>
          </a:prstGeom>
          <a:noFill/>
        </p:spPr>
        <p:txBody>
          <a:bodyPr wrap="square" lIns="0" rIns="0" tIns="0" bIns="0">
            <a:spAutoFit/>
          </a:bodyPr>
          <a:lstStyle/>
          <a:p>
            <a:pPr algn="l">
              <a:lnSpc>
                <a:spcPct val="115000"/>
              </a:lnSpc>
            </a:pPr>
            <a:r>
              <a:rPr sz="1575">
                <a:solidFill>
                  <a:srgbClr val="F2ECDD"/>
                </a:solidFill>
                <a:latin typeface="TT Commons Pro"/>
              </a:rPr>
              <a:t>Each round gates the next — no new issuance until network value has at least tripled.</a:t>
            </a:r>
          </a:p>
        </p:txBody>
      </p:sp>
      <p:pic>
        <p:nvPicPr>
          <p:cNvPr id="46" name="Picture 45"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47" name="TextBox 46"/>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48" name="TextBox 47"/>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0.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BUDGET + RAISE STRUCTURE</a:t>
            </a:r>
          </a:p>
        </p:txBody>
      </p:sp>
      <p:sp>
        <p:nvSpPr>
          <p:cNvPr id="4" name="TextBox 3"/>
          <p:cNvSpPr txBox="1"/>
          <p:nvPr/>
        </p:nvSpPr>
        <p:spPr>
          <a:xfrm>
            <a:off x="822959" y="1699869"/>
            <a:ext cx="6811168" cy="1043025"/>
          </a:xfrm>
          <a:prstGeom prst="rect">
            <a:avLst/>
          </a:prstGeom>
          <a:noFill/>
        </p:spPr>
        <p:txBody>
          <a:bodyPr wrap="none" lIns="0" rIns="0" tIns="0" bIns="0">
            <a:spAutoFit/>
          </a:bodyPr>
          <a:lstStyle/>
          <a:p>
            <a:pPr algn="l">
              <a:lnSpc>
                <a:spcPct val="115000"/>
              </a:lnSpc>
            </a:pPr>
            <a:r>
              <a:rPr sz="5664" spc="-76">
                <a:solidFill>
                  <a:srgbClr val="F4EAD8"/>
                </a:solidFill>
                <a:latin typeface="TT Commons Pro Bold"/>
              </a:rPr>
              <a:t>The staircase to </a:t>
            </a:r>
          </a:p>
        </p:txBody>
      </p:sp>
      <p:sp>
        <p:nvSpPr>
          <p:cNvPr id="5" name="TextBox 4"/>
          <p:cNvSpPr txBox="1"/>
          <p:nvPr/>
        </p:nvSpPr>
        <p:spPr>
          <a:xfrm>
            <a:off x="6107303" y="1645919"/>
            <a:ext cx="3563302" cy="1140809"/>
          </a:xfrm>
          <a:prstGeom prst="rect">
            <a:avLst/>
          </a:prstGeom>
          <a:noFill/>
        </p:spPr>
        <p:txBody>
          <a:bodyPr wrap="none" lIns="0" rIns="0" tIns="0" bIns="0">
            <a:spAutoFit/>
          </a:bodyPr>
          <a:lstStyle/>
          <a:p>
            <a:pPr algn="l">
              <a:lnSpc>
                <a:spcPct val="115000"/>
              </a:lnSpc>
            </a:pPr>
            <a:r>
              <a:rPr sz="6195" spc="-75">
                <a:solidFill>
                  <a:srgbClr val="EBCF9E"/>
                </a:solidFill>
                <a:latin typeface="Ibarra Real Nova Italics"/>
              </a:rPr>
              <a:t>$100M.</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$21.05M OVER FIVE YEARS · FIRST PROFIT 2029</a:t>
            </a:r>
          </a:p>
        </p:txBody>
      </p:sp>
      <p:sp>
        <p:nvSpPr>
          <p:cNvPr id="7" name="Rounded Rectangle 6"/>
          <p:cNvSpPr/>
          <p:nvPr/>
        </p:nvSpPr>
        <p:spPr>
          <a:xfrm>
            <a:off x="1234440" y="5939028"/>
            <a:ext cx="1102766" cy="164592"/>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472684"/>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$400K</a:t>
            </a:r>
          </a:p>
        </p:txBody>
      </p:sp>
      <p:sp>
        <p:nvSpPr>
          <p:cNvPr id="9" name="TextBox 8"/>
          <p:cNvSpPr txBox="1"/>
          <p:nvPr/>
        </p:nvSpPr>
        <p:spPr>
          <a:xfrm>
            <a:off x="1234440"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2026</a:t>
            </a:r>
          </a:p>
        </p:txBody>
      </p:sp>
      <p:sp>
        <p:nvSpPr>
          <p:cNvPr id="10" name="Rounded Rectangle 9"/>
          <p:cNvSpPr/>
          <p:nvPr/>
        </p:nvSpPr>
        <p:spPr>
          <a:xfrm>
            <a:off x="2638958" y="5796777"/>
            <a:ext cx="1102766" cy="306842"/>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8958" y="5330433"/>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$1.4M</a:t>
            </a:r>
          </a:p>
        </p:txBody>
      </p:sp>
      <p:sp>
        <p:nvSpPr>
          <p:cNvPr id="12" name="TextBox 11"/>
          <p:cNvSpPr txBox="1"/>
          <p:nvPr/>
        </p:nvSpPr>
        <p:spPr>
          <a:xfrm>
            <a:off x="2638958"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2027</a:t>
            </a:r>
          </a:p>
        </p:txBody>
      </p:sp>
      <p:sp>
        <p:nvSpPr>
          <p:cNvPr id="13" name="Rounded Rectangle 12"/>
          <p:cNvSpPr/>
          <p:nvPr/>
        </p:nvSpPr>
        <p:spPr>
          <a:xfrm>
            <a:off x="4043476" y="5369389"/>
            <a:ext cx="1102766" cy="734230"/>
          </a:xfrm>
          <a:prstGeom prst="roundRect">
            <a:avLst>
              <a:gd name="adj" fmla="val 18000"/>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43476" y="4903045"/>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$3.35M</a:t>
            </a:r>
          </a:p>
        </p:txBody>
      </p:sp>
      <p:sp>
        <p:nvSpPr>
          <p:cNvPr id="15" name="TextBox 14"/>
          <p:cNvSpPr txBox="1"/>
          <p:nvPr/>
        </p:nvSpPr>
        <p:spPr>
          <a:xfrm>
            <a:off x="4043476"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2028</a:t>
            </a:r>
          </a:p>
        </p:txBody>
      </p:sp>
      <p:sp>
        <p:nvSpPr>
          <p:cNvPr id="16" name="Rounded Rectangle 15"/>
          <p:cNvSpPr/>
          <p:nvPr/>
        </p:nvSpPr>
        <p:spPr>
          <a:xfrm>
            <a:off x="5447995" y="4744746"/>
            <a:ext cx="1102766" cy="1358873"/>
          </a:xfrm>
          <a:prstGeom prst="roundRect">
            <a:avLst>
              <a:gd name="adj" fmla="val 18000"/>
            </a:avLst>
          </a:prstGeom>
          <a:solidFill>
            <a:srgbClr val="0D3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7995" y="4278402"/>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$6.2M</a:t>
            </a:r>
          </a:p>
        </p:txBody>
      </p:sp>
      <p:sp>
        <p:nvSpPr>
          <p:cNvPr id="18" name="TextBox 17"/>
          <p:cNvSpPr txBox="1"/>
          <p:nvPr/>
        </p:nvSpPr>
        <p:spPr>
          <a:xfrm>
            <a:off x="5447995"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2029</a:t>
            </a:r>
          </a:p>
        </p:txBody>
      </p:sp>
      <p:sp>
        <p:nvSpPr>
          <p:cNvPr id="19" name="Rounded Rectangle 18"/>
          <p:cNvSpPr/>
          <p:nvPr/>
        </p:nvSpPr>
        <p:spPr>
          <a:xfrm>
            <a:off x="6852513" y="3977640"/>
            <a:ext cx="1102766" cy="2125980"/>
          </a:xfrm>
          <a:prstGeom prst="roundRect">
            <a:avLst>
              <a:gd name="adj" fmla="val 18000"/>
            </a:avLst>
          </a:prstGeom>
          <a:solidFill>
            <a:srgbClr val="145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2513" y="3511296"/>
            <a:ext cx="1102766" cy="384048"/>
          </a:xfrm>
          <a:prstGeom prst="rect">
            <a:avLst/>
          </a:prstGeom>
          <a:noFill/>
        </p:spPr>
        <p:txBody>
          <a:bodyPr wrap="none" lIns="0" rIns="0" tIns="0" bIns="0">
            <a:spAutoFit/>
          </a:bodyPr>
          <a:lstStyle/>
          <a:p>
            <a:pPr algn="ctr">
              <a:lnSpc>
                <a:spcPct val="115000"/>
              </a:lnSpc>
            </a:pPr>
            <a:r>
              <a:rPr sz="1425" spc="330">
                <a:solidFill>
                  <a:srgbClr val="EBCF9E"/>
                </a:solidFill>
                <a:latin typeface="TT Commons Pro"/>
              </a:rPr>
              <a:t>$9.7M</a:t>
            </a:r>
          </a:p>
        </p:txBody>
      </p:sp>
      <p:sp>
        <p:nvSpPr>
          <p:cNvPr id="21" name="TextBox 20"/>
          <p:cNvSpPr txBox="1"/>
          <p:nvPr/>
        </p:nvSpPr>
        <p:spPr>
          <a:xfrm>
            <a:off x="6852513" y="6295644"/>
            <a:ext cx="1102766" cy="411479"/>
          </a:xfrm>
          <a:prstGeom prst="rect">
            <a:avLst/>
          </a:prstGeom>
          <a:noFill/>
        </p:spPr>
        <p:txBody>
          <a:bodyPr wrap="square" lIns="0" rIns="0" tIns="0" bIns="0">
            <a:spAutoFit/>
          </a:bodyPr>
          <a:lstStyle/>
          <a:p>
            <a:pPr algn="ctr">
              <a:lnSpc>
                <a:spcPct val="115000"/>
              </a:lnSpc>
            </a:pPr>
            <a:r>
              <a:rPr sz="1275" spc="150">
                <a:solidFill>
                  <a:srgbClr val="F2ECDD"/>
                </a:solidFill>
                <a:latin typeface="TT Commons Pro"/>
              </a:rPr>
              <a:t>2030</a:t>
            </a:r>
          </a:p>
        </p:txBody>
      </p:sp>
      <p:sp>
        <p:nvSpPr>
          <p:cNvPr id="22" name="TextBox 21"/>
          <p:cNvSpPr txBox="1"/>
          <p:nvPr/>
        </p:nvSpPr>
        <p:spPr>
          <a:xfrm>
            <a:off x="8778240" y="3497579"/>
            <a:ext cx="205740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ROUND</a:t>
            </a:r>
          </a:p>
        </p:txBody>
      </p:sp>
      <p:sp>
        <p:nvSpPr>
          <p:cNvPr id="23" name="TextBox 22"/>
          <p:cNvSpPr txBox="1"/>
          <p:nvPr/>
        </p:nvSpPr>
        <p:spPr>
          <a:xfrm>
            <a:off x="1083564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RAISE</a:t>
            </a:r>
          </a:p>
        </p:txBody>
      </p:sp>
      <p:sp>
        <p:nvSpPr>
          <p:cNvPr id="24" name="TextBox 23"/>
          <p:cNvSpPr txBox="1"/>
          <p:nvPr/>
        </p:nvSpPr>
        <p:spPr>
          <a:xfrm>
            <a:off x="12618719"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CAP</a:t>
            </a:r>
          </a:p>
        </p:txBody>
      </p:sp>
      <p:sp>
        <p:nvSpPr>
          <p:cNvPr id="25" name="TextBox 24"/>
          <p:cNvSpPr txBox="1"/>
          <p:nvPr/>
        </p:nvSpPr>
        <p:spPr>
          <a:xfrm>
            <a:off x="14401800" y="3497579"/>
            <a:ext cx="178308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PRICE</a:t>
            </a:r>
          </a:p>
        </p:txBody>
      </p:sp>
      <p:cxnSp>
        <p:nvCxnSpPr>
          <p:cNvPr id="26" name="Connector 25"/>
          <p:cNvCxnSpPr/>
          <p:nvPr/>
        </p:nvCxnSpPr>
        <p:spPr>
          <a:xfrm>
            <a:off x="8778240" y="3895344"/>
            <a:ext cx="8503920" cy="0"/>
          </a:xfrm>
          <a:prstGeom prst="line">
            <a:avLst/>
          </a:prstGeom>
          <a:ln w="11430">
            <a:solidFill>
              <a:srgbClr val="084B4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4114800"/>
            <a:ext cx="205740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Seed 2026</a:t>
            </a:r>
          </a:p>
        </p:txBody>
      </p:sp>
      <p:sp>
        <p:nvSpPr>
          <p:cNvPr id="28" name="TextBox 27"/>
          <p:cNvSpPr txBox="1"/>
          <p:nvPr/>
        </p:nvSpPr>
        <p:spPr>
          <a:xfrm>
            <a:off x="10835640"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$500K</a:t>
            </a:r>
          </a:p>
        </p:txBody>
      </p:sp>
      <p:sp>
        <p:nvSpPr>
          <p:cNvPr id="29" name="TextBox 28"/>
          <p:cNvSpPr txBox="1"/>
          <p:nvPr/>
        </p:nvSpPr>
        <p:spPr>
          <a:xfrm>
            <a:off x="12618719" y="4114800"/>
            <a:ext cx="1783080" cy="411479"/>
          </a:xfrm>
          <a:prstGeom prst="rect">
            <a:avLst/>
          </a:prstGeom>
          <a:noFill/>
        </p:spPr>
        <p:txBody>
          <a:bodyPr wrap="none" lIns="0" rIns="0" tIns="0" bIns="0">
            <a:spAutoFit/>
          </a:bodyPr>
          <a:lstStyle/>
          <a:p>
            <a:pPr algn="l">
              <a:lnSpc>
                <a:spcPct val="115000"/>
              </a:lnSpc>
            </a:pPr>
            <a:r>
              <a:rPr sz="1575" spc="180">
                <a:solidFill>
                  <a:srgbClr val="EBCF9E"/>
                </a:solidFill>
                <a:latin typeface="TT Commons Pro"/>
              </a:rPr>
              <a:t>$4M</a:t>
            </a:r>
          </a:p>
        </p:txBody>
      </p:sp>
      <p:sp>
        <p:nvSpPr>
          <p:cNvPr id="30" name="TextBox 29"/>
          <p:cNvSpPr txBox="1"/>
          <p:nvPr/>
        </p:nvSpPr>
        <p:spPr>
          <a:xfrm>
            <a:off x="14401800" y="4114800"/>
            <a:ext cx="1783080" cy="411479"/>
          </a:xfrm>
          <a:prstGeom prst="rect">
            <a:avLst/>
          </a:prstGeom>
          <a:noFill/>
        </p:spPr>
        <p:txBody>
          <a:bodyPr wrap="none" lIns="0" rIns="0" tIns="0" bIns="0">
            <a:spAutoFit/>
          </a:bodyPr>
          <a:lstStyle/>
          <a:p>
            <a:pPr algn="l">
              <a:lnSpc>
                <a:spcPct val="115000"/>
              </a:lnSpc>
            </a:pPr>
            <a:r>
              <a:rPr sz="1575">
                <a:solidFill>
                  <a:srgbClr val="EBCF9E"/>
                </a:solidFill>
                <a:latin typeface="TT Commons Pro Bold"/>
              </a:rPr>
              <a:t>$0.20</a:t>
            </a:r>
          </a:p>
        </p:txBody>
      </p:sp>
      <p:sp>
        <p:nvSpPr>
          <p:cNvPr id="31" name="TextBox 30"/>
          <p:cNvSpPr txBox="1"/>
          <p:nvPr/>
        </p:nvSpPr>
        <p:spPr>
          <a:xfrm>
            <a:off x="16322040" y="4114800"/>
            <a:ext cx="1234440" cy="411479"/>
          </a:xfrm>
          <a:prstGeom prst="rect">
            <a:avLst/>
          </a:prstGeom>
          <a:noFill/>
        </p:spPr>
        <p:txBody>
          <a:bodyPr wrap="none" lIns="0" rIns="0" tIns="0" bIns="0">
            <a:spAutoFit/>
          </a:bodyPr>
          <a:lstStyle/>
          <a:p>
            <a:pPr algn="l">
              <a:lnSpc>
                <a:spcPct val="115000"/>
              </a:lnSpc>
            </a:pPr>
            <a:r>
              <a:rPr sz="1350" spc="150">
                <a:solidFill>
                  <a:srgbClr val="F0CC8B"/>
                </a:solidFill>
                <a:latin typeface="TT Commons Pro"/>
              </a:rPr>
              <a:t>← now</a:t>
            </a:r>
          </a:p>
        </p:txBody>
      </p:sp>
      <p:sp>
        <p:nvSpPr>
          <p:cNvPr id="32" name="TextBox 31"/>
          <p:cNvSpPr txBox="1"/>
          <p:nvPr/>
        </p:nvSpPr>
        <p:spPr>
          <a:xfrm>
            <a:off x="8778240" y="4745736"/>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Crowd 2027</a:t>
            </a:r>
          </a:p>
        </p:txBody>
      </p:sp>
      <p:sp>
        <p:nvSpPr>
          <p:cNvPr id="33" name="TextBox 32"/>
          <p:cNvSpPr txBox="1"/>
          <p:nvPr/>
        </p:nvSpPr>
        <p:spPr>
          <a:xfrm>
            <a:off x="1083564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$4.5M</a:t>
            </a:r>
          </a:p>
        </p:txBody>
      </p:sp>
      <p:sp>
        <p:nvSpPr>
          <p:cNvPr id="34" name="TextBox 33"/>
          <p:cNvSpPr txBox="1"/>
          <p:nvPr/>
        </p:nvSpPr>
        <p:spPr>
          <a:xfrm>
            <a:off x="12618719"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$20M</a:t>
            </a:r>
          </a:p>
        </p:txBody>
      </p:sp>
      <p:sp>
        <p:nvSpPr>
          <p:cNvPr id="35" name="TextBox 34"/>
          <p:cNvSpPr txBox="1"/>
          <p:nvPr/>
        </p:nvSpPr>
        <p:spPr>
          <a:xfrm>
            <a:off x="14401800" y="4745736"/>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$1.00</a:t>
            </a:r>
          </a:p>
        </p:txBody>
      </p:sp>
      <p:sp>
        <p:nvSpPr>
          <p:cNvPr id="36" name="TextBox 35"/>
          <p:cNvSpPr txBox="1"/>
          <p:nvPr/>
        </p:nvSpPr>
        <p:spPr>
          <a:xfrm>
            <a:off x="8778240" y="5376672"/>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Growth 2028</a:t>
            </a:r>
          </a:p>
        </p:txBody>
      </p:sp>
      <p:sp>
        <p:nvSpPr>
          <p:cNvPr id="37" name="TextBox 36"/>
          <p:cNvSpPr txBox="1"/>
          <p:nvPr/>
        </p:nvSpPr>
        <p:spPr>
          <a:xfrm>
            <a:off x="1083564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$35M</a:t>
            </a:r>
          </a:p>
        </p:txBody>
      </p:sp>
      <p:sp>
        <p:nvSpPr>
          <p:cNvPr id="38" name="TextBox 37"/>
          <p:cNvSpPr txBox="1"/>
          <p:nvPr/>
        </p:nvSpPr>
        <p:spPr>
          <a:xfrm>
            <a:off x="12618719"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$70M</a:t>
            </a:r>
          </a:p>
        </p:txBody>
      </p:sp>
      <p:sp>
        <p:nvSpPr>
          <p:cNvPr id="39" name="TextBox 38"/>
          <p:cNvSpPr txBox="1"/>
          <p:nvPr/>
        </p:nvSpPr>
        <p:spPr>
          <a:xfrm>
            <a:off x="14401800" y="5376672"/>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$3.50</a:t>
            </a:r>
          </a:p>
        </p:txBody>
      </p:sp>
      <p:sp>
        <p:nvSpPr>
          <p:cNvPr id="40" name="TextBox 39"/>
          <p:cNvSpPr txBox="1"/>
          <p:nvPr/>
        </p:nvSpPr>
        <p:spPr>
          <a:xfrm>
            <a:off x="8778240" y="6007608"/>
            <a:ext cx="205740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Scale 2030</a:t>
            </a:r>
          </a:p>
        </p:txBody>
      </p:sp>
      <p:sp>
        <p:nvSpPr>
          <p:cNvPr id="41" name="TextBox 40"/>
          <p:cNvSpPr txBox="1"/>
          <p:nvPr/>
        </p:nvSpPr>
        <p:spPr>
          <a:xfrm>
            <a:off x="1083564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$60M</a:t>
            </a:r>
          </a:p>
        </p:txBody>
      </p:sp>
      <p:sp>
        <p:nvSpPr>
          <p:cNvPr id="42" name="TextBox 41"/>
          <p:cNvSpPr txBox="1"/>
          <p:nvPr/>
        </p:nvSpPr>
        <p:spPr>
          <a:xfrm>
            <a:off x="12618719"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$250M</a:t>
            </a:r>
          </a:p>
        </p:txBody>
      </p:sp>
      <p:sp>
        <p:nvSpPr>
          <p:cNvPr id="43" name="TextBox 42"/>
          <p:cNvSpPr txBox="1"/>
          <p:nvPr/>
        </p:nvSpPr>
        <p:spPr>
          <a:xfrm>
            <a:off x="14401800" y="6007608"/>
            <a:ext cx="1783080" cy="411479"/>
          </a:xfrm>
          <a:prstGeom prst="rect">
            <a:avLst/>
          </a:prstGeom>
          <a:noFill/>
        </p:spPr>
        <p:txBody>
          <a:bodyPr wrap="none" lIns="0" rIns="0" tIns="0" bIns="0">
            <a:spAutoFit/>
          </a:bodyPr>
          <a:lstStyle/>
          <a:p>
            <a:pPr algn="l">
              <a:lnSpc>
                <a:spcPct val="115000"/>
              </a:lnSpc>
            </a:pPr>
            <a:r>
              <a:rPr sz="1575">
                <a:solidFill>
                  <a:srgbClr val="F2ECDD"/>
                </a:solidFill>
                <a:latin typeface="TT Commons Pro"/>
              </a:rPr>
              <a:t>$12.00</a:t>
            </a:r>
          </a:p>
        </p:txBody>
      </p:sp>
      <p:sp>
        <p:nvSpPr>
          <p:cNvPr id="44" name="Rounded Rectangle 43"/>
          <p:cNvSpPr/>
          <p:nvPr/>
        </p:nvSpPr>
        <p:spPr>
          <a:xfrm>
            <a:off x="8778240" y="6789420"/>
            <a:ext cx="8709659" cy="850392"/>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1140" y="6995159"/>
            <a:ext cx="8092440" cy="411479"/>
          </a:xfrm>
          <a:prstGeom prst="rect">
            <a:avLst/>
          </a:prstGeom>
          <a:noFill/>
        </p:spPr>
        <p:txBody>
          <a:bodyPr wrap="square" lIns="0" rIns="0" tIns="0" bIns="0">
            <a:spAutoFit/>
          </a:bodyPr>
          <a:lstStyle/>
          <a:p>
            <a:pPr algn="l">
              <a:lnSpc>
                <a:spcPct val="115000"/>
              </a:lnSpc>
            </a:pPr>
            <a:r>
              <a:rPr sz="1575">
                <a:solidFill>
                  <a:srgbClr val="F2ECDD"/>
                </a:solidFill>
                <a:latin typeface="TT Commons Pro"/>
              </a:rPr>
              <a:t>Each round gates the next — no new issuance until network value has at least tripled.</a:t>
            </a:r>
          </a:p>
        </p:txBody>
      </p:sp>
      <p:sp>
        <p:nvSpPr>
          <p:cNvPr id="46" name="TextBox 45"/>
          <p:cNvSpPr txBox="1"/>
          <p:nvPr/>
        </p:nvSpPr>
        <p:spPr>
          <a:xfrm>
            <a:off x="822959"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$100M</a:t>
            </a:r>
          </a:p>
        </p:txBody>
      </p:sp>
      <p:sp>
        <p:nvSpPr>
          <p:cNvPr id="47" name="TextBox 46"/>
          <p:cNvSpPr txBox="1"/>
          <p:nvPr/>
        </p:nvSpPr>
        <p:spPr>
          <a:xfrm>
            <a:off x="822959"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raised across four rounds</a:t>
            </a:r>
          </a:p>
        </p:txBody>
      </p:sp>
      <p:sp>
        <p:nvSpPr>
          <p:cNvPr id="48" name="TextBox 47"/>
          <p:cNvSpPr txBox="1"/>
          <p:nvPr/>
        </p:nvSpPr>
        <p:spPr>
          <a:xfrm>
            <a:off x="6473952"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60x</a:t>
            </a:r>
          </a:p>
        </p:txBody>
      </p:sp>
      <p:sp>
        <p:nvSpPr>
          <p:cNvPr id="49" name="TextBox 48"/>
          <p:cNvSpPr txBox="1"/>
          <p:nvPr/>
        </p:nvSpPr>
        <p:spPr>
          <a:xfrm>
            <a:off x="6473952"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paper uplift on Class D</a:t>
            </a:r>
          </a:p>
        </p:txBody>
      </p:sp>
      <p:sp>
        <p:nvSpPr>
          <p:cNvPr id="50" name="TextBox 49"/>
          <p:cNvSpPr txBox="1"/>
          <p:nvPr/>
        </p:nvSpPr>
        <p:spPr>
          <a:xfrm>
            <a:off x="12124944" y="8161020"/>
            <a:ext cx="2468880" cy="548640"/>
          </a:xfrm>
          <a:prstGeom prst="rect">
            <a:avLst/>
          </a:prstGeom>
          <a:noFill/>
        </p:spPr>
        <p:txBody>
          <a:bodyPr wrap="none" lIns="0" rIns="0" tIns="0" bIns="0">
            <a:spAutoFit/>
          </a:bodyPr>
          <a:lstStyle/>
          <a:p>
            <a:pPr algn="l">
              <a:lnSpc>
                <a:spcPct val="115000"/>
              </a:lnSpc>
            </a:pPr>
            <a:r>
              <a:rPr sz="3150">
                <a:solidFill>
                  <a:srgbClr val="EBCF9E"/>
                </a:solidFill>
                <a:latin typeface="TT Commons Pro Bold"/>
              </a:rPr>
              <a:t>58M</a:t>
            </a:r>
          </a:p>
        </p:txBody>
      </p:sp>
      <p:sp>
        <p:nvSpPr>
          <p:cNvPr id="51" name="TextBox 50"/>
          <p:cNvSpPr txBox="1"/>
          <p:nvPr/>
        </p:nvSpPr>
        <p:spPr>
          <a:xfrm>
            <a:off x="12124944" y="8778240"/>
            <a:ext cx="5349240" cy="411479"/>
          </a:xfrm>
          <a:prstGeom prst="rect">
            <a:avLst/>
          </a:prstGeom>
          <a:noFill/>
        </p:spPr>
        <p:txBody>
          <a:bodyPr wrap="square" lIns="0" rIns="0" tIns="0" bIns="0">
            <a:spAutoFit/>
          </a:bodyPr>
          <a:lstStyle/>
          <a:p>
            <a:pPr algn="l">
              <a:lnSpc>
                <a:spcPct val="115000"/>
              </a:lnSpc>
            </a:pPr>
            <a:r>
              <a:rPr sz="1500">
                <a:solidFill>
                  <a:srgbClr val="F2ECDD"/>
                </a:solidFill>
                <a:latin typeface="TT Commons Pro"/>
              </a:rPr>
              <a:t>treasury shares unissued</a:t>
            </a:r>
          </a:p>
        </p:txBody>
      </p:sp>
      <p:sp>
        <p:nvSpPr>
          <p:cNvPr id="52" name="TextBox 51"/>
          <p:cNvSpPr txBox="1"/>
          <p:nvPr/>
        </p:nvSpPr>
        <p:spPr>
          <a:xfrm>
            <a:off x="822959" y="9532620"/>
            <a:ext cx="16596359" cy="384048"/>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2026 runs lean at $400K. Illustrative — anchored to the governing documents' Staircase plan; not an offer, not a guarantee.</a:t>
            </a:r>
          </a:p>
        </p:txBody>
      </p:sp>
      <p:pic>
        <p:nvPicPr>
          <p:cNvPr id="53" name="Picture 5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54" name="TextBox 5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55" name="TextBox 5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pic>
        <p:nvPicPr>
          <p:cNvPr id="10" name="Picture 9"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1" name="TextBox 10"/>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2" name="TextBox 11"/>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pic>
        <p:nvPicPr>
          <p:cNvPr id="13" name="Picture 12"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14" name="TextBox 13"/>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5" name="TextBox 14"/>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sp>
        <p:nvSpPr>
          <p:cNvPr id="13" name="TextBox 12"/>
          <p:cNvSpPr txBox="1"/>
          <p:nvPr/>
        </p:nvSpPr>
        <p:spPr>
          <a:xfrm>
            <a:off x="822959" y="58978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USE OF FUNDS</a:t>
            </a:r>
          </a:p>
        </p:txBody>
      </p:sp>
      <p:sp>
        <p:nvSpPr>
          <p:cNvPr id="14" name="Rounded Rectangle 13"/>
          <p:cNvSpPr/>
          <p:nvPr/>
        </p:nvSpPr>
        <p:spPr>
          <a:xfrm>
            <a:off x="822959" y="6377940"/>
            <a:ext cx="1997049"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6679692"/>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Live-money cutover + payment operations</a:t>
            </a:r>
          </a:p>
        </p:txBody>
      </p:sp>
      <p:sp>
        <p:nvSpPr>
          <p:cNvPr id="16" name="Rounded Rectangle 15"/>
          <p:cNvSpPr/>
          <p:nvPr/>
        </p:nvSpPr>
        <p:spPr>
          <a:xfrm>
            <a:off x="822959" y="7091172"/>
            <a:ext cx="2304288"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7392923"/>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Core team compensation + engineering</a:t>
            </a:r>
          </a:p>
        </p:txBody>
      </p:sp>
      <p:sp>
        <p:nvSpPr>
          <p:cNvPr id="18" name="Rounded Rectangle 17"/>
          <p:cNvSpPr/>
          <p:nvPr/>
        </p:nvSpPr>
        <p:spPr>
          <a:xfrm>
            <a:off x="822959" y="7804404"/>
            <a:ext cx="1536191"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8106155"/>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Community growth + chapter onboarding</a:t>
            </a:r>
          </a:p>
        </p:txBody>
      </p:sp>
      <p:sp>
        <p:nvSpPr>
          <p:cNvPr id="20" name="Rounded Rectangle 19"/>
          <p:cNvSpPr/>
          <p:nvPr/>
        </p:nvSpPr>
        <p:spPr>
          <a:xfrm>
            <a:off x="822959" y="8517635"/>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8819387"/>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Legal, compliance + co-op formation</a:t>
            </a:r>
          </a:p>
        </p:txBody>
      </p:sp>
      <p:sp>
        <p:nvSpPr>
          <p:cNvPr id="22" name="Rounded Rectangle 21"/>
          <p:cNvSpPr/>
          <p:nvPr/>
        </p:nvSpPr>
        <p:spPr>
          <a:xfrm>
            <a:off x="822959" y="9230867"/>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9532619"/>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Infrastructure + AI</a:t>
            </a:r>
          </a:p>
        </p:txBody>
      </p:sp>
      <p:pic>
        <p:nvPicPr>
          <p:cNvPr id="24" name="Picture 23"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1.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OFFER + THE ASK · SEED ROUND 2026</a:t>
            </a:r>
          </a:p>
        </p:txBody>
      </p:sp>
      <p:sp>
        <p:nvSpPr>
          <p:cNvPr id="4" name="TextBox 3"/>
          <p:cNvSpPr txBox="1"/>
          <p:nvPr/>
        </p:nvSpPr>
        <p:spPr>
          <a:xfrm>
            <a:off x="822959" y="1645919"/>
            <a:ext cx="3427174" cy="1238592"/>
          </a:xfrm>
          <a:prstGeom prst="rect">
            <a:avLst/>
          </a:prstGeom>
          <a:noFill/>
        </p:spPr>
        <p:txBody>
          <a:bodyPr wrap="none" lIns="0" rIns="0" tIns="0" bIns="0">
            <a:spAutoFit/>
          </a:bodyPr>
          <a:lstStyle/>
          <a:p>
            <a:pPr algn="l">
              <a:lnSpc>
                <a:spcPct val="115000"/>
              </a:lnSpc>
            </a:pPr>
            <a:r>
              <a:rPr sz="6725" spc="20">
                <a:solidFill>
                  <a:srgbClr val="EBCF9E"/>
                </a:solidFill>
                <a:latin typeface="TT Commons Pro Bold"/>
              </a:rPr>
              <a:t>$500K</a:t>
            </a:r>
          </a:p>
        </p:txBody>
      </p:sp>
      <p:sp>
        <p:nvSpPr>
          <p:cNvPr id="5" name="TextBox 4"/>
          <p:cNvSpPr txBox="1"/>
          <p:nvPr/>
        </p:nvSpPr>
        <p:spPr>
          <a:xfrm>
            <a:off x="3400107" y="1771802"/>
            <a:ext cx="10306526" cy="1010431"/>
          </a:xfrm>
          <a:prstGeom prst="rect">
            <a:avLst/>
          </a:prstGeom>
          <a:noFill/>
        </p:spPr>
        <p:txBody>
          <a:bodyPr wrap="none" lIns="0" rIns="0" tIns="0" bIns="0">
            <a:spAutoFit/>
          </a:bodyPr>
          <a:lstStyle/>
          <a:p>
            <a:pPr algn="l">
              <a:lnSpc>
                <a:spcPct val="115000"/>
              </a:lnSpc>
            </a:pPr>
            <a:r>
              <a:rPr sz="5487" spc="-74">
                <a:solidFill>
                  <a:srgbClr val="F4EAD8"/>
                </a:solidFill>
                <a:latin typeface="TT Commons Pro Bold"/>
              </a:rPr>
              <a:t> to take the built platform </a:t>
            </a:r>
          </a:p>
        </p:txBody>
      </p:sp>
      <p:sp>
        <p:nvSpPr>
          <p:cNvPr id="6" name="TextBox 5"/>
          <p:cNvSpPr txBox="1"/>
          <p:nvPr/>
        </p:nvSpPr>
        <p:spPr>
          <a:xfrm>
            <a:off x="11480736" y="1717852"/>
            <a:ext cx="1872615" cy="1108214"/>
          </a:xfrm>
          <a:prstGeom prst="rect">
            <a:avLst/>
          </a:prstGeom>
          <a:noFill/>
        </p:spPr>
        <p:txBody>
          <a:bodyPr wrap="none" lIns="0" rIns="0" tIns="0" bIns="0">
            <a:spAutoFit/>
          </a:bodyPr>
          <a:lstStyle/>
          <a:p>
            <a:pPr algn="l">
              <a:lnSpc>
                <a:spcPct val="115000"/>
              </a:lnSpc>
            </a:pPr>
            <a:r>
              <a:rPr sz="6017" spc="-75">
                <a:solidFill>
                  <a:srgbClr val="99E6D9"/>
                </a:solidFill>
                <a:latin typeface="Ibarra Real Nova Italics"/>
              </a:rPr>
              <a:t>live.</a:t>
            </a:r>
          </a:p>
        </p:txBody>
      </p:sp>
      <p:sp>
        <p:nvSpPr>
          <p:cNvPr id="7" name="Rounded Rectangle 6"/>
          <p:cNvSpPr/>
          <p:nvPr/>
        </p:nvSpPr>
        <p:spPr>
          <a:xfrm>
            <a:off x="822959" y="3566160"/>
            <a:ext cx="8229600" cy="205740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3840479"/>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INSTRUMENT + TERMS</a:t>
            </a:r>
          </a:p>
        </p:txBody>
      </p:sp>
      <p:sp>
        <p:nvSpPr>
          <p:cNvPr id="9" name="TextBox 8"/>
          <p:cNvSpPr txBox="1"/>
          <p:nvPr/>
        </p:nvSpPr>
        <p:spPr>
          <a:xfrm>
            <a:off x="1234440" y="4279392"/>
            <a:ext cx="7406640" cy="1165860"/>
          </a:xfrm>
          <a:prstGeom prst="rect">
            <a:avLst/>
          </a:prstGeom>
          <a:noFill/>
        </p:spPr>
        <p:txBody>
          <a:bodyPr wrap="square" lIns="0" rIns="0" tIns="0" bIns="0">
            <a:spAutoFit/>
          </a:bodyPr>
          <a:lstStyle/>
          <a:p>
            <a:pPr algn="l">
              <a:lnSpc>
                <a:spcPct val="140000"/>
              </a:lnSpc>
            </a:pPr>
            <a:r>
              <a:rPr sz="1650">
                <a:solidFill>
                  <a:srgbClr val="F2ECDD"/>
                </a:solidFill>
                <a:latin typeface="TT Commons Pro"/>
              </a:rPr>
              <a:t>Cooperative SAFE — $4M cap · 20% discount → Class D Steward Shares (506b).</a:t>
            </a:r>
          </a:p>
          <a:p>
            <a:pPr algn="l">
              <a:lnSpc>
                <a:spcPct val="140000"/>
              </a:lnSpc>
            </a:pPr>
            <a:r>
              <a:rPr sz="1650">
                <a:solidFill>
                  <a:srgbClr val="F2ECDD"/>
                </a:solidFill>
                <a:latin typeface="TT Commons Pro"/>
              </a:rPr>
              <a:t>Colorado residents: direct Class R purchase (Rule 147A).</a:t>
            </a:r>
          </a:p>
        </p:txBody>
      </p:sp>
      <p:sp>
        <p:nvSpPr>
          <p:cNvPr id="10" name="Rounded Rectangle 9"/>
          <p:cNvSpPr/>
          <p:nvPr/>
        </p:nvSpPr>
        <p:spPr>
          <a:xfrm>
            <a:off x="9395459" y="3566160"/>
            <a:ext cx="8092440" cy="205740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06940" y="3840479"/>
            <a:ext cx="7406640" cy="384048"/>
          </a:xfrm>
          <a:prstGeom prst="rect">
            <a:avLst/>
          </a:prstGeom>
          <a:noFill/>
        </p:spPr>
        <p:txBody>
          <a:bodyPr wrap="none" lIns="0" rIns="0" tIns="0" bIns="0">
            <a:spAutoFit/>
          </a:bodyPr>
          <a:lstStyle/>
          <a:p>
            <a:pPr algn="l">
              <a:lnSpc>
                <a:spcPct val="115000"/>
              </a:lnSpc>
            </a:pPr>
            <a:r>
              <a:rPr sz="1425" spc="330">
                <a:solidFill>
                  <a:srgbClr val="EBCF9E"/>
                </a:solidFill>
                <a:latin typeface="TT Commons Pro"/>
              </a:rPr>
              <a:t>PRICE + DIVIDEND RIGHT</a:t>
            </a:r>
          </a:p>
        </p:txBody>
      </p:sp>
      <p:sp>
        <p:nvSpPr>
          <p:cNvPr id="12" name="TextBox 11"/>
          <p:cNvSpPr txBox="1"/>
          <p:nvPr/>
        </p:nvSpPr>
        <p:spPr>
          <a:xfrm>
            <a:off x="9806940" y="4279392"/>
            <a:ext cx="7269479" cy="1165860"/>
          </a:xfrm>
          <a:prstGeom prst="rect">
            <a:avLst/>
          </a:prstGeom>
          <a:noFill/>
        </p:spPr>
        <p:txBody>
          <a:bodyPr wrap="square" lIns="0" rIns="0" tIns="0" bIns="0">
            <a:spAutoFit/>
          </a:bodyPr>
          <a:lstStyle/>
          <a:p>
            <a:pPr algn="l">
              <a:lnSpc>
                <a:spcPct val="140000"/>
              </a:lnSpc>
            </a:pPr>
            <a:r>
              <a:rPr sz="1950">
                <a:solidFill>
                  <a:srgbClr val="F4EAD8"/>
                </a:solidFill>
                <a:latin typeface="TT Commons Pro Bold"/>
              </a:rPr>
              <a:t>$0.20 per share.</a:t>
            </a:r>
          </a:p>
          <a:p>
            <a:pPr algn="l">
              <a:lnSpc>
                <a:spcPct val="140000"/>
              </a:lnSpc>
            </a:pPr>
            <a:r>
              <a:rPr sz="1575">
                <a:solidFill>
                  <a:srgbClr val="F2ECDD"/>
                </a:solidFill>
                <a:latin typeface="TT Commons Pro"/>
              </a:rPr>
              <a:t>Steward Pool = 33% of after-tax retained profit, pro-rata, from the first profitable year.</a:t>
            </a:r>
          </a:p>
        </p:txBody>
      </p:sp>
      <p:sp>
        <p:nvSpPr>
          <p:cNvPr id="13" name="TextBox 12"/>
          <p:cNvSpPr txBox="1"/>
          <p:nvPr/>
        </p:nvSpPr>
        <p:spPr>
          <a:xfrm>
            <a:off x="822959" y="5897879"/>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USE OF FUNDS</a:t>
            </a:r>
          </a:p>
        </p:txBody>
      </p:sp>
      <p:sp>
        <p:nvSpPr>
          <p:cNvPr id="14" name="Rounded Rectangle 13"/>
          <p:cNvSpPr/>
          <p:nvPr/>
        </p:nvSpPr>
        <p:spPr>
          <a:xfrm>
            <a:off x="822959" y="6377940"/>
            <a:ext cx="1997049"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6679692"/>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Live-money cutover + payment operations</a:t>
            </a:r>
          </a:p>
        </p:txBody>
      </p:sp>
      <p:sp>
        <p:nvSpPr>
          <p:cNvPr id="16" name="Rounded Rectangle 15"/>
          <p:cNvSpPr/>
          <p:nvPr/>
        </p:nvSpPr>
        <p:spPr>
          <a:xfrm>
            <a:off x="822959" y="7091172"/>
            <a:ext cx="2304288"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7392923"/>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Core team compensation + engineering</a:t>
            </a:r>
          </a:p>
        </p:txBody>
      </p:sp>
      <p:sp>
        <p:nvSpPr>
          <p:cNvPr id="18" name="Rounded Rectangle 17"/>
          <p:cNvSpPr/>
          <p:nvPr/>
        </p:nvSpPr>
        <p:spPr>
          <a:xfrm>
            <a:off x="822959" y="7804404"/>
            <a:ext cx="1536191"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8106155"/>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Community growth + chapter onboarding</a:t>
            </a:r>
          </a:p>
        </p:txBody>
      </p:sp>
      <p:sp>
        <p:nvSpPr>
          <p:cNvPr id="20" name="Rounded Rectangle 19"/>
          <p:cNvSpPr/>
          <p:nvPr/>
        </p:nvSpPr>
        <p:spPr>
          <a:xfrm>
            <a:off x="822959" y="8517635"/>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8819387"/>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Legal, compliance + co-op formation</a:t>
            </a:r>
          </a:p>
        </p:txBody>
      </p:sp>
      <p:sp>
        <p:nvSpPr>
          <p:cNvPr id="22" name="Rounded Rectangle 21"/>
          <p:cNvSpPr/>
          <p:nvPr/>
        </p:nvSpPr>
        <p:spPr>
          <a:xfrm>
            <a:off x="822959" y="9230867"/>
            <a:ext cx="921715" cy="274320"/>
          </a:xfrm>
          <a:prstGeom prst="roundRect">
            <a:avLst>
              <a:gd name="adj" fmla="val 18000"/>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9532619"/>
            <a:ext cx="8229600" cy="384048"/>
          </a:xfrm>
          <a:prstGeom prst="rect">
            <a:avLst/>
          </a:prstGeom>
          <a:noFill/>
        </p:spPr>
        <p:txBody>
          <a:bodyPr wrap="none" lIns="0" rIns="0" tIns="0" bIns="0">
            <a:spAutoFit/>
          </a:bodyPr>
          <a:lstStyle/>
          <a:p>
            <a:pPr algn="l">
              <a:lnSpc>
                <a:spcPct val="115000"/>
              </a:lnSpc>
            </a:pPr>
            <a:r>
              <a:rPr sz="1500">
                <a:solidFill>
                  <a:srgbClr val="F2ECDD"/>
                </a:solidFill>
                <a:latin typeface="TT Commons Pro"/>
              </a:rPr>
              <a:t>Infrastructure + AI</a:t>
            </a:r>
          </a:p>
        </p:txBody>
      </p:sp>
      <p:sp>
        <p:nvSpPr>
          <p:cNvPr id="24" name="Rounded Rectangle 23"/>
          <p:cNvSpPr/>
          <p:nvPr/>
        </p:nvSpPr>
        <p:spPr>
          <a:xfrm>
            <a:off x="9395459" y="6240779"/>
            <a:ext cx="8092440" cy="2743200"/>
          </a:xfrm>
          <a:prstGeom prst="roundRect">
            <a:avLst>
              <a:gd name="adj" fmla="val 6000"/>
            </a:avLst>
          </a:prstGeom>
          <a:solidFill>
            <a:srgbClr val="0D3E40"/>
          </a:solidFill>
          <a:ln w="1905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6940" y="6515100"/>
            <a:ext cx="740664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THE RETURN, MODELED</a:t>
            </a:r>
          </a:p>
        </p:txBody>
      </p:sp>
      <p:sp>
        <p:nvSpPr>
          <p:cNvPr id="26" name="TextBox 25"/>
          <p:cNvSpPr txBox="1"/>
          <p:nvPr/>
        </p:nvSpPr>
        <p:spPr>
          <a:xfrm>
            <a:off x="9806940" y="6967728"/>
            <a:ext cx="7269479" cy="1783080"/>
          </a:xfrm>
          <a:prstGeom prst="rect">
            <a:avLst/>
          </a:prstGeom>
          <a:noFill/>
        </p:spPr>
        <p:txBody>
          <a:bodyPr wrap="square" lIns="0" rIns="0" tIns="0" bIns="0">
            <a:spAutoFit/>
          </a:bodyPr>
          <a:lstStyle/>
          <a:p>
            <a:pPr algn="l">
              <a:lnSpc>
                <a:spcPct val="140000"/>
              </a:lnSpc>
            </a:pPr>
            <a:r>
              <a:rPr sz="1575">
                <a:solidFill>
                  <a:srgbClr val="F2ECDD"/>
                </a:solidFill>
                <a:latin typeface="TT Commons Pro"/>
              </a:rPr>
              <a:t>CONSERVATIVE — slower adoption, later profitability</a:t>
            </a:r>
          </a:p>
          <a:p>
            <a:pPr algn="l">
              <a:lnSpc>
                <a:spcPct val="140000"/>
              </a:lnSpc>
            </a:pPr>
            <a:r>
              <a:rPr sz="1575">
                <a:solidFill>
                  <a:srgbClr val="F2ECDD"/>
                </a:solidFill>
                <a:latin typeface="TT Commons Pro"/>
              </a:rPr>
              <a:t>BASE — the final model: 300 → 768,000 paying users</a:t>
            </a:r>
          </a:p>
          <a:p>
            <a:pPr algn="l">
              <a:lnSpc>
                <a:spcPct val="140000"/>
              </a:lnSpc>
            </a:pPr>
            <a:r>
              <a:rPr sz="1575">
                <a:solidFill>
                  <a:srgbClr val="F2ECDD"/>
                </a:solidFill>
                <a:latin typeface="TT Commons Pro"/>
              </a:rPr>
              <a:t>GROWTH — faster city replication + chapter compounding</a:t>
            </a:r>
          </a:p>
          <a:p>
            <a:pPr algn="l">
              <a:lnSpc>
                <a:spcPct val="140000"/>
              </a:lnSpc>
            </a:pPr>
            <a:r>
              <a:rPr sz="600" spc="150">
                <a:solidFill>
                  <a:srgbClr val="AFC4C2"/>
                </a:solidFill>
                <a:latin typeface="TT Commons Pro"/>
              </a:rPr>
              <a:t/>
            </a:r>
          </a:p>
          <a:p>
            <a:pPr algn="l">
              <a:lnSpc>
                <a:spcPct val="140000"/>
              </a:lnSpc>
            </a:pPr>
            <a:r>
              <a:rPr sz="1725" spc="20">
                <a:solidFill>
                  <a:srgbClr val="EBCF9E"/>
                </a:solidFill>
                <a:latin typeface="Alike Italics"/>
              </a:rPr>
              <a:t>Assumptions visible. Projections — not promises.</a:t>
            </a:r>
          </a:p>
        </p:txBody>
      </p:sp>
      <p:sp>
        <p:nvSpPr>
          <p:cNvPr id="27" name="TextBox 26"/>
          <p:cNvSpPr txBox="1"/>
          <p:nvPr/>
        </p:nvSpPr>
        <p:spPr>
          <a:xfrm>
            <a:off x="822959" y="9628632"/>
            <a:ext cx="16596359" cy="384048"/>
          </a:xfrm>
          <a:prstGeom prst="rect">
            <a:avLst/>
          </a:prstGeom>
          <a:noFill/>
        </p:spPr>
        <p:txBody>
          <a:bodyPr wrap="square" lIns="0" rIns="0" tIns="0" bIns="0">
            <a:spAutoFit/>
          </a:bodyPr>
          <a:lstStyle/>
          <a:p>
            <a:pPr algn="ctr">
              <a:lnSpc>
                <a:spcPct val="115000"/>
              </a:lnSpc>
            </a:pPr>
            <a:r>
              <a:rPr sz="1350" spc="150">
                <a:solidFill>
                  <a:srgbClr val="AFC4C2"/>
                </a:solidFill>
                <a:latin typeface="TT Commons Pro"/>
              </a:rPr>
              <a:t>Informational only. Not an offer to sell securities. See governing documents for binding terms.</a:t>
            </a:r>
          </a:p>
        </p:txBody>
      </p:sp>
      <p:pic>
        <p:nvPicPr>
          <p:cNvPr id="28" name="Picture 27" descr="rivr-symbol-light.png"/>
          <p:cNvPicPr>
            <a:picLocks noChangeAspect="1"/>
          </p:cNvPicPr>
          <p:nvPr/>
        </p:nvPicPr>
        <p:blipFill>
          <a:blip r:embed="rId3"/>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ivr-symbol-light.png"/>
          <p:cNvPicPr>
            <a:picLocks noChangeAspect="1"/>
          </p:cNvPicPr>
          <p:nvPr/>
        </p:nvPicPr>
        <p:blipFill>
          <a:blip r:embed="rId4"/>
          <a:stretch>
            <a:fillRect/>
          </a:stretch>
        </p:blipFill>
        <p:spPr>
          <a:xfrm>
            <a:off x="576072" y="9518904"/>
            <a:ext cx="521208" cy="521208"/>
          </a:xfrm>
          <a:prstGeom prst="rect">
            <a:avLst/>
          </a:prstGeom>
        </p:spPr>
      </p:pic>
      <p:sp>
        <p:nvSpPr>
          <p:cNvPr id="13" name="TextBox 12"/>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4" name="TextBox 13"/>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2" y="4663440"/>
            <a:ext cx="537667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ft.png"/>
          <p:cNvPicPr>
            <a:picLocks noChangeAspect="1"/>
          </p:cNvPicPr>
          <p:nvPr/>
        </p:nvPicPr>
        <p:blipFill>
          <a:blip r:embed="rId4"/>
          <a:stretch>
            <a:fillRect/>
          </a:stretch>
        </p:blipFill>
        <p:spPr>
          <a:xfrm>
            <a:off x="6844283" y="5033772"/>
            <a:ext cx="411479" cy="411479"/>
          </a:xfrm>
          <a:prstGeom prst="rect">
            <a:avLst/>
          </a:prstGeom>
        </p:spPr>
      </p:pic>
      <p:sp>
        <p:nvSpPr>
          <p:cNvPr id="14" name="TextBox 13"/>
          <p:cNvSpPr txBox="1"/>
          <p:nvPr/>
        </p:nvSpPr>
        <p:spPr>
          <a:xfrm>
            <a:off x="7598664"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2 · EARN</a:t>
            </a:r>
          </a:p>
        </p:txBody>
      </p:sp>
      <p:sp>
        <p:nvSpPr>
          <p:cNvPr id="15" name="TextBox 14"/>
          <p:cNvSpPr txBox="1"/>
          <p:nvPr/>
        </p:nvSpPr>
        <p:spPr>
          <a:xfrm>
            <a:off x="6885431"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A pro-rata share of the Steward Pool: 33% of after-tax retained profit. 20% cash per Subchapter T; 80% into your member capital account.</a:t>
            </a:r>
          </a:p>
        </p:txBody>
      </p:sp>
      <p:sp>
        <p:nvSpPr>
          <p:cNvPr id="16" name="Right Arrow 15"/>
          <p:cNvSpPr/>
          <p:nvPr/>
        </p:nvSpPr>
        <p:spPr>
          <a:xfrm>
            <a:off x="11905488"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ivr-symbol-light.png"/>
          <p:cNvPicPr>
            <a:picLocks noChangeAspect="1"/>
          </p:cNvPicPr>
          <p:nvPr/>
        </p:nvPicPr>
        <p:blipFill>
          <a:blip r:embed="rId5"/>
          <a:stretch>
            <a:fillRect/>
          </a:stretch>
        </p:blipFill>
        <p:spPr>
          <a:xfrm>
            <a:off x="576072" y="9518904"/>
            <a:ext cx="521208" cy="521208"/>
          </a:xfrm>
          <a:prstGeom prst="rect">
            <a:avLst/>
          </a:prstGeom>
        </p:spPr>
      </p:pic>
      <p:sp>
        <p:nvSpPr>
          <p:cNvPr id="18" name="TextBox 17"/>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19" name="TextBox 18"/>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c2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THE LEGACY YOU LEAVE</a:t>
            </a:r>
          </a:p>
        </p:txBody>
      </p:sp>
      <p:sp>
        <p:nvSpPr>
          <p:cNvPr id="4" name="TextBox 3"/>
          <p:cNvSpPr txBox="1"/>
          <p:nvPr/>
        </p:nvSpPr>
        <p:spPr>
          <a:xfrm>
            <a:off x="822959" y="1645919"/>
            <a:ext cx="11282124"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Rivr does not sell the company.</a:t>
            </a:r>
          </a:p>
        </p:txBody>
      </p:sp>
      <p:sp>
        <p:nvSpPr>
          <p:cNvPr id="5" name="TextBox 4"/>
          <p:cNvSpPr txBox="1"/>
          <p:nvPr/>
        </p:nvSpPr>
        <p:spPr>
          <a:xfrm>
            <a:off x="822959" y="2575236"/>
            <a:ext cx="5917326" cy="921210"/>
          </a:xfrm>
          <a:prstGeom prst="rect">
            <a:avLst/>
          </a:prstGeom>
          <a:noFill/>
        </p:spPr>
        <p:txBody>
          <a:bodyPr wrap="none" lIns="0" rIns="0" tIns="0" bIns="0">
            <a:spAutoFit/>
          </a:bodyPr>
          <a:lstStyle/>
          <a:p>
            <a:pPr algn="l">
              <a:lnSpc>
                <a:spcPct val="115000"/>
              </a:lnSpc>
            </a:pPr>
            <a:r>
              <a:rPr sz="5002" spc="-68">
                <a:solidFill>
                  <a:srgbClr val="F4EAD8"/>
                </a:solidFill>
                <a:latin typeface="TT Commons Pro Bold"/>
              </a:rPr>
              <a:t>The community </a:t>
            </a:r>
          </a:p>
        </p:txBody>
      </p:sp>
      <p:sp>
        <p:nvSpPr>
          <p:cNvPr id="6" name="TextBox 5"/>
          <p:cNvSpPr txBox="1"/>
          <p:nvPr/>
        </p:nvSpPr>
        <p:spPr>
          <a:xfrm>
            <a:off x="5392229" y="2522658"/>
            <a:ext cx="4515802" cy="1016507"/>
          </a:xfrm>
          <a:prstGeom prst="rect">
            <a:avLst/>
          </a:prstGeom>
          <a:noFill/>
        </p:spPr>
        <p:txBody>
          <a:bodyPr wrap="none" lIns="0" rIns="0" tIns="0" bIns="0">
            <a:spAutoFit/>
          </a:bodyPr>
          <a:lstStyle/>
          <a:p>
            <a:pPr algn="l">
              <a:lnSpc>
                <a:spcPct val="115000"/>
              </a:lnSpc>
            </a:pPr>
            <a:r>
              <a:rPr sz="5520" spc="-75">
                <a:solidFill>
                  <a:srgbClr val="EBCF9E"/>
                </a:solidFill>
                <a:latin typeface="Ibarra Real Nova Italics"/>
              </a:rPr>
              <a:t>buys it back.</a:t>
            </a:r>
          </a:p>
        </p:txBody>
      </p:sp>
      <p:sp>
        <p:nvSpPr>
          <p:cNvPr id="7" name="Rounded Rectangle 6"/>
          <p:cNvSpPr/>
          <p:nvPr/>
        </p:nvSpPr>
        <p:spPr>
          <a:xfrm>
            <a:off x="822959" y="4663440"/>
            <a:ext cx="5376672" cy="3154679"/>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193292" y="5033772"/>
            <a:ext cx="411479" cy="411479"/>
          </a:xfrm>
          <a:prstGeom prst="rect">
            <a:avLst/>
          </a:prstGeom>
        </p:spPr>
      </p:pic>
      <p:sp>
        <p:nvSpPr>
          <p:cNvPr id="9" name="TextBox 8"/>
          <p:cNvSpPr txBox="1"/>
          <p:nvPr/>
        </p:nvSpPr>
        <p:spPr>
          <a:xfrm>
            <a:off x="1947672"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1 · INVEST</a:t>
            </a:r>
          </a:p>
        </p:txBody>
      </p:sp>
      <p:sp>
        <p:nvSpPr>
          <p:cNvPr id="10" name="TextBox 9"/>
          <p:cNvSpPr txBox="1"/>
          <p:nvPr/>
        </p:nvSpPr>
        <p:spPr>
          <a:xfrm>
            <a:off x="1234439"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Colorado residents buy Class R directly (147A). Accredited investors sign the Cooperative SAFE — $4M cap, 20% discount — converting to Class D.</a:t>
            </a:r>
          </a:p>
        </p:txBody>
      </p:sp>
      <p:sp>
        <p:nvSpPr>
          <p:cNvPr id="11" name="Right Arrow 10"/>
          <p:cNvSpPr/>
          <p:nvPr/>
        </p:nvSpPr>
        <p:spPr>
          <a:xfrm>
            <a:off x="6254496"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2" y="4663440"/>
            <a:ext cx="5376672" cy="3154679"/>
          </a:xfrm>
          <a:prstGeom prst="roundRect">
            <a:avLst>
              <a:gd name="adj" fmla="val 6000"/>
            </a:avLst>
          </a:prstGeom>
          <a:solidFill>
            <a:srgbClr val="062A2C"/>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ft.png"/>
          <p:cNvPicPr>
            <a:picLocks noChangeAspect="1"/>
          </p:cNvPicPr>
          <p:nvPr/>
        </p:nvPicPr>
        <p:blipFill>
          <a:blip r:embed="rId4"/>
          <a:stretch>
            <a:fillRect/>
          </a:stretch>
        </p:blipFill>
        <p:spPr>
          <a:xfrm>
            <a:off x="6844283" y="5033772"/>
            <a:ext cx="411479" cy="411479"/>
          </a:xfrm>
          <a:prstGeom prst="rect">
            <a:avLst/>
          </a:prstGeom>
        </p:spPr>
      </p:pic>
      <p:sp>
        <p:nvSpPr>
          <p:cNvPr id="14" name="TextBox 13"/>
          <p:cNvSpPr txBox="1"/>
          <p:nvPr/>
        </p:nvSpPr>
        <p:spPr>
          <a:xfrm>
            <a:off x="7598664" y="5047488"/>
            <a:ext cx="4114800" cy="411479"/>
          </a:xfrm>
          <a:prstGeom prst="rect">
            <a:avLst/>
          </a:prstGeom>
          <a:noFill/>
        </p:spPr>
        <p:txBody>
          <a:bodyPr wrap="none" lIns="0" rIns="0" tIns="0" bIns="0">
            <a:spAutoFit/>
          </a:bodyPr>
          <a:lstStyle/>
          <a:p>
            <a:pPr algn="l">
              <a:lnSpc>
                <a:spcPct val="115000"/>
              </a:lnSpc>
            </a:pPr>
            <a:r>
              <a:rPr sz="1575" spc="330">
                <a:solidFill>
                  <a:srgbClr val="9FE8DC"/>
                </a:solidFill>
                <a:latin typeface="TT Commons Pro"/>
              </a:rPr>
              <a:t>2 · EARN</a:t>
            </a:r>
          </a:p>
        </p:txBody>
      </p:sp>
      <p:sp>
        <p:nvSpPr>
          <p:cNvPr id="15" name="TextBox 14"/>
          <p:cNvSpPr txBox="1"/>
          <p:nvPr/>
        </p:nvSpPr>
        <p:spPr>
          <a:xfrm>
            <a:off x="6885431"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A pro-rata share of the Steward Pool: 33% of after-tax retained profit. 20% cash per Subchapter T; 80% into your member capital account.</a:t>
            </a:r>
          </a:p>
        </p:txBody>
      </p:sp>
      <p:sp>
        <p:nvSpPr>
          <p:cNvPr id="16" name="Right Arrow 15"/>
          <p:cNvSpPr/>
          <p:nvPr/>
        </p:nvSpPr>
        <p:spPr>
          <a:xfrm>
            <a:off x="11905488" y="6103620"/>
            <a:ext cx="164592" cy="219456"/>
          </a:xfrm>
          <a:prstGeom prst="rightArrow">
            <a:avLst/>
          </a:prstGeom>
          <a:solidFill>
            <a:srgbClr val="F0CC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124944" y="4663440"/>
            <a:ext cx="5376672" cy="3154679"/>
          </a:xfrm>
          <a:prstGeom prst="roundRect">
            <a:avLst>
              <a:gd name="adj" fmla="val 6000"/>
            </a:avLst>
          </a:prstGeom>
          <a:solidFill>
            <a:srgbClr val="0D3E40"/>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verify.png"/>
          <p:cNvPicPr>
            <a:picLocks noChangeAspect="1"/>
          </p:cNvPicPr>
          <p:nvPr/>
        </p:nvPicPr>
        <p:blipFill>
          <a:blip r:embed="rId5"/>
          <a:stretch>
            <a:fillRect/>
          </a:stretch>
        </p:blipFill>
        <p:spPr>
          <a:xfrm>
            <a:off x="12495276" y="5033772"/>
            <a:ext cx="411479" cy="411479"/>
          </a:xfrm>
          <a:prstGeom prst="rect">
            <a:avLst/>
          </a:prstGeom>
        </p:spPr>
      </p:pic>
      <p:sp>
        <p:nvSpPr>
          <p:cNvPr id="19" name="TextBox 18"/>
          <p:cNvSpPr txBox="1"/>
          <p:nvPr/>
        </p:nvSpPr>
        <p:spPr>
          <a:xfrm>
            <a:off x="13249656" y="5047488"/>
            <a:ext cx="4114800" cy="411479"/>
          </a:xfrm>
          <a:prstGeom prst="rect">
            <a:avLst/>
          </a:prstGeom>
          <a:noFill/>
        </p:spPr>
        <p:txBody>
          <a:bodyPr wrap="none" lIns="0" rIns="0" tIns="0" bIns="0">
            <a:spAutoFit/>
          </a:bodyPr>
          <a:lstStyle/>
          <a:p>
            <a:pPr algn="l">
              <a:lnSpc>
                <a:spcPct val="115000"/>
              </a:lnSpc>
            </a:pPr>
            <a:r>
              <a:rPr sz="1575" spc="330">
                <a:solidFill>
                  <a:srgbClr val="EBCF9E"/>
                </a:solidFill>
                <a:latin typeface="TT Commons Pro"/>
              </a:rPr>
              <a:t>3 · REDEEM</a:t>
            </a:r>
          </a:p>
        </p:txBody>
      </p:sp>
      <p:sp>
        <p:nvSpPr>
          <p:cNvPr id="20" name="TextBox 19"/>
          <p:cNvSpPr txBox="1"/>
          <p:nvPr/>
        </p:nvSpPr>
        <p:spPr>
          <a:xfrm>
            <a:off x="12536424" y="5788152"/>
            <a:ext cx="4594860" cy="1851660"/>
          </a:xfrm>
          <a:prstGeom prst="rect">
            <a:avLst/>
          </a:prstGeom>
          <a:noFill/>
        </p:spPr>
        <p:txBody>
          <a:bodyPr wrap="square" lIns="0" rIns="0" tIns="0" bIns="0">
            <a:spAutoFit/>
          </a:bodyPr>
          <a:lstStyle/>
          <a:p>
            <a:pPr algn="l">
              <a:lnSpc>
                <a:spcPct val="145000"/>
              </a:lnSpc>
            </a:pPr>
            <a:r>
              <a:rPr sz="1575">
                <a:solidFill>
                  <a:srgbClr val="F2ECDD"/>
                </a:solidFill>
                <a:latin typeface="TT Commons Pro"/>
              </a:rPr>
              <a:t>The Cooperative repurchases Steward Shares over time at the governing-documents premium — returning Rivr toward full community ownership.</a:t>
            </a:r>
          </a:p>
        </p:txBody>
      </p:sp>
      <p:sp>
        <p:nvSpPr>
          <p:cNvPr id="21" name="Rounded Rectangle 20"/>
          <p:cNvSpPr/>
          <p:nvPr/>
        </p:nvSpPr>
        <p:spPr>
          <a:xfrm>
            <a:off x="822959" y="8161020"/>
            <a:ext cx="16664940" cy="987552"/>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8421624"/>
            <a:ext cx="15910559" cy="493776"/>
          </a:xfrm>
          <a:prstGeom prst="rect">
            <a:avLst/>
          </a:prstGeom>
          <a:noFill/>
        </p:spPr>
        <p:txBody>
          <a:bodyPr wrap="square" lIns="0" rIns="0" tIns="0" bIns="0">
            <a:spAutoFit/>
          </a:bodyPr>
          <a:lstStyle/>
          <a:p>
            <a:pPr algn="ctr">
              <a:lnSpc>
                <a:spcPct val="115000"/>
              </a:lnSpc>
            </a:pPr>
            <a:r>
              <a:rPr sz="1800">
                <a:solidFill>
                  <a:srgbClr val="F2ECDD"/>
                </a:solidFill>
                <a:latin typeface="TT Commons Pro"/>
              </a:rPr>
              <a:t>Patron-first economics and one-member-one-vote survive every round — </a:t>
            </a:r>
            <a:r>
              <a:rPr sz="1800">
                <a:solidFill>
                  <a:srgbClr val="EBCF9E"/>
                </a:solidFill>
                <a:latin typeface="TT Commons Pro Bold"/>
              </a:rPr>
              <a:t>the anti-enclosure design.</a:t>
            </a:r>
          </a:p>
        </p:txBody>
      </p:sp>
      <p:sp>
        <p:nvSpPr>
          <p:cNvPr id="23" name="TextBox 22"/>
          <p:cNvSpPr txBox="1"/>
          <p:nvPr/>
        </p:nvSpPr>
        <p:spPr>
          <a:xfrm>
            <a:off x="822959" y="9532620"/>
            <a:ext cx="16596359" cy="1097280"/>
          </a:xfrm>
          <a:prstGeom prst="rect">
            <a:avLst/>
          </a:prstGeom>
          <a:noFill/>
        </p:spPr>
        <p:txBody>
          <a:bodyPr wrap="square" lIns="0" rIns="0" tIns="0" bIns="0">
            <a:spAutoFit/>
          </a:bodyPr>
          <a:lstStyle/>
          <a:p>
            <a:pPr algn="ctr">
              <a:lnSpc>
                <a:spcPct val="140000"/>
              </a:lnSpc>
            </a:pPr>
            <a:r>
              <a:rPr sz="2100" spc="20">
                <a:solidFill>
                  <a:srgbClr val="9FE8DC"/>
                </a:solidFill>
                <a:latin typeface="Alike Italics"/>
              </a:rPr>
              <a:t>A regenerative exit instead of an extraction.</a:t>
            </a:r>
          </a:p>
        </p:txBody>
      </p:sp>
      <p:pic>
        <p:nvPicPr>
          <p:cNvPr id="24" name="Picture 23" descr="rivr-symbol-light.png"/>
          <p:cNvPicPr>
            <a:picLocks noChangeAspect="1"/>
          </p:cNvPicPr>
          <p:nvPr/>
        </p:nvPicPr>
        <p:blipFill>
          <a:blip r:embed="rId6"/>
          <a:stretch>
            <a:fillRect/>
          </a:stretch>
        </p:blipFill>
        <p:spPr>
          <a:xfrm>
            <a:off x="576072" y="9518904"/>
            <a:ext cx="521208" cy="521208"/>
          </a:xfrm>
          <a:prstGeom prst="rect">
            <a:avLst/>
          </a:prstGeom>
        </p:spPr>
      </p:pic>
      <p:sp>
        <p:nvSpPr>
          <p:cNvPr id="25" name="TextBox 2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6" name="TextBox 2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pic>
        <p:nvPicPr>
          <p:cNvPr id="25" name="Picture 24"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6" name="TextBox 25"/>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27" name="TextBox 26"/>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pic>
        <p:nvPicPr>
          <p:cNvPr id="28" name="Picture 27"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29" name="TextBox 28"/>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0" name="TextBox 29"/>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sp>
        <p:nvSpPr>
          <p:cNvPr id="28" name="Rounded Rectangle 27"/>
          <p:cNvSpPr/>
          <p:nvPr/>
        </p:nvSpPr>
        <p:spPr>
          <a:xfrm>
            <a:off x="9395459" y="6035040"/>
            <a:ext cx="8092440" cy="14401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6940" y="6281928"/>
            <a:ext cx="740664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HOW TO PARTICIPATE</a:t>
            </a:r>
          </a:p>
        </p:txBody>
      </p:sp>
      <p:sp>
        <p:nvSpPr>
          <p:cNvPr id="30" name="TextBox 29"/>
          <p:cNvSpPr txBox="1"/>
          <p:nvPr/>
        </p:nvSpPr>
        <p:spPr>
          <a:xfrm>
            <a:off x="9806940" y="6693408"/>
            <a:ext cx="7269479"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The Cooperative SAFE + Investor Questionnaire are attached.</a:t>
            </a:r>
          </a:p>
          <a:p>
            <a:pPr algn="l">
              <a:lnSpc>
                <a:spcPct val="135000"/>
              </a:lnSpc>
            </a:pPr>
            <a:r>
              <a:rPr sz="1575">
                <a:solidFill>
                  <a:srgbClr val="F2ECDD"/>
                </a:solidFill>
                <a:latin typeface="TT Commons Pro"/>
              </a:rPr>
              <a:t>Or simply use it, share it, and tell us what breaks.</a:t>
            </a:r>
          </a:p>
        </p:txBody>
      </p:sp>
      <p:pic>
        <p:nvPicPr>
          <p:cNvPr id="31" name="Picture 30"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32" name="TextBox 31"/>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3" name="TextBox 32"/>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p02.jpg"/>
          <p:cNvPicPr>
            <a:picLocks noChangeAspect="1"/>
          </p:cNvPicPr>
          <p:nvPr/>
        </p:nvPicPr>
        <p:blipFill>
          <a:blip r:embed="rId2"/>
          <a:stretch>
            <a:fillRect/>
          </a:stretch>
        </p:blipFill>
        <p:spPr>
          <a:xfrm>
            <a:off x="0" y="0"/>
            <a:ext cx="18287542" cy="10287000"/>
          </a:xfrm>
          <a:prstGeom prst="rect">
            <a:avLst/>
          </a:prstGeom>
        </p:spPr>
      </p:pic>
      <p:sp>
        <p:nvSpPr>
          <p:cNvPr id="3" name="TextBox 2"/>
          <p:cNvSpPr txBox="1"/>
          <p:nvPr/>
        </p:nvSpPr>
        <p:spPr>
          <a:xfrm>
            <a:off x="822959" y="822959"/>
            <a:ext cx="16733519" cy="384048"/>
          </a:xfrm>
          <a:prstGeom prst="rect">
            <a:avLst/>
          </a:prstGeom>
          <a:noFill/>
        </p:spPr>
        <p:txBody>
          <a:bodyPr wrap="none" lIns="0" rIns="0" tIns="0" bIns="0">
            <a:spAutoFit/>
          </a:bodyPr>
          <a:lstStyle/>
          <a:p>
            <a:pPr algn="l">
              <a:lnSpc>
                <a:spcPct val="115000"/>
              </a:lnSpc>
            </a:pPr>
            <a:r>
              <a:rPr sz="1650" spc="330">
                <a:solidFill>
                  <a:srgbClr val="9FE8DC"/>
                </a:solidFill>
                <a:latin typeface="TT Commons Pro"/>
              </a:rPr>
              <a:t>OUTCOMES · FOR MORE INFO</a:t>
            </a:r>
          </a:p>
        </p:txBody>
      </p:sp>
      <p:sp>
        <p:nvSpPr>
          <p:cNvPr id="4" name="TextBox 3"/>
          <p:cNvSpPr txBox="1"/>
          <p:nvPr/>
        </p:nvSpPr>
        <p:spPr>
          <a:xfrm>
            <a:off x="822959" y="1699869"/>
            <a:ext cx="10898663" cy="912647"/>
          </a:xfrm>
          <a:prstGeom prst="rect">
            <a:avLst/>
          </a:prstGeom>
          <a:noFill/>
        </p:spPr>
        <p:txBody>
          <a:bodyPr wrap="none" lIns="0" rIns="0" tIns="0" bIns="0">
            <a:spAutoFit/>
          </a:bodyPr>
          <a:lstStyle/>
          <a:p>
            <a:pPr algn="l">
              <a:lnSpc>
                <a:spcPct val="115000"/>
              </a:lnSpc>
            </a:pPr>
            <a:r>
              <a:rPr sz="4956" spc="-67">
                <a:solidFill>
                  <a:srgbClr val="F4EAD8"/>
                </a:solidFill>
                <a:latin typeface="TT Commons Pro Bold"/>
              </a:rPr>
              <a:t>The best way to know the Rivr </a:t>
            </a:r>
          </a:p>
        </p:txBody>
      </p:sp>
      <p:sp>
        <p:nvSpPr>
          <p:cNvPr id="5" name="TextBox 4"/>
          <p:cNvSpPr txBox="1"/>
          <p:nvPr/>
        </p:nvSpPr>
        <p:spPr>
          <a:xfrm>
            <a:off x="9377299" y="1645919"/>
            <a:ext cx="4617005" cy="1010431"/>
          </a:xfrm>
          <a:prstGeom prst="rect">
            <a:avLst/>
          </a:prstGeom>
          <a:noFill/>
        </p:spPr>
        <p:txBody>
          <a:bodyPr wrap="none" lIns="0" rIns="0" tIns="0" bIns="0">
            <a:spAutoFit/>
          </a:bodyPr>
          <a:lstStyle/>
          <a:p>
            <a:pPr algn="l">
              <a:lnSpc>
                <a:spcPct val="115000"/>
              </a:lnSpc>
            </a:pPr>
            <a:r>
              <a:rPr sz="5487" spc="-75">
                <a:solidFill>
                  <a:srgbClr val="EBCF9E"/>
                </a:solidFill>
                <a:latin typeface="Ibarra Real Nova Italics"/>
              </a:rPr>
              <a:t>is to get in it.</a:t>
            </a:r>
          </a:p>
        </p:txBody>
      </p:sp>
      <p:sp>
        <p:nvSpPr>
          <p:cNvPr id="6" name="TextBox 5"/>
          <p:cNvSpPr txBox="1"/>
          <p:nvPr/>
        </p:nvSpPr>
        <p:spPr>
          <a:xfrm>
            <a:off x="822959" y="3429000"/>
            <a:ext cx="8229600" cy="384048"/>
          </a:xfrm>
          <a:prstGeom prst="rect">
            <a:avLst/>
          </a:prstGeom>
          <a:noFill/>
        </p:spPr>
        <p:txBody>
          <a:bodyPr wrap="none" lIns="0" rIns="0" tIns="0" bIns="0">
            <a:spAutoFit/>
          </a:bodyPr>
          <a:lstStyle/>
          <a:p>
            <a:pPr algn="l">
              <a:lnSpc>
                <a:spcPct val="115000"/>
              </a:lnSpc>
            </a:pPr>
            <a:r>
              <a:rPr sz="1425" spc="330">
                <a:solidFill>
                  <a:srgbClr val="9FE8DC"/>
                </a:solidFill>
                <a:latin typeface="TT Commons Pro"/>
              </a:rPr>
              <a:t>PUBLIC BENEFITS, CODIFIED — OBLIGATIONS IN OUR ARTICLES</a:t>
            </a:r>
          </a:p>
        </p:txBody>
      </p:sp>
      <p:sp>
        <p:nvSpPr>
          <p:cNvPr id="7" name="Rounded Rectangle 6"/>
          <p:cNvSpPr/>
          <p:nvPr/>
        </p:nvSpPr>
        <p:spPr>
          <a:xfrm>
            <a:off x="822959"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ney.png"/>
          <p:cNvPicPr>
            <a:picLocks noChangeAspect="1"/>
          </p:cNvPicPr>
          <p:nvPr/>
        </p:nvPicPr>
        <p:blipFill>
          <a:blip r:embed="rId3"/>
          <a:stretch>
            <a:fillRect/>
          </a:stretch>
        </p:blipFill>
        <p:spPr>
          <a:xfrm>
            <a:off x="1097280" y="4155948"/>
            <a:ext cx="329184" cy="329184"/>
          </a:xfrm>
          <a:prstGeom prst="rect">
            <a:avLst/>
          </a:prstGeom>
        </p:spPr>
      </p:pic>
      <p:sp>
        <p:nvSpPr>
          <p:cNvPr id="9" name="TextBox 8"/>
          <p:cNvSpPr txBox="1"/>
          <p:nvPr/>
        </p:nvSpPr>
        <p:spPr>
          <a:xfrm>
            <a:off x="1673352"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ECONOMIC RESILIENCE</a:t>
            </a:r>
          </a:p>
        </p:txBody>
      </p:sp>
      <p:sp>
        <p:nvSpPr>
          <p:cNvPr id="10" name="Rounded Rectangle 9"/>
          <p:cNvSpPr/>
          <p:nvPr/>
        </p:nvSpPr>
        <p:spPr>
          <a:xfrm>
            <a:off x="6473952" y="3909060"/>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lace.png"/>
          <p:cNvPicPr>
            <a:picLocks noChangeAspect="1"/>
          </p:cNvPicPr>
          <p:nvPr/>
        </p:nvPicPr>
        <p:blipFill>
          <a:blip r:embed="rId4"/>
          <a:stretch>
            <a:fillRect/>
          </a:stretch>
        </p:blipFill>
        <p:spPr>
          <a:xfrm>
            <a:off x="6748272" y="4155948"/>
            <a:ext cx="329184" cy="329184"/>
          </a:xfrm>
          <a:prstGeom prst="rect">
            <a:avLst/>
          </a:prstGeom>
        </p:spPr>
      </p:pic>
      <p:sp>
        <p:nvSpPr>
          <p:cNvPr id="12" name="TextBox 11"/>
          <p:cNvSpPr txBox="1"/>
          <p:nvPr/>
        </p:nvSpPr>
        <p:spPr>
          <a:xfrm>
            <a:off x="7324344"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REGENERATIVE IMPACT</a:t>
            </a:r>
          </a:p>
        </p:txBody>
      </p:sp>
      <p:sp>
        <p:nvSpPr>
          <p:cNvPr id="13" name="Rounded Rectangle 12"/>
          <p:cNvSpPr/>
          <p:nvPr/>
        </p:nvSpPr>
        <p:spPr>
          <a:xfrm>
            <a:off x="12124944" y="3909060"/>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vernance.png"/>
          <p:cNvPicPr>
            <a:picLocks noChangeAspect="1"/>
          </p:cNvPicPr>
          <p:nvPr/>
        </p:nvPicPr>
        <p:blipFill>
          <a:blip r:embed="rId5"/>
          <a:stretch>
            <a:fillRect/>
          </a:stretch>
        </p:blipFill>
        <p:spPr>
          <a:xfrm>
            <a:off x="12399264" y="4155948"/>
            <a:ext cx="329184" cy="329184"/>
          </a:xfrm>
          <a:prstGeom prst="rect">
            <a:avLst/>
          </a:prstGeom>
        </p:spPr>
      </p:pic>
      <p:sp>
        <p:nvSpPr>
          <p:cNvPr id="15" name="TextBox 14"/>
          <p:cNvSpPr txBox="1"/>
          <p:nvPr/>
        </p:nvSpPr>
        <p:spPr>
          <a:xfrm>
            <a:off x="12975335" y="4128516"/>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CIVIC ENGAGEMENT</a:t>
            </a:r>
          </a:p>
        </p:txBody>
      </p:sp>
      <p:sp>
        <p:nvSpPr>
          <p:cNvPr id="16" name="Rounded Rectangle 15"/>
          <p:cNvSpPr/>
          <p:nvPr/>
        </p:nvSpPr>
        <p:spPr>
          <a:xfrm>
            <a:off x="822959"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le.png"/>
          <p:cNvPicPr>
            <a:picLocks noChangeAspect="1"/>
          </p:cNvPicPr>
          <p:nvPr/>
        </p:nvPicPr>
        <p:blipFill>
          <a:blip r:embed="rId6"/>
          <a:stretch>
            <a:fillRect/>
          </a:stretch>
        </p:blipFill>
        <p:spPr>
          <a:xfrm>
            <a:off x="1097280" y="5143500"/>
            <a:ext cx="329184" cy="329184"/>
          </a:xfrm>
          <a:prstGeom prst="rect">
            <a:avLst/>
          </a:prstGeom>
        </p:spPr>
      </p:pic>
      <p:sp>
        <p:nvSpPr>
          <p:cNvPr id="18" name="TextBox 17"/>
          <p:cNvSpPr txBox="1"/>
          <p:nvPr/>
        </p:nvSpPr>
        <p:spPr>
          <a:xfrm>
            <a:off x="1673352"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PERSONAL LIBERTY</a:t>
            </a:r>
          </a:p>
        </p:txBody>
      </p:sp>
      <p:sp>
        <p:nvSpPr>
          <p:cNvPr id="19" name="Rounded Rectangle 18"/>
          <p:cNvSpPr/>
          <p:nvPr/>
        </p:nvSpPr>
        <p:spPr>
          <a:xfrm>
            <a:off x="6473952" y="4896612"/>
            <a:ext cx="5376672" cy="822959"/>
          </a:xfrm>
          <a:prstGeom prst="roundRect">
            <a:avLst>
              <a:gd name="adj" fmla="val 16000"/>
            </a:avLst>
          </a:prstGeom>
          <a:solidFill>
            <a:srgbClr val="0D3E40"/>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re.png"/>
          <p:cNvPicPr>
            <a:picLocks noChangeAspect="1"/>
          </p:cNvPicPr>
          <p:nvPr/>
        </p:nvPicPr>
        <p:blipFill>
          <a:blip r:embed="rId7"/>
          <a:stretch>
            <a:fillRect/>
          </a:stretch>
        </p:blipFill>
        <p:spPr>
          <a:xfrm>
            <a:off x="6748272" y="5143500"/>
            <a:ext cx="329184" cy="329184"/>
          </a:xfrm>
          <a:prstGeom prst="rect">
            <a:avLst/>
          </a:prstGeom>
        </p:spPr>
      </p:pic>
      <p:sp>
        <p:nvSpPr>
          <p:cNvPr id="21" name="TextBox 20"/>
          <p:cNvSpPr txBox="1"/>
          <p:nvPr/>
        </p:nvSpPr>
        <p:spPr>
          <a:xfrm>
            <a:off x="7324344"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CULTURE + ECOLOGY</a:t>
            </a:r>
          </a:p>
        </p:txBody>
      </p:sp>
      <p:sp>
        <p:nvSpPr>
          <p:cNvPr id="22" name="Rounded Rectangle 21"/>
          <p:cNvSpPr/>
          <p:nvPr/>
        </p:nvSpPr>
        <p:spPr>
          <a:xfrm>
            <a:off x="12124944" y="4896612"/>
            <a:ext cx="5376672" cy="822959"/>
          </a:xfrm>
          <a:prstGeom prst="roundRect">
            <a:avLst>
              <a:gd name="adj" fmla="val 16000"/>
            </a:avLst>
          </a:prstGeom>
          <a:solidFill>
            <a:srgbClr val="062A2C"/>
          </a:solidFill>
          <a:ln w="1524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ing.png"/>
          <p:cNvPicPr>
            <a:picLocks noChangeAspect="1"/>
          </p:cNvPicPr>
          <p:nvPr/>
        </p:nvPicPr>
        <p:blipFill>
          <a:blip r:embed="rId8"/>
          <a:stretch>
            <a:fillRect/>
          </a:stretch>
        </p:blipFill>
        <p:spPr>
          <a:xfrm>
            <a:off x="12399264" y="5143500"/>
            <a:ext cx="329184" cy="329184"/>
          </a:xfrm>
          <a:prstGeom prst="rect">
            <a:avLst/>
          </a:prstGeom>
        </p:spPr>
      </p:pic>
      <p:sp>
        <p:nvSpPr>
          <p:cNvPr id="24" name="TextBox 23"/>
          <p:cNvSpPr txBox="1"/>
          <p:nvPr/>
        </p:nvSpPr>
        <p:spPr>
          <a:xfrm>
            <a:off x="12975335" y="5116068"/>
            <a:ext cx="4251960" cy="384048"/>
          </a:xfrm>
          <a:prstGeom prst="rect">
            <a:avLst/>
          </a:prstGeom>
          <a:noFill/>
        </p:spPr>
        <p:txBody>
          <a:bodyPr wrap="none" lIns="0" rIns="0" tIns="0" bIns="0">
            <a:spAutoFit/>
          </a:bodyPr>
          <a:lstStyle/>
          <a:p>
            <a:pPr algn="l">
              <a:lnSpc>
                <a:spcPct val="115000"/>
              </a:lnSpc>
            </a:pPr>
            <a:r>
              <a:rPr sz="1275" spc="330">
                <a:solidFill>
                  <a:srgbClr val="9FE8DC"/>
                </a:solidFill>
                <a:latin typeface="TT Commons Pro"/>
              </a:rPr>
              <a:t>THRIVING BIOREGIONS</a:t>
            </a:r>
          </a:p>
        </p:txBody>
      </p:sp>
      <p:sp>
        <p:nvSpPr>
          <p:cNvPr id="25" name="Rounded Rectangle 24"/>
          <p:cNvSpPr/>
          <p:nvPr/>
        </p:nvSpPr>
        <p:spPr>
          <a:xfrm>
            <a:off x="822959" y="6035040"/>
            <a:ext cx="8161020" cy="1440180"/>
          </a:xfrm>
          <a:prstGeom prst="roundRect">
            <a:avLst>
              <a:gd name="adj" fmla="val 6000"/>
            </a:avLst>
          </a:prstGeom>
          <a:solidFill>
            <a:srgbClr val="0D3E40"/>
          </a:solidFill>
          <a:ln w="1905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6281928"/>
            <a:ext cx="7406640" cy="384048"/>
          </a:xfrm>
          <a:prstGeom prst="rect">
            <a:avLst/>
          </a:prstGeom>
          <a:noFill/>
        </p:spPr>
        <p:txBody>
          <a:bodyPr wrap="none" lIns="0" rIns="0" tIns="0" bIns="0">
            <a:spAutoFit/>
          </a:bodyPr>
          <a:lstStyle/>
          <a:p>
            <a:pPr algn="l">
              <a:lnSpc>
                <a:spcPct val="115000"/>
              </a:lnSpc>
            </a:pPr>
            <a:r>
              <a:rPr sz="1350" spc="330">
                <a:solidFill>
                  <a:srgbClr val="9FE8DC"/>
                </a:solidFill>
                <a:latin typeface="TT Commons Pro"/>
              </a:rPr>
              <a:t>TEAM + TIMELINE</a:t>
            </a:r>
          </a:p>
        </p:txBody>
      </p:sp>
      <p:sp>
        <p:nvSpPr>
          <p:cNvPr id="27" name="TextBox 26"/>
          <p:cNvSpPr txBox="1"/>
          <p:nvPr/>
        </p:nvSpPr>
        <p:spPr>
          <a:xfrm>
            <a:off x="1234440" y="6693408"/>
            <a:ext cx="7406640"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Cameron Ely-Murdock · Kathleen Marie Rose · Grig Bilham</a:t>
            </a:r>
          </a:p>
          <a:p>
            <a:pPr algn="l">
              <a:lnSpc>
                <a:spcPct val="135000"/>
              </a:lnSpc>
            </a:pPr>
            <a:r>
              <a:rPr sz="1575">
                <a:solidFill>
                  <a:srgbClr val="F2ECDD"/>
                </a:solidFill>
                <a:latin typeface="TT Commons Pro"/>
              </a:rPr>
              <a:t>Q3 2026 Boulder beta → ~30 bioregions, 5,000+ members by end 2027</a:t>
            </a:r>
          </a:p>
        </p:txBody>
      </p:sp>
      <p:sp>
        <p:nvSpPr>
          <p:cNvPr id="28" name="Rounded Rectangle 27"/>
          <p:cNvSpPr/>
          <p:nvPr/>
        </p:nvSpPr>
        <p:spPr>
          <a:xfrm>
            <a:off x="9395459" y="6035040"/>
            <a:ext cx="8092440" cy="1440180"/>
          </a:xfrm>
          <a:prstGeom prst="roundRect">
            <a:avLst>
              <a:gd name="adj" fmla="val 6000"/>
            </a:avLst>
          </a:prstGeom>
          <a:solidFill>
            <a:srgbClr val="084B4D"/>
          </a:solidFill>
          <a:ln w="21907">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6940" y="6281928"/>
            <a:ext cx="7406640" cy="384048"/>
          </a:xfrm>
          <a:prstGeom prst="rect">
            <a:avLst/>
          </a:prstGeom>
          <a:noFill/>
        </p:spPr>
        <p:txBody>
          <a:bodyPr wrap="none" lIns="0" rIns="0" tIns="0" bIns="0">
            <a:spAutoFit/>
          </a:bodyPr>
          <a:lstStyle/>
          <a:p>
            <a:pPr algn="l">
              <a:lnSpc>
                <a:spcPct val="115000"/>
              </a:lnSpc>
            </a:pPr>
            <a:r>
              <a:rPr sz="1350" spc="330">
                <a:solidFill>
                  <a:srgbClr val="EBCF9E"/>
                </a:solidFill>
                <a:latin typeface="TT Commons Pro"/>
              </a:rPr>
              <a:t>HOW TO PARTICIPATE</a:t>
            </a:r>
          </a:p>
        </p:txBody>
      </p:sp>
      <p:sp>
        <p:nvSpPr>
          <p:cNvPr id="30" name="TextBox 29"/>
          <p:cNvSpPr txBox="1"/>
          <p:nvPr/>
        </p:nvSpPr>
        <p:spPr>
          <a:xfrm>
            <a:off x="9806940" y="6693408"/>
            <a:ext cx="7269479" cy="685800"/>
          </a:xfrm>
          <a:prstGeom prst="rect">
            <a:avLst/>
          </a:prstGeom>
          <a:noFill/>
        </p:spPr>
        <p:txBody>
          <a:bodyPr wrap="square" lIns="0" rIns="0" tIns="0" bIns="0">
            <a:spAutoFit/>
          </a:bodyPr>
          <a:lstStyle/>
          <a:p>
            <a:pPr algn="l">
              <a:lnSpc>
                <a:spcPct val="135000"/>
              </a:lnSpc>
            </a:pPr>
            <a:r>
              <a:rPr sz="1575">
                <a:solidFill>
                  <a:srgbClr val="F2ECDD"/>
                </a:solidFill>
                <a:latin typeface="TT Commons Pro"/>
              </a:rPr>
              <a:t>The Cooperative SAFE + Investor Questionnaire are attached.</a:t>
            </a:r>
          </a:p>
          <a:p>
            <a:pPr algn="l">
              <a:lnSpc>
                <a:spcPct val="135000"/>
              </a:lnSpc>
            </a:pPr>
            <a:r>
              <a:rPr sz="1575">
                <a:solidFill>
                  <a:srgbClr val="F2ECDD"/>
                </a:solidFill>
                <a:latin typeface="TT Commons Pro"/>
              </a:rPr>
              <a:t>Or simply use it, share it, and tell us what breaks.</a:t>
            </a:r>
          </a:p>
        </p:txBody>
      </p:sp>
      <p:sp>
        <p:nvSpPr>
          <p:cNvPr id="31" name="TextBox 30"/>
          <p:cNvSpPr txBox="1"/>
          <p:nvPr/>
        </p:nvSpPr>
        <p:spPr>
          <a:xfrm>
            <a:off x="822959" y="7886700"/>
            <a:ext cx="16596359" cy="1097280"/>
          </a:xfrm>
          <a:prstGeom prst="rect">
            <a:avLst/>
          </a:prstGeom>
          <a:noFill/>
        </p:spPr>
        <p:txBody>
          <a:bodyPr wrap="square" lIns="0" rIns="0" tIns="0" bIns="0">
            <a:spAutoFit/>
          </a:bodyPr>
          <a:lstStyle/>
          <a:p>
            <a:pPr algn="ctr">
              <a:lnSpc>
                <a:spcPct val="150000"/>
              </a:lnSpc>
            </a:pPr>
            <a:r>
              <a:rPr sz="1950">
                <a:solidFill>
                  <a:srgbClr val="F2ECDD"/>
                </a:solidFill>
                <a:latin typeface="TT Commons Pro"/>
              </a:rPr>
              <a:t>Find the thing. Find the person. Make the agreement. Go do the work.</a:t>
            </a:r>
          </a:p>
          <a:p>
            <a:pPr algn="ctr">
              <a:lnSpc>
                <a:spcPct val="150000"/>
              </a:lnSpc>
            </a:pPr>
            <a:r>
              <a:rPr sz="1950">
                <a:solidFill>
                  <a:srgbClr val="9FE8DC"/>
                </a:solidFill>
                <a:latin typeface="TT Commons Pro Bold"/>
              </a:rPr>
              <a:t>Put the phone away.</a:t>
            </a:r>
          </a:p>
        </p:txBody>
      </p:sp>
      <p:sp>
        <p:nvSpPr>
          <p:cNvPr id="32" name="TextBox 31"/>
          <p:cNvSpPr txBox="1"/>
          <p:nvPr/>
        </p:nvSpPr>
        <p:spPr>
          <a:xfrm>
            <a:off x="822959" y="9052559"/>
            <a:ext cx="16596359" cy="466344"/>
          </a:xfrm>
          <a:prstGeom prst="rect">
            <a:avLst/>
          </a:prstGeom>
          <a:noFill/>
        </p:spPr>
        <p:txBody>
          <a:bodyPr wrap="square" lIns="0" rIns="0" tIns="0" bIns="0">
            <a:spAutoFit/>
          </a:bodyPr>
          <a:lstStyle/>
          <a:p>
            <a:pPr algn="ctr">
              <a:lnSpc>
                <a:spcPct val="115000"/>
              </a:lnSpc>
            </a:pPr>
            <a:r>
              <a:rPr sz="1800">
                <a:solidFill>
                  <a:srgbClr val="9FE8DC"/>
                </a:solidFill>
                <a:latin typeface="TT Commons Pro Bold"/>
              </a:rPr>
              <a:t>admin@rivr.social   ·   app.rivr.social   ·   invest.rivr.social</a:t>
            </a:r>
          </a:p>
        </p:txBody>
      </p:sp>
      <p:sp>
        <p:nvSpPr>
          <p:cNvPr id="33" name="TextBox 32"/>
          <p:cNvSpPr txBox="1"/>
          <p:nvPr/>
        </p:nvSpPr>
        <p:spPr>
          <a:xfrm>
            <a:off x="822959" y="9573768"/>
            <a:ext cx="16596359" cy="1097280"/>
          </a:xfrm>
          <a:prstGeom prst="rect">
            <a:avLst/>
          </a:prstGeom>
          <a:noFill/>
        </p:spPr>
        <p:txBody>
          <a:bodyPr wrap="square" lIns="0" rIns="0" tIns="0" bIns="0">
            <a:spAutoFit/>
          </a:bodyPr>
          <a:lstStyle/>
          <a:p>
            <a:pPr algn="ctr">
              <a:lnSpc>
                <a:spcPct val="140000"/>
              </a:lnSpc>
            </a:pPr>
            <a:r>
              <a:rPr sz="2100" spc="20">
                <a:solidFill>
                  <a:srgbClr val="F2ECDD"/>
                </a:solidFill>
                <a:latin typeface="Alike Italics"/>
              </a:rPr>
              <a:t>Flow local. Connect global.  </a:t>
            </a:r>
            <a:r>
              <a:rPr sz="2100" spc="20">
                <a:solidFill>
                  <a:srgbClr val="EBCF9E"/>
                </a:solidFill>
                <a:latin typeface="Alike Italics"/>
              </a:rPr>
              <a:t>A Rivr made of many rivers.</a:t>
            </a:r>
          </a:p>
        </p:txBody>
      </p:sp>
      <p:pic>
        <p:nvPicPr>
          <p:cNvPr id="34" name="Picture 33" descr="rivr-symbol-light.png"/>
          <p:cNvPicPr>
            <a:picLocks noChangeAspect="1"/>
          </p:cNvPicPr>
          <p:nvPr/>
        </p:nvPicPr>
        <p:blipFill>
          <a:blip r:embed="rId9"/>
          <a:stretch>
            <a:fillRect/>
          </a:stretch>
        </p:blipFill>
        <p:spPr>
          <a:xfrm>
            <a:off x="576072" y="9518904"/>
            <a:ext cx="521208" cy="521208"/>
          </a:xfrm>
          <a:prstGeom prst="rect">
            <a:avLst/>
          </a:prstGeom>
        </p:spPr>
      </p:pic>
      <p:sp>
        <p:nvSpPr>
          <p:cNvPr id="35" name="TextBox 34"/>
          <p:cNvSpPr txBox="1"/>
          <p:nvPr/>
        </p:nvSpPr>
        <p:spPr>
          <a:xfrm>
            <a:off x="1371600" y="9724644"/>
            <a:ext cx="5486400" cy="301752"/>
          </a:xfrm>
          <a:prstGeom prst="rect">
            <a:avLst/>
          </a:prstGeom>
          <a:noFill/>
        </p:spPr>
        <p:txBody>
          <a:bodyPr wrap="none" lIns="0" rIns="0" tIns="0" bIns="0">
            <a:spAutoFit/>
          </a:bodyPr>
          <a:lstStyle/>
          <a:p>
            <a:pPr algn="l">
              <a:lnSpc>
                <a:spcPct val="115000"/>
              </a:lnSpc>
            </a:pPr>
            <a:r>
              <a:rPr sz="1350" spc="150">
                <a:solidFill>
                  <a:srgbClr val="AFC4C2"/>
                </a:solidFill>
                <a:latin typeface="TT Commons Pro"/>
              </a:rPr>
              <a:t>Rivr · Seed Round 2026</a:t>
            </a:r>
          </a:p>
        </p:txBody>
      </p:sp>
      <p:sp>
        <p:nvSpPr>
          <p:cNvPr id="36" name="TextBox 35"/>
          <p:cNvSpPr txBox="1"/>
          <p:nvPr/>
        </p:nvSpPr>
        <p:spPr>
          <a:xfrm>
            <a:off x="16870680" y="9724644"/>
            <a:ext cx="960119" cy="301752"/>
          </a:xfrm>
          <a:prstGeom prst="rect">
            <a:avLst/>
          </a:prstGeom>
          <a:noFill/>
        </p:spPr>
        <p:txBody>
          <a:bodyPr wrap="none" lIns="0" rIns="0" tIns="0" bIns="0">
            <a:spAutoFit/>
          </a:bodyPr>
          <a:lstStyle/>
          <a:p>
            <a:pPr algn="r">
              <a:lnSpc>
                <a:spcPct val="115000"/>
              </a:lnSpc>
            </a:pPr>
            <a:r>
              <a:rPr sz="1350" spc="150">
                <a:solidFill>
                  <a:srgbClr val="AFC4C2"/>
                </a:solidFill>
                <a:latin typeface="TT Commons Pro"/>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