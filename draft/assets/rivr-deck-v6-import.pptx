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8287542"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Rivr makes the capacity of a place visible enough to act on — connecting the people, resources, opportunities, and organizations of a place. 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is already here. The problem is finding it, trusting it, and coordinating around it. A need and a resource can exist blocks apart without ever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each other is only the beginning. Real coordination means agreements, roles, scheduling, shared resources, tracking, approval, and exchanging value. People assemble that process themselves every time — coordination overhead prevents useful activity from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digital lives are split across too many places. We spend too much time coordinating the tools meant to help us coordinate. Social media evolved toward coordination — under extractive incentives. The problem was the incentive structure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a community can actually see itself — what we know, need, offer, make, can share, what sits unused, what could be built next. Sometimes resources simply need to be 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made it possible to find almost anything, anywhere — and easy to overlook what's already around us. Rivr brings place back into the digital experience: as context, not a wall. Local when possible, wider network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can mean more than a city boundary — household, neighborhood, organization, town, watershed, bioregion, wider network. People belong to several places at once. Not geographic lock-in: layered belonging. The right activity appears at the scope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for living places. River basins offer a natural way of seeing how regions connect. The question: what technology helps humans live intelligently within the ecosystems that sustain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place-based social and economic network: find people, skills, services, resources and opportunities nearby; create events, groups, projects, roles and tasks; exchange value; coordinate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should not feel like enterprise software. It begins with things people already understand — and stays alive and social. Economic relationships often begin as human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should feel useful without becoming mechanical. Show me what I'm looking for — and something I'd be glad to know exists. Useful serendipity, not random noise, not whoever paid to be inserted. Optimized for the user's world rather than advertiser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another platform where people talk about what they might do. The deeper value appears when discovery becomes action: discover, trust, agree, organize, act, verify, account,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gamified popularity score — participation made legible as useful context for trust, qualification, reputation, compensation, stake, and cooperative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resource is not enough — we need context to act. Trust emerges from relationships, history, qualifications, references, verified claims, group membership,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individual: a useful local social network. For an organization: coordination tools. For a community: a living map of what the place has, needs, knows, makes, and can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work for ordinary life too — households, neighbors, shared resources, work parties. Resilience is built partly through ordinary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schedules shifts; a cooperative tracks contribution; an organization needs documents, projects, governance, treasury, payments, membership — in one shared relational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collaborative problems are mundane: who agreed, did it happen, who contributed, who approved, what does somebody get paid. Shared records make cooperation less dependent on memory and chasing people. The ledger is social infrastructure as well as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projects and organizations need recurring structures. Rivr encodes those patterns into templates, workflows, and shared tools — lowering the activation energy to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has to begin and end with money. A community contains far more value than the dollars circulating through it. Sold, rented, traded, lent, shared, gifted, contributed, mutual credit — the aim is useful resource 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lack of cash should not automatically mean a lack of capacity. Economic sovereignty means more than one way to participate — not abandoning existing money. Communities become more resilient when useful exchange continues through multiple mutually agreed forms.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simply to circulate what exists. Visibility→coordination→exchange→relationships→intelligence→demand→productive capacity→resilience.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more activity becomes visible, a place can begin to understand itself — a feedback system for developing local capacity,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Visibility can create collaboration, not only transactions. Two organizations working separately on the same problem; complementary resources; missions too large for one org become possible through coalition.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cultural shift is toward functional interdependence — not less autonomy, but greater autonomy supported by stronger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network is the doorway; coordination infrastructure is the larger opportunity. Instead of stitching disconnected platforms together, these functions share one underlying relational system between people, organizations, resources, needs, agreements,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ambition is large because human life is complex — but the experience should not feel complex. Nobody needs to understand federation, REA models, or cooperative law to find a bike or take a job. Complex infrastructure; simple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Rivr's underlying model is about activity, not just content. Resource, Event, Agent: an agent acts, something happens, a resource changes state, and that event becomes part of the record. Model the real activity underneath the feed.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doesn't need to build every possible app. Specialized tools plug into the ecosystem; Rivr is the connective environment they share. Ecosystem coherence, not total software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schemas, open source, and protocols matter — but alone they don't produce a usable ecosystem. Somebody still has to integrate, design, maintain, support, market, and keep listening.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Purely theoretical protocols optimize for imagined needs. Rivr follows build → use → learn → refine → standardize → federate. Let use teach us what should become standard.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controls where their information lives; a group can run its own instance; a community can share infrastructure — still connected, with only what people permit moving outward.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should be contextual. People control who can discover them, what can be seen, under what conditions, for what purpose. The goal is not secrecy —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sovereignty is only half the story — people should also control what enters their field of view. What reaches me? Why? According to whose priorities? Selective disclosure outward, selective attention inward. Useful relevance instead of attention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becoming capable of acting across our lives. It could become another centralized surveillance layer — or help communities become more capable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people using a network create its value, they should participate in its success. Rivr's loop routes revenue to operations, patrons, workers, stewards, reserves,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cooperative should live inside the product too — membership, stake, participation, contribution, revenue, surplus, patronage, and governance visible in the system. Use Rivr to run Rivr.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shared product is not the same as centralized control. Centralized coordination and centralized control are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Anti-capture should be structural: cooperative ownership, public-benefit purpose, federation, sovereign data, interoperability, contextual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competition is not one app — it is the fragmented stack. A 5-seat organization pays about $328.20/month across Asana, Slack, Google Workspace, Square, Shopify, Luma and more; a Rivr Organization runs $46.06 — saving $282.14/month, about $3,546.68/year. Rivr is one relational ecosystem built around people, organizations, and place.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values are not enough — Rivr cannot succeed because people agree with the philosophy. It must save time and money, replace fragmented tools, make discovery useful, reduce coordination friction, and feel good to use. People should choose Rivr because Rivr 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sits at the intersection of local social, local commerce, events, coordination, services, community infrastructure, and AI-enabled productivity. The platform is built and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velocity, not fee inflation. Tiers: Collaborator $11, Seller $22, Host/Producer $22, Organizer $44; 42% of active users convert to paid membership, calibrated on ONE Boulder. Unified 3.3% + $1.49 transaction fee across all rails, patronage-eligible. Streams: memberships, platform + transaction fees, local advertising from local businesses, invested reserves.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 surplus: 50% Association / 25% fee-paying member / 25% Chapter — patronage goes only to the members who generated the fees. Non-fee surplus: 100% Association. Retained profit after tax: 33/33/33 Stewards, Workers, Reserves. Patronage refunds arrive 20% cash + 80% member capital.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participation creates visibility; visibility reveals demand; demand supports local businesses, services, jobs, cooperative purchasing, infrastructure, and new markets.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enough of the market to change what the market rewards. Not a tiny alternative for people who already agree — a serious, competitive company. Enough adoption changes user expectations, influences competitors, raises standards, and proves a different ownership model can win.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building one giant global community — it is infrastructure many local communities use and connect through. Shared standards allow exchange; local autonomy allows adaptation.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one place deep at a time — Boulder is the first branch of the Rivr. Seed, anchor, density, replicate: density makes the network useful. Proven before: ONE Boulder 2020-2023, nearly 4,800 users, 42% of high-activity users converted to paid membership. Expansion regions mapped across the US and bioregions worldwide.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software, community, governance, and local infrastructure at once. Cameron Ely-Murdock — Strategy Director &amp; Development. Kathleen Marie Rose — Design &amp; Community Outreach. Grig Bilham — Operations Management. Q3 2026 beta opens in Boulder; 2027 mobile build-out and bioregional expansion; ~30 bioregions, ~200 organizations, 5,000+ members by end of 2027.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$500K to take the built Rivr Social platform live. Cooperative SAFE — $4M cap, 20% discount → Class D Steward Shares (506b); Colorado residents direct Class R (147A); $0.20/share. Steward Pool: 33% of after-tax retained profit, pro-rata, from first profitable year. Use of funds: live-money cutover, team + engineering, community growth + chapters, compliance, infrastructure + AI — runway into the 2027 Crowd round.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in the Articles — obligations, not aspirations. The bigger vision is capable places: distinct local networks connected through shared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Rivr interaction may end with you leaving Rivr. The goal is not screen time — it is successful coordination: find the thing, find the person, make the agreement, go do the work, put the phone away. We can build better technology for living together. Flow local. Connect global. A Rivr made of many rivers.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4.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5.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5.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8.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9.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hero-water_5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4"/>
          <a:stretch>
            <a:fillRect/>
          </a:stretch>
        </p:blipFill>
        <p:spPr>
          <a:xfrm>
            <a:off x="850392" y="795527"/>
            <a:ext cx="1234440" cy="1234440"/>
          </a:xfrm>
          <a:prstGeom prst="rect">
            <a:avLst/>
          </a:prstGeom>
        </p:spPr>
      </p:pic>
      <p:sp>
        <p:nvSpPr>
          <p:cNvPr id="4" name="TextBox 3"/>
          <p:cNvSpPr txBox="1"/>
          <p:nvPr/>
        </p:nvSpPr>
        <p:spPr>
          <a:xfrm>
            <a:off x="850392" y="3566160"/>
            <a:ext cx="16596359" cy="2743200"/>
          </a:xfrm>
          <a:prstGeom prst="rect">
            <a:avLst/>
          </a:prstGeom>
          <a:noFill/>
        </p:spPr>
        <p:txBody>
          <a:bodyPr wrap="square" lIns="0" rIns="0" tIns="0" bIns="0">
            <a:spAutoFit/>
          </a:bodyPr>
          <a:lstStyle/>
          <a:p>
            <a:pPr algn="l">
              <a:lnSpc>
                <a:spcPct val="125000"/>
              </a:lnSpc>
            </a:pPr>
            <a:r>
              <a:rPr sz="9600" spc="-75">
                <a:solidFill>
                  <a:srgbClr val="F4EAD8"/>
                </a:solidFill>
                <a:latin typeface="TT Commons Pro Bold"/>
              </a:rPr>
              <a:t>RIVR</a:t>
            </a:r>
          </a:p>
          <a:p>
            <a:pPr algn="l">
              <a:lnSpc>
                <a:spcPct val="12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5" name="TextBox 4"/>
          <p:cNvSpPr txBox="1"/>
          <p:nvPr/>
        </p:nvSpPr>
        <p:spPr>
          <a:xfrm>
            <a:off x="850392" y="6515100"/>
            <a:ext cx="16184880" cy="1234440"/>
          </a:xfrm>
          <a:prstGeom prst="rect">
            <a:avLst/>
          </a:prstGeom>
          <a:noFill/>
        </p:spPr>
        <p:txBody>
          <a:bodyPr wrap="square" lIns="0" rIns="0" tIns="0" bIns="0">
            <a:spAutoFit/>
          </a:bodyPr>
          <a:lstStyle/>
          <a:p>
            <a:pPr algn="l">
              <a:lnSpc>
                <a:spcPct val="150000"/>
              </a:lnSpc>
            </a:pPr>
            <a:r>
              <a:rPr sz="2250">
                <a:solidFill>
                  <a:srgbClr val="F2ECDD"/>
                </a:solidFill>
                <a:latin typeface="TT Commons Pro"/>
              </a:rPr>
              <a:t>Rivr makes the capacity of a place </a:t>
            </a:r>
            <a:r>
              <a:rPr sz="2250">
                <a:solidFill>
                  <a:srgbClr val="9FE8DC"/>
                </a:solidFill>
                <a:latin typeface="TT Commons Pro Bold"/>
              </a:rPr>
              <a:t>visible enough to act on</a:t>
            </a:r>
            <a:r>
              <a:rPr sz="2250">
                <a:solidFill>
                  <a:srgbClr val="F2ECDD"/>
                </a:solidFill>
                <a:latin typeface="TT Commons Pro"/>
              </a:rPr>
              <a:t> — so more of what we need</a:t>
            </a:r>
          </a:p>
          <a:p>
            <a:pPr algn="l">
              <a:lnSpc>
                <a:spcPct val="150000"/>
              </a:lnSpc>
            </a:pPr>
            <a:r>
              <a:rPr sz="2250">
                <a:solidFill>
                  <a:srgbClr val="F2ECDD"/>
                </a:solidFill>
                <a:latin typeface="TT Commons Pro"/>
              </a:rPr>
              <a:t>can be found, shared, coordinated, exchanged, and created together.</a:t>
            </a:r>
          </a:p>
        </p:txBody>
      </p:sp>
      <p:sp>
        <p:nvSpPr>
          <p:cNvPr id="6" name="TextBox 5"/>
          <p:cNvSpPr txBox="1"/>
          <p:nvPr/>
        </p:nvSpPr>
        <p:spPr>
          <a:xfrm>
            <a:off x="850392" y="8435340"/>
            <a:ext cx="16184880" cy="548640"/>
          </a:xfrm>
          <a:prstGeom prst="rect">
            <a:avLst/>
          </a:prstGeom>
          <a:noFill/>
        </p:spPr>
        <p:txBody>
          <a:bodyPr wrap="square" lIns="0" rIns="0" tIns="0" bIns="0">
            <a:spAutoFit/>
          </a:bodyPr>
          <a:lstStyle/>
          <a:p>
            <a:pPr algn="l">
              <a:lnSpc>
                <a:spcPct val="115000"/>
              </a:lnSpc>
            </a:pPr>
            <a:r>
              <a:rPr sz="1575" spc="180">
                <a:solidFill>
                  <a:srgbClr val="9FE8DC"/>
                </a:solidFill>
                <a:latin typeface="Todes 1"/>
              </a:rPr>
              <a:t>REGENERATIVE · INTERCONNECTED · VIBRANT · REGIONS</a:t>
            </a:r>
          </a:p>
        </p:txBody>
      </p:sp>
      <p:sp>
        <p:nvSpPr>
          <p:cNvPr id="7" name="TextBox 6"/>
          <p:cNvSpPr txBox="1"/>
          <p:nvPr/>
        </p:nvSpPr>
        <p:spPr>
          <a:xfrm>
            <a:off x="850392" y="8983980"/>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8" name="TextBox 7"/>
          <p:cNvSpPr txBox="1"/>
          <p:nvPr/>
        </p:nvSpPr>
        <p:spPr>
          <a:xfrm>
            <a:off x="850392" y="9683496"/>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a:t>
            </a:r>
          </a:p>
        </p:txBody>
      </p:sp>
      <p:sp>
        <p:nvSpPr>
          <p:cNvPr id="4" name="TextBox 3"/>
          <p:cNvSpPr txBox="1"/>
          <p:nvPr/>
        </p:nvSpPr>
        <p:spPr>
          <a:xfrm>
            <a:off x="822959" y="1645919"/>
            <a:ext cx="16910208" cy="952976"/>
          </a:xfrm>
          <a:prstGeom prst="rect">
            <a:avLst/>
          </a:prstGeom>
          <a:noFill/>
        </p:spPr>
        <p:txBody>
          <a:bodyPr wrap="none" lIns="0" rIns="0" tIns="0" bIns="0">
            <a:spAutoFit/>
          </a:bodyPr>
          <a:lstStyle/>
          <a:p>
            <a:pPr algn="l">
              <a:lnSpc>
                <a:spcPct val="115000"/>
              </a:lnSpc>
            </a:pPr>
            <a:r>
              <a:rPr sz="5175" spc="-75">
                <a:solidFill>
                  <a:srgbClr val="F4EAD8"/>
                </a:solidFill>
                <a:latin typeface="TT Commons Pro Bold"/>
              </a:rPr>
              <a:t>We already have so much of what we need — </a:t>
            </a:r>
          </a:p>
        </p:txBody>
      </p:sp>
      <p:sp>
        <p:nvSpPr>
          <p:cNvPr id="5" name="TextBox 4"/>
          <p:cNvSpPr txBox="1"/>
          <p:nvPr/>
        </p:nvSpPr>
        <p:spPr>
          <a:xfrm>
            <a:off x="822959" y="2605468"/>
            <a:ext cx="7641193" cy="952976"/>
          </a:xfrm>
          <a:prstGeom prst="rect">
            <a:avLst/>
          </a:prstGeom>
          <a:noFill/>
        </p:spPr>
        <p:txBody>
          <a:bodyPr wrap="none" lIns="0" rIns="0" tIns="0" bIns="0">
            <a:spAutoFit/>
          </a:bodyPr>
          <a:lstStyle/>
          <a:p>
            <a:pPr algn="l">
              <a:lnSpc>
                <a:spcPct val="115000"/>
              </a:lnSpc>
            </a:pPr>
            <a:r>
              <a:rPr sz="5175" spc="-75">
                <a:solidFill>
                  <a:srgbClr val="F4EAD8"/>
                </a:solidFill>
                <a:latin typeface="TT Commons Pro Bold"/>
              </a:rPr>
              <a:t>we just can't always </a:t>
            </a:r>
          </a:p>
        </p:txBody>
      </p:sp>
      <p:sp>
        <p:nvSpPr>
          <p:cNvPr id="6" name="TextBox 5"/>
          <p:cNvSpPr txBox="1"/>
          <p:nvPr/>
        </p:nvSpPr>
        <p:spPr>
          <a:xfrm>
            <a:off x="6771322" y="2552890"/>
            <a:ext cx="2134552" cy="1048273"/>
          </a:xfrm>
          <a:prstGeom prst="rect">
            <a:avLst/>
          </a:prstGeom>
          <a:noFill/>
        </p:spPr>
        <p:txBody>
          <a:bodyPr wrap="none" lIns="0" rIns="0" tIns="0" bIns="0">
            <a:spAutoFit/>
          </a:bodyPr>
          <a:lstStyle/>
          <a:p>
            <a:pPr algn="l">
              <a:lnSpc>
                <a:spcPct val="115000"/>
              </a:lnSpc>
            </a:pPr>
            <a:r>
              <a:rPr sz="5692" spc="-75">
                <a:solidFill>
                  <a:srgbClr val="99E6D9"/>
                </a:solidFill>
                <a:latin typeface="Ibarra Real Nova Italics"/>
              </a:rPr>
              <a:t>see it.</a:t>
            </a:r>
          </a:p>
        </p:txBody>
      </p:sp>
      <p:sp>
        <p:nvSpPr>
          <p:cNvPr id="7" name="TextBox 6"/>
          <p:cNvSpPr txBox="1"/>
          <p:nvPr/>
        </p:nvSpPr>
        <p:spPr>
          <a:xfrm>
            <a:off x="822959" y="3866026"/>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EVERY PLACE ALREADY CONTAINS</a:t>
            </a:r>
          </a:p>
        </p:txBody>
      </p:sp>
      <p:sp>
        <p:nvSpPr>
          <p:cNvPr id="8" name="Rounded Rectangle 7"/>
          <p:cNvSpPr/>
          <p:nvPr/>
        </p:nvSpPr>
        <p:spPr>
          <a:xfrm>
            <a:off x="822959"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with skills</a:t>
            </a:r>
          </a:p>
        </p:txBody>
      </p:sp>
      <p:sp>
        <p:nvSpPr>
          <p:cNvPr id="10" name="Rounded Rectangle 9"/>
          <p:cNvSpPr/>
          <p:nvPr/>
        </p:nvSpPr>
        <p:spPr>
          <a:xfrm>
            <a:off x="4207382"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7382"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seeking work</a:t>
            </a:r>
          </a:p>
        </p:txBody>
      </p:sp>
      <p:sp>
        <p:nvSpPr>
          <p:cNvPr id="12" name="Rounded Rectangle 11"/>
          <p:cNvSpPr/>
          <p:nvPr/>
        </p:nvSpPr>
        <p:spPr>
          <a:xfrm>
            <a:off x="7591805"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91805"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tools sitting unused</a:t>
            </a:r>
          </a:p>
        </p:txBody>
      </p:sp>
      <p:sp>
        <p:nvSpPr>
          <p:cNvPr id="14" name="Rounded Rectangle 13"/>
          <p:cNvSpPr/>
          <p:nvPr/>
        </p:nvSpPr>
        <p:spPr>
          <a:xfrm>
            <a:off x="10976228"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6228"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food being grown</a:t>
            </a:r>
          </a:p>
        </p:txBody>
      </p:sp>
      <p:sp>
        <p:nvSpPr>
          <p:cNvPr id="16" name="Rounded Rectangle 15"/>
          <p:cNvSpPr/>
          <p:nvPr/>
        </p:nvSpPr>
        <p:spPr>
          <a:xfrm>
            <a:off x="14360651"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60651"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18" name="Rounded Rectangle 17"/>
          <p:cNvSpPr/>
          <p:nvPr/>
        </p:nvSpPr>
        <p:spPr>
          <a:xfrm>
            <a:off x="822959"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organizations</a:t>
            </a:r>
          </a:p>
        </p:txBody>
      </p:sp>
      <p:sp>
        <p:nvSpPr>
          <p:cNvPr id="20" name="Rounded Rectangle 19"/>
          <p:cNvSpPr/>
          <p:nvPr/>
        </p:nvSpPr>
        <p:spPr>
          <a:xfrm>
            <a:off x="4207382"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7382"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spaces</a:t>
            </a:r>
          </a:p>
        </p:txBody>
      </p:sp>
      <p:sp>
        <p:nvSpPr>
          <p:cNvPr id="22" name="Rounded Rectangle 21"/>
          <p:cNvSpPr/>
          <p:nvPr/>
        </p:nvSpPr>
        <p:spPr>
          <a:xfrm>
            <a:off x="7591805"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91805"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knowledge</a:t>
            </a:r>
          </a:p>
        </p:txBody>
      </p:sp>
      <p:sp>
        <p:nvSpPr>
          <p:cNvPr id="24" name="Rounded Rectangle 23"/>
          <p:cNvSpPr/>
          <p:nvPr/>
        </p:nvSpPr>
        <p:spPr>
          <a:xfrm>
            <a:off x="10976228"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6228"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26" name="Rounded Rectangle 25"/>
          <p:cNvSpPr/>
          <p:nvPr/>
        </p:nvSpPr>
        <p:spPr>
          <a:xfrm>
            <a:off x="14360651"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360651"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money</a:t>
            </a:r>
          </a:p>
        </p:txBody>
      </p:sp>
      <p:sp>
        <p:nvSpPr>
          <p:cNvPr id="28" name="Rounded Rectangle 27"/>
          <p:cNvSpPr/>
          <p:nvPr/>
        </p:nvSpPr>
        <p:spPr>
          <a:xfrm>
            <a:off x="822959"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care</a:t>
            </a:r>
          </a:p>
        </p:txBody>
      </p:sp>
      <p:sp>
        <p:nvSpPr>
          <p:cNvPr id="30" name="Rounded Rectangle 29"/>
          <p:cNvSpPr/>
          <p:nvPr/>
        </p:nvSpPr>
        <p:spPr>
          <a:xfrm>
            <a:off x="4207382"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7382"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ideas</a:t>
            </a:r>
          </a:p>
        </p:txBody>
      </p:sp>
      <p:sp>
        <p:nvSpPr>
          <p:cNvPr id="32" name="Rounded Rectangle 31"/>
          <p:cNvSpPr/>
          <p:nvPr/>
        </p:nvSpPr>
        <p:spPr>
          <a:xfrm>
            <a:off x="7591805"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91805"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to give away</a:t>
            </a:r>
          </a:p>
        </p:txBody>
      </p:sp>
      <p:sp>
        <p:nvSpPr>
          <p:cNvPr id="34" name="Rounded Rectangle 33"/>
          <p:cNvSpPr/>
          <p:nvPr/>
        </p:nvSpPr>
        <p:spPr>
          <a:xfrm>
            <a:off x="10976228"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6228"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being sought</a:t>
            </a:r>
          </a:p>
        </p:txBody>
      </p:sp>
      <p:sp>
        <p:nvSpPr>
          <p:cNvPr id="36" name="TextBox 35"/>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problem is not that these things don't exist — it is finding them, trusting them, and coordinating around them.</a:t>
            </a:r>
          </a:p>
          <a:p>
            <a:pPr algn="ctr">
              <a:lnSpc>
                <a:spcPct val="140000"/>
              </a:lnSpc>
            </a:pPr>
            <a:r>
              <a:rPr sz="2250" spc="20">
                <a:solidFill>
                  <a:srgbClr val="EBCF9E"/>
                </a:solidFill>
                <a:latin typeface="Alike Italics"/>
              </a:rPr>
              <a:t>A need and a resource can exist blocks apart without ever meeting.</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COORDINATION</a:t>
            </a:r>
          </a:p>
        </p:txBody>
      </p:sp>
      <p:sp>
        <p:nvSpPr>
          <p:cNvPr id="4" name="TextBox 3"/>
          <p:cNvSpPr txBox="1"/>
          <p:nvPr/>
        </p:nvSpPr>
        <p:spPr>
          <a:xfrm>
            <a:off x="822959" y="1699869"/>
            <a:ext cx="10796349"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Finding each other is only </a:t>
            </a:r>
          </a:p>
        </p:txBody>
      </p:sp>
      <p:sp>
        <p:nvSpPr>
          <p:cNvPr id="5" name="TextBox 4"/>
          <p:cNvSpPr txBox="1"/>
          <p:nvPr/>
        </p:nvSpPr>
        <p:spPr>
          <a:xfrm>
            <a:off x="9295447" y="1645919"/>
            <a:ext cx="5861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the beginning.</a:t>
            </a:r>
          </a:p>
        </p:txBody>
      </p:sp>
      <p:sp>
        <p:nvSpPr>
          <p:cNvPr id="6" name="TextBox 5"/>
          <p:cNvSpPr txBox="1"/>
          <p:nvPr/>
        </p:nvSpPr>
        <p:spPr>
          <a:xfrm>
            <a:off x="822959" y="2948939"/>
            <a:ext cx="8092440" cy="480059"/>
          </a:xfrm>
          <a:prstGeom prst="rect">
            <a:avLst/>
          </a:prstGeom>
          <a:noFill/>
        </p:spPr>
        <p:txBody>
          <a:bodyPr wrap="square" lIns="0" rIns="0" tIns="0" bIns="0">
            <a:spAutoFit/>
          </a:bodyPr>
          <a:lstStyle/>
          <a:p>
            <a:pPr algn="l">
              <a:lnSpc>
                <a:spcPct val="115000"/>
              </a:lnSpc>
            </a:pPr>
            <a:r>
              <a:rPr sz="1425" spc="180">
                <a:solidFill>
                  <a:srgbClr val="9FE8DC"/>
                </a:solidFill>
                <a:latin typeface="Todes 1"/>
              </a:rPr>
              <a:t>ONCE PEOPLE CONNECT, THEY STILL ASK</a:t>
            </a:r>
          </a:p>
        </p:txBody>
      </p:sp>
      <p:sp>
        <p:nvSpPr>
          <p:cNvPr id="7" name="TextBox 6"/>
          <p:cNvSpPr txBox="1"/>
          <p:nvPr/>
        </p:nvSpPr>
        <p:spPr>
          <a:xfrm>
            <a:off x="1028700" y="35935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is doing what?</a:t>
            </a:r>
          </a:p>
        </p:txBody>
      </p:sp>
      <p:sp>
        <p:nvSpPr>
          <p:cNvPr id="8" name="TextBox 7"/>
          <p:cNvSpPr txBox="1"/>
          <p:nvPr/>
        </p:nvSpPr>
        <p:spPr>
          <a:xfrm>
            <a:off x="1028700" y="441655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was agreed to?</a:t>
            </a:r>
          </a:p>
        </p:txBody>
      </p:sp>
      <p:sp>
        <p:nvSpPr>
          <p:cNvPr id="9" name="TextBox 8"/>
          <p:cNvSpPr txBox="1"/>
          <p:nvPr/>
        </p:nvSpPr>
        <p:spPr>
          <a:xfrm>
            <a:off x="1028700" y="523951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resources are needed?</a:t>
            </a:r>
          </a:p>
        </p:txBody>
      </p:sp>
      <p:sp>
        <p:nvSpPr>
          <p:cNvPr id="10" name="TextBox 9"/>
          <p:cNvSpPr txBox="1"/>
          <p:nvPr/>
        </p:nvSpPr>
        <p:spPr>
          <a:xfrm>
            <a:off x="1028700" y="606247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does someone participate?</a:t>
            </a:r>
          </a:p>
        </p:txBody>
      </p:sp>
      <p:sp>
        <p:nvSpPr>
          <p:cNvPr id="11" name="TextBox 10"/>
          <p:cNvSpPr txBox="1"/>
          <p:nvPr/>
        </p:nvSpPr>
        <p:spPr>
          <a:xfrm>
            <a:off x="1028700" y="6885431"/>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12" name="TextBox 11"/>
          <p:cNvSpPr txBox="1"/>
          <p:nvPr/>
        </p:nvSpPr>
        <p:spPr>
          <a:xfrm>
            <a:off x="1028700" y="77083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happened? What is owed?</a:t>
            </a:r>
          </a:p>
        </p:txBody>
      </p:sp>
      <p:sp>
        <p:nvSpPr>
          <p:cNvPr id="13" name="Rounded Rectangle 12"/>
          <p:cNvSpPr/>
          <p:nvPr/>
        </p:nvSpPr>
        <p:spPr>
          <a:xfrm>
            <a:off x="9395459" y="2948939"/>
            <a:ext cx="8092440" cy="54178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06940" y="3291839"/>
            <a:ext cx="7338059" cy="480060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REAL COORDINATION MEANS</a:t>
            </a:r>
          </a:p>
          <a:p>
            <a:pPr algn="l">
              <a:lnSpc>
                <a:spcPct val="145000"/>
              </a:lnSpc>
            </a:pPr>
            <a:r>
              <a:rPr sz="600" spc="150">
                <a:solidFill>
                  <a:srgbClr val="AFC4C2"/>
                </a:solidFill>
                <a:latin typeface="TT Commons Pro"/>
              </a:rPr>
              <a:t/>
            </a:r>
          </a:p>
          <a:p>
            <a:pPr algn="l">
              <a:lnSpc>
                <a:spcPct val="145000"/>
              </a:lnSpc>
            </a:pPr>
            <a:r>
              <a:rPr sz="1875">
                <a:solidFill>
                  <a:srgbClr val="F2ECDD"/>
                </a:solidFill>
                <a:latin typeface="TT Commons Pro"/>
              </a:rPr>
              <a:t>·  making agreements</a:t>
            </a:r>
          </a:p>
          <a:p>
            <a:pPr algn="l">
              <a:lnSpc>
                <a:spcPct val="145000"/>
              </a:lnSpc>
            </a:pPr>
            <a:r>
              <a:rPr sz="1875">
                <a:solidFill>
                  <a:srgbClr val="F2ECDD"/>
                </a:solidFill>
                <a:latin typeface="TT Commons Pro"/>
              </a:rPr>
              <a:t>·  deciding roles and scheduling</a:t>
            </a:r>
          </a:p>
          <a:p>
            <a:pPr algn="l">
              <a:lnSpc>
                <a:spcPct val="145000"/>
              </a:lnSpc>
            </a:pPr>
            <a:r>
              <a:rPr sz="1875">
                <a:solidFill>
                  <a:srgbClr val="F2ECDD"/>
                </a:solidFill>
                <a:latin typeface="TT Commons Pro"/>
              </a:rPr>
              <a:t>·  sharing resources</a:t>
            </a:r>
          </a:p>
          <a:p>
            <a:pPr algn="l">
              <a:lnSpc>
                <a:spcPct val="145000"/>
              </a:lnSpc>
            </a:pPr>
            <a:r>
              <a:rPr sz="1875">
                <a:solidFill>
                  <a:srgbClr val="F2ECDD"/>
                </a:solidFill>
                <a:latin typeface="TT Commons Pro"/>
              </a:rPr>
              <a:t>·  tracking what happened</a:t>
            </a:r>
          </a:p>
          <a:p>
            <a:pPr algn="l">
              <a:lnSpc>
                <a:spcPct val="145000"/>
              </a:lnSpc>
            </a:pPr>
            <a:r>
              <a:rPr sz="1875">
                <a:solidFill>
                  <a:srgbClr val="F2ECDD"/>
                </a:solidFill>
                <a:latin typeface="TT Commons Pro"/>
              </a:rPr>
              <a:t>·  approving work</a:t>
            </a:r>
          </a:p>
          <a:p>
            <a:pPr algn="l">
              <a:lnSpc>
                <a:spcPct val="145000"/>
              </a:lnSpc>
            </a:pPr>
            <a:r>
              <a:rPr sz="1875">
                <a:solidFill>
                  <a:srgbClr val="F2ECDD"/>
                </a:solidFill>
                <a:latin typeface="TT Commons Pro"/>
              </a:rPr>
              <a:t>·  exchanging value</a:t>
            </a:r>
          </a:p>
          <a:p>
            <a:pPr algn="l">
              <a:lnSpc>
                <a:spcPct val="145000"/>
              </a:lnSpc>
            </a:pPr>
            <a:r>
              <a:rPr sz="750" spc="150">
                <a:solidFill>
                  <a:srgbClr val="AFC4C2"/>
                </a:solidFill>
                <a:latin typeface="TT Commons Pro"/>
              </a:rPr>
              <a:t/>
            </a:r>
          </a:p>
          <a:p>
            <a:pPr algn="l">
              <a:lnSpc>
                <a:spcPct val="145000"/>
              </a:lnSpc>
            </a:pPr>
            <a:r>
              <a:rPr sz="1800">
                <a:solidFill>
                  <a:srgbClr val="EBCF9E"/>
                </a:solidFill>
                <a:latin typeface="TT Commons Pro Bold"/>
              </a:rPr>
              <a:t>Right now, people assemble that process</a:t>
            </a:r>
          </a:p>
          <a:p>
            <a:pPr algn="l">
              <a:lnSpc>
                <a:spcPct val="145000"/>
              </a:lnSpc>
            </a:pPr>
            <a:r>
              <a:rPr sz="1800">
                <a:solidFill>
                  <a:srgbClr val="EBCF9E"/>
                </a:solidFill>
                <a:latin typeface="TT Commons Pro Bold"/>
              </a:rPr>
              <a:t>themselves — every single time.</a:t>
            </a:r>
          </a:p>
        </p:txBody>
      </p:sp>
      <p:sp>
        <p:nvSpPr>
          <p:cNvPr id="15" name="TextBox 1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Coordination overhead prevents useful activity from happening. </a:t>
            </a:r>
            <a:r>
              <a:rPr sz="2100" spc="20">
                <a:solidFill>
                  <a:srgbClr val="9FE8DC"/>
                </a:solidFill>
                <a:latin typeface="Alike Italics"/>
              </a:rPr>
              <a:t>Rivr lowers the friction between wanting to do something together and doing it.</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DIGITAL FRAGMENTATION</a:t>
            </a:r>
          </a:p>
        </p:txBody>
      </p:sp>
      <p:sp>
        <p:nvSpPr>
          <p:cNvPr id="4" name="TextBox 3"/>
          <p:cNvSpPr txBox="1"/>
          <p:nvPr/>
        </p:nvSpPr>
        <p:spPr>
          <a:xfrm>
            <a:off x="822959" y="1699869"/>
            <a:ext cx="12052458" cy="977836"/>
          </a:xfrm>
          <a:prstGeom prst="rect">
            <a:avLst/>
          </a:prstGeom>
          <a:noFill/>
        </p:spPr>
        <p:txBody>
          <a:bodyPr wrap="none" lIns="0" rIns="0" tIns="0" bIns="0">
            <a:spAutoFit/>
          </a:bodyPr>
          <a:lstStyle/>
          <a:p>
            <a:pPr algn="l">
              <a:lnSpc>
                <a:spcPct val="115000"/>
              </a:lnSpc>
            </a:pPr>
            <a:r>
              <a:rPr sz="5309" spc="-75">
                <a:solidFill>
                  <a:srgbClr val="F4EAD8"/>
                </a:solidFill>
                <a:latin typeface="TT Commons Pro Bold"/>
              </a:rPr>
              <a:t>Our digital lives are split across </a:t>
            </a:r>
          </a:p>
        </p:txBody>
      </p:sp>
      <p:sp>
        <p:nvSpPr>
          <p:cNvPr id="5" name="TextBox 4"/>
          <p:cNvSpPr txBox="1"/>
          <p:nvPr/>
        </p:nvSpPr>
        <p:spPr>
          <a:xfrm>
            <a:off x="10300335" y="1645919"/>
            <a:ext cx="6218396" cy="1075620"/>
          </a:xfrm>
          <a:prstGeom prst="rect">
            <a:avLst/>
          </a:prstGeom>
          <a:noFill/>
        </p:spPr>
        <p:txBody>
          <a:bodyPr wrap="none" lIns="0" rIns="0" tIns="0" bIns="0">
            <a:spAutoFit/>
          </a:bodyPr>
          <a:lstStyle/>
          <a:p>
            <a:pPr algn="l">
              <a:lnSpc>
                <a:spcPct val="115000"/>
              </a:lnSpc>
            </a:pPr>
            <a:r>
              <a:rPr sz="5841" spc="-75">
                <a:solidFill>
                  <a:srgbClr val="D3B7A5"/>
                </a:solidFill>
                <a:latin typeface="Ibarra Real Nova Italics"/>
              </a:rPr>
              <a:t>too many places.</a:t>
            </a:r>
          </a:p>
        </p:txBody>
      </p:sp>
      <p:sp>
        <p:nvSpPr>
          <p:cNvPr id="6" name="Rounded Rectangle 5"/>
          <p:cNvSpPr/>
          <p:nvPr/>
        </p:nvSpPr>
        <p:spPr>
          <a:xfrm>
            <a:off x="8229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events</a:t>
            </a:r>
          </a:p>
        </p:txBody>
      </p:sp>
      <p:sp>
        <p:nvSpPr>
          <p:cNvPr id="8" name="Rounded Rectangle 7"/>
          <p:cNvSpPr/>
          <p:nvPr/>
        </p:nvSpPr>
        <p:spPr>
          <a:xfrm>
            <a:off x="29489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89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payments</a:t>
            </a:r>
          </a:p>
        </p:txBody>
      </p:sp>
      <p:sp>
        <p:nvSpPr>
          <p:cNvPr id="10" name="Rounded Rectangle 9"/>
          <p:cNvSpPr/>
          <p:nvPr/>
        </p:nvSpPr>
        <p:spPr>
          <a:xfrm>
            <a:off x="50749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projects</a:t>
            </a:r>
          </a:p>
        </p:txBody>
      </p:sp>
      <p:sp>
        <p:nvSpPr>
          <p:cNvPr id="12" name="Rounded Rectangle 11"/>
          <p:cNvSpPr/>
          <p:nvPr/>
        </p:nvSpPr>
        <p:spPr>
          <a:xfrm>
            <a:off x="720089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89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messages</a:t>
            </a:r>
          </a:p>
        </p:txBody>
      </p:sp>
      <p:sp>
        <p:nvSpPr>
          <p:cNvPr id="14" name="Rounded Rectangle 13"/>
          <p:cNvSpPr/>
          <p:nvPr/>
        </p:nvSpPr>
        <p:spPr>
          <a:xfrm>
            <a:off x="932687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7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markets</a:t>
            </a:r>
          </a:p>
        </p:txBody>
      </p:sp>
      <p:sp>
        <p:nvSpPr>
          <p:cNvPr id="16" name="Rounded Rectangle 15"/>
          <p:cNvSpPr/>
          <p:nvPr/>
        </p:nvSpPr>
        <p:spPr>
          <a:xfrm>
            <a:off x="114528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528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documents</a:t>
            </a:r>
          </a:p>
        </p:txBody>
      </p:sp>
      <p:sp>
        <p:nvSpPr>
          <p:cNvPr id="18" name="Rounded Rectangle 17"/>
          <p:cNvSpPr/>
          <p:nvPr/>
        </p:nvSpPr>
        <p:spPr>
          <a:xfrm>
            <a:off x="135788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788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scheduling</a:t>
            </a:r>
          </a:p>
        </p:txBody>
      </p:sp>
      <p:sp>
        <p:nvSpPr>
          <p:cNvPr id="20" name="Rounded Rectangle 19"/>
          <p:cNvSpPr/>
          <p:nvPr/>
        </p:nvSpPr>
        <p:spPr>
          <a:xfrm>
            <a:off x="157048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048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governance</a:t>
            </a:r>
          </a:p>
        </p:txBody>
      </p:sp>
      <p:sp>
        <p:nvSpPr>
          <p:cNvPr id="22" name="TextBox 21"/>
          <p:cNvSpPr txBox="1"/>
          <p:nvPr/>
        </p:nvSpPr>
        <p:spPr>
          <a:xfrm>
            <a:off x="822959" y="4800600"/>
            <a:ext cx="16596359" cy="548640"/>
          </a:xfrm>
          <a:prstGeom prst="rect">
            <a:avLst/>
          </a:prstGeom>
          <a:noFill/>
        </p:spPr>
        <p:txBody>
          <a:bodyPr wrap="square" lIns="0" rIns="0" tIns="0" bIns="0">
            <a:spAutoFit/>
          </a:bodyPr>
          <a:lstStyle/>
          <a:p>
            <a:pPr algn="ctr">
              <a:lnSpc>
                <a:spcPct val="115000"/>
              </a:lnSpc>
            </a:pPr>
            <a:r>
              <a:rPr sz="2250" spc="20">
                <a:solidFill>
                  <a:srgbClr val="F2ECDD"/>
                </a:solidFill>
                <a:latin typeface="Alike Italics"/>
              </a:rPr>
              <a:t>We spend too much time coordinating the tools meant to help us coordinate.</a:t>
            </a:r>
          </a:p>
        </p:txBody>
      </p:sp>
      <p:sp>
        <p:nvSpPr>
          <p:cNvPr id="23" name="Rounded Rectangle 22"/>
          <p:cNvSpPr/>
          <p:nvPr/>
        </p:nvSpPr>
        <p:spPr>
          <a:xfrm>
            <a:off x="822959" y="5966459"/>
            <a:ext cx="16664940" cy="21259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6240779"/>
            <a:ext cx="15910559" cy="1645919"/>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media evolved toward coordination — </a:t>
            </a:r>
            <a:r>
              <a:rPr sz="1950">
                <a:solidFill>
                  <a:srgbClr val="EBCF9E"/>
                </a:solidFill>
                <a:latin typeface="TT Commons Pro Bold"/>
              </a:rPr>
              <a:t>under extractive incentives.</a:t>
            </a:r>
          </a:p>
          <a:p>
            <a:pPr algn="l">
              <a:lnSpc>
                <a:spcPct val="150000"/>
              </a:lnSpc>
            </a:pPr>
            <a:r>
              <a:rPr sz="1950">
                <a:solidFill>
                  <a:srgbClr val="F2ECDD"/>
                </a:solidFill>
                <a:latin typeface="TT Commons Pro"/>
              </a:rPr>
              <a:t>The problem was not that social networks expanded into groups, events, marketplaces, and business tools.</a:t>
            </a:r>
          </a:p>
          <a:p>
            <a:pPr algn="l">
              <a:lnSpc>
                <a:spcPct val="150000"/>
              </a:lnSpc>
            </a:pPr>
            <a:r>
              <a:rPr sz="1950">
                <a:solidFill>
                  <a:srgbClr val="F2ECDD"/>
                </a:solidFill>
                <a:latin typeface="TT Commons Pro"/>
              </a:rPr>
              <a:t>The problem was the incentive structure underneath them.</a:t>
            </a:r>
          </a:p>
        </p:txBody>
      </p:sp>
      <p:sp>
        <p:nvSpPr>
          <p:cNvPr id="25" name="TextBox 24"/>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platform designed to keep you scrolling behaves differently from one designed</a:t>
            </a:r>
          </a:p>
          <a:p>
            <a:pPr algn="ctr">
              <a:lnSpc>
                <a:spcPct val="140000"/>
              </a:lnSpc>
            </a:pPr>
            <a:r>
              <a:rPr sz="2100" spc="20">
                <a:solidFill>
                  <a:srgbClr val="9FE8DC"/>
                </a:solidFill>
                <a:latin typeface="Alike Italics"/>
              </a:rPr>
              <a:t>to help you find what you need and get on with your life.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mmunity-landscape_3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POSSIBILITY</a:t>
            </a:r>
          </a:p>
        </p:txBody>
      </p:sp>
      <p:sp>
        <p:nvSpPr>
          <p:cNvPr id="4" name="TextBox 3"/>
          <p:cNvSpPr txBox="1"/>
          <p:nvPr/>
        </p:nvSpPr>
        <p:spPr>
          <a:xfrm>
            <a:off x="1234440" y="3154679"/>
            <a:ext cx="15773400" cy="3017520"/>
          </a:xfrm>
          <a:prstGeom prst="rect">
            <a:avLst/>
          </a:prstGeom>
          <a:noFill/>
        </p:spPr>
        <p:txBody>
          <a:bodyPr wrap="square" lIns="0" rIns="0" tIns="0" bIns="0">
            <a:spAutoFit/>
          </a:bodyPr>
          <a:lstStyle/>
          <a:p>
            <a:pPr algn="ctr">
              <a:lnSpc>
                <a:spcPct val="145000"/>
              </a:lnSpc>
            </a:pPr>
            <a:r>
              <a:rPr sz="4500" spc="-75">
                <a:solidFill>
                  <a:srgbClr val="F4EAD8"/>
                </a:solidFill>
                <a:latin typeface="Ibarra Real Nova Italics"/>
              </a:rPr>
              <a:t>What happens when a community</a:t>
            </a:r>
          </a:p>
          <a:p>
            <a:pPr algn="ctr">
              <a:lnSpc>
                <a:spcPct val="145000"/>
              </a:lnSpc>
            </a:pPr>
            <a:r>
              <a:rPr sz="4500" spc="-75">
                <a:solidFill>
                  <a:srgbClr val="F4EAD8"/>
                </a:solidFill>
                <a:latin typeface="Ibarra Real Nova Italics"/>
              </a:rPr>
              <a:t>can actually </a:t>
            </a:r>
            <a:r>
              <a:rPr sz="4500" spc="-75">
                <a:solidFill>
                  <a:srgbClr val="EBCF9E"/>
                </a:solidFill>
                <a:latin typeface="Ibarra Real Nova Italics"/>
              </a:rPr>
              <a:t>see itself?</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Needs find resources.  Skills find opportunities.  People find each other.  Ideas find collaborators.</a:t>
            </a:r>
          </a:p>
          <a:p>
            <a:pPr algn="ctr">
              <a:lnSpc>
                <a:spcPct val="155000"/>
              </a:lnSpc>
            </a:pPr>
            <a:r>
              <a:rPr sz="2100">
                <a:solidFill>
                  <a:srgbClr val="F2ECDD"/>
                </a:solidFill>
                <a:latin typeface="TT Commons Pro"/>
              </a:rPr>
              <a:t>Local businesses find local customers.  Projects find the people who can make them happen.</a:t>
            </a:r>
          </a:p>
          <a:p>
            <a:pPr algn="ctr">
              <a:lnSpc>
                <a:spcPct val="155000"/>
              </a:lnSpc>
            </a:pPr>
            <a:r>
              <a:rPr sz="2250" spc="20">
                <a:solidFill>
                  <a:srgbClr val="9FE8DC"/>
                </a:solidFill>
                <a:latin typeface="Alike Italics"/>
              </a:rPr>
              <a:t>The resources don't always need to be created — sometimes they simply need to be connected.</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MATTERS</a:t>
            </a:r>
          </a:p>
        </p:txBody>
      </p:sp>
      <p:sp>
        <p:nvSpPr>
          <p:cNvPr id="4" name="TextBox 3"/>
          <p:cNvSpPr txBox="1"/>
          <p:nvPr/>
        </p:nvSpPr>
        <p:spPr>
          <a:xfrm>
            <a:off x="822959" y="1645919"/>
            <a:ext cx="12570380" cy="921210"/>
          </a:xfrm>
          <a:prstGeom prst="rect">
            <a:avLst/>
          </a:prstGeom>
          <a:noFill/>
        </p:spPr>
        <p:txBody>
          <a:bodyPr wrap="none" lIns="0" rIns="0" tIns="0" bIns="0">
            <a:spAutoFit/>
          </a:bodyPr>
          <a:lstStyle/>
          <a:p>
            <a:pPr algn="l">
              <a:lnSpc>
                <a:spcPct val="115000"/>
              </a:lnSpc>
            </a:pPr>
            <a:r>
              <a:rPr sz="5002" spc="-75">
                <a:solidFill>
                  <a:srgbClr val="F4EAD8"/>
                </a:solidFill>
                <a:latin typeface="TT Commons Pro Bold"/>
              </a:rPr>
              <a:t>We can search the whole planet — </a:t>
            </a:r>
          </a:p>
        </p:txBody>
      </p:sp>
      <p:sp>
        <p:nvSpPr>
          <p:cNvPr id="5" name="TextBox 4"/>
          <p:cNvSpPr txBox="1"/>
          <p:nvPr/>
        </p:nvSpPr>
        <p:spPr>
          <a:xfrm>
            <a:off x="822959" y="2575236"/>
            <a:ext cx="6891099" cy="921210"/>
          </a:xfrm>
          <a:prstGeom prst="rect">
            <a:avLst/>
          </a:prstGeom>
          <a:noFill/>
        </p:spPr>
        <p:txBody>
          <a:bodyPr wrap="none" lIns="0" rIns="0" tIns="0" bIns="0">
            <a:spAutoFit/>
          </a:bodyPr>
          <a:lstStyle/>
          <a:p>
            <a:pPr algn="l">
              <a:lnSpc>
                <a:spcPct val="115000"/>
              </a:lnSpc>
            </a:pPr>
            <a:r>
              <a:rPr sz="5002" spc="-75">
                <a:solidFill>
                  <a:srgbClr val="F4EAD8"/>
                </a:solidFill>
                <a:latin typeface="TT Commons Pro Bold"/>
              </a:rPr>
              <a:t>and miss the thing </a:t>
            </a:r>
          </a:p>
        </p:txBody>
      </p:sp>
      <p:sp>
        <p:nvSpPr>
          <p:cNvPr id="6" name="TextBox 5"/>
          <p:cNvSpPr txBox="1"/>
          <p:nvPr/>
        </p:nvSpPr>
        <p:spPr>
          <a:xfrm>
            <a:off x="6171247" y="2522658"/>
            <a:ext cx="5599271"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down the street.</a:t>
            </a:r>
          </a:p>
        </p:txBody>
      </p:sp>
      <p:sp>
        <p:nvSpPr>
          <p:cNvPr id="7" name="TextBox 6"/>
          <p:cNvSpPr txBox="1"/>
          <p:nvPr/>
        </p:nvSpPr>
        <p:spPr>
          <a:xfrm>
            <a:off x="822959" y="4046220"/>
            <a:ext cx="8778240" cy="4389120"/>
          </a:xfrm>
          <a:prstGeom prst="rect">
            <a:avLst/>
          </a:prstGeom>
          <a:noFill/>
        </p:spPr>
        <p:txBody>
          <a:bodyPr wrap="square" lIns="0" rIns="0" tIns="0" bIns="0">
            <a:spAutoFit/>
          </a:bodyPr>
          <a:lstStyle/>
          <a:p>
            <a:pPr algn="l">
              <a:lnSpc>
                <a:spcPct val="145000"/>
              </a:lnSpc>
            </a:pPr>
            <a:r>
              <a:rPr sz="2100">
                <a:solidFill>
                  <a:srgbClr val="F2ECDD"/>
                </a:solidFill>
                <a:latin typeface="TT Commons Pro"/>
              </a:rPr>
              <a:t>Someone buys from across the country what a</a:t>
            </a:r>
          </a:p>
          <a:p>
            <a:pPr algn="l">
              <a:lnSpc>
                <a:spcPct val="145000"/>
              </a:lnSpc>
            </a:pPr>
            <a:r>
              <a:rPr sz="2100">
                <a:solidFill>
                  <a:srgbClr val="F2ECDD"/>
                </a:solidFill>
                <a:latin typeface="TT Commons Pro"/>
              </a:rPr>
              <a:t>neighbor already has.</a:t>
            </a:r>
          </a:p>
          <a:p>
            <a:pPr algn="l">
              <a:lnSpc>
                <a:spcPct val="145000"/>
              </a:lnSpc>
            </a:pPr>
            <a:r>
              <a:rPr sz="1200" spc="150">
                <a:solidFill>
                  <a:srgbClr val="AFC4C2"/>
                </a:solidFill>
                <a:latin typeface="TT Commons Pro"/>
              </a:rPr>
              <a:t/>
            </a:r>
          </a:p>
          <a:p>
            <a:pPr algn="l">
              <a:lnSpc>
                <a:spcPct val="145000"/>
              </a:lnSpc>
            </a:pPr>
            <a:r>
              <a:rPr sz="2100">
                <a:solidFill>
                  <a:srgbClr val="F2ECDD"/>
                </a:solidFill>
                <a:latin typeface="TT Commons Pro"/>
              </a:rPr>
              <a:t>A business struggles to find customers while nearby</a:t>
            </a:r>
          </a:p>
          <a:p>
            <a:pPr algn="l">
              <a:lnSpc>
                <a:spcPct val="145000"/>
              </a:lnSpc>
            </a:pPr>
            <a:r>
              <a:rPr sz="2100">
                <a:solidFill>
                  <a:srgbClr val="F2ECDD"/>
                </a:solidFill>
                <a:latin typeface="TT Commons Pro"/>
              </a:rPr>
              <a:t>residents search elsewhere for exactly what it offers.</a:t>
            </a:r>
          </a:p>
          <a:p>
            <a:pPr algn="l">
              <a:lnSpc>
                <a:spcPct val="145000"/>
              </a:lnSpc>
            </a:pPr>
            <a:r>
              <a:rPr sz="1200" spc="150">
                <a:solidFill>
                  <a:srgbClr val="AFC4C2"/>
                </a:solidFill>
                <a:latin typeface="TT Commons Pro"/>
              </a:rPr>
              <a:t/>
            </a:r>
          </a:p>
          <a:p>
            <a:pPr algn="l">
              <a:lnSpc>
                <a:spcPct val="145000"/>
              </a:lnSpc>
            </a:pPr>
            <a:r>
              <a:rPr sz="2100">
                <a:solidFill>
                  <a:srgbClr val="F2ECDD"/>
                </a:solidFill>
                <a:latin typeface="TT Commons Pro"/>
              </a:rPr>
              <a:t>Organizations duplicate work because they</a:t>
            </a:r>
          </a:p>
          <a:p>
            <a:pPr algn="l">
              <a:lnSpc>
                <a:spcPct val="145000"/>
              </a:lnSpc>
            </a:pPr>
            <a:r>
              <a:rPr sz="2100">
                <a:solidFill>
                  <a:srgbClr val="F2ECDD"/>
                </a:solidFill>
                <a:latin typeface="TT Commons Pro"/>
              </a:rPr>
              <a:t>cannot see one another clearly.</a:t>
            </a:r>
          </a:p>
        </p:txBody>
      </p:sp>
      <p:sp>
        <p:nvSpPr>
          <p:cNvPr id="8" name="Rounded Rectangle 7"/>
          <p:cNvSpPr/>
          <p:nvPr/>
        </p:nvSpPr>
        <p:spPr>
          <a:xfrm>
            <a:off x="10287000" y="4046220"/>
            <a:ext cx="7200900" cy="41833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0" y="4457700"/>
            <a:ext cx="6446520" cy="3429000"/>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RIVR BRINGS PLACE BACK</a:t>
            </a:r>
          </a:p>
          <a:p>
            <a:pPr algn="l">
              <a:lnSpc>
                <a:spcPct val="150000"/>
              </a:lnSpc>
            </a:pPr>
            <a:r>
              <a:rPr sz="900" spc="150">
                <a:solidFill>
                  <a:srgbClr val="AFC4C2"/>
                </a:solidFill>
                <a:latin typeface="TT Commons Pro"/>
              </a:rPr>
              <a:t/>
            </a:r>
          </a:p>
          <a:p>
            <a:pPr algn="l">
              <a:lnSpc>
                <a:spcPct val="150000"/>
              </a:lnSpc>
            </a:pPr>
            <a:r>
              <a:rPr sz="1950">
                <a:solidFill>
                  <a:srgbClr val="F2ECDD"/>
                </a:solidFill>
                <a:latin typeface="TT Commons Pro"/>
              </a:rPr>
              <a:t>Not as a wall around a community.</a:t>
            </a:r>
          </a:p>
          <a:p>
            <a:pPr algn="l">
              <a:lnSpc>
                <a:spcPct val="150000"/>
              </a:lnSpc>
            </a:pPr>
            <a:r>
              <a:rPr sz="1950">
                <a:solidFill>
                  <a:srgbClr val="F2ECDD"/>
                </a:solidFill>
                <a:latin typeface="TT Commons Pro"/>
              </a:rPr>
              <a:t>As </a:t>
            </a:r>
            <a:r>
              <a:rPr sz="2250" spc="20">
                <a:solidFill>
                  <a:srgbClr val="EBCF9E"/>
                </a:solidFill>
                <a:latin typeface="Alike Italics"/>
              </a:rPr>
              <a:t>context.</a:t>
            </a:r>
          </a:p>
          <a:p>
            <a:pPr algn="l">
              <a:lnSpc>
                <a:spcPct val="150000"/>
              </a:lnSpc>
            </a:pPr>
            <a:r>
              <a:rPr sz="1200" spc="150">
                <a:solidFill>
                  <a:srgbClr val="AFC4C2"/>
                </a:solidFill>
                <a:latin typeface="TT Commons Pro"/>
              </a:rPr>
              <a:t/>
            </a:r>
          </a:p>
          <a:p>
            <a:pPr algn="l">
              <a:lnSpc>
                <a:spcPct val="150000"/>
              </a:lnSpc>
            </a:pPr>
            <a:r>
              <a:rPr sz="2400" spc="20">
                <a:solidFill>
                  <a:srgbClr val="F4EAD8"/>
                </a:solidFill>
                <a:latin typeface="Alike Italics"/>
              </a:rPr>
              <a:t>Local when possible.</a:t>
            </a:r>
          </a:p>
          <a:p>
            <a:pPr algn="l">
              <a:lnSpc>
                <a:spcPct val="150000"/>
              </a:lnSpc>
            </a:pPr>
            <a:r>
              <a:rPr sz="2400" spc="20">
                <a:solidFill>
                  <a:srgbClr val="F4EAD8"/>
                </a:solidFill>
                <a:latin typeface="Alike Italics"/>
              </a:rPr>
              <a:t>Wider network when needed.</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IS LAYERED</a:t>
            </a:r>
          </a:p>
        </p:txBody>
      </p:sp>
      <p:sp>
        <p:nvSpPr>
          <p:cNvPr id="4" name="TextBox 3"/>
          <p:cNvSpPr txBox="1"/>
          <p:nvPr/>
        </p:nvSpPr>
        <p:spPr>
          <a:xfrm>
            <a:off x="822959" y="1699869"/>
            <a:ext cx="10635615"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Not geographic lock-in — </a:t>
            </a:r>
          </a:p>
        </p:txBody>
      </p:sp>
      <p:sp>
        <p:nvSpPr>
          <p:cNvPr id="5" name="TextBox 4"/>
          <p:cNvSpPr txBox="1"/>
          <p:nvPr/>
        </p:nvSpPr>
        <p:spPr>
          <a:xfrm>
            <a:off x="9166859" y="1645919"/>
            <a:ext cx="7385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layered belonging.</a:t>
            </a:r>
          </a:p>
        </p:txBody>
      </p:sp>
      <p:sp>
        <p:nvSpPr>
          <p:cNvPr id="6" name="TextBox 5"/>
          <p:cNvSpPr txBox="1"/>
          <p:nvPr/>
        </p:nvSpPr>
        <p:spPr>
          <a:xfrm>
            <a:off x="822959" y="3291839"/>
            <a:ext cx="8641080" cy="466344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Place itself can be nested — and people can belong</a:t>
            </a:r>
          </a:p>
          <a:p>
            <a:pPr algn="l">
              <a:lnSpc>
                <a:spcPct val="150000"/>
              </a:lnSpc>
            </a:pPr>
            <a:r>
              <a:rPr sz="2100">
                <a:solidFill>
                  <a:srgbClr val="F2ECDD"/>
                </a:solidFill>
                <a:latin typeface="TT Commons Pro"/>
              </a:rPr>
              <a:t>to several places and communities at once.</a:t>
            </a:r>
          </a:p>
          <a:p>
            <a:pPr algn="l">
              <a:lnSpc>
                <a:spcPct val="150000"/>
              </a:lnSpc>
            </a:pPr>
            <a:r>
              <a:rPr sz="1500">
                <a:solidFill>
                  <a:srgbClr val="AFC4C2"/>
                </a:solidFill>
                <a:latin typeface="TT Commons Pro"/>
              </a:rPr>
              <a:t/>
            </a:r>
          </a:p>
          <a:p>
            <a:pPr algn="l">
              <a:lnSpc>
                <a:spcPct val="150000"/>
              </a:lnSpc>
            </a:pPr>
            <a:r>
              <a:rPr sz="2100">
                <a:solidFill>
                  <a:srgbClr val="F2ECDD"/>
                </a:solidFill>
                <a:latin typeface="TT Commons Pro"/>
              </a:rPr>
              <a:t>The right people, information, resources, and</a:t>
            </a:r>
          </a:p>
          <a:p>
            <a:pPr algn="l">
              <a:lnSpc>
                <a:spcPct val="150000"/>
              </a:lnSpc>
            </a:pPr>
            <a:r>
              <a:rPr sz="2100">
                <a:solidFill>
                  <a:srgbClr val="F2ECDD"/>
                </a:solidFill>
                <a:latin typeface="TT Commons Pro"/>
              </a:rPr>
              <a:t>activity should appear </a:t>
            </a:r>
            <a:r>
              <a:rPr sz="2100">
                <a:solidFill>
                  <a:srgbClr val="9FE8DC"/>
                </a:solidFill>
                <a:latin typeface="TT Commons Pro Bold"/>
              </a:rPr>
              <a:t>at the scope where</a:t>
            </a:r>
          </a:p>
          <a:p>
            <a:pPr algn="l">
              <a:lnSpc>
                <a:spcPct val="150000"/>
              </a:lnSpc>
            </a:pPr>
            <a:r>
              <a:rPr sz="2100">
                <a:solidFill>
                  <a:srgbClr val="9FE8DC"/>
                </a:solidFill>
                <a:latin typeface="TT Commons Pro Bold"/>
              </a:rPr>
              <a:t>they matter.</a:t>
            </a:r>
          </a:p>
        </p:txBody>
      </p:sp>
      <p:sp>
        <p:nvSpPr>
          <p:cNvPr id="7" name="Oval 6"/>
          <p:cNvSpPr/>
          <p:nvPr/>
        </p:nvSpPr>
        <p:spPr>
          <a:xfrm>
            <a:off x="10698480" y="3086100"/>
            <a:ext cx="6035040" cy="60350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212830" y="3600450"/>
            <a:ext cx="5006340" cy="50063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27181" y="4114801"/>
            <a:ext cx="3977639" cy="39776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241531" y="4629151"/>
            <a:ext cx="2948939" cy="29489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755881" y="5143501"/>
            <a:ext cx="1920239" cy="1920239"/>
          </a:xfrm>
          <a:prstGeom prst="ellipse">
            <a:avLst/>
          </a:prstGeom>
          <a:solidFill>
            <a:srgbClr val="062A2C"/>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19" y="5870448"/>
            <a:ext cx="4937760" cy="411479"/>
          </a:xfrm>
          <a:prstGeom prst="rect">
            <a:avLst/>
          </a:prstGeom>
          <a:noFill/>
        </p:spPr>
        <p:txBody>
          <a:bodyPr wrap="square" lIns="0" rIns="0" tIns="0" bIns="0">
            <a:spAutoFit/>
          </a:bodyPr>
          <a:lstStyle/>
          <a:p>
            <a:pPr algn="ctr">
              <a:lnSpc>
                <a:spcPct val="115000"/>
              </a:lnSpc>
            </a:pPr>
            <a:r>
              <a:rPr sz="1200" spc="180">
                <a:solidFill>
                  <a:srgbClr val="EBCF9E"/>
                </a:solidFill>
                <a:latin typeface="Todes 1"/>
              </a:rPr>
              <a:t>HOUSEHOLD</a:t>
            </a:r>
          </a:p>
        </p:txBody>
      </p:sp>
      <p:sp>
        <p:nvSpPr>
          <p:cNvPr id="13" name="TextBox 12"/>
          <p:cNvSpPr txBox="1"/>
          <p:nvPr/>
        </p:nvSpPr>
        <p:spPr>
          <a:xfrm>
            <a:off x="11247119" y="47045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NEIGHBORHOOD</a:t>
            </a:r>
          </a:p>
        </p:txBody>
      </p:sp>
      <p:sp>
        <p:nvSpPr>
          <p:cNvPr id="14" name="TextBox 13"/>
          <p:cNvSpPr txBox="1"/>
          <p:nvPr/>
        </p:nvSpPr>
        <p:spPr>
          <a:xfrm>
            <a:off x="11247119" y="41970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TOWN · ORGANIZATION</a:t>
            </a:r>
          </a:p>
        </p:txBody>
      </p:sp>
      <p:sp>
        <p:nvSpPr>
          <p:cNvPr id="15" name="TextBox 14"/>
          <p:cNvSpPr txBox="1"/>
          <p:nvPr/>
        </p:nvSpPr>
        <p:spPr>
          <a:xfrm>
            <a:off x="11247119" y="36758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WATERSHED · BIOREGION</a:t>
            </a:r>
          </a:p>
        </p:txBody>
      </p:sp>
      <p:sp>
        <p:nvSpPr>
          <p:cNvPr id="16" name="TextBox 15"/>
          <p:cNvSpPr txBox="1"/>
          <p:nvPr/>
        </p:nvSpPr>
        <p:spPr>
          <a:xfrm>
            <a:off x="11247119" y="31683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WIDER NETWORK</a:t>
            </a:r>
          </a:p>
        </p:txBody>
      </p:sp>
      <p:pic>
        <p:nvPicPr>
          <p:cNvPr id="17" name="Picture 1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nnected-place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 ECOLOGY</a:t>
            </a:r>
          </a:p>
        </p:txBody>
      </p:sp>
      <p:sp>
        <p:nvSpPr>
          <p:cNvPr id="4" name="TextBox 3"/>
          <p:cNvSpPr txBox="1"/>
          <p:nvPr/>
        </p:nvSpPr>
        <p:spPr>
          <a:xfrm>
            <a:off x="1234440" y="322326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A river basin tells a different story</a:t>
            </a:r>
          </a:p>
          <a:p>
            <a:pPr algn="ctr">
              <a:lnSpc>
                <a:spcPct val="145000"/>
              </a:lnSpc>
            </a:pPr>
            <a:r>
              <a:rPr sz="4200" spc="-75">
                <a:solidFill>
                  <a:srgbClr val="F4EAD8"/>
                </a:solidFill>
                <a:latin typeface="Ibarra Real Nova Italics"/>
              </a:rPr>
              <a:t>about </a:t>
            </a:r>
            <a:r>
              <a:rPr sz="4200" spc="-75">
                <a:solidFill>
                  <a:srgbClr val="EBCF9E"/>
                </a:solidFill>
                <a:latin typeface="Ibarra Real Nova Italics"/>
              </a:rPr>
              <a:t>where we live.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Water, food, energy, transport, habitat, economy, and culture all move through actual places.</a:t>
            </a:r>
          </a:p>
          <a:p>
            <a:pPr algn="ctr">
              <a:lnSpc>
                <a:spcPct val="155000"/>
              </a:lnSpc>
            </a:pPr>
            <a:r>
              <a:rPr sz="2100">
                <a:solidFill>
                  <a:srgbClr val="F2ECDD"/>
                </a:solidFill>
                <a:latin typeface="TT Commons Pro"/>
              </a:rPr>
              <a:t>The question is not simply what kind of social media comes next — it is what kind of technology</a:t>
            </a:r>
          </a:p>
          <a:p>
            <a:pPr algn="ctr">
              <a:lnSpc>
                <a:spcPct val="155000"/>
              </a:lnSpc>
            </a:pPr>
            <a:r>
              <a:rPr sz="2250" spc="20">
                <a:solidFill>
                  <a:srgbClr val="9FE8DC"/>
                </a:solidFill>
                <a:latin typeface="Alike Italics"/>
              </a:rPr>
              <a:t>helps humans live more intelligently within the places and ecosystems that sustain us.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SOLUTION</a:t>
            </a:r>
          </a:p>
        </p:txBody>
      </p:sp>
      <p:sp>
        <p:nvSpPr>
          <p:cNvPr id="4" name="TextBox 3"/>
          <p:cNvSpPr txBox="1"/>
          <p:nvPr/>
        </p:nvSpPr>
        <p:spPr>
          <a:xfrm>
            <a:off x="822959" y="1699869"/>
            <a:ext cx="13195458"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Rivr makes the resources of a place </a:t>
            </a:r>
          </a:p>
        </p:txBody>
      </p:sp>
      <p:sp>
        <p:nvSpPr>
          <p:cNvPr id="5" name="TextBox 4"/>
          <p:cNvSpPr txBox="1"/>
          <p:nvPr/>
        </p:nvSpPr>
        <p:spPr>
          <a:xfrm>
            <a:off x="11214735" y="1645919"/>
            <a:ext cx="5533786" cy="1043025"/>
          </a:xfrm>
          <a:prstGeom prst="rect">
            <a:avLst/>
          </a:prstGeom>
          <a:noFill/>
        </p:spPr>
        <p:txBody>
          <a:bodyPr wrap="none" lIns="0" rIns="0" tIns="0" bIns="0">
            <a:spAutoFit/>
          </a:bodyPr>
          <a:lstStyle/>
          <a:p>
            <a:pPr algn="l">
              <a:lnSpc>
                <a:spcPct val="115000"/>
              </a:lnSpc>
            </a:pPr>
            <a:r>
              <a:rPr sz="5664" spc="-75">
                <a:solidFill>
                  <a:srgbClr val="F0CC8B"/>
                </a:solidFill>
                <a:latin typeface="Ibarra Real Nova Italics"/>
              </a:rPr>
              <a:t>visible to itself.</a:t>
            </a:r>
          </a:p>
        </p:txBody>
      </p:sp>
      <p:sp>
        <p:nvSpPr>
          <p:cNvPr id="6" name="TextBox 5"/>
          <p:cNvSpPr txBox="1"/>
          <p:nvPr/>
        </p:nvSpPr>
        <p:spPr>
          <a:xfrm>
            <a:off x="822959" y="2954060"/>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A PLACE-BASED SOCIAL AND ECONOMIC NETWORK</a:t>
            </a:r>
          </a:p>
        </p:txBody>
      </p:sp>
      <p:sp>
        <p:nvSpPr>
          <p:cNvPr id="7" name="Rounded Rectangle 6"/>
          <p:cNvSpPr/>
          <p:nvPr/>
        </p:nvSpPr>
        <p:spPr>
          <a:xfrm>
            <a:off x="8229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what's nearby</a:t>
            </a:r>
          </a:p>
        </p:txBody>
      </p:sp>
      <p:sp>
        <p:nvSpPr>
          <p:cNvPr id="9" name="Rounded Rectangle 8"/>
          <p:cNvSpPr/>
          <p:nvPr/>
        </p:nvSpPr>
        <p:spPr>
          <a:xfrm>
            <a:off x="648080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discover + create events</a:t>
            </a:r>
          </a:p>
        </p:txBody>
      </p:sp>
      <p:sp>
        <p:nvSpPr>
          <p:cNvPr id="11" name="Rounded Rectangle 10"/>
          <p:cNvSpPr/>
          <p:nvPr/>
        </p:nvSpPr>
        <p:spPr>
          <a:xfrm>
            <a:off x="121386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 + ask</a:t>
            </a:r>
          </a:p>
        </p:txBody>
      </p:sp>
      <p:sp>
        <p:nvSpPr>
          <p:cNvPr id="13" name="Rounded Rectangle 12"/>
          <p:cNvSpPr/>
          <p:nvPr/>
        </p:nvSpPr>
        <p:spPr>
          <a:xfrm>
            <a:off x="8229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work · hire well</a:t>
            </a:r>
          </a:p>
        </p:txBody>
      </p:sp>
      <p:sp>
        <p:nvSpPr>
          <p:cNvPr id="15" name="Rounded Rectangle 14"/>
          <p:cNvSpPr/>
          <p:nvPr/>
        </p:nvSpPr>
        <p:spPr>
          <a:xfrm>
            <a:off x="648080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groups</a:t>
            </a:r>
          </a:p>
        </p:txBody>
      </p:sp>
      <p:sp>
        <p:nvSpPr>
          <p:cNvPr id="17" name="Rounded Rectangle 16"/>
          <p:cNvSpPr/>
          <p:nvPr/>
        </p:nvSpPr>
        <p:spPr>
          <a:xfrm>
            <a:off x="121386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build projects together</a:t>
            </a:r>
          </a:p>
        </p:txBody>
      </p:sp>
      <p:sp>
        <p:nvSpPr>
          <p:cNvPr id="19" name="Rounded Rectangle 18"/>
          <p:cNvSpPr/>
          <p:nvPr/>
        </p:nvSpPr>
        <p:spPr>
          <a:xfrm>
            <a:off x="8229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roles + tasks</a:t>
            </a:r>
          </a:p>
        </p:txBody>
      </p:sp>
      <p:sp>
        <p:nvSpPr>
          <p:cNvPr id="21" name="Rounded Rectangle 20"/>
          <p:cNvSpPr/>
          <p:nvPr/>
        </p:nvSpPr>
        <p:spPr>
          <a:xfrm>
            <a:off x="648080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080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exchange value</a:t>
            </a:r>
          </a:p>
        </p:txBody>
      </p:sp>
      <p:sp>
        <p:nvSpPr>
          <p:cNvPr id="23" name="Rounded Rectangle 22"/>
          <p:cNvSpPr/>
          <p:nvPr/>
        </p:nvSpPr>
        <p:spPr>
          <a:xfrm>
            <a:off x="121386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1386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coordinate action</a:t>
            </a:r>
          </a:p>
        </p:txBody>
      </p:sp>
      <p:sp>
        <p:nvSpPr>
          <p:cNvPr id="25" name="TextBox 2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Less searching through disconnected platforms. </a:t>
            </a:r>
            <a:r>
              <a:rPr sz="2100">
                <a:solidFill>
                  <a:srgbClr val="F4EAD8"/>
                </a:solidFill>
                <a:latin typeface="TT Commons Pro Bold"/>
              </a:rPr>
              <a:t>More actually doing things together.</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FAMILIAR ON THE SURFACE</a:t>
            </a:r>
          </a:p>
        </p:txBody>
      </p:sp>
      <p:sp>
        <p:nvSpPr>
          <p:cNvPr id="4" name="TextBox 3"/>
          <p:cNvSpPr txBox="1"/>
          <p:nvPr/>
        </p:nvSpPr>
        <p:spPr>
          <a:xfrm>
            <a:off x="822959" y="1699869"/>
            <a:ext cx="10397490"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The social network is the </a:t>
            </a:r>
          </a:p>
        </p:txBody>
      </p:sp>
      <p:sp>
        <p:nvSpPr>
          <p:cNvPr id="5" name="TextBox 4"/>
          <p:cNvSpPr txBox="1"/>
          <p:nvPr/>
        </p:nvSpPr>
        <p:spPr>
          <a:xfrm>
            <a:off x="8976360" y="1645919"/>
            <a:ext cx="748045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familiar doorway.</a:t>
            </a:r>
          </a:p>
        </p:txBody>
      </p:sp>
      <p:sp>
        <p:nvSpPr>
          <p:cNvPr id="6" name="Rounded Rectangle 5"/>
          <p:cNvSpPr/>
          <p:nvPr/>
        </p:nvSpPr>
        <p:spPr>
          <a:xfrm>
            <a:off x="8229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profiles</a:t>
            </a:r>
          </a:p>
        </p:txBody>
      </p:sp>
      <p:sp>
        <p:nvSpPr>
          <p:cNvPr id="8" name="Rounded Rectangle 7"/>
          <p:cNvSpPr/>
          <p:nvPr/>
        </p:nvSpPr>
        <p:spPr>
          <a:xfrm>
            <a:off x="50520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520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posts</a:t>
            </a:r>
          </a:p>
        </p:txBody>
      </p:sp>
      <p:sp>
        <p:nvSpPr>
          <p:cNvPr id="10" name="Rounded Rectangle 9"/>
          <p:cNvSpPr/>
          <p:nvPr/>
        </p:nvSpPr>
        <p:spPr>
          <a:xfrm>
            <a:off x="92811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feeds</a:t>
            </a:r>
          </a:p>
        </p:txBody>
      </p:sp>
      <p:sp>
        <p:nvSpPr>
          <p:cNvPr id="12" name="Rounded Rectangle 11"/>
          <p:cNvSpPr/>
          <p:nvPr/>
        </p:nvSpPr>
        <p:spPr>
          <a:xfrm>
            <a:off x="135102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102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14" name="Rounded Rectangle 13"/>
          <p:cNvSpPr/>
          <p:nvPr/>
        </p:nvSpPr>
        <p:spPr>
          <a:xfrm>
            <a:off x="8229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groups</a:t>
            </a:r>
          </a:p>
        </p:txBody>
      </p:sp>
      <p:sp>
        <p:nvSpPr>
          <p:cNvPr id="16" name="Rounded Rectangle 15"/>
          <p:cNvSpPr/>
          <p:nvPr/>
        </p:nvSpPr>
        <p:spPr>
          <a:xfrm>
            <a:off x="50520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20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messages</a:t>
            </a:r>
          </a:p>
        </p:txBody>
      </p:sp>
      <p:sp>
        <p:nvSpPr>
          <p:cNvPr id="18" name="Rounded Rectangle 17"/>
          <p:cNvSpPr/>
          <p:nvPr/>
        </p:nvSpPr>
        <p:spPr>
          <a:xfrm>
            <a:off x="92811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offers</a:t>
            </a:r>
          </a:p>
        </p:txBody>
      </p:sp>
      <p:sp>
        <p:nvSpPr>
          <p:cNvPr id="20" name="Rounded Rectangle 19"/>
          <p:cNvSpPr/>
          <p:nvPr/>
        </p:nvSpPr>
        <p:spPr>
          <a:xfrm>
            <a:off x="135102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102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22" name="Rounded Rectangle 21"/>
          <p:cNvSpPr/>
          <p:nvPr/>
        </p:nvSpPr>
        <p:spPr>
          <a:xfrm>
            <a:off x="8229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products</a:t>
            </a:r>
          </a:p>
        </p:txBody>
      </p:sp>
      <p:sp>
        <p:nvSpPr>
          <p:cNvPr id="24" name="Rounded Rectangle 23"/>
          <p:cNvSpPr/>
          <p:nvPr/>
        </p:nvSpPr>
        <p:spPr>
          <a:xfrm>
            <a:off x="50520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520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services</a:t>
            </a:r>
          </a:p>
        </p:txBody>
      </p:sp>
      <p:sp>
        <p:nvSpPr>
          <p:cNvPr id="26" name="Rounded Rectangle 25"/>
          <p:cNvSpPr/>
          <p:nvPr/>
        </p:nvSpPr>
        <p:spPr>
          <a:xfrm>
            <a:off x="92811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28" name="Rounded Rectangle 27"/>
          <p:cNvSpPr/>
          <p:nvPr/>
        </p:nvSpPr>
        <p:spPr>
          <a:xfrm>
            <a:off x="135102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102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local discovery</a:t>
            </a:r>
          </a:p>
        </p:txBody>
      </p:sp>
      <p:sp>
        <p:nvSpPr>
          <p:cNvPr id="30" name="TextBox 2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Rivr should still feel alive and social — expression, personality, interests, and relationships matter.</a:t>
            </a:r>
          </a:p>
          <a:p>
            <a:pPr algn="ctr">
              <a:lnSpc>
                <a:spcPct val="140000"/>
              </a:lnSpc>
            </a:pPr>
            <a:r>
              <a:rPr sz="2250" spc="20">
                <a:solidFill>
                  <a:srgbClr val="EBCF9E"/>
                </a:solidFill>
                <a:latin typeface="Alike Italics"/>
              </a:rPr>
              <a:t>Economic relationships often begin as human relationships.</a:t>
            </a:r>
          </a:p>
        </p:txBody>
      </p:sp>
      <p:pic>
        <p:nvPicPr>
          <p:cNvPr id="31" name="Picture 3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USEFUL DISCOVERY</a:t>
            </a:r>
          </a:p>
        </p:txBody>
      </p:sp>
      <p:sp>
        <p:nvSpPr>
          <p:cNvPr id="4" name="TextBox 3"/>
          <p:cNvSpPr txBox="1"/>
          <p:nvPr/>
        </p:nvSpPr>
        <p:spPr>
          <a:xfrm>
            <a:off x="822959" y="1717852"/>
            <a:ext cx="3170396"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Useful </a:t>
            </a:r>
          </a:p>
        </p:txBody>
      </p:sp>
      <p:sp>
        <p:nvSpPr>
          <p:cNvPr id="5" name="TextBox 4"/>
          <p:cNvSpPr txBox="1"/>
          <p:nvPr/>
        </p:nvSpPr>
        <p:spPr>
          <a:xfrm>
            <a:off x="3194685" y="1645919"/>
            <a:ext cx="5253990" cy="1238592"/>
          </a:xfrm>
          <a:prstGeom prst="rect">
            <a:avLst/>
          </a:prstGeom>
          <a:noFill/>
        </p:spPr>
        <p:txBody>
          <a:bodyPr wrap="none" lIns="0" rIns="0" tIns="0" bIns="0">
            <a:spAutoFit/>
          </a:bodyPr>
          <a:lstStyle/>
          <a:p>
            <a:pPr algn="l">
              <a:lnSpc>
                <a:spcPct val="115000"/>
              </a:lnSpc>
            </a:pPr>
            <a:r>
              <a:rPr sz="6725" spc="-75">
                <a:solidFill>
                  <a:srgbClr val="EBCF9E"/>
                </a:solidFill>
                <a:latin typeface="Ibarra Real Nova Italics"/>
              </a:rPr>
              <a:t>serendipity.</a:t>
            </a:r>
          </a:p>
        </p:txBody>
      </p:sp>
      <p:sp>
        <p:nvSpPr>
          <p:cNvPr id="6" name="Rounded Rectangle 5"/>
          <p:cNvSpPr/>
          <p:nvPr/>
        </p:nvSpPr>
        <p:spPr>
          <a:xfrm>
            <a:off x="822959" y="3291839"/>
            <a:ext cx="8092440" cy="30175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703320"/>
            <a:ext cx="7269479" cy="233172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SHOW ME WHAT I'M LOOKING FOR</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know exactly what we need — a person, a service, a tool, a venue, tonight's event.</a:t>
            </a:r>
          </a:p>
        </p:txBody>
      </p:sp>
      <p:sp>
        <p:nvSpPr>
          <p:cNvPr id="8" name="Rounded Rectangle 7"/>
          <p:cNvSpPr/>
          <p:nvPr/>
        </p:nvSpPr>
        <p:spPr>
          <a:xfrm>
            <a:off x="9395459" y="3291839"/>
            <a:ext cx="8092440" cy="301752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703320"/>
            <a:ext cx="7269479" cy="2331720"/>
          </a:xfrm>
          <a:prstGeom prst="rect">
            <a:avLst/>
          </a:prstGeom>
          <a:noFill/>
        </p:spPr>
        <p:txBody>
          <a:bodyPr wrap="square" lIns="0" rIns="0" tIns="0" bIns="0">
            <a:spAutoFit/>
          </a:bodyPr>
          <a:lstStyle/>
          <a:p>
            <a:pPr algn="l">
              <a:lnSpc>
                <a:spcPct val="145000"/>
              </a:lnSpc>
            </a:pPr>
            <a:r>
              <a:rPr sz="1500" spc="180">
                <a:solidFill>
                  <a:srgbClr val="EBCF9E"/>
                </a:solidFill>
                <a:latin typeface="Todes 1"/>
              </a:rPr>
              <a:t>AND WHAT I'D BE GLAD TO KNOW EXISTS</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don't know what is possible yet — a project, a skill nearby, an opportunity we didn't know to search for.</a:t>
            </a:r>
          </a:p>
        </p:txBody>
      </p:sp>
      <p:sp>
        <p:nvSpPr>
          <p:cNvPr id="10" name="TextBox 9"/>
          <p:cNvSpPr txBox="1"/>
          <p:nvPr/>
        </p:nvSpPr>
        <p:spPr>
          <a:xfrm>
            <a:off x="822959" y="726947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Not random noise. Not whoever paid to be inserted into the feed.</a:t>
            </a:r>
          </a:p>
          <a:p>
            <a:pPr algn="ctr">
              <a:lnSpc>
                <a:spcPct val="140000"/>
              </a:lnSpc>
            </a:pPr>
            <a:r>
              <a:rPr sz="2250" spc="20">
                <a:solidFill>
                  <a:srgbClr val="9FE8DC"/>
                </a:solidFill>
                <a:latin typeface="Alike Italics"/>
              </a:rPr>
              <a:t>Discovery optimized for the user's world — not advertiser demand.</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DISCOVERY BECOMES PARTICIPATION</a:t>
            </a:r>
          </a:p>
        </p:txBody>
      </p:sp>
      <p:sp>
        <p:nvSpPr>
          <p:cNvPr id="4" name="TextBox 3"/>
          <p:cNvSpPr txBox="1"/>
          <p:nvPr/>
        </p:nvSpPr>
        <p:spPr>
          <a:xfrm>
            <a:off x="822959" y="1699869"/>
            <a:ext cx="10605849" cy="977836"/>
          </a:xfrm>
          <a:prstGeom prst="rect">
            <a:avLst/>
          </a:prstGeom>
          <a:noFill/>
        </p:spPr>
        <p:txBody>
          <a:bodyPr wrap="none" lIns="0" rIns="0" tIns="0" bIns="0">
            <a:spAutoFit/>
          </a:bodyPr>
          <a:lstStyle/>
          <a:p>
            <a:pPr algn="l">
              <a:lnSpc>
                <a:spcPct val="115000"/>
              </a:lnSpc>
            </a:pPr>
            <a:r>
              <a:rPr sz="5309" spc="-75">
                <a:solidFill>
                  <a:srgbClr val="F4EAD8"/>
                </a:solidFill>
                <a:latin typeface="TT Commons Pro Bold"/>
              </a:rPr>
              <a:t>Finding one another is only </a:t>
            </a:r>
          </a:p>
        </p:txBody>
      </p:sp>
      <p:sp>
        <p:nvSpPr>
          <p:cNvPr id="5" name="TextBox 4"/>
          <p:cNvSpPr txBox="1"/>
          <p:nvPr/>
        </p:nvSpPr>
        <p:spPr>
          <a:xfrm>
            <a:off x="9143047" y="1645919"/>
            <a:ext cx="5515927"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the beginning.</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ARC OF PARTICIPATION</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discover → trust → agree → organize →</a:t>
            </a:r>
          </a:p>
          <a:p>
            <a:pPr algn="ctr">
              <a:lnSpc>
                <a:spcPct val="140000"/>
              </a:lnSpc>
            </a:pPr>
            <a:r>
              <a:rPr sz="2550">
                <a:solidFill>
                  <a:srgbClr val="9FE8DC"/>
                </a:solidFill>
                <a:latin typeface="Ibarra Real Nova Italics"/>
              </a:rPr>
              <a:t>act → verify → account → compensate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person finds a project. The project creates a role. The role has tasks. The person fulfills them.</a:t>
            </a:r>
          </a:p>
          <a:p>
            <a:pPr algn="ctr">
              <a:lnSpc>
                <a:spcPct val="150000"/>
              </a:lnSpc>
            </a:pPr>
            <a:r>
              <a:rPr sz="1950">
                <a:solidFill>
                  <a:srgbClr val="F2ECDD"/>
                </a:solidFill>
                <a:latin typeface="TT Commons Pro"/>
              </a:rPr>
              <a:t>The contribution is recorded. Value moves. The organization sees what happened.</a:t>
            </a:r>
          </a:p>
          <a:p>
            <a:pPr algn="ctr">
              <a:lnSpc>
                <a:spcPct val="150000"/>
              </a:lnSpc>
            </a:pPr>
            <a:r>
              <a:rPr sz="2025">
                <a:solidFill>
                  <a:srgbClr val="EBCF9E"/>
                </a:solidFill>
                <a:latin typeface="TT Commons Pro Bold"/>
              </a:rPr>
              <a:t>The person builds a history of real participation.</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CONTRIBUTION OVER POPULARITY</a:t>
            </a:r>
          </a:p>
        </p:txBody>
      </p:sp>
      <p:sp>
        <p:nvSpPr>
          <p:cNvPr id="4" name="TextBox 3"/>
          <p:cNvSpPr txBox="1"/>
          <p:nvPr/>
        </p:nvSpPr>
        <p:spPr>
          <a:xfrm>
            <a:off x="822959" y="1699869"/>
            <a:ext cx="13278802" cy="880052"/>
          </a:xfrm>
          <a:prstGeom prst="rect">
            <a:avLst/>
          </a:prstGeom>
          <a:noFill/>
        </p:spPr>
        <p:txBody>
          <a:bodyPr wrap="none" lIns="0" rIns="0" tIns="0" bIns="0">
            <a:spAutoFit/>
          </a:bodyPr>
          <a:lstStyle/>
          <a:p>
            <a:pPr algn="l">
              <a:lnSpc>
                <a:spcPct val="115000"/>
              </a:lnSpc>
            </a:pPr>
            <a:r>
              <a:rPr sz="4779" spc="-75">
                <a:solidFill>
                  <a:srgbClr val="F4EAD8"/>
                </a:solidFill>
                <a:latin typeface="TT Commons Pro Bold"/>
              </a:rPr>
              <a:t>Contribution can become more visible </a:t>
            </a:r>
          </a:p>
        </p:txBody>
      </p:sp>
      <p:sp>
        <p:nvSpPr>
          <p:cNvPr id="5" name="TextBox 4"/>
          <p:cNvSpPr txBox="1"/>
          <p:nvPr/>
        </p:nvSpPr>
        <p:spPr>
          <a:xfrm>
            <a:off x="11281409" y="1645919"/>
            <a:ext cx="5783818" cy="977836"/>
          </a:xfrm>
          <a:prstGeom prst="rect">
            <a:avLst/>
          </a:prstGeom>
          <a:noFill/>
        </p:spPr>
        <p:txBody>
          <a:bodyPr wrap="none" lIns="0" rIns="0" tIns="0" bIns="0">
            <a:spAutoFit/>
          </a:bodyPr>
          <a:lstStyle/>
          <a:p>
            <a:pPr algn="l">
              <a:lnSpc>
                <a:spcPct val="115000"/>
              </a:lnSpc>
            </a:pPr>
            <a:r>
              <a:rPr sz="5309" spc="-75">
                <a:solidFill>
                  <a:srgbClr val="F0CC8B"/>
                </a:solidFill>
                <a:latin typeface="Ibarra Real Nova Italics"/>
              </a:rPr>
              <a:t>than popularity.</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PLATFORMS MEASURE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Followers. Likes. Views. Engagement.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A popularity score — tuned to keep</a:t>
            </a:r>
          </a:p>
          <a:p>
            <a:pPr algn="l">
              <a:lnSpc>
                <a:spcPct val="140000"/>
              </a:lnSpc>
            </a:pPr>
            <a:r>
              <a:rPr sz="1979">
                <a:solidFill>
                  <a:srgbClr val="F2ECDD"/>
                </a:solidFill>
                <a:latin typeface="TT Commons Pro"/>
              </a:rPr>
              <a:t>people performing for the feed.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ANOTHER SIGNAL MATTERS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What have you actually contributed?</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Helped with projects · completed work · offered</a:t>
            </a:r>
          </a:p>
          <a:p>
            <a:pPr algn="l">
              <a:lnSpc>
                <a:spcPct val="140000"/>
              </a:lnSpc>
            </a:pPr>
            <a:r>
              <a:rPr sz="1979">
                <a:solidFill>
                  <a:srgbClr val="F2ECDD"/>
                </a:solidFill>
                <a:latin typeface="TT Commons Pro"/>
              </a:rPr>
              <a:t>skills · shown up · supported people · created value.</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Participation becomes legible — context for trust, qualification, reputation, compensation, and stake.</a:t>
            </a:r>
          </a:p>
          <a:p>
            <a:pPr algn="ctr">
              <a:lnSpc>
                <a:spcPct val="140000"/>
              </a:lnSpc>
            </a:pPr>
            <a:r>
              <a:rPr sz="2175" spc="20">
                <a:solidFill>
                  <a:srgbClr val="9FE8DC"/>
                </a:solidFill>
                <a:latin typeface="Alike Italics"/>
              </a:rPr>
              <a:t>Trust grows through real participation, not follower counts.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TRUST</a:t>
            </a:r>
          </a:p>
        </p:txBody>
      </p:sp>
      <p:sp>
        <p:nvSpPr>
          <p:cNvPr id="4" name="TextBox 3"/>
          <p:cNvSpPr txBox="1"/>
          <p:nvPr/>
        </p:nvSpPr>
        <p:spPr>
          <a:xfrm>
            <a:off x="822959" y="1717852"/>
            <a:ext cx="6575583"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Trust is part of </a:t>
            </a:r>
          </a:p>
        </p:txBody>
      </p:sp>
      <p:sp>
        <p:nvSpPr>
          <p:cNvPr id="5" name="TextBox 4"/>
          <p:cNvSpPr txBox="1"/>
          <p:nvPr/>
        </p:nvSpPr>
        <p:spPr>
          <a:xfrm>
            <a:off x="5918835" y="1645919"/>
            <a:ext cx="6021943" cy="1238592"/>
          </a:xfrm>
          <a:prstGeom prst="rect">
            <a:avLst/>
          </a:prstGeom>
          <a:noFill/>
        </p:spPr>
        <p:txBody>
          <a:bodyPr wrap="none" lIns="0" rIns="0" tIns="0" bIns="0">
            <a:spAutoFit/>
          </a:bodyPr>
          <a:lstStyle/>
          <a:p>
            <a:pPr algn="l">
              <a:lnSpc>
                <a:spcPct val="115000"/>
              </a:lnSpc>
            </a:pPr>
            <a:r>
              <a:rPr sz="6725" spc="-75">
                <a:solidFill>
                  <a:srgbClr val="99E6D9"/>
                </a:solidFill>
                <a:latin typeface="Ibarra Real Nova Italics"/>
              </a:rPr>
              <a:t>coordination.</a:t>
            </a:r>
          </a:p>
        </p:txBody>
      </p:sp>
      <p:sp>
        <p:nvSpPr>
          <p:cNvPr id="6" name="TextBox 5"/>
          <p:cNvSpPr txBox="1"/>
          <p:nvPr/>
        </p:nvSpPr>
        <p:spPr>
          <a:xfrm>
            <a:off x="822959"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Who is this person?</a:t>
            </a:r>
          </a:p>
        </p:txBody>
      </p:sp>
      <p:sp>
        <p:nvSpPr>
          <p:cNvPr id="7" name="TextBox 6"/>
          <p:cNvSpPr txBox="1"/>
          <p:nvPr/>
        </p:nvSpPr>
        <p:spPr>
          <a:xfrm>
            <a:off x="9436607"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Are they part of my community?</a:t>
            </a:r>
          </a:p>
        </p:txBody>
      </p:sp>
      <p:sp>
        <p:nvSpPr>
          <p:cNvPr id="8" name="TextBox 7"/>
          <p:cNvSpPr txBox="1"/>
          <p:nvPr/>
        </p:nvSpPr>
        <p:spPr>
          <a:xfrm>
            <a:off x="822959"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have they done?</a:t>
            </a:r>
          </a:p>
        </p:txBody>
      </p:sp>
      <p:sp>
        <p:nvSpPr>
          <p:cNvPr id="9" name="TextBox 8"/>
          <p:cNvSpPr txBox="1"/>
          <p:nvPr/>
        </p:nvSpPr>
        <p:spPr>
          <a:xfrm>
            <a:off x="9436607"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they have the relevant skill?</a:t>
            </a:r>
          </a:p>
        </p:txBody>
      </p:sp>
      <p:sp>
        <p:nvSpPr>
          <p:cNvPr id="10" name="TextBox 9"/>
          <p:cNvSpPr txBox="1"/>
          <p:nvPr/>
        </p:nvSpPr>
        <p:spPr>
          <a:xfrm>
            <a:off x="822959"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we share relationships?</a:t>
            </a:r>
          </a:p>
        </p:txBody>
      </p:sp>
      <p:sp>
        <p:nvSpPr>
          <p:cNvPr id="11" name="TextBox 10"/>
          <p:cNvSpPr txBox="1"/>
          <p:nvPr/>
        </p:nvSpPr>
        <p:spPr>
          <a:xfrm>
            <a:off x="9436607"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Have they contributed before?</a:t>
            </a:r>
          </a:p>
        </p:txBody>
      </p:sp>
      <p:sp>
        <p:nvSpPr>
          <p:cNvPr id="12" name="Rounded Rectangle 11"/>
          <p:cNvSpPr/>
          <p:nvPr/>
        </p:nvSpPr>
        <p:spPr>
          <a:xfrm>
            <a:off x="822959" y="6761210"/>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7008098"/>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Finding the resource is not enough — we also need </a:t>
            </a:r>
            <a:r>
              <a:rPr sz="2250" spc="20">
                <a:solidFill>
                  <a:srgbClr val="9FE8DC"/>
                </a:solidFill>
                <a:latin typeface="Alike Italics"/>
              </a:rPr>
              <a:t>enough context to act.</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Trust can emerge from relationships, history, qualifications, references,</a:t>
            </a:r>
          </a:p>
          <a:p>
            <a:pPr algn="ctr">
              <a:lnSpc>
                <a:spcPct val="140000"/>
              </a:lnSpc>
            </a:pPr>
            <a:r>
              <a:rPr sz="1950">
                <a:solidFill>
                  <a:srgbClr val="EBCF9E"/>
                </a:solidFill>
                <a:latin typeface="TT Commons Pro Bold"/>
              </a:rPr>
              <a:t>reputation, verified claims, group membership, and contribution.</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OVERVIEW</a:t>
            </a:r>
          </a:p>
        </p:txBody>
      </p:sp>
      <p:sp>
        <p:nvSpPr>
          <p:cNvPr id="4" name="TextBox 3"/>
          <p:cNvSpPr txBox="1"/>
          <p:nvPr/>
        </p:nvSpPr>
        <p:spPr>
          <a:xfrm>
            <a:off x="822959" y="1699869"/>
            <a:ext cx="9772411"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Familiar on the surface. </a:t>
            </a:r>
          </a:p>
        </p:txBody>
      </p:sp>
      <p:sp>
        <p:nvSpPr>
          <p:cNvPr id="5" name="TextBox 4"/>
          <p:cNvSpPr txBox="1"/>
          <p:nvPr/>
        </p:nvSpPr>
        <p:spPr>
          <a:xfrm>
            <a:off x="8476297" y="1645919"/>
            <a:ext cx="8909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Powerful underneath.</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genuinely useful local social network — feeds, profiles, groups, events, markets, jobs, and local discovery.</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AN ORGANIZATION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Tools for coordinating people, work, resources, and exchange — projects, roles, tasks, scheduling, payments, documents, governance, inventory.</a:t>
            </a:r>
          </a:p>
        </p:txBody>
      </p:sp>
      <p:sp>
        <p:nvSpPr>
          <p:cNvPr id="10" name="Rounded Rectangle 9"/>
          <p:cNvSpPr/>
          <p:nvPr/>
        </p:nvSpPr>
        <p:spPr>
          <a:xfrm>
            <a:off x="12134087" y="3429000"/>
            <a:ext cx="5353812" cy="34975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EBCF9E"/>
                </a:solidFill>
                <a:latin typeface="Todes 1"/>
              </a:rPr>
              <a:t>FOR 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living map of what that place has, needs, knows, makes, and can do.</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these functions live across many disconnected products. </a:t>
            </a:r>
            <a:r>
              <a:rPr sz="1950">
                <a:solidFill>
                  <a:srgbClr val="F4EAD8"/>
                </a:solidFill>
                <a:latin typeface="TT Commons Pro Bold"/>
              </a:rPr>
              <a:t>Rivr brings them into one connected ecosystem.</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EVERYDAY LIFE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Resilience is built partly through</a:t>
            </a:r>
          </a:p>
          <a:p>
            <a:pPr algn="ctr">
              <a:lnSpc>
                <a:spcPct val="145000"/>
              </a:lnSpc>
            </a:pPr>
            <a:r>
              <a:rPr sz="4500" spc="-75">
                <a:solidFill>
                  <a:srgbClr val="EBCF9E"/>
                </a:solidFill>
                <a:latin typeface="Ibarra Real Nova Italics"/>
              </a:rPr>
              <a:t>ordinary life.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Neighbors see who has extra food. Someone finds the ladder. Someone finds childcare.</a:t>
            </a:r>
          </a:p>
          <a:p>
            <a:pPr algn="ctr">
              <a:lnSpc>
                <a:spcPct val="155000"/>
              </a:lnSpc>
            </a:pPr>
            <a:r>
              <a:rPr sz="2100">
                <a:solidFill>
                  <a:srgbClr val="F2ECDD"/>
                </a:solidFill>
                <a:latin typeface="TT Commons Pro"/>
              </a:rPr>
              <a:t>A neighborhood organizes a work party. A household tracks shared purchases.</a:t>
            </a:r>
          </a:p>
          <a:p>
            <a:pPr algn="ctr">
              <a:lnSpc>
                <a:spcPct val="155000"/>
              </a:lnSpc>
            </a:pPr>
            <a:r>
              <a:rPr sz="2250" spc="20">
                <a:solidFill>
                  <a:srgbClr val="9FE8DC"/>
                </a:solidFill>
                <a:latin typeface="Alike Italics"/>
              </a:rPr>
              <a:t>Rivr is not only for formal organizations.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ORGANIZATIONS NEED MORE THAN A FEED</a:t>
            </a:r>
          </a:p>
        </p:txBody>
      </p:sp>
      <p:sp>
        <p:nvSpPr>
          <p:cNvPr id="4" name="TextBox 3"/>
          <p:cNvSpPr txBox="1"/>
          <p:nvPr/>
        </p:nvSpPr>
        <p:spPr>
          <a:xfrm>
            <a:off x="822959" y="1699869"/>
            <a:ext cx="12695396" cy="912647"/>
          </a:xfrm>
          <a:prstGeom prst="rect">
            <a:avLst/>
          </a:prstGeom>
          <a:noFill/>
        </p:spPr>
        <p:txBody>
          <a:bodyPr wrap="none" lIns="0" rIns="0" tIns="0" bIns="0">
            <a:spAutoFit/>
          </a:bodyPr>
          <a:lstStyle/>
          <a:p>
            <a:pPr algn="l">
              <a:lnSpc>
                <a:spcPct val="115000"/>
              </a:lnSpc>
            </a:pPr>
            <a:r>
              <a:rPr sz="4956" spc="-75">
                <a:solidFill>
                  <a:srgbClr val="F4EAD8"/>
                </a:solidFill>
                <a:latin typeface="TT Commons Pro Bold"/>
              </a:rPr>
              <a:t>A place where the organization can </a:t>
            </a:r>
          </a:p>
        </p:txBody>
      </p:sp>
      <p:sp>
        <p:nvSpPr>
          <p:cNvPr id="5" name="TextBox 4"/>
          <p:cNvSpPr txBox="1"/>
          <p:nvPr/>
        </p:nvSpPr>
        <p:spPr>
          <a:xfrm>
            <a:off x="10814685" y="1645919"/>
            <a:ext cx="5896927" cy="1010431"/>
          </a:xfrm>
          <a:prstGeom prst="rect">
            <a:avLst/>
          </a:prstGeom>
          <a:noFill/>
        </p:spPr>
        <p:txBody>
          <a:bodyPr wrap="none" lIns="0" rIns="0" tIns="0" bIns="0">
            <a:spAutoFit/>
          </a:bodyPr>
          <a:lstStyle/>
          <a:p>
            <a:pPr algn="l">
              <a:lnSpc>
                <a:spcPct val="115000"/>
              </a:lnSpc>
            </a:pPr>
            <a:r>
              <a:rPr sz="5487" spc="-75">
                <a:solidFill>
                  <a:srgbClr val="99E6D9"/>
                </a:solidFill>
                <a:latin typeface="Ibarra Real Nova Italics"/>
              </a:rPr>
              <a:t>actually operate.</a:t>
            </a:r>
          </a:p>
        </p:txBody>
      </p:sp>
      <p:sp>
        <p:nvSpPr>
          <p:cNvPr id="6" name="TextBox 5"/>
          <p:cNvSpPr txBox="1"/>
          <p:nvPr/>
        </p:nvSpPr>
        <p:spPr>
          <a:xfrm>
            <a:off x="822959" y="315467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NOT ANOTHER GROUP CHAT ABOUT THE ORGANIZATION —</a:t>
            </a:r>
          </a:p>
        </p:txBody>
      </p:sp>
      <p:sp>
        <p:nvSpPr>
          <p:cNvPr id="7" name="Rounded Rectangle 6"/>
          <p:cNvSpPr/>
          <p:nvPr/>
        </p:nvSpPr>
        <p:spPr>
          <a:xfrm>
            <a:off x="822959"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documents</a:t>
            </a:r>
          </a:p>
        </p:txBody>
      </p:sp>
      <p:sp>
        <p:nvSpPr>
          <p:cNvPr id="9" name="Rounded Rectangle 8"/>
          <p:cNvSpPr/>
          <p:nvPr/>
        </p:nvSpPr>
        <p:spPr>
          <a:xfrm>
            <a:off x="4207382"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7382"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11" name="Rounded Rectangle 10"/>
          <p:cNvSpPr/>
          <p:nvPr/>
        </p:nvSpPr>
        <p:spPr>
          <a:xfrm>
            <a:off x="7591805"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91805"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13" name="Rounded Rectangle 12"/>
          <p:cNvSpPr/>
          <p:nvPr/>
        </p:nvSpPr>
        <p:spPr>
          <a:xfrm>
            <a:off x="10976228"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6228"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tasks</a:t>
            </a:r>
          </a:p>
        </p:txBody>
      </p:sp>
      <p:sp>
        <p:nvSpPr>
          <p:cNvPr id="15" name="Rounded Rectangle 14"/>
          <p:cNvSpPr/>
          <p:nvPr/>
        </p:nvSpPr>
        <p:spPr>
          <a:xfrm>
            <a:off x="14360651"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60651"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qualifications</a:t>
            </a:r>
          </a:p>
        </p:txBody>
      </p:sp>
      <p:sp>
        <p:nvSpPr>
          <p:cNvPr id="17" name="Rounded Rectangle 16"/>
          <p:cNvSpPr/>
          <p:nvPr/>
        </p:nvSpPr>
        <p:spPr>
          <a:xfrm>
            <a:off x="822959"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roles</a:t>
            </a:r>
          </a:p>
        </p:txBody>
      </p:sp>
      <p:sp>
        <p:nvSpPr>
          <p:cNvPr id="19" name="Rounded Rectangle 18"/>
          <p:cNvSpPr/>
          <p:nvPr/>
        </p:nvSpPr>
        <p:spPr>
          <a:xfrm>
            <a:off x="4207382"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7382"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 records</a:t>
            </a:r>
          </a:p>
        </p:txBody>
      </p:sp>
      <p:sp>
        <p:nvSpPr>
          <p:cNvPr id="21" name="Rounded Rectangle 20"/>
          <p:cNvSpPr/>
          <p:nvPr/>
        </p:nvSpPr>
        <p:spPr>
          <a:xfrm>
            <a:off x="7591805"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1805"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Rounded Rectangle 22"/>
          <p:cNvSpPr/>
          <p:nvPr/>
        </p:nvSpPr>
        <p:spPr>
          <a:xfrm>
            <a:off x="10976228"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6228"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permissions</a:t>
            </a:r>
          </a:p>
        </p:txBody>
      </p:sp>
      <p:sp>
        <p:nvSpPr>
          <p:cNvPr id="25" name="Rounded Rectangle 24"/>
          <p:cNvSpPr/>
          <p:nvPr/>
        </p:nvSpPr>
        <p:spPr>
          <a:xfrm>
            <a:off x="14360651"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360651"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treasury</a:t>
            </a:r>
          </a:p>
        </p:txBody>
      </p:sp>
      <p:sp>
        <p:nvSpPr>
          <p:cNvPr id="27" name="Rounded Rectangle 26"/>
          <p:cNvSpPr/>
          <p:nvPr/>
        </p:nvSpPr>
        <p:spPr>
          <a:xfrm>
            <a:off x="822959"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payments</a:t>
            </a:r>
          </a:p>
        </p:txBody>
      </p:sp>
      <p:sp>
        <p:nvSpPr>
          <p:cNvPr id="29" name="Rounded Rectangle 28"/>
          <p:cNvSpPr/>
          <p:nvPr/>
        </p:nvSpPr>
        <p:spPr>
          <a:xfrm>
            <a:off x="4207382"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7382"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31" name="Rounded Rectangle 30"/>
          <p:cNvSpPr/>
          <p:nvPr/>
        </p:nvSpPr>
        <p:spPr>
          <a:xfrm>
            <a:off x="7591805"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91805"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33" name="Rounded Rectangle 32"/>
          <p:cNvSpPr/>
          <p:nvPr/>
        </p:nvSpPr>
        <p:spPr>
          <a:xfrm>
            <a:off x="10976228"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6228"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communications</a:t>
            </a:r>
          </a:p>
        </p:txBody>
      </p:sp>
      <p:sp>
        <p:nvSpPr>
          <p:cNvPr id="35" name="TextBox 3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those functions live across many different products.</a:t>
            </a:r>
          </a:p>
          <a:p>
            <a:pPr algn="ctr">
              <a:lnSpc>
                <a:spcPct val="140000"/>
              </a:lnSpc>
            </a:pPr>
            <a:r>
              <a:rPr sz="2100">
                <a:solidFill>
                  <a:srgbClr val="EBCF9E"/>
                </a:solidFill>
                <a:latin typeface="TT Commons Pro Bold"/>
              </a:rPr>
              <a:t>Rivr brings them into one shared relational environment.</a:t>
            </a:r>
          </a:p>
        </p:txBody>
      </p:sp>
      <p:pic>
        <p:nvPicPr>
          <p:cNvPr id="36" name="Picture 3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SHARED RECORDS</a:t>
            </a:r>
          </a:p>
        </p:txBody>
      </p:sp>
      <p:sp>
        <p:nvSpPr>
          <p:cNvPr id="4" name="TextBox 3"/>
          <p:cNvSpPr txBox="1"/>
          <p:nvPr/>
        </p:nvSpPr>
        <p:spPr>
          <a:xfrm>
            <a:off x="822959" y="1699869"/>
            <a:ext cx="12683490"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Shared records make cooperation </a:t>
            </a:r>
          </a:p>
        </p:txBody>
      </p:sp>
      <p:sp>
        <p:nvSpPr>
          <p:cNvPr id="5" name="TextBox 4"/>
          <p:cNvSpPr txBox="1"/>
          <p:nvPr/>
        </p:nvSpPr>
        <p:spPr>
          <a:xfrm>
            <a:off x="10805160" y="1645919"/>
            <a:ext cx="3944302"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less messy.</a:t>
            </a:r>
          </a:p>
        </p:txBody>
      </p:sp>
      <p:sp>
        <p:nvSpPr>
          <p:cNvPr id="6" name="TextBox 5"/>
          <p:cNvSpPr txBox="1"/>
          <p:nvPr/>
        </p:nvSpPr>
        <p:spPr>
          <a:xfrm>
            <a:off x="1028700" y="315467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agreed to do this?</a:t>
            </a:r>
          </a:p>
        </p:txBody>
      </p:sp>
      <p:sp>
        <p:nvSpPr>
          <p:cNvPr id="7" name="TextBox 6"/>
          <p:cNvSpPr txBox="1"/>
          <p:nvPr/>
        </p:nvSpPr>
        <p:spPr>
          <a:xfrm>
            <a:off x="1028700" y="3950208"/>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Did it happen?</a:t>
            </a:r>
          </a:p>
        </p:txBody>
      </p:sp>
      <p:sp>
        <p:nvSpPr>
          <p:cNvPr id="8" name="TextBox 7"/>
          <p:cNvSpPr txBox="1"/>
          <p:nvPr/>
        </p:nvSpPr>
        <p:spPr>
          <a:xfrm>
            <a:off x="1028700" y="4745736"/>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9" name="TextBox 8"/>
          <p:cNvSpPr txBox="1"/>
          <p:nvPr/>
        </p:nvSpPr>
        <p:spPr>
          <a:xfrm>
            <a:off x="1028700" y="5541263"/>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approved it?</a:t>
            </a:r>
          </a:p>
        </p:txBody>
      </p:sp>
      <p:sp>
        <p:nvSpPr>
          <p:cNvPr id="10" name="TextBox 9"/>
          <p:cNvSpPr txBox="1"/>
          <p:nvPr/>
        </p:nvSpPr>
        <p:spPr>
          <a:xfrm>
            <a:off x="1028700" y="6336791"/>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did we agree to?</a:t>
            </a:r>
          </a:p>
        </p:txBody>
      </p:sp>
      <p:sp>
        <p:nvSpPr>
          <p:cNvPr id="11" name="TextBox 10"/>
          <p:cNvSpPr txBox="1"/>
          <p:nvPr/>
        </p:nvSpPr>
        <p:spPr>
          <a:xfrm>
            <a:off x="1028700" y="713231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much does somebody get paid?</a:t>
            </a:r>
          </a:p>
        </p:txBody>
      </p:sp>
      <p:sp>
        <p:nvSpPr>
          <p:cNvPr id="12" name="Rounded Rectangle 11"/>
          <p:cNvSpPr/>
          <p:nvPr/>
        </p:nvSpPr>
        <p:spPr>
          <a:xfrm>
            <a:off x="9601200" y="3154679"/>
            <a:ext cx="7886700" cy="45262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3566160"/>
            <a:ext cx="7132320" cy="3840479"/>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LESS DEPENDENT ON</a:t>
            </a:r>
          </a:p>
          <a:p>
            <a:pPr algn="l">
              <a:lnSpc>
                <a:spcPct val="150000"/>
              </a:lnSpc>
            </a:pPr>
            <a:r>
              <a:rPr sz="750" spc="150">
                <a:solidFill>
                  <a:srgbClr val="AFC4C2"/>
                </a:solidFill>
                <a:latin typeface="TT Commons Pro"/>
              </a:rPr>
              <a:t/>
            </a:r>
          </a:p>
          <a:p>
            <a:pPr algn="l">
              <a:lnSpc>
                <a:spcPct val="150000"/>
              </a:lnSpc>
            </a:pPr>
            <a:r>
              <a:rPr sz="1875">
                <a:solidFill>
                  <a:srgbClr val="F2ECDD"/>
                </a:solidFill>
                <a:latin typeface="TT Commons Pro"/>
              </a:rPr>
              <a:t>·  memory</a:t>
            </a:r>
          </a:p>
          <a:p>
            <a:pPr algn="l">
              <a:lnSpc>
                <a:spcPct val="150000"/>
              </a:lnSpc>
            </a:pPr>
            <a:r>
              <a:rPr sz="1875">
                <a:solidFill>
                  <a:srgbClr val="F2ECDD"/>
                </a:solidFill>
                <a:latin typeface="TT Commons Pro"/>
              </a:rPr>
              <a:t>·  chasing people</a:t>
            </a:r>
          </a:p>
          <a:p>
            <a:pPr algn="l">
              <a:lnSpc>
                <a:spcPct val="150000"/>
              </a:lnSpc>
            </a:pPr>
            <a:r>
              <a:rPr sz="1875">
                <a:solidFill>
                  <a:srgbClr val="F2ECDD"/>
                </a:solidFill>
                <a:latin typeface="TT Commons Pro"/>
              </a:rPr>
              <a:t>·  repeated coordination</a:t>
            </a:r>
          </a:p>
          <a:p>
            <a:pPr algn="l">
              <a:lnSpc>
                <a:spcPct val="150000"/>
              </a:lnSpc>
            </a:pPr>
            <a:r>
              <a:rPr sz="1875">
                <a:solidFill>
                  <a:srgbClr val="F2ECDD"/>
                </a:solidFill>
                <a:latin typeface="TT Commons Pro"/>
              </a:rPr>
              <a:t>·  interpersonal conflict</a:t>
            </a:r>
          </a:p>
          <a:p>
            <a:pPr algn="l">
              <a:lnSpc>
                <a:spcPct val="150000"/>
              </a:lnSpc>
            </a:pPr>
            <a:r>
              <a:rPr sz="900" spc="150">
                <a:solidFill>
                  <a:srgbClr val="AFC4C2"/>
                </a:solidFill>
                <a:latin typeface="TT Commons Pro"/>
              </a:rPr>
              <a:t/>
            </a:r>
          </a:p>
          <a:p>
            <a:pPr algn="l">
              <a:lnSpc>
                <a:spcPct val="150000"/>
              </a:lnSpc>
            </a:pPr>
            <a:r>
              <a:rPr sz="2025" spc="20">
                <a:solidFill>
                  <a:srgbClr val="EBCF9E"/>
                </a:solidFill>
                <a:latin typeface="Alike Italics"/>
              </a:rPr>
              <a:t>Clear commitments and visible history</a:t>
            </a:r>
          </a:p>
          <a:p>
            <a:pPr algn="l">
              <a:lnSpc>
                <a:spcPct val="150000"/>
              </a:lnSpc>
            </a:pPr>
            <a:r>
              <a:rPr sz="2025" spc="20">
                <a:solidFill>
                  <a:srgbClr val="EBCF9E"/>
                </a:solidFill>
                <a:latin typeface="Alike Italics"/>
              </a:rPr>
              <a:t>make trust easier.</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The ledger is social infrastructure as well as financial infrastructure.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ORGANIZATIONAL KNOW-HOW</a:t>
            </a:r>
          </a:p>
        </p:txBody>
      </p:sp>
      <p:sp>
        <p:nvSpPr>
          <p:cNvPr id="4" name="TextBox 3"/>
          <p:cNvSpPr txBox="1"/>
          <p:nvPr/>
        </p:nvSpPr>
        <p:spPr>
          <a:xfrm>
            <a:off x="822959" y="1699869"/>
            <a:ext cx="15451693" cy="880052"/>
          </a:xfrm>
          <a:prstGeom prst="rect">
            <a:avLst/>
          </a:prstGeom>
          <a:noFill/>
        </p:spPr>
        <p:txBody>
          <a:bodyPr wrap="none" lIns="0" rIns="0" tIns="0" bIns="0">
            <a:spAutoFit/>
          </a:bodyPr>
          <a:lstStyle/>
          <a:p>
            <a:pPr algn="l">
              <a:lnSpc>
                <a:spcPct val="115000"/>
              </a:lnSpc>
            </a:pPr>
            <a:r>
              <a:rPr sz="4779" spc="-75">
                <a:solidFill>
                  <a:srgbClr val="F4EAD8"/>
                </a:solidFill>
                <a:latin typeface="TT Commons Pro Bold"/>
              </a:rPr>
              <a:t>Nobody should have to reinvent cooperation </a:t>
            </a:r>
          </a:p>
        </p:txBody>
      </p:sp>
      <p:sp>
        <p:nvSpPr>
          <p:cNvPr id="5" name="TextBox 4"/>
          <p:cNvSpPr txBox="1"/>
          <p:nvPr/>
        </p:nvSpPr>
        <p:spPr>
          <a:xfrm>
            <a:off x="13019722" y="1645919"/>
            <a:ext cx="3866911"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every time.</a:t>
            </a:r>
          </a:p>
        </p:txBody>
      </p:sp>
      <p:sp>
        <p:nvSpPr>
          <p:cNvPr id="6" name="Rounded Rectangle 5"/>
          <p:cNvSpPr/>
          <p:nvPr/>
        </p:nvSpPr>
        <p:spPr>
          <a:xfrm>
            <a:off x="822959"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TEMPLATES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Recurring structures — roles, workflows, approvals, governance patterns, resource flows — captured once and reused.</a:t>
            </a:r>
          </a:p>
        </p:txBody>
      </p:sp>
      <p:sp>
        <p:nvSpPr>
          <p:cNvPr id="8" name="Rounded Rectangle 7"/>
          <p:cNvSpPr/>
          <p:nvPr/>
        </p:nvSpPr>
        <p:spPr>
          <a:xfrm>
            <a:off x="6478523" y="3291839"/>
            <a:ext cx="535381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SHARED TOOLS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The patterns organizations rely on, encoded into workflows any group can pick up on day one.</a:t>
            </a:r>
          </a:p>
        </p:txBody>
      </p:sp>
      <p:sp>
        <p:nvSpPr>
          <p:cNvPr id="10" name="Rounded Rectangle 9"/>
          <p:cNvSpPr/>
          <p:nvPr/>
        </p:nvSpPr>
        <p:spPr>
          <a:xfrm>
            <a:off x="12134087"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LOWER ACTIVATION ENERGY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Starting something new stops requiring an operations expert before it requires anything else.</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Easier organization → more projects → more businesses → more organizations →</a:t>
            </a:r>
          </a:p>
          <a:p>
            <a:pPr algn="ctr">
              <a:lnSpc>
                <a:spcPct val="140000"/>
              </a:lnSpc>
            </a:pPr>
            <a:r>
              <a:rPr sz="2025">
                <a:solidFill>
                  <a:srgbClr val="EBCF9E"/>
                </a:solidFill>
                <a:latin typeface="TT Commons Pro Bold"/>
              </a:rPr>
              <a:t>more economic activity → more local capacity.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PLURAL EXCHANGE</a:t>
            </a:r>
          </a:p>
        </p:txBody>
      </p:sp>
      <p:sp>
        <p:nvSpPr>
          <p:cNvPr id="4" name="TextBox 3"/>
          <p:cNvSpPr txBox="1"/>
          <p:nvPr/>
        </p:nvSpPr>
        <p:spPr>
          <a:xfrm>
            <a:off x="822959" y="1699869"/>
            <a:ext cx="13362146" cy="912647"/>
          </a:xfrm>
          <a:prstGeom prst="rect">
            <a:avLst/>
          </a:prstGeom>
          <a:noFill/>
        </p:spPr>
        <p:txBody>
          <a:bodyPr wrap="none" lIns="0" rIns="0" tIns="0" bIns="0">
            <a:spAutoFit/>
          </a:bodyPr>
          <a:lstStyle/>
          <a:p>
            <a:pPr algn="l">
              <a:lnSpc>
                <a:spcPct val="115000"/>
              </a:lnSpc>
            </a:pPr>
            <a:r>
              <a:rPr sz="4956" spc="-75">
                <a:solidFill>
                  <a:srgbClr val="F4EAD8"/>
                </a:solidFill>
                <a:latin typeface="TT Commons Pro Bold"/>
              </a:rPr>
              <a:t>Not every exchange begins and ends </a:t>
            </a:r>
          </a:p>
        </p:txBody>
      </p:sp>
      <p:sp>
        <p:nvSpPr>
          <p:cNvPr id="5" name="TextBox 4"/>
          <p:cNvSpPr txBox="1"/>
          <p:nvPr/>
        </p:nvSpPr>
        <p:spPr>
          <a:xfrm>
            <a:off x="11348085"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Rounded Rectangle 5"/>
          <p:cNvSpPr/>
          <p:nvPr/>
        </p:nvSpPr>
        <p:spPr>
          <a:xfrm>
            <a:off x="822959" y="3223260"/>
            <a:ext cx="8161020" cy="459486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566160"/>
            <a:ext cx="7406640" cy="3977639"/>
          </a:xfrm>
          <a:prstGeom prst="rect">
            <a:avLst/>
          </a:prstGeom>
          <a:noFill/>
        </p:spPr>
        <p:txBody>
          <a:bodyPr wrap="square" lIns="0" rIns="0" tIns="0" bIns="0">
            <a:spAutoFit/>
          </a:bodyPr>
          <a:lstStyle/>
          <a:p>
            <a:pPr algn="l">
              <a:lnSpc>
                <a:spcPct val="155000"/>
              </a:lnSpc>
            </a:pPr>
            <a:r>
              <a:rPr sz="1500" spc="180">
                <a:solidFill>
                  <a:srgbClr val="9FE8DC"/>
                </a:solidFill>
                <a:latin typeface="Todes 1"/>
              </a:rPr>
              <a:t>WHAT PEOPLE ACTUALLY HAVE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time · skills · tools · food · space · knowledge</a:t>
            </a:r>
          </a:p>
          <a:p>
            <a:pPr algn="l">
              <a:lnSpc>
                <a:spcPct val="155000"/>
              </a:lnSpc>
            </a:pPr>
            <a:r>
              <a:rPr sz="1950">
                <a:solidFill>
                  <a:srgbClr val="F2ECDD"/>
                </a:solidFill>
                <a:latin typeface="TT Commons Pro"/>
              </a:rPr>
              <a:t>USD · Bitcoin · vouchers · professional services</a:t>
            </a:r>
          </a:p>
          <a:p>
            <a:pPr algn="l">
              <a:lnSpc>
                <a:spcPct val="155000"/>
              </a:lnSpc>
            </a:pPr>
            <a:r>
              <a:rPr sz="1950">
                <a:solidFill>
                  <a:srgbClr val="F2ECDD"/>
                </a:solidFill>
                <a:latin typeface="TT Commons Pro"/>
              </a:rPr>
              <a:t>something to lend · something no longer needed</a:t>
            </a:r>
          </a:p>
          <a:p>
            <a:pPr algn="l">
              <a:lnSpc>
                <a:spcPct val="155000"/>
              </a:lnSpc>
            </a:pPr>
            <a:r>
              <a:rPr sz="1050" spc="150">
                <a:solidFill>
                  <a:srgbClr val="AFC4C2"/>
                </a:solidFill>
                <a:latin typeface="TT Commons Pro"/>
              </a:rPr>
              <a:t/>
            </a:r>
          </a:p>
          <a:p>
            <a:pPr algn="l">
              <a:lnSpc>
                <a:spcPct val="155000"/>
              </a:lnSpc>
            </a:pPr>
            <a:r>
              <a:rPr sz="2025" spc="20">
                <a:solidFill>
                  <a:srgbClr val="EBCF9E"/>
                </a:solidFill>
                <a:latin typeface="Alike Italics"/>
              </a:rPr>
              <a:t>A community contains far more value than</a:t>
            </a:r>
          </a:p>
          <a:p>
            <a:pPr algn="l">
              <a:lnSpc>
                <a:spcPct val="155000"/>
              </a:lnSpc>
            </a:pPr>
            <a:r>
              <a:rPr sz="2025" spc="20">
                <a:solidFill>
                  <a:srgbClr val="EBCF9E"/>
                </a:solidFill>
                <a:latin typeface="Alike Italics"/>
              </a:rPr>
              <a:t>the dollars currently circulating through it.</a:t>
            </a:r>
          </a:p>
        </p:txBody>
      </p:sp>
      <p:sp>
        <p:nvSpPr>
          <p:cNvPr id="8" name="Rounded Rectangle 7"/>
          <p:cNvSpPr/>
          <p:nvPr/>
        </p:nvSpPr>
        <p:spPr>
          <a:xfrm>
            <a:off x="9326880" y="3223260"/>
            <a:ext cx="8161020" cy="459486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38359" y="3566160"/>
            <a:ext cx="7406640" cy="3977639"/>
          </a:xfrm>
          <a:prstGeom prst="rect">
            <a:avLst/>
          </a:prstGeom>
          <a:noFill/>
        </p:spPr>
        <p:txBody>
          <a:bodyPr wrap="square" lIns="0" rIns="0" tIns="0" bIns="0">
            <a:spAutoFit/>
          </a:bodyPr>
          <a:lstStyle/>
          <a:p>
            <a:pPr algn="l">
              <a:lnSpc>
                <a:spcPct val="155000"/>
              </a:lnSpc>
            </a:pPr>
            <a:r>
              <a:rPr sz="1500" spc="180">
                <a:solidFill>
                  <a:srgbClr val="EBCF9E"/>
                </a:solidFill>
                <a:latin typeface="Todes 1"/>
              </a:rPr>
              <a:t>HOW A RESOURCE CAN MOVE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sold · rented · traded · lent · shared</a:t>
            </a:r>
          </a:p>
          <a:p>
            <a:pPr algn="l">
              <a:lnSpc>
                <a:spcPct val="155000"/>
              </a:lnSpc>
            </a:pPr>
            <a:r>
              <a:rPr sz="1950">
                <a:solidFill>
                  <a:srgbClr val="F2ECDD"/>
                </a:solidFill>
                <a:latin typeface="TT Commons Pro"/>
              </a:rPr>
              <a:t>gifted · contributed · mutual credit</a:t>
            </a:r>
          </a:p>
          <a:p>
            <a:pPr algn="l">
              <a:lnSpc>
                <a:spcPct val="155000"/>
              </a:lnSpc>
            </a:pPr>
            <a:r>
              <a:rPr sz="1950">
                <a:solidFill>
                  <a:srgbClr val="F2ECDD"/>
                </a:solidFill>
                <a:latin typeface="TT Commons Pro"/>
              </a:rPr>
              <a:t>part cash + part service · barter · voucher · grant</a:t>
            </a:r>
          </a:p>
          <a:p>
            <a:pPr algn="l">
              <a:lnSpc>
                <a:spcPct val="155000"/>
              </a:lnSpc>
            </a:pPr>
            <a:r>
              <a:rPr sz="1050" spc="150">
                <a:solidFill>
                  <a:srgbClr val="AFC4C2"/>
                </a:solidFill>
                <a:latin typeface="TT Commons Pro"/>
              </a:rPr>
              <a:t/>
            </a:r>
          </a:p>
          <a:p>
            <a:pPr algn="l">
              <a:lnSpc>
                <a:spcPct val="155000"/>
              </a:lnSpc>
            </a:pPr>
            <a:r>
              <a:rPr sz="2025" spc="20">
                <a:solidFill>
                  <a:srgbClr val="9FE8DC"/>
                </a:solidFill>
                <a:latin typeface="Alike Italics"/>
              </a:rPr>
              <a:t>Use what people actually have to move</a:t>
            </a:r>
          </a:p>
          <a:p>
            <a:pPr algn="l">
              <a:lnSpc>
                <a:spcPct val="155000"/>
              </a:lnSpc>
            </a:pPr>
            <a:r>
              <a:rPr sz="2025" spc="20">
                <a:solidFill>
                  <a:srgbClr val="9FE8DC"/>
                </a:solidFill>
                <a:latin typeface="Alike Italics"/>
              </a:rPr>
              <a:t>resources where they are useful.</a:t>
            </a:r>
          </a:p>
        </p:txBody>
      </p:sp>
      <p:sp>
        <p:nvSpPr>
          <p:cNvPr id="10" name="TextBox 9"/>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aim is useful resource flow.</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ECONOMIC SOVEREIGNTY</a:t>
            </a:r>
          </a:p>
        </p:txBody>
      </p:sp>
      <p:sp>
        <p:nvSpPr>
          <p:cNvPr id="4" name="TextBox 3"/>
          <p:cNvSpPr txBox="1"/>
          <p:nvPr/>
        </p:nvSpPr>
        <p:spPr>
          <a:xfrm>
            <a:off x="822959" y="2331720"/>
            <a:ext cx="16596359" cy="2468880"/>
          </a:xfrm>
          <a:prstGeom prst="rect">
            <a:avLst/>
          </a:prstGeom>
          <a:noFill/>
        </p:spPr>
        <p:txBody>
          <a:bodyPr wrap="square" lIns="0" rIns="0" tIns="0" bIns="0">
            <a:spAutoFit/>
          </a:bodyPr>
          <a:lstStyle/>
          <a:p>
            <a:pPr algn="l">
              <a:lnSpc>
                <a:spcPct val="130000"/>
              </a:lnSpc>
            </a:pPr>
            <a:r>
              <a:rPr sz="4950" spc="-75">
                <a:solidFill>
                  <a:srgbClr val="F4EAD8"/>
                </a:solidFill>
                <a:latin typeface="TT Commons Pro Bold"/>
              </a:rPr>
              <a:t>A lack of cash should not automatically</a:t>
            </a:r>
          </a:p>
          <a:p>
            <a:pPr algn="l">
              <a:lnSpc>
                <a:spcPct val="130000"/>
              </a:lnSpc>
            </a:pPr>
            <a:r>
              <a:rPr sz="4950" spc="-75">
                <a:solidFill>
                  <a:srgbClr val="F4EAD8"/>
                </a:solidFill>
                <a:latin typeface="TT Commons Pro Bold"/>
              </a:rPr>
              <a:t>mean a lack of </a:t>
            </a:r>
            <a:r>
              <a:rPr sz="5550" spc="-75">
                <a:solidFill>
                  <a:srgbClr val="99E6D9"/>
                </a:solidFill>
                <a:latin typeface="Ibarra Real Nova Italics"/>
              </a:rPr>
              <a:t>capacity.</a:t>
            </a:r>
          </a:p>
        </p:txBody>
      </p:sp>
      <p:sp>
        <p:nvSpPr>
          <p:cNvPr id="5" name="TextBox 4"/>
          <p:cNvSpPr txBox="1"/>
          <p:nvPr/>
        </p:nvSpPr>
        <p:spPr>
          <a:xfrm>
            <a:off x="822959" y="5074920"/>
            <a:ext cx="16596359" cy="1920239"/>
          </a:xfrm>
          <a:prstGeom prst="rect">
            <a:avLst/>
          </a:prstGeom>
          <a:noFill/>
        </p:spPr>
        <p:txBody>
          <a:bodyPr wrap="square" lIns="0" rIns="0" tIns="0" bIns="0">
            <a:spAutoFit/>
          </a:bodyPr>
          <a:lstStyle/>
          <a:p>
            <a:pPr algn="l">
              <a:lnSpc>
                <a:spcPct val="170000"/>
              </a:lnSpc>
            </a:pPr>
            <a:r>
              <a:rPr sz="2250">
                <a:solidFill>
                  <a:srgbClr val="F2ECDD"/>
                </a:solidFill>
                <a:latin typeface="TT Commons Pro"/>
              </a:rPr>
              <a:t>Economic sovereignty does not mean abandoning existing money.</a:t>
            </a:r>
          </a:p>
          <a:p>
            <a:pPr algn="l">
              <a:lnSpc>
                <a:spcPct val="170000"/>
              </a:lnSpc>
            </a:pPr>
            <a:r>
              <a:rPr sz="2250">
                <a:solidFill>
                  <a:srgbClr val="F2ECDD"/>
                </a:solidFill>
                <a:latin typeface="TT Commons Pro"/>
              </a:rPr>
              <a:t>It means having </a:t>
            </a:r>
            <a:r>
              <a:rPr sz="2250">
                <a:solidFill>
                  <a:srgbClr val="EBCF9E"/>
                </a:solidFill>
                <a:latin typeface="TT Commons Pro Bold"/>
              </a:rPr>
              <a:t>more than one way to participate.</a:t>
            </a:r>
          </a:p>
          <a:p>
            <a:pPr algn="l">
              <a:lnSpc>
                <a:spcPct val="170000"/>
              </a:lnSpc>
            </a:pPr>
            <a:r>
              <a:rPr sz="2250">
                <a:solidFill>
                  <a:srgbClr val="F2ECDD"/>
                </a:solidFill>
                <a:latin typeface="TT Commons Pro"/>
              </a:rPr>
              <a:t>If someone lacks dollars but has time, skill, knowledge, or labor — useful activity does not have to stop.</a:t>
            </a:r>
          </a:p>
        </p:txBody>
      </p:sp>
      <p:sp>
        <p:nvSpPr>
          <p:cNvPr id="6" name="TextBox 5"/>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A community becomes more resilient when useful exchange can continue</a:t>
            </a:r>
          </a:p>
          <a:p>
            <a:pPr algn="ctr">
              <a:lnSpc>
                <a:spcPct val="140000"/>
              </a:lnSpc>
            </a:pPr>
            <a:r>
              <a:rPr sz="2250" spc="20">
                <a:solidFill>
                  <a:srgbClr val="9FE8DC"/>
                </a:solidFill>
                <a:latin typeface="Alike Italics"/>
              </a:rPr>
              <a:t>through multiple mutually agreed forms.</a:t>
            </a:r>
          </a:p>
        </p:txBody>
      </p:sp>
      <p:pic>
        <p:nvPicPr>
          <p:cNvPr id="7" name="Picture 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CAPACITY LOOP</a:t>
            </a:r>
          </a:p>
        </p:txBody>
      </p:sp>
      <p:sp>
        <p:nvSpPr>
          <p:cNvPr id="4" name="TextBox 3"/>
          <p:cNvSpPr txBox="1"/>
          <p:nvPr/>
        </p:nvSpPr>
        <p:spPr>
          <a:xfrm>
            <a:off x="822959" y="1699869"/>
            <a:ext cx="11105911" cy="977836"/>
          </a:xfrm>
          <a:prstGeom prst="rect">
            <a:avLst/>
          </a:prstGeom>
          <a:noFill/>
        </p:spPr>
        <p:txBody>
          <a:bodyPr wrap="none" lIns="0" rIns="0" tIns="0" bIns="0">
            <a:spAutoFit/>
          </a:bodyPr>
          <a:lstStyle/>
          <a:p>
            <a:pPr algn="l">
              <a:lnSpc>
                <a:spcPct val="115000"/>
              </a:lnSpc>
            </a:pPr>
            <a:r>
              <a:rPr sz="5309" spc="-75">
                <a:solidFill>
                  <a:srgbClr val="F4EAD8"/>
                </a:solidFill>
                <a:latin typeface="TT Commons Pro Bold"/>
              </a:rPr>
              <a:t>Better resource flow creates </a:t>
            </a:r>
          </a:p>
        </p:txBody>
      </p:sp>
      <p:sp>
        <p:nvSpPr>
          <p:cNvPr id="5" name="TextBox 4"/>
          <p:cNvSpPr txBox="1"/>
          <p:nvPr/>
        </p:nvSpPr>
        <p:spPr>
          <a:xfrm>
            <a:off x="9543097" y="1645919"/>
            <a:ext cx="9278302"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new productive capacity.</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LOOP</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475" spc="20">
                <a:solidFill>
                  <a:srgbClr val="F4EAD8"/>
                </a:solidFill>
                <a:latin typeface="Alike Italics"/>
              </a:rPr>
              <a:t>visibility → coordination → exchange → relationships →</a:t>
            </a:r>
          </a:p>
          <a:p>
            <a:pPr algn="ctr">
              <a:lnSpc>
                <a:spcPct val="140000"/>
              </a:lnSpc>
            </a:pPr>
            <a:r>
              <a:rPr sz="2475" spc="20">
                <a:solidFill>
                  <a:srgbClr val="EBCF9E"/>
                </a:solidFill>
                <a:latin typeface="Alike Italics"/>
              </a:rPr>
              <a:t>intelligence → demand → productive capacity → resilience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Greater visibility creates more exchange. More exchange creates more relationships.</a:t>
            </a:r>
          </a:p>
          <a:p>
            <a:pPr algn="ctr">
              <a:lnSpc>
                <a:spcPct val="150000"/>
              </a:lnSpc>
            </a:pPr>
            <a:r>
              <a:rPr sz="1950">
                <a:solidFill>
                  <a:srgbClr val="F2ECDD"/>
                </a:solidFill>
                <a:latin typeface="TT Commons Pro"/>
              </a:rPr>
              <a:t>More activity creates better information about what a place actually needs — and visible demand</a:t>
            </a:r>
          </a:p>
          <a:p>
            <a:pPr algn="ctr">
              <a:lnSpc>
                <a:spcPct val="150000"/>
              </a:lnSpc>
            </a:pPr>
            <a:r>
              <a:rPr sz="1950">
                <a:solidFill>
                  <a:srgbClr val="F2ECDD"/>
                </a:solidFill>
                <a:latin typeface="TT Commons Pro"/>
              </a:rPr>
              <a:t>makes new local businesses, services, production, care networks, and infrastructure viable.</a:t>
            </a:r>
          </a:p>
        </p:txBody>
      </p:sp>
      <p:sp>
        <p:nvSpPr>
          <p:cNvPr id="10" name="TextBox 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75" spc="20">
                <a:solidFill>
                  <a:srgbClr val="9FE8DC"/>
                </a:solidFill>
                <a:latin typeface="Alike Italics"/>
              </a:rPr>
              <a:t>The goal is not simply to circulate what already exists.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ECONOMIC INTELLIGENCE</a:t>
            </a:r>
          </a:p>
        </p:txBody>
      </p:sp>
      <p:sp>
        <p:nvSpPr>
          <p:cNvPr id="4" name="TextBox 3"/>
          <p:cNvSpPr txBox="1"/>
          <p:nvPr/>
        </p:nvSpPr>
        <p:spPr>
          <a:xfrm>
            <a:off x="822959" y="1717852"/>
            <a:ext cx="11939349"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Better visibility helps a place </a:t>
            </a:r>
          </a:p>
        </p:txBody>
      </p:sp>
      <p:sp>
        <p:nvSpPr>
          <p:cNvPr id="5" name="TextBox 4"/>
          <p:cNvSpPr txBox="1"/>
          <p:nvPr/>
        </p:nvSpPr>
        <p:spPr>
          <a:xfrm>
            <a:off x="10209847" y="1645919"/>
            <a:ext cx="2628661"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learn.</a:t>
            </a:r>
          </a:p>
        </p:txBody>
      </p:sp>
      <p:sp>
        <p:nvSpPr>
          <p:cNvPr id="6" name="TextBox 5"/>
          <p:cNvSpPr txBox="1"/>
          <p:nvPr/>
        </p:nvSpPr>
        <p:spPr>
          <a:xfrm>
            <a:off x="822959"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Where are the shortages?</a:t>
            </a:r>
          </a:p>
        </p:txBody>
      </p:sp>
      <p:sp>
        <p:nvSpPr>
          <p:cNvPr id="7" name="TextBox 6"/>
          <p:cNvSpPr txBox="1"/>
          <p:nvPr/>
        </p:nvSpPr>
        <p:spPr>
          <a:xfrm>
            <a:off x="9436607"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sits unused?</a:t>
            </a:r>
          </a:p>
        </p:txBody>
      </p:sp>
      <p:sp>
        <p:nvSpPr>
          <p:cNvPr id="8" name="TextBox 7"/>
          <p:cNvSpPr txBox="1"/>
          <p:nvPr/>
        </p:nvSpPr>
        <p:spPr>
          <a:xfrm>
            <a:off x="822959"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are people repeatedly trying to find?</a:t>
            </a:r>
          </a:p>
        </p:txBody>
      </p:sp>
      <p:sp>
        <p:nvSpPr>
          <p:cNvPr id="9" name="TextBox 8"/>
          <p:cNvSpPr txBox="1"/>
          <p:nvPr/>
        </p:nvSpPr>
        <p:spPr>
          <a:xfrm>
            <a:off x="9436607"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do we constantly source from elsewhere?</a:t>
            </a:r>
          </a:p>
        </p:txBody>
      </p:sp>
      <p:sp>
        <p:nvSpPr>
          <p:cNvPr id="10" name="TextBox 9"/>
          <p:cNvSpPr txBox="1"/>
          <p:nvPr/>
        </p:nvSpPr>
        <p:spPr>
          <a:xfrm>
            <a:off x="822959"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new business could become viable?</a:t>
            </a:r>
          </a:p>
        </p:txBody>
      </p:sp>
      <p:sp>
        <p:nvSpPr>
          <p:cNvPr id="11" name="TextBox 10"/>
          <p:cNvSpPr txBox="1"/>
          <p:nvPr/>
        </p:nvSpPr>
        <p:spPr>
          <a:xfrm>
            <a:off x="9436607"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could people build together?</a:t>
            </a:r>
          </a:p>
        </p:txBody>
      </p:sp>
      <p:sp>
        <p:nvSpPr>
          <p:cNvPr id="12" name="Rounded Rectangle 11"/>
          <p:cNvSpPr/>
          <p:nvPr/>
        </p:nvSpPr>
        <p:spPr>
          <a:xfrm>
            <a:off x="822959" y="6699168"/>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6946056"/>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A feedback system for developing local capacity — </a:t>
            </a:r>
            <a:r>
              <a:rPr sz="2175" spc="20">
                <a:solidFill>
                  <a:srgbClr val="9FE8DC"/>
                </a:solidFill>
                <a:latin typeface="Alike Italics"/>
              </a:rPr>
              <a:t>not merely a marketplace for what already exists.</a:t>
            </a:r>
          </a:p>
        </p:txBody>
      </p:sp>
      <p:pic>
        <p:nvPicPr>
          <p:cNvPr id="14" name="Picture 1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COLLABORATION, NOT ONLY TRANSACTION</a:t>
            </a:r>
          </a:p>
        </p:txBody>
      </p:sp>
      <p:sp>
        <p:nvSpPr>
          <p:cNvPr id="4" name="TextBox 3"/>
          <p:cNvSpPr txBox="1"/>
          <p:nvPr/>
        </p:nvSpPr>
        <p:spPr>
          <a:xfrm>
            <a:off x="822959" y="1645919"/>
            <a:ext cx="4420552"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Coalitions</a:t>
            </a:r>
          </a:p>
        </p:txBody>
      </p:sp>
      <p:sp>
        <p:nvSpPr>
          <p:cNvPr id="5" name="TextBox 4"/>
          <p:cNvSpPr txBox="1"/>
          <p:nvPr/>
        </p:nvSpPr>
        <p:spPr>
          <a:xfrm>
            <a:off x="4194810" y="1699869"/>
            <a:ext cx="9998630"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 — not only transactions.</a:t>
            </a:r>
          </a:p>
        </p:txBody>
      </p:sp>
      <p:sp>
        <p:nvSpPr>
          <p:cNvPr id="6" name="TextBox 5"/>
          <p:cNvSpPr txBox="1"/>
          <p:nvPr/>
        </p:nvSpPr>
        <p:spPr>
          <a:xfrm>
            <a:off x="822959" y="3223260"/>
            <a:ext cx="8229600" cy="411479"/>
          </a:xfrm>
          <a:prstGeom prst="rect">
            <a:avLst/>
          </a:prstGeom>
          <a:noFill/>
        </p:spPr>
        <p:txBody>
          <a:bodyPr wrap="square" lIns="0" rIns="0" tIns="0" bIns="0">
            <a:spAutoFit/>
          </a:bodyPr>
          <a:lstStyle/>
          <a:p>
            <a:pPr algn="l">
              <a:lnSpc>
                <a:spcPct val="115000"/>
              </a:lnSpc>
            </a:pPr>
            <a:r>
              <a:rPr sz="1425" spc="180">
                <a:solidFill>
                  <a:srgbClr val="AFC4C2"/>
                </a:solidFill>
                <a:latin typeface="Todes 1"/>
              </a:rPr>
              <a:t>THE FAMILIAR PATTERN</a:t>
            </a:r>
          </a:p>
        </p:txBody>
      </p:sp>
      <p:sp>
        <p:nvSpPr>
          <p:cNvPr id="7" name="Rounded Rectangle 6"/>
          <p:cNvSpPr/>
          <p:nvPr/>
        </p:nvSpPr>
        <p:spPr>
          <a:xfrm>
            <a:off x="822959" y="3771900"/>
            <a:ext cx="16664940" cy="1165860"/>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4087368"/>
            <a:ext cx="15773400" cy="548640"/>
          </a:xfrm>
          <a:prstGeom prst="rect">
            <a:avLst/>
          </a:prstGeom>
          <a:noFill/>
        </p:spPr>
        <p:txBody>
          <a:bodyPr wrap="square" lIns="0" rIns="0" tIns="0" bIns="0">
            <a:spAutoFit/>
          </a:bodyPr>
          <a:lstStyle/>
          <a:p>
            <a:pPr algn="ctr">
              <a:lnSpc>
                <a:spcPct val="115000"/>
              </a:lnSpc>
            </a:pPr>
            <a:r>
              <a:rPr sz="2400" spc="20">
                <a:solidFill>
                  <a:srgbClr val="F2ECDD"/>
                </a:solidFill>
                <a:latin typeface="Alike Italics"/>
              </a:rPr>
              <a:t>need  →  provider  →  transaction</a:t>
            </a:r>
          </a:p>
        </p:txBody>
      </p:sp>
      <p:sp>
        <p:nvSpPr>
          <p:cNvPr id="9" name="TextBox 8"/>
          <p:cNvSpPr txBox="1"/>
          <p:nvPr/>
        </p:nvSpPr>
        <p:spPr>
          <a:xfrm>
            <a:off x="822959" y="5417820"/>
            <a:ext cx="8229600" cy="411479"/>
          </a:xfrm>
          <a:prstGeom prst="rect">
            <a:avLst/>
          </a:prstGeom>
          <a:noFill/>
        </p:spPr>
        <p:txBody>
          <a:bodyPr wrap="square" lIns="0" rIns="0" tIns="0" bIns="0">
            <a:spAutoFit/>
          </a:bodyPr>
          <a:lstStyle/>
          <a:p>
            <a:pPr algn="l">
              <a:lnSpc>
                <a:spcPct val="115000"/>
              </a:lnSpc>
            </a:pPr>
            <a:r>
              <a:rPr sz="1425" spc="180">
                <a:solidFill>
                  <a:srgbClr val="EBCF9E"/>
                </a:solidFill>
                <a:latin typeface="Todes 1"/>
              </a:rPr>
              <a:t>THE LARGER PATTERN</a:t>
            </a:r>
          </a:p>
        </p:txBody>
      </p:sp>
      <p:sp>
        <p:nvSpPr>
          <p:cNvPr id="10" name="Rounded Rectangle 9"/>
          <p:cNvSpPr/>
          <p:nvPr/>
        </p:nvSpPr>
        <p:spPr>
          <a:xfrm>
            <a:off x="822959" y="5966459"/>
            <a:ext cx="166649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3019" y="6281928"/>
            <a:ext cx="15773400" cy="548640"/>
          </a:xfrm>
          <a:prstGeom prst="rect">
            <a:avLst/>
          </a:prstGeom>
          <a:noFill/>
        </p:spPr>
        <p:txBody>
          <a:bodyPr wrap="square" lIns="0" rIns="0" tIns="0" bIns="0">
            <a:spAutoFit/>
          </a:bodyPr>
          <a:lstStyle/>
          <a:p>
            <a:pPr algn="ctr">
              <a:lnSpc>
                <a:spcPct val="115000"/>
              </a:lnSpc>
            </a:pPr>
            <a:r>
              <a:rPr sz="2400" spc="20">
                <a:solidFill>
                  <a:srgbClr val="EBCF9E"/>
                </a:solidFill>
                <a:latin typeface="Alike Italics"/>
              </a:rPr>
              <a:t>visibility  →  coordination  →  coalition  →  collective capacity</a:t>
            </a:r>
          </a:p>
        </p:txBody>
      </p:sp>
      <p:sp>
        <p:nvSpPr>
          <p:cNvPr id="12" name="TextBox 11"/>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Two organizations may be working separately on the same problem. Several projects may hold complementary resources.</a:t>
            </a:r>
          </a:p>
          <a:p>
            <a:pPr algn="ctr">
              <a:lnSpc>
                <a:spcPct val="140000"/>
              </a:lnSpc>
            </a:pPr>
            <a:r>
              <a:rPr sz="1950">
                <a:solidFill>
                  <a:srgbClr val="F4EAD8"/>
                </a:solidFill>
                <a:latin typeface="TT Commons Pro Bold"/>
              </a:rPr>
              <a:t>A mission too large for one organization becomes possible through a coalition.</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ulture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FUNCTIONAL INTERDEPENDENCE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800" spc="-75">
                <a:solidFill>
                  <a:srgbClr val="F4EAD8"/>
                </a:solidFill>
                <a:latin typeface="Ibarra Real Nova Italics"/>
              </a:rPr>
              <a:t>Strong individuals</a:t>
            </a:r>
          </a:p>
          <a:p>
            <a:pPr algn="ctr">
              <a:lnSpc>
                <a:spcPct val="145000"/>
              </a:lnSpc>
            </a:pPr>
            <a:r>
              <a:rPr sz="4800" spc="-75">
                <a:solidFill>
                  <a:srgbClr val="F4EAD8"/>
                </a:solidFill>
                <a:latin typeface="Ibarra Real Nova Italics"/>
              </a:rPr>
              <a:t>inside </a:t>
            </a:r>
            <a:r>
              <a:rPr sz="4800" spc="-75">
                <a:solidFill>
                  <a:srgbClr val="EBCF9E"/>
                </a:solidFill>
                <a:latin typeface="Ibarra Real Nova Italics"/>
              </a:rPr>
              <a:t>strong networks.</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Healthy communities are not made of people who can each do everything themselves —</a:t>
            </a:r>
          </a:p>
          <a:p>
            <a:pPr algn="ctr">
              <a:lnSpc>
                <a:spcPct val="155000"/>
              </a:lnSpc>
            </a:pPr>
            <a:r>
              <a:rPr sz="2100">
                <a:solidFill>
                  <a:srgbClr val="F2ECDD"/>
                </a:solidFill>
                <a:latin typeface="TT Commons Pro"/>
              </a:rPr>
              <a:t>they are made of people with different abilities who can find, trust, and cooperate with one another.</a:t>
            </a:r>
          </a:p>
          <a:p>
            <a:pPr algn="ctr">
              <a:lnSpc>
                <a:spcPct val="155000"/>
              </a:lnSpc>
            </a:pPr>
            <a:r>
              <a:rPr sz="2250" spc="20">
                <a:solidFill>
                  <a:srgbClr val="9FE8DC"/>
                </a:solidFill>
                <a:latin typeface="Alike Italics"/>
              </a:rPr>
              <a:t>The goal is greater autonomy, supported by stronger interdependence.</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INFRASTRUCTURE</a:t>
            </a:r>
          </a:p>
        </p:txBody>
      </p:sp>
      <p:sp>
        <p:nvSpPr>
          <p:cNvPr id="4" name="TextBox 3"/>
          <p:cNvSpPr txBox="1"/>
          <p:nvPr/>
        </p:nvSpPr>
        <p:spPr>
          <a:xfrm>
            <a:off x="822959" y="1645919"/>
            <a:ext cx="12284630" cy="857678"/>
          </a:xfrm>
          <a:prstGeom prst="rect">
            <a:avLst/>
          </a:prstGeom>
          <a:noFill/>
        </p:spPr>
        <p:txBody>
          <a:bodyPr wrap="none" lIns="0" rIns="0" tIns="0" bIns="0">
            <a:spAutoFit/>
          </a:bodyPr>
          <a:lstStyle/>
          <a:p>
            <a:pPr algn="l">
              <a:lnSpc>
                <a:spcPct val="115000"/>
              </a:lnSpc>
            </a:pPr>
            <a:r>
              <a:rPr sz="4657" spc="-75">
                <a:solidFill>
                  <a:srgbClr val="F4EAD8"/>
                </a:solidFill>
                <a:latin typeface="TT Commons Pro Bold"/>
              </a:rPr>
              <a:t>The social network is the doorway — </a:t>
            </a:r>
          </a:p>
        </p:txBody>
      </p:sp>
      <p:sp>
        <p:nvSpPr>
          <p:cNvPr id="5" name="TextBox 4"/>
          <p:cNvSpPr txBox="1"/>
          <p:nvPr/>
        </p:nvSpPr>
        <p:spPr>
          <a:xfrm>
            <a:off x="822959" y="2514771"/>
            <a:ext cx="11236880" cy="857678"/>
          </a:xfrm>
          <a:prstGeom prst="rect">
            <a:avLst/>
          </a:prstGeom>
          <a:noFill/>
        </p:spPr>
        <p:txBody>
          <a:bodyPr wrap="none" lIns="0" rIns="0" tIns="0" bIns="0">
            <a:spAutoFit/>
          </a:bodyPr>
          <a:lstStyle/>
          <a:p>
            <a:pPr algn="l">
              <a:lnSpc>
                <a:spcPct val="115000"/>
              </a:lnSpc>
            </a:pPr>
            <a:r>
              <a:rPr sz="4657" spc="-75">
                <a:solidFill>
                  <a:srgbClr val="F4EAD8"/>
                </a:solidFill>
                <a:latin typeface="TT Commons Pro Bold"/>
              </a:rPr>
              <a:t>coordination infrastructure is the </a:t>
            </a:r>
          </a:p>
        </p:txBody>
      </p:sp>
      <p:sp>
        <p:nvSpPr>
          <p:cNvPr id="6" name="TextBox 5"/>
          <p:cNvSpPr txBox="1"/>
          <p:nvPr/>
        </p:nvSpPr>
        <p:spPr>
          <a:xfrm>
            <a:off x="9647872" y="2462193"/>
            <a:ext cx="6569630" cy="952976"/>
          </a:xfrm>
          <a:prstGeom prst="rect">
            <a:avLst/>
          </a:prstGeom>
          <a:noFill/>
        </p:spPr>
        <p:txBody>
          <a:bodyPr wrap="none" lIns="0" rIns="0" tIns="0" bIns="0">
            <a:spAutoFit/>
          </a:bodyPr>
          <a:lstStyle/>
          <a:p>
            <a:pPr algn="l">
              <a:lnSpc>
                <a:spcPct val="115000"/>
              </a:lnSpc>
            </a:pPr>
            <a:r>
              <a:rPr sz="5175" spc="-75">
                <a:solidFill>
                  <a:srgbClr val="F0CC8B"/>
                </a:solidFill>
                <a:latin typeface="Ibarra Real Nova Italics"/>
              </a:rPr>
              <a:t>larger opportunity.</a:t>
            </a:r>
          </a:p>
        </p:txBody>
      </p:sp>
      <p:sp>
        <p:nvSpPr>
          <p:cNvPr id="7" name="Rounded Rectangle 6"/>
          <p:cNvSpPr/>
          <p:nvPr/>
        </p:nvSpPr>
        <p:spPr>
          <a:xfrm>
            <a:off x="822959"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communication</a:t>
            </a:r>
          </a:p>
        </p:txBody>
      </p:sp>
      <p:sp>
        <p:nvSpPr>
          <p:cNvPr id="9" name="Rounded Rectangle 8"/>
          <p:cNvSpPr/>
          <p:nvPr/>
        </p:nvSpPr>
        <p:spPr>
          <a:xfrm>
            <a:off x="3771898"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898"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commerce</a:t>
            </a:r>
          </a:p>
        </p:txBody>
      </p:sp>
      <p:sp>
        <p:nvSpPr>
          <p:cNvPr id="11" name="Rounded Rectangle 10"/>
          <p:cNvSpPr/>
          <p:nvPr/>
        </p:nvSpPr>
        <p:spPr>
          <a:xfrm>
            <a:off x="6720837"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37"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projects</a:t>
            </a:r>
          </a:p>
        </p:txBody>
      </p:sp>
      <p:sp>
        <p:nvSpPr>
          <p:cNvPr id="13" name="Rounded Rectangle 12"/>
          <p:cNvSpPr/>
          <p:nvPr/>
        </p:nvSpPr>
        <p:spPr>
          <a:xfrm>
            <a:off x="822959"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events</a:t>
            </a:r>
          </a:p>
        </p:txBody>
      </p:sp>
      <p:sp>
        <p:nvSpPr>
          <p:cNvPr id="15" name="Rounded Rectangle 14"/>
          <p:cNvSpPr/>
          <p:nvPr/>
        </p:nvSpPr>
        <p:spPr>
          <a:xfrm>
            <a:off x="3771898"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898"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payments</a:t>
            </a:r>
          </a:p>
        </p:txBody>
      </p:sp>
      <p:sp>
        <p:nvSpPr>
          <p:cNvPr id="17" name="Rounded Rectangle 16"/>
          <p:cNvSpPr/>
          <p:nvPr/>
        </p:nvSpPr>
        <p:spPr>
          <a:xfrm>
            <a:off x="6720837"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37"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scheduling</a:t>
            </a:r>
          </a:p>
        </p:txBody>
      </p:sp>
      <p:sp>
        <p:nvSpPr>
          <p:cNvPr id="19" name="Rounded Rectangle 18"/>
          <p:cNvSpPr/>
          <p:nvPr/>
        </p:nvSpPr>
        <p:spPr>
          <a:xfrm>
            <a:off x="822959"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governance</a:t>
            </a:r>
          </a:p>
        </p:txBody>
      </p:sp>
      <p:sp>
        <p:nvSpPr>
          <p:cNvPr id="21" name="Rounded Rectangle 20"/>
          <p:cNvSpPr/>
          <p:nvPr/>
        </p:nvSpPr>
        <p:spPr>
          <a:xfrm>
            <a:off x="3771898"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898"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documents</a:t>
            </a:r>
          </a:p>
        </p:txBody>
      </p:sp>
      <p:sp>
        <p:nvSpPr>
          <p:cNvPr id="23" name="Rounded Rectangle 22"/>
          <p:cNvSpPr/>
          <p:nvPr/>
        </p:nvSpPr>
        <p:spPr>
          <a:xfrm>
            <a:off x="6720837"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37"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AI</a:t>
            </a:r>
          </a:p>
        </p:txBody>
      </p:sp>
      <p:sp>
        <p:nvSpPr>
          <p:cNvPr id="25" name="TextBox 24"/>
          <p:cNvSpPr txBox="1"/>
          <p:nvPr/>
        </p:nvSpPr>
        <p:spPr>
          <a:xfrm>
            <a:off x="9395459" y="5280660"/>
            <a:ext cx="960119" cy="822959"/>
          </a:xfrm>
          <a:prstGeom prst="rect">
            <a:avLst/>
          </a:prstGeom>
          <a:noFill/>
        </p:spPr>
        <p:txBody>
          <a:bodyPr wrap="square" lIns="0" rIns="0" tIns="0" bIns="0">
            <a:spAutoFit/>
          </a:bodyPr>
          <a:lstStyle/>
          <a:p>
            <a:pPr algn="ctr">
              <a:lnSpc>
                <a:spcPct val="115000"/>
              </a:lnSpc>
            </a:pPr>
            <a:r>
              <a:rPr sz="4500" spc="-75">
                <a:solidFill>
                  <a:srgbClr val="F0CC8B"/>
                </a:solidFill>
                <a:latin typeface="TT Commons Pro Bold"/>
              </a:rPr>
              <a:t>→</a:t>
            </a:r>
          </a:p>
        </p:txBody>
      </p:sp>
      <p:sp>
        <p:nvSpPr>
          <p:cNvPr id="26" name="Rounded Rectangle 25"/>
          <p:cNvSpPr/>
          <p:nvPr/>
        </p:nvSpPr>
        <p:spPr>
          <a:xfrm>
            <a:off x="10561320" y="4114800"/>
            <a:ext cx="6926579" cy="370332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4498848"/>
            <a:ext cx="6172200" cy="3017520"/>
          </a:xfrm>
          <a:prstGeom prst="rect">
            <a:avLst/>
          </a:prstGeom>
          <a:noFill/>
        </p:spPr>
        <p:txBody>
          <a:bodyPr wrap="square" lIns="0" rIns="0" tIns="0" bIns="0">
            <a:spAutoFit/>
          </a:bodyPr>
          <a:lstStyle/>
          <a:p>
            <a:pPr algn="l">
              <a:lnSpc>
                <a:spcPct val="150000"/>
              </a:lnSpc>
            </a:pPr>
            <a:r>
              <a:rPr sz="1500" spc="180">
                <a:solidFill>
                  <a:srgbClr val="EBCF9E"/>
                </a:solidFill>
                <a:latin typeface="Todes 1"/>
              </a:rPr>
              <a:t>ONE RELATIONAL SYSTEM</a:t>
            </a:r>
          </a:p>
          <a:p>
            <a:pPr algn="l">
              <a:lnSpc>
                <a:spcPct val="150000"/>
              </a:lnSpc>
            </a:pPr>
            <a:r>
              <a:rPr sz="900" spc="150">
                <a:solidFill>
                  <a:srgbClr val="AFC4C2"/>
                </a:solidFill>
                <a:latin typeface="TT Commons Pro"/>
              </a:rPr>
              <a:t/>
            </a:r>
          </a:p>
          <a:p>
            <a:pPr algn="l">
              <a:lnSpc>
                <a:spcPct val="150000"/>
              </a:lnSpc>
            </a:pPr>
            <a:r>
              <a:rPr sz="1875">
                <a:solidFill>
                  <a:srgbClr val="F2ECDD"/>
                </a:solidFill>
                <a:latin typeface="TT Commons Pro"/>
              </a:rPr>
              <a:t>Different parts of the </a:t>
            </a:r>
            <a:r>
              <a:rPr sz="1875">
                <a:solidFill>
                  <a:srgbClr val="9FE8DC"/>
                </a:solidFill>
                <a:latin typeface="TT Commons Pro Bold"/>
              </a:rPr>
              <a:t>same relationships</a:t>
            </a:r>
          </a:p>
          <a:p>
            <a:pPr algn="l">
              <a:lnSpc>
                <a:spcPct val="150000"/>
              </a:lnSpc>
            </a:pPr>
            <a:r>
              <a:rPr sz="1875">
                <a:solidFill>
                  <a:srgbClr val="F2ECDD"/>
                </a:solidFill>
                <a:latin typeface="TT Commons Pro"/>
              </a:rPr>
              <a:t>between people, organizations, resources,</a:t>
            </a:r>
          </a:p>
          <a:p>
            <a:pPr algn="l">
              <a:lnSpc>
                <a:spcPct val="150000"/>
              </a:lnSpc>
            </a:pPr>
            <a:r>
              <a:rPr sz="1875">
                <a:solidFill>
                  <a:srgbClr val="F2ECDD"/>
                </a:solidFill>
                <a:latin typeface="TT Commons Pro"/>
              </a:rPr>
              <a:t>needs, agreements, and actions.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Instead of stitching disconnected platforms together, these functions share an underlying relational system.</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COMPLEX UNDERNEATH, HUMAN ON TOP</a:t>
            </a:r>
          </a:p>
        </p:txBody>
      </p:sp>
      <p:sp>
        <p:nvSpPr>
          <p:cNvPr id="4" name="TextBox 3"/>
          <p:cNvSpPr txBox="1"/>
          <p:nvPr/>
        </p:nvSpPr>
        <p:spPr>
          <a:xfrm>
            <a:off x="822959" y="1699869"/>
            <a:ext cx="10665380"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The complexity belongs </a:t>
            </a:r>
          </a:p>
        </p:txBody>
      </p:sp>
      <p:sp>
        <p:nvSpPr>
          <p:cNvPr id="5" name="TextBox 4"/>
          <p:cNvSpPr txBox="1"/>
          <p:nvPr/>
        </p:nvSpPr>
        <p:spPr>
          <a:xfrm>
            <a:off x="9190672" y="1645919"/>
            <a:ext cx="5301615"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underneath.</a:t>
            </a:r>
          </a:p>
        </p:txBody>
      </p:sp>
      <p:sp>
        <p:nvSpPr>
          <p:cNvPr id="6" name="Rounded Rectangle 5"/>
          <p:cNvSpPr/>
          <p:nvPr/>
        </p:nvSpPr>
        <p:spPr>
          <a:xfrm>
            <a:off x="822959" y="3154679"/>
            <a:ext cx="16664940" cy="1988819"/>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429000"/>
            <a:ext cx="15910559" cy="1440180"/>
          </a:xfrm>
          <a:prstGeom prst="rect">
            <a:avLst/>
          </a:prstGeom>
          <a:noFill/>
        </p:spPr>
        <p:txBody>
          <a:bodyPr wrap="square" lIns="0" rIns="0" tIns="0" bIns="0">
            <a:spAutoFit/>
          </a:bodyPr>
          <a:lstStyle/>
          <a:p>
            <a:pPr algn="l">
              <a:lnSpc>
                <a:spcPct val="170000"/>
              </a:lnSpc>
            </a:pPr>
            <a:r>
              <a:rPr sz="1425" spc="180">
                <a:solidFill>
                  <a:srgbClr val="AFC4C2"/>
                </a:solidFill>
                <a:latin typeface="Todes 1"/>
              </a:rPr>
              <a:t>WHAT NOBODY SHOULD NEED TO UNDERSTAND</a:t>
            </a:r>
          </a:p>
          <a:p>
            <a:pPr algn="l">
              <a:lnSpc>
                <a:spcPct val="170000"/>
              </a:lnSpc>
            </a:pPr>
            <a:r>
              <a:rPr sz="1875">
                <a:solidFill>
                  <a:srgbClr val="F2ECDD"/>
                </a:solidFill>
                <a:latin typeface="TT Commons Pro"/>
              </a:rPr>
              <a:t>federation · REA data models · mutual credit · cooperative law · containers · distributed computing · interoperability protocols</a:t>
            </a:r>
          </a:p>
        </p:txBody>
      </p:sp>
      <p:sp>
        <p:nvSpPr>
          <p:cNvPr id="8" name="Rounded Rectangle 7"/>
          <p:cNvSpPr/>
          <p:nvPr/>
        </p:nvSpPr>
        <p:spPr>
          <a:xfrm>
            <a:off x="822959" y="5486400"/>
            <a:ext cx="16664940" cy="19888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5760720"/>
            <a:ext cx="15910559" cy="1440180"/>
          </a:xfrm>
          <a:prstGeom prst="rect">
            <a:avLst/>
          </a:prstGeom>
          <a:noFill/>
        </p:spPr>
        <p:txBody>
          <a:bodyPr wrap="square" lIns="0" rIns="0" tIns="0" bIns="0">
            <a:spAutoFit/>
          </a:bodyPr>
          <a:lstStyle/>
          <a:p>
            <a:pPr algn="l">
              <a:lnSpc>
                <a:spcPct val="170000"/>
              </a:lnSpc>
            </a:pPr>
            <a:r>
              <a:rPr sz="1425" spc="180">
                <a:solidFill>
                  <a:srgbClr val="EBCF9E"/>
                </a:solidFill>
                <a:latin typeface="Todes 1"/>
              </a:rPr>
              <a:t>WHAT PEOPLE ACTUALLY DO</a:t>
            </a:r>
          </a:p>
          <a:p>
            <a:pPr algn="l">
              <a:lnSpc>
                <a:spcPct val="170000"/>
              </a:lnSpc>
            </a:pPr>
            <a:r>
              <a:rPr sz="2250" spc="20">
                <a:solidFill>
                  <a:srgbClr val="F4EAD8"/>
                </a:solidFill>
                <a:latin typeface="Alike Italics"/>
              </a:rPr>
              <a:t>find a bike · join an event · find a babysitter · take a job · start a project</a:t>
            </a:r>
          </a:p>
        </p:txBody>
      </p:sp>
      <p:sp>
        <p:nvSpPr>
          <p:cNvPr id="10" name="TextBox 9"/>
          <p:cNvSpPr txBox="1"/>
          <p:nvPr/>
        </p:nvSpPr>
        <p:spPr>
          <a:xfrm>
            <a:off x="822959" y="8229600"/>
            <a:ext cx="16596359" cy="1097280"/>
          </a:xfrm>
          <a:prstGeom prst="rect">
            <a:avLst/>
          </a:prstGeom>
          <a:noFill/>
        </p:spPr>
        <p:txBody>
          <a:bodyPr wrap="square" lIns="0" rIns="0" tIns="0" bIns="0">
            <a:spAutoFit/>
          </a:bodyPr>
          <a:lstStyle/>
          <a:p>
            <a:pPr algn="ctr">
              <a:lnSpc>
                <a:spcPct val="140000"/>
              </a:lnSpc>
            </a:pPr>
            <a:r>
              <a:rPr sz="2550">
                <a:solidFill>
                  <a:srgbClr val="F4EAD8"/>
                </a:solidFill>
                <a:latin typeface="TT Commons Pro Bold"/>
              </a:rPr>
              <a:t>Complex infrastructure. </a:t>
            </a:r>
            <a:r>
              <a:rPr sz="2700">
                <a:solidFill>
                  <a:srgbClr val="EBCF9E"/>
                </a:solidFill>
                <a:latin typeface="Ibarra Real Nova Italics"/>
              </a:rPr>
              <a:t>Simple participation.</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REA ACTIVITY MODEL</a:t>
            </a:r>
          </a:p>
        </p:txBody>
      </p:sp>
      <p:sp>
        <p:nvSpPr>
          <p:cNvPr id="4" name="TextBox 3"/>
          <p:cNvSpPr txBox="1"/>
          <p:nvPr/>
        </p:nvSpPr>
        <p:spPr>
          <a:xfrm>
            <a:off x="822959" y="1699869"/>
            <a:ext cx="9397365"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Model the real activity </a:t>
            </a:r>
          </a:p>
        </p:txBody>
      </p:sp>
      <p:sp>
        <p:nvSpPr>
          <p:cNvPr id="5" name="TextBox 4"/>
          <p:cNvSpPr txBox="1"/>
          <p:nvPr/>
        </p:nvSpPr>
        <p:spPr>
          <a:xfrm>
            <a:off x="8176260" y="1645919"/>
            <a:ext cx="8063865"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underneath the feed.</a:t>
            </a:r>
          </a:p>
        </p:txBody>
      </p:sp>
      <p:sp>
        <p:nvSpPr>
          <p:cNvPr id="6" name="Rounded Rectangle 5"/>
          <p:cNvSpPr/>
          <p:nvPr/>
        </p:nvSpPr>
        <p:spPr>
          <a:xfrm>
            <a:off x="822959"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R</a:t>
            </a:r>
          </a:p>
        </p:txBody>
      </p:sp>
      <p:sp>
        <p:nvSpPr>
          <p:cNvPr id="8" name="TextBox 7"/>
          <p:cNvSpPr txBox="1"/>
          <p:nvPr/>
        </p:nvSpPr>
        <p:spPr>
          <a:xfrm>
            <a:off x="1207007"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RESOURCE</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Tools, food, space, money, skills, work products — anything that can change hands or change state.</a:t>
            </a:r>
          </a:p>
        </p:txBody>
      </p:sp>
      <p:sp>
        <p:nvSpPr>
          <p:cNvPr id="9" name="Rounded Rectangle 8"/>
          <p:cNvSpPr/>
          <p:nvPr/>
        </p:nvSpPr>
        <p:spPr>
          <a:xfrm>
            <a:off x="6473951" y="3360420"/>
            <a:ext cx="5349240" cy="38404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9"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E</a:t>
            </a:r>
          </a:p>
        </p:txBody>
      </p:sp>
      <p:sp>
        <p:nvSpPr>
          <p:cNvPr id="11" name="TextBox 10"/>
          <p:cNvSpPr txBox="1"/>
          <p:nvPr/>
        </p:nvSpPr>
        <p:spPr>
          <a:xfrm>
            <a:off x="6857999"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EVENT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Something happens: an exchange, a contribution, a decision, a delivery. It becomes part of the record.</a:t>
            </a:r>
          </a:p>
        </p:txBody>
      </p:sp>
      <p:sp>
        <p:nvSpPr>
          <p:cNvPr id="12" name="Rounded Rectangle 11"/>
          <p:cNvSpPr/>
          <p:nvPr/>
        </p:nvSpPr>
        <p:spPr>
          <a:xfrm>
            <a:off x="12124943"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08991"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A</a:t>
            </a:r>
          </a:p>
        </p:txBody>
      </p:sp>
      <p:sp>
        <p:nvSpPr>
          <p:cNvPr id="14" name="TextBox 13"/>
          <p:cNvSpPr txBox="1"/>
          <p:nvPr/>
        </p:nvSpPr>
        <p:spPr>
          <a:xfrm>
            <a:off x="12508991"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AGENT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People and groups act. Individuals, organizations, cooperatives — each with history and relationships.</a:t>
            </a:r>
          </a:p>
        </p:txBody>
      </p:sp>
      <p:sp>
        <p:nvSpPr>
          <p:cNvPr id="15" name="TextBox 14"/>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The basic unit is not “someone posted something.”</a:t>
            </a:r>
          </a:p>
          <a:p>
            <a:pPr algn="ctr">
              <a:lnSpc>
                <a:spcPct val="140000"/>
              </a:lnSpc>
            </a:pPr>
            <a:r>
              <a:rPr sz="2250" spc="20">
                <a:solidFill>
                  <a:srgbClr val="9FE8DC"/>
                </a:solidFill>
                <a:latin typeface="Alike Italics"/>
              </a:rPr>
              <a:t>It is people and organizations doing things with resources.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INTEROPERABILITY</a:t>
            </a:r>
          </a:p>
        </p:txBody>
      </p:sp>
      <p:sp>
        <p:nvSpPr>
          <p:cNvPr id="4" name="TextBox 3"/>
          <p:cNvSpPr txBox="1"/>
          <p:nvPr/>
        </p:nvSpPr>
        <p:spPr>
          <a:xfrm>
            <a:off x="822959" y="1699869"/>
            <a:ext cx="12320349"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Build the connective tissue — </a:t>
            </a:r>
          </a:p>
        </p:txBody>
      </p:sp>
      <p:sp>
        <p:nvSpPr>
          <p:cNvPr id="5" name="TextBox 4"/>
          <p:cNvSpPr txBox="1"/>
          <p:nvPr/>
        </p:nvSpPr>
        <p:spPr>
          <a:xfrm>
            <a:off x="10514647" y="1645919"/>
            <a:ext cx="6641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not every organ.</a:t>
            </a:r>
          </a:p>
        </p:txBody>
      </p:sp>
      <p:sp>
        <p:nvSpPr>
          <p:cNvPr id="6" name="TextBox 5"/>
          <p:cNvSpPr txBox="1"/>
          <p:nvPr/>
        </p:nvSpPr>
        <p:spPr>
          <a:xfrm>
            <a:off x="822959" y="329183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OTHER DEVELOPERS BUILD SPECIALIZED TOOLS — AND PLUG IN</a:t>
            </a:r>
          </a:p>
        </p:txBody>
      </p:sp>
      <p:sp>
        <p:nvSpPr>
          <p:cNvPr id="7" name="Rounded Rectangle 6"/>
          <p:cNvSpPr/>
          <p:nvPr/>
        </p:nvSpPr>
        <p:spPr>
          <a:xfrm>
            <a:off x="8229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course platform</a:t>
            </a:r>
          </a:p>
        </p:txBody>
      </p:sp>
      <p:sp>
        <p:nvSpPr>
          <p:cNvPr id="9" name="Rounded Rectangle 8"/>
          <p:cNvSpPr/>
          <p:nvPr/>
        </p:nvSpPr>
        <p:spPr>
          <a:xfrm>
            <a:off x="648080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health tool</a:t>
            </a:r>
          </a:p>
        </p:txBody>
      </p:sp>
      <p:sp>
        <p:nvSpPr>
          <p:cNvPr id="11" name="Rounded Rectangle 10"/>
          <p:cNvSpPr/>
          <p:nvPr/>
        </p:nvSpPr>
        <p:spPr>
          <a:xfrm>
            <a:off x="121386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farm-management system</a:t>
            </a:r>
          </a:p>
        </p:txBody>
      </p:sp>
      <p:sp>
        <p:nvSpPr>
          <p:cNvPr id="13" name="Rounded Rectangle 12"/>
          <p:cNvSpPr/>
          <p:nvPr/>
        </p:nvSpPr>
        <p:spPr>
          <a:xfrm>
            <a:off x="82295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an astrology app</a:t>
            </a:r>
          </a:p>
        </p:txBody>
      </p:sp>
      <p:sp>
        <p:nvSpPr>
          <p:cNvPr id="15" name="Rounded Rectangle 14"/>
          <p:cNvSpPr/>
          <p:nvPr/>
        </p:nvSpPr>
        <p:spPr>
          <a:xfrm>
            <a:off x="648080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specialized co-op tool</a:t>
            </a:r>
          </a:p>
        </p:txBody>
      </p:sp>
      <p:sp>
        <p:nvSpPr>
          <p:cNvPr id="17" name="Rounded Rectangle 16"/>
          <p:cNvSpPr/>
          <p:nvPr/>
        </p:nvSpPr>
        <p:spPr>
          <a:xfrm>
            <a:off x="12138659" y="5088636"/>
            <a:ext cx="5349240" cy="905256"/>
          </a:xfrm>
          <a:prstGeom prst="roundRect">
            <a:avLst>
              <a:gd name="adj" fmla="val 6000"/>
            </a:avLst>
          </a:prstGeom>
          <a:solidFill>
            <a:srgbClr val="0D3E40"/>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362956"/>
            <a:ext cx="5349240" cy="411479"/>
          </a:xfrm>
          <a:prstGeom prst="rect">
            <a:avLst/>
          </a:prstGeom>
          <a:noFill/>
        </p:spPr>
        <p:txBody>
          <a:bodyPr wrap="square" lIns="0" rIns="0" tIns="0" bIns="0">
            <a:spAutoFit/>
          </a:bodyPr>
          <a:lstStyle/>
          <a:p>
            <a:pPr algn="ctr">
              <a:lnSpc>
                <a:spcPct val="115000"/>
              </a:lnSpc>
            </a:pPr>
            <a:r>
              <a:rPr sz="1875">
                <a:solidFill>
                  <a:srgbClr val="EBCF9E"/>
                </a:solidFill>
                <a:latin typeface="TT Commons Pro Bold"/>
              </a:rPr>
              <a:t>your app here</a:t>
            </a:r>
          </a:p>
        </p:txBody>
      </p:sp>
      <p:sp>
        <p:nvSpPr>
          <p:cNvPr id="19" name="TextBox 18"/>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Rivr becomes the connective environment they share.</a:t>
            </a:r>
          </a:p>
          <a:p>
            <a:pPr algn="ctr">
              <a:lnSpc>
                <a:spcPct val="140000"/>
              </a:lnSpc>
            </a:pPr>
            <a:r>
              <a:rPr sz="2250" spc="20">
                <a:solidFill>
                  <a:srgbClr val="EBCF9E"/>
                </a:solidFill>
                <a:latin typeface="Alike Italics"/>
              </a:rPr>
              <a:t>Ecosystem coherence, not total software ownership.</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THE CAR</a:t>
            </a:r>
          </a:p>
        </p:txBody>
      </p:sp>
      <p:sp>
        <p:nvSpPr>
          <p:cNvPr id="4" name="TextBox 3"/>
          <p:cNvSpPr txBox="1"/>
          <p:nvPr/>
        </p:nvSpPr>
        <p:spPr>
          <a:xfrm>
            <a:off x="822959" y="1699869"/>
            <a:ext cx="13278802" cy="912647"/>
          </a:xfrm>
          <a:prstGeom prst="rect">
            <a:avLst/>
          </a:prstGeom>
          <a:noFill/>
        </p:spPr>
        <p:txBody>
          <a:bodyPr wrap="none" lIns="0" rIns="0" tIns="0" bIns="0">
            <a:spAutoFit/>
          </a:bodyPr>
          <a:lstStyle/>
          <a:p>
            <a:pPr algn="l">
              <a:lnSpc>
                <a:spcPct val="115000"/>
              </a:lnSpc>
            </a:pPr>
            <a:r>
              <a:rPr sz="4956" spc="-75">
                <a:solidFill>
                  <a:srgbClr val="F4EAD8"/>
                </a:solidFill>
                <a:latin typeface="TT Commons Pro Bold"/>
              </a:rPr>
              <a:t>We don't just need an engine spec — </a:t>
            </a:r>
          </a:p>
        </p:txBody>
      </p:sp>
      <p:sp>
        <p:nvSpPr>
          <p:cNvPr id="5" name="TextBox 4"/>
          <p:cNvSpPr txBox="1"/>
          <p:nvPr/>
        </p:nvSpPr>
        <p:spPr>
          <a:xfrm>
            <a:off x="11281409" y="1645919"/>
            <a:ext cx="5515927"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we need the car.</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PROTOCOLS ALONE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Shared schemas matter. Open-source</a:t>
            </a:r>
          </a:p>
          <a:p>
            <a:pPr algn="l">
              <a:lnSpc>
                <a:spcPct val="140000"/>
              </a:lnSpc>
            </a:pPr>
            <a:r>
              <a:rPr sz="1979">
                <a:solidFill>
                  <a:srgbClr val="F2ECDD"/>
                </a:solidFill>
                <a:latin typeface="TT Commons Pro"/>
              </a:rPr>
              <a:t>infrastructure matters. Interoperability matters.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But specifications alone do not produce</a:t>
            </a:r>
          </a:p>
          <a:p>
            <a:pPr algn="l">
              <a:lnSpc>
                <a:spcPct val="140000"/>
              </a:lnSpc>
            </a:pPr>
            <a:r>
              <a:rPr sz="1979">
                <a:solidFill>
                  <a:srgbClr val="F2ECDD"/>
                </a:solidFill>
                <a:latin typeface="TT Commons Pro"/>
              </a:rPr>
              <a:t>an ecosystem people can actually use.</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SOMEBODY STILL HAS TO</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Integrate it. Design it. Maintain it.</a:t>
            </a:r>
          </a:p>
          <a:p>
            <a:pPr algn="l">
              <a:lnSpc>
                <a:spcPct val="140000"/>
              </a:lnSpc>
            </a:pPr>
            <a:r>
              <a:rPr sz="1979">
                <a:solidFill>
                  <a:srgbClr val="F2ECDD"/>
                </a:solidFill>
                <a:latin typeface="TT Commons Pro"/>
              </a:rPr>
              <a:t>Support people. Market it.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Make product decisions, keep listening,</a:t>
            </a:r>
          </a:p>
          <a:p>
            <a:pPr algn="l">
              <a:lnSpc>
                <a:spcPct val="140000"/>
              </a:lnSpc>
            </a:pPr>
            <a:r>
              <a:rPr sz="1979">
                <a:solidFill>
                  <a:srgbClr val="F2ECDD"/>
                </a:solidFill>
                <a:latin typeface="TT Commons Pro"/>
              </a:rPr>
              <a:t>and respond to changing needs.</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Somebody still has to build the ecosystem people can actually use.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USE, LEARN, STANDARDIZE</a:t>
            </a:r>
          </a:p>
        </p:txBody>
      </p:sp>
      <p:sp>
        <p:nvSpPr>
          <p:cNvPr id="4" name="TextBox 3"/>
          <p:cNvSpPr txBox="1"/>
          <p:nvPr/>
        </p:nvSpPr>
        <p:spPr>
          <a:xfrm>
            <a:off x="822959" y="1699869"/>
            <a:ext cx="12510849"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Maybe we learn the standards </a:t>
            </a:r>
          </a:p>
        </p:txBody>
      </p:sp>
      <p:sp>
        <p:nvSpPr>
          <p:cNvPr id="5" name="TextBox 4"/>
          <p:cNvSpPr txBox="1"/>
          <p:nvPr/>
        </p:nvSpPr>
        <p:spPr>
          <a:xfrm>
            <a:off x="10667047" y="1645919"/>
            <a:ext cx="4652724"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by driving.</a:t>
            </a:r>
          </a:p>
        </p:txBody>
      </p:sp>
      <p:sp>
        <p:nvSpPr>
          <p:cNvPr id="6" name="TextBox 5"/>
          <p:cNvSpPr txBox="1"/>
          <p:nvPr/>
        </p:nvSpPr>
        <p:spPr>
          <a:xfrm>
            <a:off x="1097280" y="3143135"/>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01</a:t>
            </a:r>
          </a:p>
        </p:txBody>
      </p:sp>
      <p:sp>
        <p:nvSpPr>
          <p:cNvPr id="7" name="TextBox 6"/>
          <p:cNvSpPr txBox="1"/>
          <p:nvPr/>
        </p:nvSpPr>
        <p:spPr>
          <a:xfrm>
            <a:off x="2400300" y="3239147"/>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Build the thing real communities need</a:t>
            </a:r>
          </a:p>
        </p:txBody>
      </p:sp>
      <p:sp>
        <p:nvSpPr>
          <p:cNvPr id="8" name="Rectangle 7"/>
          <p:cNvSpPr/>
          <p:nvPr/>
        </p:nvSpPr>
        <p:spPr>
          <a:xfrm>
            <a:off x="1097280" y="3993527"/>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267847"/>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02</a:t>
            </a:r>
          </a:p>
        </p:txBody>
      </p:sp>
      <p:sp>
        <p:nvSpPr>
          <p:cNvPr id="10" name="TextBox 9"/>
          <p:cNvSpPr txBox="1"/>
          <p:nvPr/>
        </p:nvSpPr>
        <p:spPr>
          <a:xfrm>
            <a:off x="2400300" y="4363859"/>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Use it — real coordination, real exchange, real governance</a:t>
            </a:r>
          </a:p>
        </p:txBody>
      </p:sp>
      <p:sp>
        <p:nvSpPr>
          <p:cNvPr id="11" name="Rectangle 10"/>
          <p:cNvSpPr/>
          <p:nvPr/>
        </p:nvSpPr>
        <p:spPr>
          <a:xfrm>
            <a:off x="1097280" y="5118239"/>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392559"/>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03</a:t>
            </a:r>
          </a:p>
        </p:txBody>
      </p:sp>
      <p:sp>
        <p:nvSpPr>
          <p:cNvPr id="13" name="TextBox 12"/>
          <p:cNvSpPr txBox="1"/>
          <p:nvPr/>
        </p:nvSpPr>
        <p:spPr>
          <a:xfrm>
            <a:off x="2400300" y="5488571"/>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Learn what actually needs to work together</a:t>
            </a:r>
          </a:p>
        </p:txBody>
      </p:sp>
      <p:sp>
        <p:nvSpPr>
          <p:cNvPr id="14" name="Rectangle 13"/>
          <p:cNvSpPr/>
          <p:nvPr/>
        </p:nvSpPr>
        <p:spPr>
          <a:xfrm>
            <a:off x="1097280" y="6242951"/>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6517271"/>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04</a:t>
            </a:r>
          </a:p>
        </p:txBody>
      </p:sp>
      <p:sp>
        <p:nvSpPr>
          <p:cNvPr id="16" name="TextBox 15"/>
          <p:cNvSpPr txBox="1"/>
          <p:nvPr/>
        </p:nvSpPr>
        <p:spPr>
          <a:xfrm>
            <a:off x="2400300" y="6613283"/>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Refine — practice informs architecture</a:t>
            </a:r>
          </a:p>
        </p:txBody>
      </p:sp>
      <p:sp>
        <p:nvSpPr>
          <p:cNvPr id="17" name="Rectangle 16"/>
          <p:cNvSpPr/>
          <p:nvPr/>
        </p:nvSpPr>
        <p:spPr>
          <a:xfrm>
            <a:off x="1097280" y="7367663"/>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7641983"/>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05</a:t>
            </a:r>
          </a:p>
        </p:txBody>
      </p:sp>
      <p:sp>
        <p:nvSpPr>
          <p:cNvPr id="19" name="TextBox 18"/>
          <p:cNvSpPr txBox="1"/>
          <p:nvPr/>
        </p:nvSpPr>
        <p:spPr>
          <a:xfrm>
            <a:off x="2400300" y="7737995"/>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Standardize what works, then federate</a:t>
            </a:r>
          </a:p>
        </p:txBody>
      </p:sp>
      <p:sp>
        <p:nvSpPr>
          <p:cNvPr id="20" name="TextBox 1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Purely theoretical protocols optimize for imagined needs.</a:t>
            </a:r>
          </a:p>
          <a:p>
            <a:pPr algn="ctr">
              <a:lnSpc>
                <a:spcPct val="140000"/>
              </a:lnSpc>
            </a:pPr>
            <a:r>
              <a:rPr sz="2175" spc="20">
                <a:solidFill>
                  <a:srgbClr val="EBCF9E"/>
                </a:solidFill>
                <a:latin typeface="Alike Italics"/>
              </a:rPr>
              <a:t>Real implementations reveal actual interoperability needs.</a:t>
            </a:r>
          </a:p>
        </p:txBody>
      </p:sp>
      <p:pic>
        <p:nvPicPr>
          <p:cNvPr id="21" name="Picture 2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DATA SOVEREIGNTY</a:t>
            </a:r>
          </a:p>
        </p:txBody>
      </p:sp>
      <p:sp>
        <p:nvSpPr>
          <p:cNvPr id="4" name="TextBox 3"/>
          <p:cNvSpPr txBox="1"/>
          <p:nvPr/>
        </p:nvSpPr>
        <p:spPr>
          <a:xfrm>
            <a:off x="822959" y="1699869"/>
            <a:ext cx="13421677" cy="977836"/>
          </a:xfrm>
          <a:prstGeom prst="rect">
            <a:avLst/>
          </a:prstGeom>
          <a:noFill/>
        </p:spPr>
        <p:txBody>
          <a:bodyPr wrap="none" lIns="0" rIns="0" tIns="0" bIns="0">
            <a:spAutoFit/>
          </a:bodyPr>
          <a:lstStyle/>
          <a:p>
            <a:pPr algn="l">
              <a:lnSpc>
                <a:spcPct val="115000"/>
              </a:lnSpc>
            </a:pPr>
            <a:r>
              <a:rPr sz="5309" spc="-75">
                <a:solidFill>
                  <a:srgbClr val="F4EAD8"/>
                </a:solidFill>
                <a:latin typeface="TT Commons Pro Bold"/>
              </a:rPr>
              <a:t>Connected does not have to mean </a:t>
            </a:r>
          </a:p>
        </p:txBody>
      </p:sp>
      <p:sp>
        <p:nvSpPr>
          <p:cNvPr id="5" name="TextBox 4"/>
          <p:cNvSpPr txBox="1"/>
          <p:nvPr/>
        </p:nvSpPr>
        <p:spPr>
          <a:xfrm>
            <a:off x="11395710" y="1645919"/>
            <a:ext cx="4902755"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surrendered.</a:t>
            </a:r>
          </a:p>
        </p:txBody>
      </p:sp>
      <p:sp>
        <p:nvSpPr>
          <p:cNvPr id="6" name="Rounded Rectangle 5"/>
          <p:cNvSpPr/>
          <p:nvPr/>
        </p:nvSpPr>
        <p:spPr>
          <a:xfrm>
            <a:off x="822959"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Controls where their information lives — and what, if anything, moves outward.</a:t>
            </a:r>
          </a:p>
        </p:txBody>
      </p:sp>
      <p:sp>
        <p:nvSpPr>
          <p:cNvPr id="8" name="Rounded Rectangle 7"/>
          <p:cNvSpPr/>
          <p:nvPr/>
        </p:nvSpPr>
        <p:spPr>
          <a:xfrm>
            <a:off x="6478523" y="3429000"/>
            <a:ext cx="5353812" cy="28803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GROUP</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operate its own instance, with its own rules, memory, and data.</a:t>
            </a:r>
          </a:p>
        </p:txBody>
      </p:sp>
      <p:sp>
        <p:nvSpPr>
          <p:cNvPr id="10" name="Rounded Rectangle 9"/>
          <p:cNvSpPr/>
          <p:nvPr/>
        </p:nvSpPr>
        <p:spPr>
          <a:xfrm>
            <a:off x="12134087"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share local infrastructure — still connected to the wider network.</a:t>
            </a:r>
          </a:p>
        </p:txBody>
      </p:sp>
      <p:sp>
        <p:nvSpPr>
          <p:cNvPr id="12" name="TextBox 11"/>
          <p:cNvSpPr txBox="1"/>
          <p:nvPr/>
        </p:nvSpPr>
        <p:spPr>
          <a:xfrm>
            <a:off x="822959" y="75438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Those systems still communicate with the wider network — </a:t>
            </a:r>
            <a:r>
              <a:rPr sz="1950">
                <a:solidFill>
                  <a:srgbClr val="EBCF9E"/>
                </a:solidFill>
                <a:latin typeface="TT Commons Pro Bold"/>
              </a:rPr>
              <a:t>only what people choose or permit moves outward.</a:t>
            </a:r>
          </a:p>
          <a:p>
            <a:pPr algn="ctr">
              <a:lnSpc>
                <a:spcPct val="140000"/>
              </a:lnSpc>
            </a:pPr>
            <a:r>
              <a:rPr sz="2025" spc="20">
                <a:solidFill>
                  <a:srgbClr val="9FE8DC"/>
                </a:solidFill>
                <a:latin typeface="Alike Italics"/>
              </a:rPr>
              <a:t>Participating in the network does not mean surrendering ownership of your data to the network.</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CONTEXTUAL PRIVACY</a:t>
            </a:r>
          </a:p>
        </p:txBody>
      </p:sp>
      <p:sp>
        <p:nvSpPr>
          <p:cNvPr id="4" name="TextBox 3"/>
          <p:cNvSpPr txBox="1"/>
          <p:nvPr/>
        </p:nvSpPr>
        <p:spPr>
          <a:xfrm>
            <a:off x="822959" y="1699869"/>
            <a:ext cx="11856005" cy="1010431"/>
          </a:xfrm>
          <a:prstGeom prst="rect">
            <a:avLst/>
          </a:prstGeom>
          <a:noFill/>
        </p:spPr>
        <p:txBody>
          <a:bodyPr wrap="none" lIns="0" rIns="0" tIns="0" bIns="0">
            <a:spAutoFit/>
          </a:bodyPr>
          <a:lstStyle/>
          <a:p>
            <a:pPr algn="l">
              <a:lnSpc>
                <a:spcPct val="115000"/>
              </a:lnSpc>
            </a:pPr>
            <a:r>
              <a:rPr sz="5487" spc="-75">
                <a:solidFill>
                  <a:srgbClr val="F4EAD8"/>
                </a:solidFill>
                <a:latin typeface="TT Commons Pro Bold"/>
              </a:rPr>
              <a:t>Connection shouldn't require </a:t>
            </a:r>
          </a:p>
        </p:txBody>
      </p:sp>
      <p:sp>
        <p:nvSpPr>
          <p:cNvPr id="5" name="TextBox 4"/>
          <p:cNvSpPr txBox="1"/>
          <p:nvPr/>
        </p:nvSpPr>
        <p:spPr>
          <a:xfrm>
            <a:off x="10143172" y="1645919"/>
            <a:ext cx="5789771"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total exposure.</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NOT BINARY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Privacy is not simply public or private. Different people see different things, for different purposes, under different conditions.</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ON YOUR TERMS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Findable for a job without publishing everything. An organization shows one face to members, another to neighbors and the wider world.</a:t>
            </a:r>
          </a:p>
        </p:txBody>
      </p:sp>
      <p:sp>
        <p:nvSpPr>
          <p:cNvPr id="10" name="Rounded Rectangle 9"/>
          <p:cNvSpPr/>
          <p:nvPr/>
        </p:nvSpPr>
        <p:spPr>
          <a:xfrm>
            <a:off x="12134087"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PROVE, WITHOUT REVEALING</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Qualified? In the area? Eligible? The system can simply confirm yes or no — without exposing what's underneath.</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goal is not secrecy. It's </a:t>
            </a:r>
            <a:r>
              <a:rPr sz="2400" spc="20">
                <a:solidFill>
                  <a:srgbClr val="EBCF9E"/>
                </a:solidFill>
                <a:latin typeface="Alike Italics"/>
              </a:rPr>
              <a:t>appropriate visibility.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ATTENTION SOVEREIGNTY</a:t>
            </a:r>
          </a:p>
        </p:txBody>
      </p:sp>
      <p:sp>
        <p:nvSpPr>
          <p:cNvPr id="4" name="TextBox 3"/>
          <p:cNvSpPr txBox="1"/>
          <p:nvPr/>
        </p:nvSpPr>
        <p:spPr>
          <a:xfrm>
            <a:off x="822959" y="1699869"/>
            <a:ext cx="9284255"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Sovereignty over your </a:t>
            </a:r>
          </a:p>
        </p:txBody>
      </p:sp>
      <p:sp>
        <p:nvSpPr>
          <p:cNvPr id="5" name="TextBox 4"/>
          <p:cNvSpPr txBox="1"/>
          <p:nvPr/>
        </p:nvSpPr>
        <p:spPr>
          <a:xfrm>
            <a:off x="8085772" y="1645919"/>
            <a:ext cx="568261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attention, too.</a:t>
            </a:r>
          </a:p>
        </p:txBody>
      </p:sp>
      <p:sp>
        <p:nvSpPr>
          <p:cNvPr id="6" name="Rounded Rectangle 5"/>
          <p:cNvSpPr/>
          <p:nvPr/>
        </p:nvSpPr>
        <p:spPr>
          <a:xfrm>
            <a:off x="822959" y="3223260"/>
            <a:ext cx="8092440" cy="240030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566160"/>
            <a:ext cx="7269479" cy="17830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SELECTIVE DISCLOSURE — OUTWARD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the world can see of you, and in which contexts.</a:t>
            </a:r>
          </a:p>
        </p:txBody>
      </p:sp>
      <p:sp>
        <p:nvSpPr>
          <p:cNvPr id="8" name="Rounded Rectangle 7"/>
          <p:cNvSpPr/>
          <p:nvPr/>
        </p:nvSpPr>
        <p:spPr>
          <a:xfrm>
            <a:off x="9395459" y="3223260"/>
            <a:ext cx="809244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566160"/>
            <a:ext cx="7269479" cy="1783080"/>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SELECTIVE ATTENTION — INWARD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gets to enter your field of view. What reaches me? Why? According to whose priorities?</a:t>
            </a:r>
          </a:p>
        </p:txBody>
      </p:sp>
      <p:sp>
        <p:nvSpPr>
          <p:cNvPr id="10" name="TextBox 9"/>
          <p:cNvSpPr txBox="1"/>
          <p:nvPr/>
        </p:nvSpPr>
        <p:spPr>
          <a:xfrm>
            <a:off x="822959" y="6172200"/>
            <a:ext cx="12344400" cy="438912"/>
          </a:xfrm>
          <a:prstGeom prst="rect">
            <a:avLst/>
          </a:prstGeom>
          <a:noFill/>
        </p:spPr>
        <p:txBody>
          <a:bodyPr wrap="square" lIns="0" rIns="0" tIns="0" bIns="0">
            <a:spAutoFit/>
          </a:bodyPr>
          <a:lstStyle/>
          <a:p>
            <a:pPr algn="l">
              <a:lnSpc>
                <a:spcPct val="115000"/>
              </a:lnSpc>
            </a:pPr>
            <a:r>
              <a:rPr sz="1500" spc="180">
                <a:solidFill>
                  <a:srgbClr val="9FE8DC"/>
                </a:solidFill>
                <a:latin typeface="Todes 1"/>
              </a:rPr>
              <a:t>RELEVANCE SHAPED BY</a:t>
            </a:r>
          </a:p>
        </p:txBody>
      </p:sp>
      <p:sp>
        <p:nvSpPr>
          <p:cNvPr id="11" name="Rounded Rectangle 10"/>
          <p:cNvSpPr/>
          <p:nvPr/>
        </p:nvSpPr>
        <p:spPr>
          <a:xfrm>
            <a:off x="8229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place</a:t>
            </a:r>
          </a:p>
        </p:txBody>
      </p:sp>
      <p:sp>
        <p:nvSpPr>
          <p:cNvPr id="13" name="Rounded Rectangle 12"/>
          <p:cNvSpPr/>
          <p:nvPr/>
        </p:nvSpPr>
        <p:spPr>
          <a:xfrm>
            <a:off x="32232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32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relationships</a:t>
            </a:r>
          </a:p>
        </p:txBody>
      </p:sp>
      <p:sp>
        <p:nvSpPr>
          <p:cNvPr id="15" name="Rounded Rectangle 14"/>
          <p:cNvSpPr/>
          <p:nvPr/>
        </p:nvSpPr>
        <p:spPr>
          <a:xfrm>
            <a:off x="56235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interests</a:t>
            </a:r>
          </a:p>
        </p:txBody>
      </p:sp>
      <p:sp>
        <p:nvSpPr>
          <p:cNvPr id="17" name="Rounded Rectangle 16"/>
          <p:cNvSpPr/>
          <p:nvPr/>
        </p:nvSpPr>
        <p:spPr>
          <a:xfrm>
            <a:off x="80238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38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urgency</a:t>
            </a:r>
          </a:p>
        </p:txBody>
      </p:sp>
      <p:sp>
        <p:nvSpPr>
          <p:cNvPr id="19" name="Rounded Rectangle 18"/>
          <p:cNvSpPr/>
          <p:nvPr/>
        </p:nvSpPr>
        <p:spPr>
          <a:xfrm>
            <a:off x="104241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communities</a:t>
            </a:r>
          </a:p>
        </p:txBody>
      </p:sp>
      <p:sp>
        <p:nvSpPr>
          <p:cNvPr id="21" name="Rounded Rectangle 20"/>
          <p:cNvSpPr/>
          <p:nvPr/>
        </p:nvSpPr>
        <p:spPr>
          <a:xfrm>
            <a:off x="128244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244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time</a:t>
            </a:r>
          </a:p>
        </p:txBody>
      </p:sp>
      <p:sp>
        <p:nvSpPr>
          <p:cNvPr id="23" name="Rounded Rectangle 22"/>
          <p:cNvSpPr/>
          <p:nvPr/>
        </p:nvSpPr>
        <p:spPr>
          <a:xfrm>
            <a:off x="152247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247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chosen context</a:t>
            </a:r>
          </a:p>
        </p:txBody>
      </p:sp>
      <p:sp>
        <p:nvSpPr>
          <p:cNvPr id="25" name="TextBox 24"/>
          <p:cNvSpPr txBox="1"/>
          <p:nvPr/>
        </p:nvSpPr>
        <p:spPr>
          <a:xfrm>
            <a:off x="822959" y="8366759"/>
            <a:ext cx="16596359" cy="1097280"/>
          </a:xfrm>
          <a:prstGeom prst="rect">
            <a:avLst/>
          </a:prstGeom>
          <a:noFill/>
        </p:spPr>
        <p:txBody>
          <a:bodyPr wrap="square" lIns="0" rIns="0" tIns="0" bIns="0">
            <a:spAutoFit/>
          </a:bodyPr>
          <a:lstStyle/>
          <a:p>
            <a:pPr algn="ctr">
              <a:lnSpc>
                <a:spcPct val="140000"/>
              </a:lnSpc>
            </a:pPr>
            <a:r>
              <a:rPr sz="2400" spc="20">
                <a:solidFill>
                  <a:srgbClr val="9FE8DC"/>
                </a:solidFill>
                <a:latin typeface="Alike Italics"/>
              </a:rPr>
              <a:t>Useful relevance instead of attention capture.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AI SOVEREIGNTY</a:t>
            </a:r>
          </a:p>
        </p:txBody>
      </p:sp>
      <p:sp>
        <p:nvSpPr>
          <p:cNvPr id="4" name="TextBox 3"/>
          <p:cNvSpPr txBox="1"/>
          <p:nvPr/>
        </p:nvSpPr>
        <p:spPr>
          <a:xfrm>
            <a:off x="822959" y="1699869"/>
            <a:ext cx="7855505"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AI makes all of this </a:t>
            </a:r>
          </a:p>
        </p:txBody>
      </p:sp>
      <p:sp>
        <p:nvSpPr>
          <p:cNvPr id="5" name="TextBox 4"/>
          <p:cNvSpPr txBox="1"/>
          <p:nvPr/>
        </p:nvSpPr>
        <p:spPr>
          <a:xfrm>
            <a:off x="6942772" y="1645919"/>
            <a:ext cx="6748224"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more important.</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AI COULD BECOME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Another centralized layer.</a:t>
            </a:r>
          </a:p>
          <a:p>
            <a:pPr algn="l">
              <a:lnSpc>
                <a:spcPct val="140000"/>
              </a:lnSpc>
            </a:pPr>
            <a:r>
              <a:rPr sz="1979">
                <a:solidFill>
                  <a:srgbClr val="F2ECDD"/>
                </a:solidFill>
                <a:latin typeface="TT Commons Pro"/>
              </a:rPr>
              <a:t>Another source of dependence.</a:t>
            </a:r>
          </a:p>
          <a:p>
            <a:pPr algn="l">
              <a:lnSpc>
                <a:spcPct val="140000"/>
              </a:lnSpc>
            </a:pPr>
            <a:r>
              <a:rPr sz="1979">
                <a:solidFill>
                  <a:srgbClr val="F2ECDD"/>
                </a:solidFill>
                <a:latin typeface="TT Commons Pro"/>
              </a:rPr>
              <a:t>Another surveillance infrastructure.</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It is already capable of searching, scheduling,</a:t>
            </a:r>
          </a:p>
          <a:p>
            <a:pPr algn="l">
              <a:lnSpc>
                <a:spcPct val="140000"/>
              </a:lnSpc>
            </a:pPr>
            <a:r>
              <a:rPr sz="1979">
                <a:solidFill>
                  <a:srgbClr val="F2ECDD"/>
                </a:solidFill>
                <a:latin typeface="TT Commons Pro"/>
              </a:rPr>
              <a:t>purchasing, organizing — acting.</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OR IT COULD HELP COMMUNITIES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Find resources. Coordinate work.</a:t>
            </a:r>
          </a:p>
          <a:p>
            <a:pPr algn="l">
              <a:lnSpc>
                <a:spcPct val="140000"/>
              </a:lnSpc>
            </a:pPr>
            <a:r>
              <a:rPr sz="1979">
                <a:solidFill>
                  <a:srgbClr val="F2ECDD"/>
                </a:solidFill>
                <a:latin typeface="TT Commons Pro"/>
              </a:rPr>
              <a:t>Understand needs. Surface unused capacity.</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Care for place — and steward</a:t>
            </a:r>
          </a:p>
          <a:p>
            <a:pPr algn="l">
              <a:lnSpc>
                <a:spcPct val="140000"/>
              </a:lnSpc>
            </a:pPr>
            <a:r>
              <a:rPr sz="1979">
                <a:solidFill>
                  <a:srgbClr val="F2ECDD"/>
                </a:solidFill>
                <a:latin typeface="TT Commons Pro"/>
              </a:rPr>
              <a:t>the ecological systems that sustain it.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Does AI make us more dependent on distant infrastructure — </a:t>
            </a:r>
            <a:r>
              <a:rPr sz="2250" spc="20">
                <a:solidFill>
                  <a:srgbClr val="9FE8DC"/>
                </a:solidFill>
                <a:latin typeface="Alike Italics"/>
              </a:rPr>
              <a:t>or more capable where we are?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OWNERSHIP</a:t>
            </a:r>
          </a:p>
        </p:txBody>
      </p:sp>
      <p:sp>
        <p:nvSpPr>
          <p:cNvPr id="4" name="TextBox 3"/>
          <p:cNvSpPr txBox="1"/>
          <p:nvPr/>
        </p:nvSpPr>
        <p:spPr>
          <a:xfrm>
            <a:off x="822959" y="1699869"/>
            <a:ext cx="8647271" cy="1075620"/>
          </a:xfrm>
          <a:prstGeom prst="rect">
            <a:avLst/>
          </a:prstGeom>
          <a:noFill/>
        </p:spPr>
        <p:txBody>
          <a:bodyPr wrap="none" lIns="0" rIns="0" tIns="0" bIns="0">
            <a:spAutoFit/>
          </a:bodyPr>
          <a:lstStyle/>
          <a:p>
            <a:pPr algn="l">
              <a:lnSpc>
                <a:spcPct val="115000"/>
              </a:lnSpc>
            </a:pPr>
            <a:r>
              <a:rPr sz="5841" spc="-75">
                <a:solidFill>
                  <a:srgbClr val="F4EAD8"/>
                </a:solidFill>
                <a:latin typeface="TT Commons Pro Bold"/>
              </a:rPr>
              <a:t>Ownership changes </a:t>
            </a:r>
          </a:p>
        </p:txBody>
      </p:sp>
      <p:sp>
        <p:nvSpPr>
          <p:cNvPr id="5" name="TextBox 4"/>
          <p:cNvSpPr txBox="1"/>
          <p:nvPr/>
        </p:nvSpPr>
        <p:spPr>
          <a:xfrm>
            <a:off x="7576185" y="1645919"/>
            <a:ext cx="5920740" cy="1173403"/>
          </a:xfrm>
          <a:prstGeom prst="rect">
            <a:avLst/>
          </a:prstGeom>
          <a:noFill/>
        </p:spPr>
        <p:txBody>
          <a:bodyPr wrap="none" lIns="0" rIns="0" tIns="0" bIns="0">
            <a:spAutoFit/>
          </a:bodyPr>
          <a:lstStyle/>
          <a:p>
            <a:pPr algn="l">
              <a:lnSpc>
                <a:spcPct val="115000"/>
              </a:lnSpc>
            </a:pPr>
            <a:r>
              <a:rPr sz="6372" spc="-75">
                <a:solidFill>
                  <a:srgbClr val="F0CC8B"/>
                </a:solidFill>
                <a:latin typeface="Ibarra Real Nova Italics"/>
              </a:rPr>
              <a:t>the incentives.</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EXISTING PLATFORMS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Capture attention.</a:t>
            </a:r>
          </a:p>
          <a:p>
            <a:pPr algn="l">
              <a:lnSpc>
                <a:spcPct val="140000"/>
              </a:lnSpc>
            </a:pPr>
            <a:r>
              <a:rPr sz="1979">
                <a:solidFill>
                  <a:srgbClr val="F2ECDD"/>
                </a:solidFill>
                <a:latin typeface="TT Commons Pro"/>
              </a:rPr>
              <a:t>Capture data.</a:t>
            </a:r>
          </a:p>
          <a:p>
            <a:pPr algn="l">
              <a:lnSpc>
                <a:spcPct val="140000"/>
              </a:lnSpc>
            </a:pPr>
            <a:r>
              <a:rPr sz="1979">
                <a:solidFill>
                  <a:srgbClr val="F2ECDD"/>
                </a:solidFill>
                <a:latin typeface="TT Commons Pro"/>
              </a:rPr>
              <a:t>Capture transactions.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Network value concentrates upward.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RIVR'S LOOP</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The people using the network create its value —</a:t>
            </a:r>
          </a:p>
          <a:p>
            <a:pPr algn="l">
              <a:lnSpc>
                <a:spcPct val="140000"/>
              </a:lnSpc>
            </a:pPr>
            <a:r>
              <a:rPr sz="1979">
                <a:solidFill>
                  <a:srgbClr val="F2ECDD"/>
                </a:solidFill>
                <a:latin typeface="TT Commons Pro"/>
              </a:rPr>
              <a:t>so they participate in its success.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Revenue supports operations, patrons, workers,</a:t>
            </a:r>
          </a:p>
          <a:p>
            <a:pPr algn="l">
              <a:lnSpc>
                <a:spcPct val="140000"/>
              </a:lnSpc>
            </a:pPr>
            <a:r>
              <a:rPr sz="1979">
                <a:solidFill>
                  <a:srgbClr val="F2ECDD"/>
                </a:solidFill>
                <a:latin typeface="TT Commons Pro"/>
              </a:rPr>
              <a:t>stewards, reserves, and continued development.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Serving the community is how Rivr succeeds — </a:t>
            </a:r>
            <a:r>
              <a:rPr sz="2250" spc="20">
                <a:solidFill>
                  <a:srgbClr val="9FE8DC"/>
                </a:solidFill>
                <a:latin typeface="Alike Italics"/>
              </a:rPr>
              <a:t>not something added after it succeeds.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 RIVR TO RUN RIVR</a:t>
            </a:r>
          </a:p>
        </p:txBody>
      </p:sp>
      <p:sp>
        <p:nvSpPr>
          <p:cNvPr id="4" name="TextBox 3"/>
          <p:cNvSpPr txBox="1"/>
          <p:nvPr/>
        </p:nvSpPr>
        <p:spPr>
          <a:xfrm>
            <a:off x="822959" y="1699869"/>
            <a:ext cx="6789896" cy="1075620"/>
          </a:xfrm>
          <a:prstGeom prst="rect">
            <a:avLst/>
          </a:prstGeom>
          <a:noFill/>
        </p:spPr>
        <p:txBody>
          <a:bodyPr wrap="none" lIns="0" rIns="0" tIns="0" bIns="0">
            <a:spAutoFit/>
          </a:bodyPr>
          <a:lstStyle/>
          <a:p>
            <a:pPr algn="l">
              <a:lnSpc>
                <a:spcPct val="115000"/>
              </a:lnSpc>
            </a:pPr>
            <a:r>
              <a:rPr sz="5841" spc="-75">
                <a:solidFill>
                  <a:srgbClr val="F4EAD8"/>
                </a:solidFill>
                <a:latin typeface="TT Commons Pro Bold"/>
              </a:rPr>
              <a:t>The co-op lives </a:t>
            </a:r>
          </a:p>
        </p:txBody>
      </p:sp>
      <p:sp>
        <p:nvSpPr>
          <p:cNvPr id="5" name="TextBox 4"/>
          <p:cNvSpPr txBox="1"/>
          <p:nvPr/>
        </p:nvSpPr>
        <p:spPr>
          <a:xfrm>
            <a:off x="6090285" y="1645919"/>
            <a:ext cx="7605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inside the product.</a:t>
            </a:r>
          </a:p>
        </p:txBody>
      </p:sp>
      <p:sp>
        <p:nvSpPr>
          <p:cNvPr id="6" name="TextBox 5"/>
          <p:cNvSpPr txBox="1"/>
          <p:nvPr/>
        </p:nvSpPr>
        <p:spPr>
          <a:xfrm>
            <a:off x="822959" y="322325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VISIBLE RELATIONSHIPS, IN THE SYSTEM ITSELF</a:t>
            </a:r>
          </a:p>
        </p:txBody>
      </p:sp>
      <p:sp>
        <p:nvSpPr>
          <p:cNvPr id="7" name="Rounded Rectangle 6"/>
          <p:cNvSpPr/>
          <p:nvPr/>
        </p:nvSpPr>
        <p:spPr>
          <a:xfrm>
            <a:off x="8229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9" name="Rounded Rectangle 8"/>
          <p:cNvSpPr/>
          <p:nvPr/>
        </p:nvSpPr>
        <p:spPr>
          <a:xfrm>
            <a:off x="50520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520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stake</a:t>
            </a:r>
          </a:p>
        </p:txBody>
      </p:sp>
      <p:sp>
        <p:nvSpPr>
          <p:cNvPr id="11" name="Rounded Rectangle 10"/>
          <p:cNvSpPr/>
          <p:nvPr/>
        </p:nvSpPr>
        <p:spPr>
          <a:xfrm>
            <a:off x="92811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participation</a:t>
            </a:r>
          </a:p>
        </p:txBody>
      </p:sp>
      <p:sp>
        <p:nvSpPr>
          <p:cNvPr id="13" name="Rounded Rectangle 12"/>
          <p:cNvSpPr/>
          <p:nvPr/>
        </p:nvSpPr>
        <p:spPr>
          <a:xfrm>
            <a:off x="135102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102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a:t>
            </a:r>
          </a:p>
        </p:txBody>
      </p:sp>
      <p:sp>
        <p:nvSpPr>
          <p:cNvPr id="15" name="Rounded Rectangle 14"/>
          <p:cNvSpPr/>
          <p:nvPr/>
        </p:nvSpPr>
        <p:spPr>
          <a:xfrm>
            <a:off x="8229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revenue</a:t>
            </a:r>
          </a:p>
        </p:txBody>
      </p:sp>
      <p:sp>
        <p:nvSpPr>
          <p:cNvPr id="17" name="Rounded Rectangle 16"/>
          <p:cNvSpPr/>
          <p:nvPr/>
        </p:nvSpPr>
        <p:spPr>
          <a:xfrm>
            <a:off x="50520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20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surplus</a:t>
            </a:r>
          </a:p>
        </p:txBody>
      </p:sp>
      <p:sp>
        <p:nvSpPr>
          <p:cNvPr id="19" name="Rounded Rectangle 18"/>
          <p:cNvSpPr/>
          <p:nvPr/>
        </p:nvSpPr>
        <p:spPr>
          <a:xfrm>
            <a:off x="92811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patronage</a:t>
            </a:r>
          </a:p>
        </p:txBody>
      </p:sp>
      <p:sp>
        <p:nvSpPr>
          <p:cNvPr id="21" name="Rounded Rectangle 20"/>
          <p:cNvSpPr/>
          <p:nvPr/>
        </p:nvSpPr>
        <p:spPr>
          <a:xfrm>
            <a:off x="135102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102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TextBox 22"/>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The cooperative is not a statement on the About page.</a:t>
            </a:r>
          </a:p>
          <a:p>
            <a:pPr algn="ctr">
              <a:lnSpc>
                <a:spcPct val="140000"/>
              </a:lnSpc>
            </a:pPr>
            <a:r>
              <a:rPr sz="2175" spc="20">
                <a:solidFill>
                  <a:srgbClr val="EBCF9E"/>
                </a:solidFill>
                <a:latin typeface="Alike Italics"/>
              </a:rPr>
              <a:t>The institution demonstrates the coordination architecture it is building for others.</a:t>
            </a:r>
          </a:p>
        </p:txBody>
      </p:sp>
      <p:pic>
        <p:nvPicPr>
          <p:cNvPr id="24" name="Picture 2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COHERENCE WITHOUT CAPTURE</a:t>
            </a:r>
          </a:p>
        </p:txBody>
      </p:sp>
      <p:sp>
        <p:nvSpPr>
          <p:cNvPr id="4" name="TextBox 3"/>
          <p:cNvSpPr txBox="1"/>
          <p:nvPr/>
        </p:nvSpPr>
        <p:spPr>
          <a:xfrm>
            <a:off x="822959" y="1699869"/>
            <a:ext cx="10861833"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Coordination and control are </a:t>
            </a:r>
          </a:p>
        </p:txBody>
      </p:sp>
      <p:sp>
        <p:nvSpPr>
          <p:cNvPr id="5" name="TextBox 4"/>
          <p:cNvSpPr txBox="1"/>
          <p:nvPr/>
        </p:nvSpPr>
        <p:spPr>
          <a:xfrm>
            <a:off x="9347835" y="1645919"/>
            <a:ext cx="6992302" cy="1043025"/>
          </a:xfrm>
          <a:prstGeom prst="rect">
            <a:avLst/>
          </a:prstGeom>
          <a:noFill/>
        </p:spPr>
        <p:txBody>
          <a:bodyPr wrap="none" lIns="0" rIns="0" tIns="0" bIns="0">
            <a:spAutoFit/>
          </a:bodyPr>
          <a:lstStyle/>
          <a:p>
            <a:pPr algn="l">
              <a:lnSpc>
                <a:spcPct val="115000"/>
              </a:lnSpc>
            </a:pPr>
            <a:r>
              <a:rPr sz="5664" spc="-75">
                <a:solidFill>
                  <a:srgbClr val="99E6D9"/>
                </a:solidFill>
                <a:latin typeface="Ibarra Real Nova Italics"/>
              </a:rPr>
              <a:t>not the same thing.</a:t>
            </a:r>
          </a:p>
        </p:txBody>
      </p:sp>
      <p:sp>
        <p:nvSpPr>
          <p:cNvPr id="6" name="Rounded Rectangle 5"/>
          <p:cNvSpPr/>
          <p:nvPr/>
        </p:nvSpPr>
        <p:spPr>
          <a:xfrm>
            <a:off x="822959" y="3909060"/>
            <a:ext cx="8229600" cy="3497579"/>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2811779"/>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RIVR NEEDS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strong brand. A coordinated company.</a:t>
            </a:r>
          </a:p>
          <a:p>
            <a:pPr algn="l">
              <a:lnSpc>
                <a:spcPct val="140000"/>
              </a:lnSpc>
            </a:pPr>
            <a:r>
              <a:rPr sz="1979">
                <a:solidFill>
                  <a:srgbClr val="F2ECDD"/>
                </a:solidFill>
                <a:latin typeface="TT Commons Pro"/>
              </a:rPr>
              <a:t>Capital. A development team. Marketing.</a:t>
            </a:r>
          </a:p>
          <a:p>
            <a:pPr algn="l">
              <a:lnSpc>
                <a:spcPct val="140000"/>
              </a:lnSpc>
            </a:pPr>
            <a:r>
              <a:rPr sz="1979">
                <a:solidFill>
                  <a:srgbClr val="F2ECDD"/>
                </a:solidFill>
                <a:latin typeface="TT Commons Pro"/>
              </a:rPr>
              <a:t>Product leadership. A shared UX.</a:t>
            </a:r>
          </a:p>
          <a:p>
            <a:pPr algn="l">
              <a:lnSpc>
                <a:spcPct val="140000"/>
              </a:lnSpc>
            </a:pPr>
            <a:r>
              <a:rPr sz="1979">
                <a:solidFill>
                  <a:srgbClr val="F2ECDD"/>
                </a:solidFill>
                <a:latin typeface="TT Commons Pro"/>
              </a:rPr>
              <a:t>Common standards.</a:t>
            </a:r>
          </a:p>
        </p:txBody>
      </p:sp>
      <p:sp>
        <p:nvSpPr>
          <p:cNvPr id="8" name="Rounded Rectangle 7"/>
          <p:cNvSpPr/>
          <p:nvPr/>
        </p:nvSpPr>
        <p:spPr>
          <a:xfrm>
            <a:off x="9395459" y="3909060"/>
            <a:ext cx="8092440" cy="3497579"/>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2811779"/>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THAT DOES NOT REQUIRE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company owning everyone's data.</a:t>
            </a:r>
          </a:p>
          <a:p>
            <a:pPr algn="l">
              <a:lnSpc>
                <a:spcPct val="140000"/>
              </a:lnSpc>
            </a:pPr>
            <a:r>
              <a:rPr sz="1979">
                <a:solidFill>
                  <a:srgbClr val="F2ECDD"/>
                </a:solidFill>
                <a:latin typeface="TT Commons Pro"/>
              </a:rPr>
              <a:t>One authority controlling every community.</a:t>
            </a:r>
          </a:p>
          <a:p>
            <a:pPr algn="l">
              <a:lnSpc>
                <a:spcPct val="140000"/>
              </a:lnSpc>
            </a:pPr>
            <a:r>
              <a:rPr sz="1979">
                <a:solidFill>
                  <a:srgbClr val="F2ECDD"/>
                </a:solidFill>
                <a:latin typeface="TT Commons Pro"/>
              </a:rPr>
              <a:t>One governance body over every instance.</a:t>
            </a:r>
          </a:p>
          <a:p>
            <a:pPr algn="l">
              <a:lnSpc>
                <a:spcPct val="140000"/>
              </a:lnSpc>
            </a:pPr>
            <a:r>
              <a:rPr sz="1979">
                <a:solidFill>
                  <a:srgbClr val="F2ECDD"/>
                </a:solidFill>
                <a:latin typeface="TT Commons Pro"/>
              </a:rPr>
              <a:t>One permanent corporate center.</a:t>
            </a:r>
          </a:p>
        </p:txBody>
      </p:sp>
      <p:sp>
        <p:nvSpPr>
          <p:cNvPr id="10" name="TextBox 9"/>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A coherent product can coexist with distributed ownership, local governance,</a:t>
            </a:r>
          </a:p>
          <a:p>
            <a:pPr algn="ctr">
              <a:lnSpc>
                <a:spcPct val="140000"/>
              </a:lnSpc>
            </a:pPr>
            <a:r>
              <a:rPr sz="2025">
                <a:solidFill>
                  <a:srgbClr val="EBCF9E"/>
                </a:solidFill>
                <a:latin typeface="TT Commons Pro Bold"/>
              </a:rPr>
              <a:t>sovereign data, federation, and interoperability.</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ANTI-CAPTURE</a:t>
            </a:r>
          </a:p>
        </p:txBody>
      </p:sp>
      <p:sp>
        <p:nvSpPr>
          <p:cNvPr id="4" name="TextBox 3"/>
          <p:cNvSpPr txBox="1"/>
          <p:nvPr/>
        </p:nvSpPr>
        <p:spPr>
          <a:xfrm>
            <a:off x="822959" y="1699869"/>
            <a:ext cx="11010661" cy="1010431"/>
          </a:xfrm>
          <a:prstGeom prst="rect">
            <a:avLst/>
          </a:prstGeom>
          <a:noFill/>
        </p:spPr>
        <p:txBody>
          <a:bodyPr wrap="none" lIns="0" rIns="0" tIns="0" bIns="0">
            <a:spAutoFit/>
          </a:bodyPr>
          <a:lstStyle/>
          <a:p>
            <a:pPr algn="l">
              <a:lnSpc>
                <a:spcPct val="115000"/>
              </a:lnSpc>
            </a:pPr>
            <a:r>
              <a:rPr sz="5487" spc="-75">
                <a:solidFill>
                  <a:srgbClr val="F4EAD8"/>
                </a:solidFill>
                <a:latin typeface="TT Commons Pro Bold"/>
              </a:rPr>
              <a:t>Don't rely on future leaders </a:t>
            </a:r>
          </a:p>
        </p:txBody>
      </p:sp>
      <p:sp>
        <p:nvSpPr>
          <p:cNvPr id="5" name="TextBox 4"/>
          <p:cNvSpPr txBox="1"/>
          <p:nvPr/>
        </p:nvSpPr>
        <p:spPr>
          <a:xfrm>
            <a:off x="9466897" y="1645919"/>
            <a:ext cx="5003958" cy="1108214"/>
          </a:xfrm>
          <a:prstGeom prst="rect">
            <a:avLst/>
          </a:prstGeom>
          <a:noFill/>
        </p:spPr>
        <p:txBody>
          <a:bodyPr wrap="none" lIns="0" rIns="0" tIns="0" bIns="0">
            <a:spAutoFit/>
          </a:bodyPr>
          <a:lstStyle/>
          <a:p>
            <a:pPr algn="l">
              <a:lnSpc>
                <a:spcPct val="115000"/>
              </a:lnSpc>
            </a:pPr>
            <a:r>
              <a:rPr sz="6017" spc="-75">
                <a:solidFill>
                  <a:srgbClr val="F0CC8B"/>
                </a:solidFill>
                <a:latin typeface="Ibarra Real Nova Italics"/>
              </a:rPr>
              <a:t>staying nice.</a:t>
            </a:r>
          </a:p>
        </p:txBody>
      </p:sp>
      <p:sp>
        <p:nvSpPr>
          <p:cNvPr id="6" name="Rounded Rectangle 5"/>
          <p:cNvSpPr/>
          <p:nvPr/>
        </p:nvSpPr>
        <p:spPr>
          <a:xfrm>
            <a:off x="822959"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COOPERATIVE OWNERSHIP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users own the institution — capture has no cheap entry point.</a:t>
            </a:r>
          </a:p>
        </p:txBody>
      </p:sp>
      <p:sp>
        <p:nvSpPr>
          <p:cNvPr id="8" name="Rounded Rectangle 7"/>
          <p:cNvSpPr/>
          <p:nvPr/>
        </p:nvSpPr>
        <p:spPr>
          <a:xfrm>
            <a:off x="6478523" y="3291839"/>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PUBLIC-BENEFIT PURPOSE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outcomes are in the Articles: obligations, not marketing.</a:t>
            </a:r>
          </a:p>
        </p:txBody>
      </p:sp>
      <p:sp>
        <p:nvSpPr>
          <p:cNvPr id="10" name="Rounded Rectangle 9"/>
          <p:cNvSpPr/>
          <p:nvPr/>
        </p:nvSpPr>
        <p:spPr>
          <a:xfrm>
            <a:off x="12134087"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FEDERATION</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No single switch to seize — many instances, one network.</a:t>
            </a:r>
          </a:p>
        </p:txBody>
      </p:sp>
      <p:sp>
        <p:nvSpPr>
          <p:cNvPr id="12" name="Rounded Rectangle 11"/>
          <p:cNvSpPr/>
          <p:nvPr/>
        </p:nvSpPr>
        <p:spPr>
          <a:xfrm>
            <a:off x="822959"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 DATA</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Communities keep their data; leaving is always possible.</a:t>
            </a:r>
          </a:p>
        </p:txBody>
      </p:sp>
      <p:sp>
        <p:nvSpPr>
          <p:cNvPr id="14" name="Rounded Rectangle 13"/>
          <p:cNvSpPr/>
          <p:nvPr/>
        </p:nvSpPr>
        <p:spPr>
          <a:xfrm>
            <a:off x="6478523" y="5815583"/>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INTEROPERABILITY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Open standards mean no lock-in to defend badly.</a:t>
            </a:r>
          </a:p>
        </p:txBody>
      </p:sp>
      <p:sp>
        <p:nvSpPr>
          <p:cNvPr id="16" name="Rounded Rectangle 15"/>
          <p:cNvSpPr/>
          <p:nvPr/>
        </p:nvSpPr>
        <p:spPr>
          <a:xfrm>
            <a:off x="12134087"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PERMISSIONS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Visibility and access stay under member control.</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If platforms became extractive because incentives changed, Rivr cannot just say “trust us.”</a:t>
            </a:r>
          </a:p>
          <a:p>
            <a:pPr algn="ctr">
              <a:lnSpc>
                <a:spcPct val="140000"/>
              </a:lnSpc>
            </a:pPr>
            <a:r>
              <a:rPr sz="2100" spc="20">
                <a:solidFill>
                  <a:srgbClr val="9FE8DC"/>
                </a:solidFill>
                <a:latin typeface="Alike Italics"/>
              </a:rPr>
              <a:t>Build the system so capture is harder even if future incentives change.</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COMPETITIVE LANDSCAPE</a:t>
            </a:r>
          </a:p>
        </p:txBody>
      </p:sp>
      <p:sp>
        <p:nvSpPr>
          <p:cNvPr id="4" name="TextBox 3"/>
          <p:cNvSpPr txBox="1"/>
          <p:nvPr/>
        </p:nvSpPr>
        <p:spPr>
          <a:xfrm>
            <a:off x="822959" y="1699869"/>
            <a:ext cx="7897177"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The competition is </a:t>
            </a:r>
          </a:p>
        </p:txBody>
      </p:sp>
      <p:sp>
        <p:nvSpPr>
          <p:cNvPr id="5" name="TextBox 4"/>
          <p:cNvSpPr txBox="1"/>
          <p:nvPr/>
        </p:nvSpPr>
        <p:spPr>
          <a:xfrm>
            <a:off x="6976109" y="1645919"/>
            <a:ext cx="8528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the fragmented stack.</a:t>
            </a:r>
          </a:p>
        </p:txBody>
      </p:sp>
      <p:sp>
        <p:nvSpPr>
          <p:cNvPr id="6" name="Rounded Rectangle 5"/>
          <p:cNvSpPr/>
          <p:nvPr/>
        </p:nvSpPr>
        <p:spPr>
          <a:xfrm>
            <a:off x="822959"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Facebook</a:t>
            </a:r>
          </a:p>
        </p:txBody>
      </p:sp>
      <p:sp>
        <p:nvSpPr>
          <p:cNvPr id="8" name="Rounded Rectangle 7"/>
          <p:cNvSpPr/>
          <p:nvPr/>
        </p:nvSpPr>
        <p:spPr>
          <a:xfrm>
            <a:off x="3634738"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4738"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Nextdoor</a:t>
            </a:r>
          </a:p>
        </p:txBody>
      </p:sp>
      <p:sp>
        <p:nvSpPr>
          <p:cNvPr id="10" name="Rounded Rectangle 9"/>
          <p:cNvSpPr/>
          <p:nvPr/>
        </p:nvSpPr>
        <p:spPr>
          <a:xfrm>
            <a:off x="6446517"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17"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Meetup</a:t>
            </a:r>
          </a:p>
        </p:txBody>
      </p:sp>
      <p:sp>
        <p:nvSpPr>
          <p:cNvPr id="12" name="Rounded Rectangle 11"/>
          <p:cNvSpPr/>
          <p:nvPr/>
        </p:nvSpPr>
        <p:spPr>
          <a:xfrm>
            <a:off x="9258296"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58296"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Eventbrite</a:t>
            </a:r>
          </a:p>
        </p:txBody>
      </p:sp>
      <p:sp>
        <p:nvSpPr>
          <p:cNvPr id="14" name="Rounded Rectangle 13"/>
          <p:cNvSpPr/>
          <p:nvPr/>
        </p:nvSpPr>
        <p:spPr>
          <a:xfrm>
            <a:off x="12070075"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75"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Asana</a:t>
            </a:r>
          </a:p>
        </p:txBody>
      </p:sp>
      <p:sp>
        <p:nvSpPr>
          <p:cNvPr id="16" name="Rounded Rectangle 15"/>
          <p:cNvSpPr/>
          <p:nvPr/>
        </p:nvSpPr>
        <p:spPr>
          <a:xfrm>
            <a:off x="14881854"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881854"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Slack</a:t>
            </a:r>
          </a:p>
        </p:txBody>
      </p:sp>
      <p:sp>
        <p:nvSpPr>
          <p:cNvPr id="18" name="Rounded Rectangle 17"/>
          <p:cNvSpPr/>
          <p:nvPr/>
        </p:nvSpPr>
        <p:spPr>
          <a:xfrm>
            <a:off x="822959"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Venmo</a:t>
            </a:r>
          </a:p>
        </p:txBody>
      </p:sp>
      <p:sp>
        <p:nvSpPr>
          <p:cNvPr id="20" name="Rounded Rectangle 19"/>
          <p:cNvSpPr/>
          <p:nvPr/>
        </p:nvSpPr>
        <p:spPr>
          <a:xfrm>
            <a:off x="3634738"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4738"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Google Workspace</a:t>
            </a:r>
          </a:p>
        </p:txBody>
      </p:sp>
      <p:sp>
        <p:nvSpPr>
          <p:cNvPr id="22" name="Rounded Rectangle 21"/>
          <p:cNvSpPr/>
          <p:nvPr/>
        </p:nvSpPr>
        <p:spPr>
          <a:xfrm>
            <a:off x="6446517"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17"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Square</a:t>
            </a:r>
          </a:p>
        </p:txBody>
      </p:sp>
      <p:sp>
        <p:nvSpPr>
          <p:cNvPr id="24" name="Rounded Rectangle 23"/>
          <p:cNvSpPr/>
          <p:nvPr/>
        </p:nvSpPr>
        <p:spPr>
          <a:xfrm>
            <a:off x="9258296"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8296"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Shopify</a:t>
            </a:r>
          </a:p>
        </p:txBody>
      </p:sp>
      <p:sp>
        <p:nvSpPr>
          <p:cNvPr id="26" name="Rounded Rectangle 25"/>
          <p:cNvSpPr/>
          <p:nvPr/>
        </p:nvSpPr>
        <p:spPr>
          <a:xfrm>
            <a:off x="12070075"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70075"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Luma</a:t>
            </a:r>
          </a:p>
        </p:txBody>
      </p:sp>
      <p:sp>
        <p:nvSpPr>
          <p:cNvPr id="28" name="Rounded Rectangle 27"/>
          <p:cNvSpPr/>
          <p:nvPr/>
        </p:nvSpPr>
        <p:spPr>
          <a:xfrm>
            <a:off x="14881854"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81854"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centralized AI</a:t>
            </a:r>
          </a:p>
        </p:txBody>
      </p:sp>
      <p:sp>
        <p:nvSpPr>
          <p:cNvPr id="30" name="Rounded Rectangle 29"/>
          <p:cNvSpPr/>
          <p:nvPr/>
        </p:nvSpPr>
        <p:spPr>
          <a:xfrm>
            <a:off x="822959"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5859" y="5458968"/>
            <a:ext cx="4663440" cy="1714500"/>
          </a:xfrm>
          <a:prstGeom prst="rect">
            <a:avLst/>
          </a:prstGeom>
          <a:noFill/>
        </p:spPr>
        <p:txBody>
          <a:bodyPr wrap="square" lIns="0" rIns="0" tIns="0" bIns="0">
            <a:spAutoFit/>
          </a:bodyPr>
          <a:lstStyle/>
          <a:p>
            <a:pPr algn="l">
              <a:lnSpc>
                <a:spcPct val="125000"/>
              </a:lnSpc>
            </a:pPr>
            <a:r>
              <a:rPr sz="1350" spc="180">
                <a:solidFill>
                  <a:srgbClr val="AFC4C2"/>
                </a:solidFill>
                <a:latin typeface="Todes 1"/>
              </a:rPr>
              <a:t>RECOGNIZABLE APP STACK</a:t>
            </a:r>
          </a:p>
          <a:p>
            <a:pPr algn="l">
              <a:lnSpc>
                <a:spcPct val="125000"/>
              </a:lnSpc>
            </a:pPr>
            <a:r>
              <a:rPr sz="4500" spc="20">
                <a:solidFill>
                  <a:srgbClr val="F4EAD8"/>
                </a:solidFill>
                <a:latin typeface="Todes 1"/>
              </a:rPr>
              <a:t>$328.20</a:t>
            </a:r>
          </a:p>
          <a:p>
            <a:pPr algn="l">
              <a:lnSpc>
                <a:spcPct val="125000"/>
              </a:lnSpc>
            </a:pPr>
            <a:r>
              <a:rPr sz="1500">
                <a:solidFill>
                  <a:srgbClr val="AFC4C2"/>
                </a:solidFill>
                <a:latin typeface="TT Commons Pro"/>
              </a:rPr>
              <a:t>/ month, 5-seat organization</a:t>
            </a:r>
          </a:p>
        </p:txBody>
      </p:sp>
      <p:sp>
        <p:nvSpPr>
          <p:cNvPr id="32" name="Rounded Rectangle 31"/>
          <p:cNvSpPr/>
          <p:nvPr/>
        </p:nvSpPr>
        <p:spPr>
          <a:xfrm>
            <a:off x="6473951"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6851" y="5458968"/>
            <a:ext cx="4663440" cy="1714500"/>
          </a:xfrm>
          <a:prstGeom prst="rect">
            <a:avLst/>
          </a:prstGeom>
          <a:noFill/>
        </p:spPr>
        <p:txBody>
          <a:bodyPr wrap="square" lIns="0" rIns="0" tIns="0" bIns="0">
            <a:spAutoFit/>
          </a:bodyPr>
          <a:lstStyle/>
          <a:p>
            <a:pPr algn="l">
              <a:lnSpc>
                <a:spcPct val="125000"/>
              </a:lnSpc>
            </a:pPr>
            <a:r>
              <a:rPr sz="1350" spc="180">
                <a:solidFill>
                  <a:srgbClr val="9FE8DC"/>
                </a:solidFill>
                <a:latin typeface="Todes 1"/>
              </a:rPr>
              <a:t>RIVR ORGANIZATION</a:t>
            </a:r>
          </a:p>
          <a:p>
            <a:pPr algn="l">
              <a:lnSpc>
                <a:spcPct val="125000"/>
              </a:lnSpc>
            </a:pPr>
            <a:r>
              <a:rPr sz="4500" spc="20">
                <a:solidFill>
                  <a:srgbClr val="F4EAD8"/>
                </a:solidFill>
                <a:latin typeface="Todes 1"/>
              </a:rPr>
              <a:t>$46.06</a:t>
            </a:r>
          </a:p>
          <a:p>
            <a:pPr algn="l">
              <a:lnSpc>
                <a:spcPct val="125000"/>
              </a:lnSpc>
            </a:pPr>
            <a:r>
              <a:rPr sz="1500">
                <a:solidFill>
                  <a:srgbClr val="AFC4C2"/>
                </a:solidFill>
                <a:latin typeface="TT Commons Pro"/>
              </a:rPr>
              <a:t>/ month — one relational ecosystem</a:t>
            </a:r>
          </a:p>
        </p:txBody>
      </p:sp>
      <p:sp>
        <p:nvSpPr>
          <p:cNvPr id="34" name="Rounded Rectangle 33"/>
          <p:cNvSpPr/>
          <p:nvPr/>
        </p:nvSpPr>
        <p:spPr>
          <a:xfrm>
            <a:off x="12124943" y="5143500"/>
            <a:ext cx="5349240" cy="2331720"/>
          </a:xfrm>
          <a:prstGeom prst="roundRect">
            <a:avLst>
              <a:gd name="adj" fmla="val 6000"/>
            </a:avLst>
          </a:prstGeom>
          <a:solidFill>
            <a:srgbClr val="062A2C"/>
          </a:solidFill>
          <a:ln w="2476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67843" y="5458968"/>
            <a:ext cx="4663440" cy="1714500"/>
          </a:xfrm>
          <a:prstGeom prst="rect">
            <a:avLst/>
          </a:prstGeom>
          <a:noFill/>
        </p:spPr>
        <p:txBody>
          <a:bodyPr wrap="square" lIns="0" rIns="0" tIns="0" bIns="0">
            <a:spAutoFit/>
          </a:bodyPr>
          <a:lstStyle/>
          <a:p>
            <a:pPr algn="l">
              <a:lnSpc>
                <a:spcPct val="125000"/>
              </a:lnSpc>
            </a:pPr>
            <a:r>
              <a:rPr sz="1350" spc="180">
                <a:solidFill>
                  <a:srgbClr val="EBCF9E"/>
                </a:solidFill>
                <a:latin typeface="Todes 1"/>
              </a:rPr>
              <a:t>SAVED EACH MONTH</a:t>
            </a:r>
          </a:p>
          <a:p>
            <a:pPr algn="l">
              <a:lnSpc>
                <a:spcPct val="125000"/>
              </a:lnSpc>
            </a:pPr>
            <a:r>
              <a:rPr sz="4500" spc="20">
                <a:solidFill>
                  <a:srgbClr val="EBCF9E"/>
                </a:solidFill>
                <a:latin typeface="Todes 1"/>
              </a:rPr>
              <a:t>$282.14</a:t>
            </a:r>
          </a:p>
          <a:p>
            <a:pPr algn="l">
              <a:lnSpc>
                <a:spcPct val="125000"/>
              </a:lnSpc>
            </a:pPr>
            <a:r>
              <a:rPr sz="1500">
                <a:solidFill>
                  <a:srgbClr val="AFC4C2"/>
                </a:solidFill>
                <a:latin typeface="TT Commons Pro"/>
              </a:rPr>
              <a:t>≈ $3,546.68 per year</a:t>
            </a:r>
          </a:p>
        </p:txBody>
      </p:sp>
      <p:sp>
        <p:nvSpPr>
          <p:cNvPr id="36" name="TextBox 35"/>
          <p:cNvSpPr txBox="1"/>
          <p:nvPr/>
        </p:nvSpPr>
        <p:spPr>
          <a:xfrm>
            <a:off x="822959" y="8023859"/>
            <a:ext cx="16596359" cy="1097280"/>
          </a:xfrm>
          <a:prstGeom prst="rect">
            <a:avLst/>
          </a:prstGeom>
          <a:noFill/>
        </p:spPr>
        <p:txBody>
          <a:bodyPr wrap="square" lIns="0" rIns="0" tIns="0" bIns="0">
            <a:spAutoFit/>
          </a:bodyPr>
          <a:lstStyle/>
          <a:p>
            <a:pPr algn="ctr">
              <a:lnSpc>
                <a:spcPct val="140000"/>
              </a:lnSpc>
            </a:pPr>
            <a:r>
              <a:rPr sz="1500">
                <a:solidFill>
                  <a:srgbClr val="AFC4C2"/>
                </a:solidFill>
                <a:latin typeface="TT Commons Pro"/>
              </a:rPr>
              <a:t>Modeled on a 5-seat organization: Asana, Slack, Google Workspace, Square Payroll + Plus, Shopify, Luma Plus — before hiring fees.</a:t>
            </a:r>
          </a:p>
          <a:p>
            <a:pPr algn="ctr">
              <a:lnSpc>
                <a:spcPct val="140000"/>
              </a:lnSpc>
            </a:pPr>
            <a:r>
              <a:rPr sz="2175" spc="20">
                <a:solidFill>
                  <a:srgbClr val="9FE8DC"/>
                </a:solidFill>
                <a:latin typeface="Alike Italics"/>
              </a:rPr>
              <a:t>The social network is the doorway. Rivr models real activity, not just content.</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QUALITY</a:t>
            </a:r>
          </a:p>
        </p:txBody>
      </p:sp>
      <p:sp>
        <p:nvSpPr>
          <p:cNvPr id="4" name="TextBox 3"/>
          <p:cNvSpPr txBox="1"/>
          <p:nvPr/>
        </p:nvSpPr>
        <p:spPr>
          <a:xfrm>
            <a:off x="822959" y="1717852"/>
            <a:ext cx="13981271"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Values aren't enough — Rivr has to be </a:t>
            </a:r>
          </a:p>
        </p:txBody>
      </p:sp>
      <p:sp>
        <p:nvSpPr>
          <p:cNvPr id="5" name="TextBox 4"/>
          <p:cNvSpPr txBox="1"/>
          <p:nvPr/>
        </p:nvSpPr>
        <p:spPr>
          <a:xfrm>
            <a:off x="11843384" y="1645919"/>
            <a:ext cx="2188130"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good.</a:t>
            </a:r>
          </a:p>
        </p:txBody>
      </p:sp>
      <p:sp>
        <p:nvSpPr>
          <p:cNvPr id="6" name="TextBox 5"/>
          <p:cNvSpPr txBox="1"/>
          <p:nvPr/>
        </p:nvSpPr>
        <p:spPr>
          <a:xfrm>
            <a:off x="822959" y="2948939"/>
            <a:ext cx="16596359" cy="548640"/>
          </a:xfrm>
          <a:prstGeom prst="rect">
            <a:avLst/>
          </a:prstGeom>
          <a:noFill/>
        </p:spPr>
        <p:txBody>
          <a:bodyPr wrap="square" lIns="0" rIns="0" tIns="0" bIns="0">
            <a:spAutoFit/>
          </a:bodyPr>
          <a:lstStyle/>
          <a:p>
            <a:pPr algn="l">
              <a:lnSpc>
                <a:spcPct val="115000"/>
              </a:lnSpc>
            </a:pPr>
            <a:r>
              <a:rPr sz="2100">
                <a:solidFill>
                  <a:srgbClr val="F2ECDD"/>
                </a:solidFill>
                <a:latin typeface="TT Commons Pro"/>
              </a:rPr>
              <a:t>Rivr cannot succeed simply because people agree with the philosophy. It needs to:</a:t>
            </a:r>
          </a:p>
        </p:txBody>
      </p:sp>
      <p:sp>
        <p:nvSpPr>
          <p:cNvPr id="7" name="TextBox 6"/>
          <p:cNvSpPr txBox="1"/>
          <p:nvPr/>
        </p:nvSpPr>
        <p:spPr>
          <a:xfrm>
            <a:off x="102870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time</a:t>
            </a:r>
          </a:p>
        </p:txBody>
      </p:sp>
      <p:sp>
        <p:nvSpPr>
          <p:cNvPr id="8" name="TextBox 7"/>
          <p:cNvSpPr txBox="1"/>
          <p:nvPr/>
        </p:nvSpPr>
        <p:spPr>
          <a:xfrm>
            <a:off x="953262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money</a:t>
            </a:r>
          </a:p>
        </p:txBody>
      </p:sp>
      <p:sp>
        <p:nvSpPr>
          <p:cNvPr id="9" name="TextBox 8"/>
          <p:cNvSpPr txBox="1"/>
          <p:nvPr/>
        </p:nvSpPr>
        <p:spPr>
          <a:xfrm>
            <a:off x="102870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replace fragmented tools</a:t>
            </a:r>
          </a:p>
        </p:txBody>
      </p:sp>
      <p:sp>
        <p:nvSpPr>
          <p:cNvPr id="10" name="TextBox 9"/>
          <p:cNvSpPr txBox="1"/>
          <p:nvPr/>
        </p:nvSpPr>
        <p:spPr>
          <a:xfrm>
            <a:off x="953262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work easier</a:t>
            </a:r>
          </a:p>
        </p:txBody>
      </p:sp>
      <p:sp>
        <p:nvSpPr>
          <p:cNvPr id="11" name="TextBox 10"/>
          <p:cNvSpPr txBox="1"/>
          <p:nvPr/>
        </p:nvSpPr>
        <p:spPr>
          <a:xfrm>
            <a:off x="102870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discovery more useful</a:t>
            </a:r>
          </a:p>
        </p:txBody>
      </p:sp>
      <p:sp>
        <p:nvSpPr>
          <p:cNvPr id="12" name="TextBox 11"/>
          <p:cNvSpPr txBox="1"/>
          <p:nvPr/>
        </p:nvSpPr>
        <p:spPr>
          <a:xfrm>
            <a:off x="953262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reduce coordination friction</a:t>
            </a:r>
          </a:p>
        </p:txBody>
      </p:sp>
      <p:sp>
        <p:nvSpPr>
          <p:cNvPr id="13" name="TextBox 12"/>
          <p:cNvSpPr txBox="1"/>
          <p:nvPr/>
        </p:nvSpPr>
        <p:spPr>
          <a:xfrm>
            <a:off x="1028700" y="6391655"/>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feel good to use</a:t>
            </a:r>
          </a:p>
        </p:txBody>
      </p:sp>
      <p:sp>
        <p:nvSpPr>
          <p:cNvPr id="14" name="TextBox 13"/>
          <p:cNvSpPr txBox="1"/>
          <p:nvPr/>
        </p:nvSpPr>
        <p:spPr>
          <a:xfrm>
            <a:off x="822959" y="8092440"/>
            <a:ext cx="16596359" cy="1097280"/>
          </a:xfrm>
          <a:prstGeom prst="rect">
            <a:avLst/>
          </a:prstGeom>
          <a:noFill/>
        </p:spPr>
        <p:txBody>
          <a:bodyPr wrap="square" lIns="0" rIns="0" tIns="0" bIns="0">
            <a:spAutoFit/>
          </a:bodyPr>
          <a:lstStyle/>
          <a:p>
            <a:pPr algn="ctr">
              <a:lnSpc>
                <a:spcPct val="140000"/>
              </a:lnSpc>
            </a:pPr>
            <a:r>
              <a:rPr sz="2400">
                <a:solidFill>
                  <a:srgbClr val="F4EAD8"/>
                </a:solidFill>
                <a:latin typeface="TT Commons Pro Bold"/>
              </a:rPr>
              <a:t>People should choose Rivr </a:t>
            </a:r>
            <a:r>
              <a:rPr sz="2550">
                <a:solidFill>
                  <a:srgbClr val="EBCF9E"/>
                </a:solidFill>
                <a:latin typeface="Ibarra Real Nova Italics"/>
              </a:rPr>
              <a:t>because Rivr works.</a:t>
            </a:r>
          </a:p>
          <a:p>
            <a:pPr algn="ctr">
              <a:lnSpc>
                <a:spcPct val="140000"/>
              </a:lnSpc>
            </a:pPr>
            <a:r>
              <a:rPr sz="1950">
                <a:solidFill>
                  <a:srgbClr val="9FE8DC"/>
                </a:solidFill>
                <a:latin typeface="TT Commons Pro"/>
              </a:rPr>
              <a:t>The deeper architecture determines who benefits when it works.</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MARKET + TRACTION · THIS IS NOT A MOCKUP</a:t>
            </a:r>
          </a:p>
        </p:txBody>
      </p:sp>
      <p:sp>
        <p:nvSpPr>
          <p:cNvPr id="4" name="TextBox 3"/>
          <p:cNvSpPr txBox="1"/>
          <p:nvPr/>
        </p:nvSpPr>
        <p:spPr>
          <a:xfrm>
            <a:off x="822959" y="1699869"/>
            <a:ext cx="6414849"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The platform is </a:t>
            </a:r>
          </a:p>
        </p:txBody>
      </p:sp>
      <p:sp>
        <p:nvSpPr>
          <p:cNvPr id="5" name="TextBox 4"/>
          <p:cNvSpPr txBox="1"/>
          <p:nvPr/>
        </p:nvSpPr>
        <p:spPr>
          <a:xfrm>
            <a:off x="5790247"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LIVE NETWORK</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app.rivr.social live — sovereign community instances (person, group, locale) federating into one network.</a:t>
            </a:r>
          </a:p>
        </p:txBody>
      </p:sp>
      <p:sp>
        <p:nvSpPr>
          <p:cNvPr id="8" name="Rounded Rectangle 7"/>
          <p:cNvSpPr/>
          <p:nvPr/>
        </p:nvSpPr>
        <p:spPr>
          <a:xfrm>
            <a:off x="6478523" y="32232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FULL ECONOMIC LOOP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Marketplace, ticketing, jobs → attestation → payout, memberships, refunds — proven end-to-end on Stripe rails, cent-exact.</a:t>
            </a:r>
          </a:p>
        </p:txBody>
      </p:sp>
      <p:sp>
        <p:nvSpPr>
          <p:cNvPr id="10" name="Rounded Rectangle 9"/>
          <p:cNvSpPr/>
          <p:nvPr/>
        </p:nvSpPr>
        <p:spPr>
          <a:xfrm>
            <a:off x="12134087"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RIVR PAY LANES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Tap-to-pay checkout, connected payouts, withholding, subgroup treasuries + card issuing on Stripe Treasury/Issuing.</a:t>
            </a:r>
          </a:p>
        </p:txBody>
      </p:sp>
      <p:sp>
        <p:nvSpPr>
          <p:cNvPr id="12" name="Rounded Rectangle 11"/>
          <p:cNvSpPr/>
          <p:nvPr/>
        </p:nvSpPr>
        <p:spPr>
          <a:xfrm>
            <a:off x="822959"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REAL GOVERNANCE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Six ballot styles, eligibility gates, weighted voting, boards — running in production groups today.</a:t>
            </a:r>
          </a:p>
        </p:txBody>
      </p:sp>
      <p:sp>
        <p:nvSpPr>
          <p:cNvPr id="14" name="Rounded Rectangle 13"/>
          <p:cNvSpPr/>
          <p:nvPr/>
        </p:nvSpPr>
        <p:spPr>
          <a:xfrm>
            <a:off x="6478523" y="59664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SALES TAX, DONE RIGHT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Stripe Tax registered computation, venue-sourced ticket tax, 1099-K seller gates.</a:t>
            </a:r>
          </a:p>
        </p:txBody>
      </p:sp>
      <p:sp>
        <p:nvSpPr>
          <p:cNvPr id="16" name="Rounded Rectangle 15"/>
          <p:cNvSpPr/>
          <p:nvPr/>
        </p:nvSpPr>
        <p:spPr>
          <a:xfrm>
            <a:off x="12134087"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AI-NATIVE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Org assistant on first-party credentials; an MCP surface of 118 tools; agents act only as the asking member.</a:t>
            </a:r>
          </a:p>
        </p:txBody>
      </p:sp>
      <p:sp>
        <p:nvSpPr>
          <p:cNvPr id="18" name="TextBox 17"/>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Boulder is the first proving ground. </a:t>
            </a:r>
            <a:r>
              <a:rPr sz="2025">
                <a:solidFill>
                  <a:srgbClr val="EBCF9E"/>
                </a:solidFill>
                <a:latin typeface="TT Commons Pro Bold"/>
              </a:rPr>
              <a:t>This seed round funds go-to-market — not a science project.</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BUSINESS MODEL</a:t>
            </a:r>
          </a:p>
        </p:txBody>
      </p:sp>
      <p:sp>
        <p:nvSpPr>
          <p:cNvPr id="4" name="TextBox 3"/>
          <p:cNvSpPr txBox="1"/>
          <p:nvPr/>
        </p:nvSpPr>
        <p:spPr>
          <a:xfrm>
            <a:off x="822959" y="1645919"/>
            <a:ext cx="8296036" cy="1075620"/>
          </a:xfrm>
          <a:prstGeom prst="rect">
            <a:avLst/>
          </a:prstGeom>
          <a:noFill/>
        </p:spPr>
        <p:txBody>
          <a:bodyPr wrap="none" lIns="0" rIns="0" tIns="0" bIns="0">
            <a:spAutoFit/>
          </a:bodyPr>
          <a:lstStyle/>
          <a:p>
            <a:pPr algn="l">
              <a:lnSpc>
                <a:spcPct val="115000"/>
              </a:lnSpc>
            </a:pPr>
            <a:r>
              <a:rPr sz="5841" spc="-75">
                <a:solidFill>
                  <a:srgbClr val="EBCF9E"/>
                </a:solidFill>
                <a:latin typeface="Ibarra Real Nova Italics"/>
              </a:rPr>
              <a:t>Membership velocity, </a:t>
            </a:r>
          </a:p>
        </p:txBody>
      </p:sp>
      <p:sp>
        <p:nvSpPr>
          <p:cNvPr id="5" name="TextBox 4"/>
          <p:cNvSpPr txBox="1"/>
          <p:nvPr/>
        </p:nvSpPr>
        <p:spPr>
          <a:xfrm>
            <a:off x="7295197" y="1681886"/>
            <a:ext cx="6575583" cy="1010431"/>
          </a:xfrm>
          <a:prstGeom prst="rect">
            <a:avLst/>
          </a:prstGeom>
          <a:noFill/>
        </p:spPr>
        <p:txBody>
          <a:bodyPr wrap="none" lIns="0" rIns="0" tIns="0" bIns="0">
            <a:spAutoFit/>
          </a:bodyPr>
          <a:lstStyle/>
          <a:p>
            <a:pPr algn="l">
              <a:lnSpc>
                <a:spcPct val="115000"/>
              </a:lnSpc>
            </a:pPr>
            <a:r>
              <a:rPr sz="5487" spc="-75">
                <a:solidFill>
                  <a:srgbClr val="F4EAD8"/>
                </a:solidFill>
                <a:latin typeface="TT Commons Pro Bold"/>
              </a:rPr>
              <a:t>not fee inflation.</a:t>
            </a:r>
          </a:p>
        </p:txBody>
      </p:sp>
      <p:sp>
        <p:nvSpPr>
          <p:cNvPr id="6" name="TextBox 5"/>
          <p:cNvSpPr txBox="1"/>
          <p:nvPr/>
        </p:nvSpPr>
        <p:spPr>
          <a:xfrm>
            <a:off x="102870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TIER</a:t>
            </a:r>
          </a:p>
        </p:txBody>
      </p:sp>
      <p:sp>
        <p:nvSpPr>
          <p:cNvPr id="7" name="TextBox 6"/>
          <p:cNvSpPr txBox="1"/>
          <p:nvPr/>
        </p:nvSpPr>
        <p:spPr>
          <a:xfrm>
            <a:off x="603504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 OF USERS</a:t>
            </a:r>
          </a:p>
        </p:txBody>
      </p:sp>
      <p:sp>
        <p:nvSpPr>
          <p:cNvPr id="8" name="TextBox 7"/>
          <p:cNvSpPr txBox="1"/>
          <p:nvPr/>
        </p:nvSpPr>
        <p:spPr>
          <a:xfrm>
            <a:off x="9052559"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FEE / MO</a:t>
            </a:r>
          </a:p>
        </p:txBody>
      </p:sp>
      <p:sp>
        <p:nvSpPr>
          <p:cNvPr id="9" name="Rectangle 8"/>
          <p:cNvSpPr/>
          <p:nvPr/>
        </p:nvSpPr>
        <p:spPr>
          <a:xfrm>
            <a:off x="1028700" y="3525011"/>
            <a:ext cx="10012680" cy="19050"/>
          </a:xfrm>
          <a:prstGeom prst="rect">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3771900"/>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Collaborator</a:t>
            </a:r>
          </a:p>
        </p:txBody>
      </p:sp>
      <p:sp>
        <p:nvSpPr>
          <p:cNvPr id="11" name="TextBox 10"/>
          <p:cNvSpPr txBox="1"/>
          <p:nvPr/>
        </p:nvSpPr>
        <p:spPr>
          <a:xfrm>
            <a:off x="6035040" y="3771900"/>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15%</a:t>
            </a:r>
          </a:p>
        </p:txBody>
      </p:sp>
      <p:sp>
        <p:nvSpPr>
          <p:cNvPr id="12" name="TextBox 11"/>
          <p:cNvSpPr txBox="1"/>
          <p:nvPr/>
        </p:nvSpPr>
        <p:spPr>
          <a:xfrm>
            <a:off x="9052559" y="3771900"/>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$11</a:t>
            </a:r>
          </a:p>
        </p:txBody>
      </p:sp>
      <p:sp>
        <p:nvSpPr>
          <p:cNvPr id="13" name="TextBox 12"/>
          <p:cNvSpPr txBox="1"/>
          <p:nvPr/>
        </p:nvSpPr>
        <p:spPr>
          <a:xfrm>
            <a:off x="1028700" y="4539996"/>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Seller</a:t>
            </a:r>
          </a:p>
        </p:txBody>
      </p:sp>
      <p:sp>
        <p:nvSpPr>
          <p:cNvPr id="14" name="TextBox 13"/>
          <p:cNvSpPr txBox="1"/>
          <p:nvPr/>
        </p:nvSpPr>
        <p:spPr>
          <a:xfrm>
            <a:off x="6035040" y="4539996"/>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15" name="TextBox 14"/>
          <p:cNvSpPr txBox="1"/>
          <p:nvPr/>
        </p:nvSpPr>
        <p:spPr>
          <a:xfrm>
            <a:off x="9052559" y="4539996"/>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6" name="TextBox 15"/>
          <p:cNvSpPr txBox="1"/>
          <p:nvPr/>
        </p:nvSpPr>
        <p:spPr>
          <a:xfrm>
            <a:off x="1028700" y="5308092"/>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Host / Producer</a:t>
            </a:r>
          </a:p>
        </p:txBody>
      </p:sp>
      <p:sp>
        <p:nvSpPr>
          <p:cNvPr id="17" name="TextBox 16"/>
          <p:cNvSpPr txBox="1"/>
          <p:nvPr/>
        </p:nvSpPr>
        <p:spPr>
          <a:xfrm>
            <a:off x="6035040" y="5308092"/>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7%</a:t>
            </a:r>
          </a:p>
        </p:txBody>
      </p:sp>
      <p:sp>
        <p:nvSpPr>
          <p:cNvPr id="18" name="TextBox 17"/>
          <p:cNvSpPr txBox="1"/>
          <p:nvPr/>
        </p:nvSpPr>
        <p:spPr>
          <a:xfrm>
            <a:off x="9052559" y="5308092"/>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9" name="TextBox 18"/>
          <p:cNvSpPr txBox="1"/>
          <p:nvPr/>
        </p:nvSpPr>
        <p:spPr>
          <a:xfrm>
            <a:off x="1028700" y="6076188"/>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Organizer</a:t>
            </a:r>
          </a:p>
        </p:txBody>
      </p:sp>
      <p:sp>
        <p:nvSpPr>
          <p:cNvPr id="20" name="TextBox 19"/>
          <p:cNvSpPr txBox="1"/>
          <p:nvPr/>
        </p:nvSpPr>
        <p:spPr>
          <a:xfrm>
            <a:off x="6035040" y="6076188"/>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21" name="TextBox 20"/>
          <p:cNvSpPr txBox="1"/>
          <p:nvPr/>
        </p:nvSpPr>
        <p:spPr>
          <a:xfrm>
            <a:off x="9052559" y="6076188"/>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$44</a:t>
            </a:r>
          </a:p>
        </p:txBody>
      </p:sp>
      <p:sp>
        <p:nvSpPr>
          <p:cNvPr id="22" name="TextBox 21"/>
          <p:cNvSpPr txBox="1"/>
          <p:nvPr/>
        </p:nvSpPr>
        <p:spPr>
          <a:xfrm>
            <a:off x="1028700" y="6844284"/>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Free users (non-members)</a:t>
            </a:r>
          </a:p>
        </p:txBody>
      </p:sp>
      <p:sp>
        <p:nvSpPr>
          <p:cNvPr id="23" name="TextBox 22"/>
          <p:cNvSpPr txBox="1"/>
          <p:nvPr/>
        </p:nvSpPr>
        <p:spPr>
          <a:xfrm>
            <a:off x="6035040" y="6844284"/>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58%</a:t>
            </a:r>
          </a:p>
        </p:txBody>
      </p:sp>
      <p:sp>
        <p:nvSpPr>
          <p:cNvPr id="24" name="TextBox 23"/>
          <p:cNvSpPr txBox="1"/>
          <p:nvPr/>
        </p:nvSpPr>
        <p:spPr>
          <a:xfrm>
            <a:off x="9052559" y="6844284"/>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a:t>
            </a:r>
          </a:p>
        </p:txBody>
      </p:sp>
      <p:sp>
        <p:nvSpPr>
          <p:cNvPr id="25" name="TextBox 24"/>
          <p:cNvSpPr txBox="1"/>
          <p:nvPr/>
        </p:nvSpPr>
        <p:spPr>
          <a:xfrm>
            <a:off x="1028700" y="7708392"/>
            <a:ext cx="10972800" cy="411479"/>
          </a:xfrm>
          <a:prstGeom prst="rect">
            <a:avLst/>
          </a:prstGeom>
          <a:noFill/>
        </p:spPr>
        <p:txBody>
          <a:bodyPr wrap="square" lIns="0" rIns="0" tIns="0" bIns="0">
            <a:spAutoFit/>
          </a:bodyPr>
          <a:lstStyle/>
          <a:p>
            <a:pPr algn="l">
              <a:lnSpc>
                <a:spcPct val="115000"/>
              </a:lnSpc>
            </a:pPr>
            <a:r>
              <a:rPr sz="1725" spc="20">
                <a:solidFill>
                  <a:srgbClr val="AFC4C2"/>
                </a:solidFill>
                <a:latin typeface="Alike Italics"/>
              </a:rPr>
              <a:t>42% of active users convert to paid membership — calibrated on ONE Boulder.</a:t>
            </a:r>
          </a:p>
        </p:txBody>
      </p:sp>
      <p:sp>
        <p:nvSpPr>
          <p:cNvPr id="26" name="Rounded Rectangle 25"/>
          <p:cNvSpPr/>
          <p:nvPr/>
        </p:nvSpPr>
        <p:spPr>
          <a:xfrm>
            <a:off x="11795759" y="3017520"/>
            <a:ext cx="5692140" cy="4594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07240" y="3360420"/>
            <a:ext cx="4937760" cy="3977639"/>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TRANSACTION FEE</a:t>
            </a:r>
          </a:p>
          <a:p>
            <a:pPr algn="l">
              <a:lnSpc>
                <a:spcPct val="140000"/>
              </a:lnSpc>
            </a:pPr>
            <a:r>
              <a:rPr sz="3600" spc="20">
                <a:solidFill>
                  <a:srgbClr val="F4EAD8"/>
                </a:solidFill>
                <a:latin typeface="Todes 1"/>
              </a:rPr>
              <a:t>3.3% + $1.49</a:t>
            </a:r>
          </a:p>
          <a:p>
            <a:pPr algn="l">
              <a:lnSpc>
                <a:spcPct val="140000"/>
              </a:lnSpc>
            </a:pPr>
            <a:r>
              <a:rPr sz="1575">
                <a:solidFill>
                  <a:srgbClr val="AFC4C2"/>
                </a:solidFill>
                <a:latin typeface="TT Commons Pro"/>
              </a:rPr>
              <a:t>unified across all rails · patronage-eligible</a:t>
            </a:r>
          </a:p>
          <a:p>
            <a:pPr algn="l">
              <a:lnSpc>
                <a:spcPct val="140000"/>
              </a:lnSpc>
            </a:pPr>
            <a:r>
              <a:rPr sz="1050" spc="150">
                <a:solidFill>
                  <a:srgbClr val="AFC4C2"/>
                </a:solidFill>
                <a:latin typeface="TT Commons Pro"/>
              </a:rPr>
              <a:t/>
            </a:r>
          </a:p>
          <a:p>
            <a:pPr algn="l">
              <a:lnSpc>
                <a:spcPct val="140000"/>
              </a:lnSpc>
            </a:pPr>
            <a:r>
              <a:rPr sz="1425" spc="180">
                <a:solidFill>
                  <a:srgbClr val="EBCF9E"/>
                </a:solidFill>
                <a:latin typeface="Todes 1"/>
              </a:rPr>
              <a:t>STREAMS</a:t>
            </a:r>
          </a:p>
          <a:p>
            <a:pPr algn="l">
              <a:lnSpc>
                <a:spcPct val="140000"/>
              </a:lnSpc>
            </a:pPr>
            <a:r>
              <a:rPr sz="1650">
                <a:solidFill>
                  <a:srgbClr val="F2ECDD"/>
                </a:solidFill>
                <a:latin typeface="TT Commons Pro"/>
              </a:rPr>
              <a:t>memberships · platform + transaction</a:t>
            </a:r>
          </a:p>
          <a:p>
            <a:pPr algn="l">
              <a:lnSpc>
                <a:spcPct val="140000"/>
              </a:lnSpc>
            </a:pPr>
            <a:r>
              <a:rPr sz="1650">
                <a:solidFill>
                  <a:srgbClr val="F2ECDD"/>
                </a:solidFill>
                <a:latin typeface="TT Commons Pro"/>
              </a:rPr>
              <a:t>fees · local advertising (from local</a:t>
            </a:r>
          </a:p>
          <a:p>
            <a:pPr algn="l">
              <a:lnSpc>
                <a:spcPct val="140000"/>
              </a:lnSpc>
            </a:pPr>
            <a:r>
              <a:rPr sz="1650">
                <a:solidFill>
                  <a:srgbClr val="F2ECDD"/>
                </a:solidFill>
                <a:latin typeface="TT Commons Pro"/>
              </a:rPr>
              <a:t>businesses) · invested reserves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The better Rivr helps people coordinate and exchange value, the more valuable the network becomes.</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REVENUE CASCADE · COOPERATIVE ECONOMICS</a:t>
            </a:r>
          </a:p>
        </p:txBody>
      </p:sp>
      <p:sp>
        <p:nvSpPr>
          <p:cNvPr id="4" name="TextBox 3"/>
          <p:cNvSpPr txBox="1"/>
          <p:nvPr/>
        </p:nvSpPr>
        <p:spPr>
          <a:xfrm>
            <a:off x="822959" y="1699869"/>
            <a:ext cx="3277552"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Where </a:t>
            </a:r>
          </a:p>
        </p:txBody>
      </p:sp>
      <p:sp>
        <p:nvSpPr>
          <p:cNvPr id="5" name="TextBox 4"/>
          <p:cNvSpPr txBox="1"/>
          <p:nvPr/>
        </p:nvSpPr>
        <p:spPr>
          <a:xfrm>
            <a:off x="3280410" y="1645919"/>
            <a:ext cx="5176599"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every dollar</a:t>
            </a:r>
          </a:p>
        </p:txBody>
      </p:sp>
      <p:sp>
        <p:nvSpPr>
          <p:cNvPr id="6" name="TextBox 5"/>
          <p:cNvSpPr txBox="1"/>
          <p:nvPr/>
        </p:nvSpPr>
        <p:spPr>
          <a:xfrm>
            <a:off x="7257097" y="1699869"/>
            <a:ext cx="2729865"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 goes.</a:t>
            </a:r>
          </a:p>
        </p:txBody>
      </p:sp>
      <p:sp>
        <p:nvSpPr>
          <p:cNvPr id="7" name="Rounded Rectangle 6"/>
          <p:cNvSpPr/>
          <p:nvPr/>
        </p:nvSpPr>
        <p:spPr>
          <a:xfrm>
            <a:off x="822959"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59"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FEE SURPLUS</a:t>
            </a:r>
          </a:p>
          <a:p>
            <a:pPr algn="l">
              <a:lnSpc>
                <a:spcPct val="135000"/>
              </a:lnSpc>
            </a:pPr>
            <a:r>
              <a:rPr sz="1500">
                <a:solidFill>
                  <a:srgbClr val="AFC4C2"/>
                </a:solidFill>
                <a:latin typeface="TT Commons Pro"/>
              </a:rPr>
              <a:t>platform + transaction fees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50%  </a:t>
            </a:r>
            <a:r>
              <a:rPr sz="1875">
                <a:solidFill>
                  <a:srgbClr val="F4EAD8"/>
                </a:solidFill>
                <a:latin typeface="TT Commons Pro"/>
              </a:rPr>
              <a:t>Association</a:t>
            </a:r>
          </a:p>
          <a:p>
            <a:pPr algn="l">
              <a:lnSpc>
                <a:spcPct val="135000"/>
              </a:lnSpc>
            </a:pPr>
            <a:r>
              <a:rPr sz="2250">
                <a:solidFill>
                  <a:srgbClr val="EBCF9E"/>
                </a:solidFill>
                <a:latin typeface="TT Commons Pro Bold"/>
              </a:rPr>
              <a:t>25%  </a:t>
            </a:r>
            <a:r>
              <a:rPr sz="1875">
                <a:solidFill>
                  <a:srgbClr val="F4EAD8"/>
                </a:solidFill>
                <a:latin typeface="TT Commons Pro"/>
              </a:rPr>
              <a:t>Fee-paying member</a:t>
            </a:r>
          </a:p>
          <a:p>
            <a:pPr algn="l">
              <a:lnSpc>
                <a:spcPct val="135000"/>
              </a:lnSpc>
            </a:pPr>
            <a:r>
              <a:rPr sz="2250">
                <a:solidFill>
                  <a:srgbClr val="EBCF9E"/>
                </a:solidFill>
                <a:latin typeface="TT Commons Pro Bold"/>
              </a:rPr>
              <a:t>25%  </a:t>
            </a:r>
            <a:r>
              <a:rPr sz="1875">
                <a:solidFill>
                  <a:srgbClr val="F4EAD8"/>
                </a:solidFill>
                <a:latin typeface="TT Commons Pro"/>
              </a:rPr>
              <a:t>Chapter</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Patronage goes only to the members who generated the fees.</a:t>
            </a:r>
          </a:p>
        </p:txBody>
      </p:sp>
      <p:sp>
        <p:nvSpPr>
          <p:cNvPr id="9" name="Rounded Rectangle 8"/>
          <p:cNvSpPr/>
          <p:nvPr/>
        </p:nvSpPr>
        <p:spPr>
          <a:xfrm>
            <a:off x="6473951"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6851"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NON-FEE SURPLUS</a:t>
            </a:r>
          </a:p>
          <a:p>
            <a:pPr algn="l">
              <a:lnSpc>
                <a:spcPct val="135000"/>
              </a:lnSpc>
            </a:pPr>
            <a:r>
              <a:rPr sz="1500">
                <a:solidFill>
                  <a:srgbClr val="AFC4C2"/>
                </a:solidFill>
                <a:latin typeface="TT Commons Pro"/>
              </a:rPr>
              <a:t>dues · ads · invested reserves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100%  </a:t>
            </a:r>
            <a:r>
              <a:rPr sz="1875">
                <a:solidFill>
                  <a:srgbClr val="F4EAD8"/>
                </a:solidFill>
                <a:latin typeface="TT Commons Pro"/>
              </a:rPr>
              <a:t>Association</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Retained by the Association to fund the mission.</a:t>
            </a:r>
          </a:p>
        </p:txBody>
      </p:sp>
      <p:sp>
        <p:nvSpPr>
          <p:cNvPr id="11" name="Rounded Rectangle 10"/>
          <p:cNvSpPr/>
          <p:nvPr/>
        </p:nvSpPr>
        <p:spPr>
          <a:xfrm>
            <a:off x="12124943"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67843"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RETAINED PROFIT</a:t>
            </a:r>
          </a:p>
          <a:p>
            <a:pPr algn="l">
              <a:lnSpc>
                <a:spcPct val="135000"/>
              </a:lnSpc>
            </a:pPr>
            <a:r>
              <a:rPr sz="1500">
                <a:solidFill>
                  <a:srgbClr val="AFC4C2"/>
                </a:solidFill>
                <a:latin typeface="TT Commons Pro"/>
              </a:rPr>
              <a:t>after corporate tax</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33%  </a:t>
            </a:r>
            <a:r>
              <a:rPr sz="1875">
                <a:solidFill>
                  <a:srgbClr val="F4EAD8"/>
                </a:solidFill>
                <a:latin typeface="TT Commons Pro"/>
              </a:rPr>
              <a:t>Stewards</a:t>
            </a:r>
          </a:p>
          <a:p>
            <a:pPr algn="l">
              <a:lnSpc>
                <a:spcPct val="135000"/>
              </a:lnSpc>
            </a:pPr>
            <a:r>
              <a:rPr sz="2250">
                <a:solidFill>
                  <a:srgbClr val="EBCF9E"/>
                </a:solidFill>
                <a:latin typeface="TT Commons Pro Bold"/>
              </a:rPr>
              <a:t>33%  </a:t>
            </a:r>
            <a:r>
              <a:rPr sz="1875">
                <a:solidFill>
                  <a:srgbClr val="F4EAD8"/>
                </a:solidFill>
                <a:latin typeface="TT Commons Pro"/>
              </a:rPr>
              <a:t>Workers</a:t>
            </a:r>
          </a:p>
          <a:p>
            <a:pPr algn="l">
              <a:lnSpc>
                <a:spcPct val="135000"/>
              </a:lnSpc>
            </a:pPr>
            <a:r>
              <a:rPr sz="2250">
                <a:solidFill>
                  <a:srgbClr val="EBCF9E"/>
                </a:solidFill>
                <a:latin typeface="TT Commons Pro Bold"/>
              </a:rPr>
              <a:t>33%  </a:t>
            </a:r>
            <a:r>
              <a:rPr sz="1875">
                <a:solidFill>
                  <a:srgbClr val="F4EAD8"/>
                </a:solidFill>
                <a:latin typeface="TT Commons Pro"/>
              </a:rPr>
              <a:t>Reserves</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Investors, labor, and the commons share the upside evenly.</a:t>
            </a:r>
          </a:p>
        </p:txBody>
      </p:sp>
      <p:sp>
        <p:nvSpPr>
          <p:cNvPr id="13" name="Rounded Rectangle 12"/>
          <p:cNvSpPr/>
          <p:nvPr/>
        </p:nvSpPr>
        <p:spPr>
          <a:xfrm>
            <a:off x="822959" y="7680959"/>
            <a:ext cx="16664940" cy="96011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7927848"/>
            <a:ext cx="15910559" cy="548640"/>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Every patronage refund arrives </a:t>
            </a:r>
            <a:r>
              <a:rPr sz="1800">
                <a:solidFill>
                  <a:srgbClr val="EBCF9E"/>
                </a:solidFill>
                <a:latin typeface="TT Commons Pro Bold"/>
              </a:rPr>
              <a:t>20% cash + 80% member capital</a:t>
            </a:r>
            <a:r>
              <a:rPr sz="1800">
                <a:solidFill>
                  <a:srgbClr val="F2ECDD"/>
                </a:solidFill>
                <a:latin typeface="TT Commons Pro"/>
              </a:rPr>
              <a:t> — members build equity with every sale.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SCALE</a:t>
            </a:r>
          </a:p>
        </p:txBody>
      </p:sp>
      <p:sp>
        <p:nvSpPr>
          <p:cNvPr id="4" name="TextBox 3"/>
          <p:cNvSpPr txBox="1"/>
          <p:nvPr/>
        </p:nvSpPr>
        <p:spPr>
          <a:xfrm>
            <a:off x="822959" y="1699869"/>
            <a:ext cx="9587865"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Market share becomes </a:t>
            </a:r>
          </a:p>
        </p:txBody>
      </p:sp>
      <p:sp>
        <p:nvSpPr>
          <p:cNvPr id="5" name="TextBox 4"/>
          <p:cNvSpPr txBox="1"/>
          <p:nvPr/>
        </p:nvSpPr>
        <p:spPr>
          <a:xfrm>
            <a:off x="8328659" y="1645919"/>
            <a:ext cx="8968740"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coordination capacity.</a:t>
            </a:r>
          </a:p>
        </p:txBody>
      </p:sp>
      <p:sp>
        <p:nvSpPr>
          <p:cNvPr id="6" name="TextBox 5"/>
          <p:cNvSpPr txBox="1"/>
          <p:nvPr/>
        </p:nvSpPr>
        <p:spPr>
          <a:xfrm>
            <a:off x="822959" y="3033407"/>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SCALE HAS A PURPOSE BEYOND COMPANY GROWTH</a:t>
            </a:r>
          </a:p>
        </p:txBody>
      </p:sp>
      <p:sp>
        <p:nvSpPr>
          <p:cNvPr id="7" name="Rounded Rectangle 6"/>
          <p:cNvSpPr/>
          <p:nvPr/>
        </p:nvSpPr>
        <p:spPr>
          <a:xfrm>
            <a:off x="822959" y="3582047"/>
            <a:ext cx="16664940" cy="1193292"/>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83799"/>
            <a:ext cx="15773400" cy="576072"/>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participation → visibility → demand → capacity</a:t>
            </a:r>
          </a:p>
        </p:txBody>
      </p:sp>
      <p:sp>
        <p:nvSpPr>
          <p:cNvPr id="9" name="TextBox 8"/>
          <p:cNvSpPr txBox="1"/>
          <p:nvPr/>
        </p:nvSpPr>
        <p:spPr>
          <a:xfrm>
            <a:off x="822959" y="5186819"/>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network with meaningful adoption can aggregate demand, direct attention toward local providers,</a:t>
            </a:r>
          </a:p>
          <a:p>
            <a:pPr algn="ctr">
              <a:lnSpc>
                <a:spcPct val="150000"/>
              </a:lnSpc>
            </a:pPr>
            <a:r>
              <a:rPr sz="1950">
                <a:solidFill>
                  <a:srgbClr val="F2ECDD"/>
                </a:solidFill>
                <a:latin typeface="TT Commons Pro"/>
              </a:rPr>
              <a:t>coordinate purchasing, launch campaigns, reveal missing services, and bootstrap infrastructure.</a:t>
            </a:r>
          </a:p>
          <a:p>
            <a:pPr algn="ctr">
              <a:lnSpc>
                <a:spcPct val="150000"/>
              </a:lnSpc>
            </a:pPr>
            <a:r>
              <a:rPr sz="1950">
                <a:solidFill>
                  <a:srgbClr val="EBCF9E"/>
                </a:solidFill>
                <a:latin typeface="TT Commons Pro Bold"/>
              </a:rPr>
              <a:t>Demand that supports local businesses, services, jobs, cooperative purchasing, and new markets.</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COOPERATIVE LEAD FIRM</a:t>
            </a:r>
          </a:p>
        </p:txBody>
      </p:sp>
      <p:sp>
        <p:nvSpPr>
          <p:cNvPr id="4" name="TextBox 3"/>
          <p:cNvSpPr txBox="1"/>
          <p:nvPr/>
        </p:nvSpPr>
        <p:spPr>
          <a:xfrm>
            <a:off x="822959" y="2194560"/>
            <a:ext cx="16596359" cy="2606039"/>
          </a:xfrm>
          <a:prstGeom prst="rect">
            <a:avLst/>
          </a:prstGeom>
          <a:noFill/>
        </p:spPr>
        <p:txBody>
          <a:bodyPr wrap="square" lIns="0" rIns="0" tIns="0" bIns="0">
            <a:spAutoFit/>
          </a:bodyPr>
          <a:lstStyle/>
          <a:p>
            <a:pPr algn="l">
              <a:lnSpc>
                <a:spcPct val="135000"/>
              </a:lnSpc>
            </a:pPr>
            <a:r>
              <a:rPr sz="5400" spc="-75">
                <a:solidFill>
                  <a:srgbClr val="F4EAD8"/>
                </a:solidFill>
                <a:latin typeface="TT Commons Pro Bold"/>
              </a:rPr>
              <a:t>Take </a:t>
            </a:r>
            <a:r>
              <a:rPr sz="5850" spc="-75">
                <a:solidFill>
                  <a:srgbClr val="99E6D9"/>
                </a:solidFill>
                <a:latin typeface="Ibarra Real Nova Italics"/>
              </a:rPr>
              <a:t>enough of the market</a:t>
            </a:r>
          </a:p>
          <a:p>
            <a:pPr algn="l">
              <a:lnSpc>
                <a:spcPct val="135000"/>
              </a:lnSpc>
            </a:pPr>
            <a:r>
              <a:rPr sz="5400" spc="-75">
                <a:solidFill>
                  <a:srgbClr val="F4EAD8"/>
                </a:solidFill>
                <a:latin typeface="TT Commons Pro Bold"/>
              </a:rPr>
              <a:t>to change what the market </a:t>
            </a:r>
            <a:r>
              <a:rPr sz="5850" spc="-75">
                <a:solidFill>
                  <a:srgbClr val="EBCF9E"/>
                </a:solidFill>
                <a:latin typeface="Ibarra Real Nova Italics"/>
              </a:rPr>
              <a:t>rewards.</a:t>
            </a:r>
          </a:p>
        </p:txBody>
      </p:sp>
      <p:sp>
        <p:nvSpPr>
          <p:cNvPr id="5" name="TextBox 4"/>
          <p:cNvSpPr txBox="1"/>
          <p:nvPr/>
        </p:nvSpPr>
        <p:spPr>
          <a:xfrm>
            <a:off x="822959" y="5143500"/>
            <a:ext cx="16596359" cy="1097280"/>
          </a:xfrm>
          <a:prstGeom prst="rect">
            <a:avLst/>
          </a:prstGeom>
          <a:noFill/>
        </p:spPr>
        <p:txBody>
          <a:bodyPr wrap="square" lIns="0" rIns="0" tIns="0" bIns="0">
            <a:spAutoFit/>
          </a:bodyPr>
          <a:lstStyle/>
          <a:p>
            <a:pPr algn="l">
              <a:lnSpc>
                <a:spcPct val="160000"/>
              </a:lnSpc>
            </a:pPr>
            <a:r>
              <a:rPr sz="2250">
                <a:solidFill>
                  <a:srgbClr val="F2ECDD"/>
                </a:solidFill>
                <a:latin typeface="TT Commons Pro"/>
              </a:rPr>
              <a:t>The goal is not a tiny alternative for people who already agree.</a:t>
            </a:r>
          </a:p>
          <a:p>
            <a:pPr algn="l">
              <a:lnSpc>
                <a:spcPct val="160000"/>
              </a:lnSpc>
            </a:pPr>
            <a:r>
              <a:rPr sz="2250">
                <a:solidFill>
                  <a:srgbClr val="F2ECDD"/>
                </a:solidFill>
                <a:latin typeface="TT Commons Pro"/>
              </a:rPr>
              <a:t>A values-aligned alternative cannot remain permanently marginal if it wants to change the industry.</a:t>
            </a:r>
          </a:p>
        </p:txBody>
      </p:sp>
      <p:sp>
        <p:nvSpPr>
          <p:cNvPr id="6" name="Rounded Rectangle 5"/>
          <p:cNvSpPr/>
          <p:nvPr/>
        </p:nvSpPr>
        <p:spPr>
          <a:xfrm>
            <a:off x="822959"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change user expectations</a:t>
            </a:r>
          </a:p>
        </p:txBody>
      </p:sp>
      <p:sp>
        <p:nvSpPr>
          <p:cNvPr id="8" name="Rounded Rectangle 7"/>
          <p:cNvSpPr/>
          <p:nvPr/>
        </p:nvSpPr>
        <p:spPr>
          <a:xfrm>
            <a:off x="5102351"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02351"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influence competitors</a:t>
            </a:r>
          </a:p>
        </p:txBody>
      </p:sp>
      <p:sp>
        <p:nvSpPr>
          <p:cNvPr id="10" name="Rounded Rectangle 9"/>
          <p:cNvSpPr/>
          <p:nvPr/>
        </p:nvSpPr>
        <p:spPr>
          <a:xfrm>
            <a:off x="9381743"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81743"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raise standards</a:t>
            </a:r>
          </a:p>
        </p:txBody>
      </p:sp>
      <p:sp>
        <p:nvSpPr>
          <p:cNvPr id="12" name="Rounded Rectangle 11"/>
          <p:cNvSpPr/>
          <p:nvPr/>
        </p:nvSpPr>
        <p:spPr>
          <a:xfrm>
            <a:off x="13661135"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61135"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prove ownership can differ</a:t>
            </a:r>
          </a:p>
        </p:txBody>
      </p:sp>
      <p:sp>
        <p:nvSpPr>
          <p:cNvPr id="14" name="TextBox 13"/>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400" spc="20">
                <a:solidFill>
                  <a:srgbClr val="EBCF9E"/>
                </a:solidFill>
                <a:latin typeface="Alike Italics"/>
              </a:rPr>
              <a:t>Play at a high enough level to change the game.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HOW RIVR SCALES</a:t>
            </a:r>
          </a:p>
        </p:txBody>
      </p:sp>
      <p:sp>
        <p:nvSpPr>
          <p:cNvPr id="4" name="TextBox 3"/>
          <p:cNvSpPr txBox="1"/>
          <p:nvPr/>
        </p:nvSpPr>
        <p:spPr>
          <a:xfrm>
            <a:off x="822959" y="1699869"/>
            <a:ext cx="8456771" cy="1075620"/>
          </a:xfrm>
          <a:prstGeom prst="rect">
            <a:avLst/>
          </a:prstGeom>
          <a:noFill/>
        </p:spPr>
        <p:txBody>
          <a:bodyPr wrap="none" lIns="0" rIns="0" tIns="0" bIns="0">
            <a:spAutoFit/>
          </a:bodyPr>
          <a:lstStyle/>
          <a:p>
            <a:pPr algn="l">
              <a:lnSpc>
                <a:spcPct val="115000"/>
              </a:lnSpc>
            </a:pPr>
            <a:r>
              <a:rPr sz="5841" spc="-75">
                <a:solidFill>
                  <a:srgbClr val="F4EAD8"/>
                </a:solidFill>
                <a:latin typeface="TT Commons Pro Bold"/>
              </a:rPr>
              <a:t>Local doesn't mean </a:t>
            </a:r>
          </a:p>
        </p:txBody>
      </p:sp>
      <p:sp>
        <p:nvSpPr>
          <p:cNvPr id="5" name="TextBox 4"/>
          <p:cNvSpPr txBox="1"/>
          <p:nvPr/>
        </p:nvSpPr>
        <p:spPr>
          <a:xfrm>
            <a:off x="7423784" y="1645919"/>
            <a:ext cx="3557349"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isolated.</a:t>
            </a:r>
          </a:p>
        </p:txBody>
      </p:sp>
      <p:sp>
        <p:nvSpPr>
          <p:cNvPr id="6" name="Rounded Rectangle 5"/>
          <p:cNvSpPr/>
          <p:nvPr/>
        </p:nvSpPr>
        <p:spPr>
          <a:xfrm>
            <a:off x="822959"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LOCALLY SCOPED</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Each place develops around its own people, culture, ecology, economy, needs, and resources.</a:t>
            </a:r>
          </a:p>
        </p:txBody>
      </p:sp>
      <p:sp>
        <p:nvSpPr>
          <p:cNvPr id="8" name="Rounded Rectangle 7"/>
          <p:cNvSpPr/>
          <p:nvPr/>
        </p:nvSpPr>
        <p:spPr>
          <a:xfrm>
            <a:off x="6478523" y="3429000"/>
            <a:ext cx="5353812" cy="301752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Communities keep their identity, rules, memory, and authority. Even their data.</a:t>
            </a:r>
          </a:p>
        </p:txBody>
      </p:sp>
      <p:sp>
        <p:nvSpPr>
          <p:cNvPr id="10" name="Rounded Rectangle 9"/>
          <p:cNvSpPr/>
          <p:nvPr/>
        </p:nvSpPr>
        <p:spPr>
          <a:xfrm>
            <a:off x="12134087"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INTEROPERABLE</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Shared standards let systems work together — connecting difference, not erasing it.</a:t>
            </a:r>
          </a:p>
        </p:txBody>
      </p:sp>
      <p:sp>
        <p:nvSpPr>
          <p:cNvPr id="12" name="TextBox 11"/>
          <p:cNvSpPr txBox="1"/>
          <p:nvPr/>
        </p:nvSpPr>
        <p:spPr>
          <a:xfrm>
            <a:off x="822959" y="76809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Not one centralized global marketplace with dependent users everywhere —</a:t>
            </a:r>
          </a:p>
          <a:p>
            <a:pPr algn="ctr">
              <a:lnSpc>
                <a:spcPct val="140000"/>
              </a:lnSpc>
            </a:pPr>
            <a:r>
              <a:rPr sz="2250" spc="20">
                <a:solidFill>
                  <a:srgbClr val="EBCF9E"/>
                </a:solidFill>
                <a:latin typeface="Alike Italics"/>
              </a:rPr>
              <a:t>strong local networks ↔ connected to strong local networks.</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GROWTH MODEL</a:t>
            </a:r>
          </a:p>
        </p:txBody>
      </p:sp>
      <p:sp>
        <p:nvSpPr>
          <p:cNvPr id="4" name="TextBox 3"/>
          <p:cNvSpPr txBox="1"/>
          <p:nvPr/>
        </p:nvSpPr>
        <p:spPr>
          <a:xfrm>
            <a:off x="822959" y="1699869"/>
            <a:ext cx="2747724"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Grow </a:t>
            </a:r>
          </a:p>
        </p:txBody>
      </p:sp>
      <p:sp>
        <p:nvSpPr>
          <p:cNvPr id="5" name="TextBox 4"/>
          <p:cNvSpPr txBox="1"/>
          <p:nvPr/>
        </p:nvSpPr>
        <p:spPr>
          <a:xfrm>
            <a:off x="2856547" y="1645919"/>
            <a:ext cx="5861208" cy="1205998"/>
          </a:xfrm>
          <a:prstGeom prst="rect">
            <a:avLst/>
          </a:prstGeom>
          <a:noFill/>
        </p:spPr>
        <p:txBody>
          <a:bodyPr wrap="none" lIns="0" rIns="0" tIns="0" bIns="0">
            <a:spAutoFit/>
          </a:bodyPr>
          <a:lstStyle/>
          <a:p>
            <a:pPr algn="l">
              <a:lnSpc>
                <a:spcPct val="115000"/>
              </a:lnSpc>
            </a:pPr>
            <a:r>
              <a:rPr sz="6548" spc="-75">
                <a:solidFill>
                  <a:srgbClr val="F0CC8B"/>
                </a:solidFill>
                <a:latin typeface="Ibarra Real Nova Italics"/>
              </a:rPr>
              <a:t>one place deep</a:t>
            </a:r>
          </a:p>
        </p:txBody>
      </p:sp>
      <p:sp>
        <p:nvSpPr>
          <p:cNvPr id="6" name="TextBox 5"/>
          <p:cNvSpPr txBox="1"/>
          <p:nvPr/>
        </p:nvSpPr>
        <p:spPr>
          <a:xfrm>
            <a:off x="7380922" y="1699869"/>
            <a:ext cx="4313396" cy="1108214"/>
          </a:xfrm>
          <a:prstGeom prst="rect">
            <a:avLst/>
          </a:prstGeom>
          <a:noFill/>
        </p:spPr>
        <p:txBody>
          <a:bodyPr wrap="none" lIns="0" rIns="0" tIns="0" bIns="0">
            <a:spAutoFit/>
          </a:bodyPr>
          <a:lstStyle/>
          <a:p>
            <a:pPr algn="l">
              <a:lnSpc>
                <a:spcPct val="115000"/>
              </a:lnSpc>
            </a:pPr>
            <a:r>
              <a:rPr sz="6017" spc="-75">
                <a:solidFill>
                  <a:srgbClr val="F4EAD8"/>
                </a:solidFill>
                <a:latin typeface="TT Commons Pro Bold"/>
              </a:rPr>
              <a:t> at a time.</a:t>
            </a:r>
          </a:p>
        </p:txBody>
      </p:sp>
      <p:sp>
        <p:nvSpPr>
          <p:cNvPr id="7" name="Rounded Rectangle 6"/>
          <p:cNvSpPr/>
          <p:nvPr/>
        </p:nvSpPr>
        <p:spPr>
          <a:xfrm>
            <a:off x="822959"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1"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01  </a:t>
            </a:r>
            <a:r>
              <a:rPr sz="1575" spc="180">
                <a:solidFill>
                  <a:srgbClr val="9FE8DC"/>
                </a:solidFill>
                <a:latin typeface="Todes 1"/>
              </a:rPr>
              <a:t>SEED</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 strong local community</a:t>
            </a:r>
          </a:p>
        </p:txBody>
      </p:sp>
      <p:sp>
        <p:nvSpPr>
          <p:cNvPr id="9" name="Rounded Rectangle 8"/>
          <p:cNvSpPr/>
          <p:nvPr/>
        </p:nvSpPr>
        <p:spPr>
          <a:xfrm>
            <a:off x="5102351"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4103"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02  </a:t>
            </a:r>
            <a:r>
              <a:rPr sz="1575" spc="180">
                <a:solidFill>
                  <a:srgbClr val="9FE8DC"/>
                </a:solidFill>
                <a:latin typeface="Todes 1"/>
              </a:rPr>
              <a:t>ANCHOR</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events, organizations, creators, trusted members</a:t>
            </a:r>
          </a:p>
        </p:txBody>
      </p:sp>
      <p:sp>
        <p:nvSpPr>
          <p:cNvPr id="11" name="Rounded Rectangle 10"/>
          <p:cNvSpPr/>
          <p:nvPr/>
        </p:nvSpPr>
        <p:spPr>
          <a:xfrm>
            <a:off x="9381743"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83495"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03  </a:t>
            </a:r>
            <a:r>
              <a:rPr sz="1575" spc="180">
                <a:solidFill>
                  <a:srgbClr val="9FE8DC"/>
                </a:solidFill>
                <a:latin typeface="Todes 1"/>
              </a:rPr>
              <a:t>DENSITY</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enough activity that the network becomes useful</a:t>
            </a:r>
          </a:p>
        </p:txBody>
      </p:sp>
      <p:sp>
        <p:nvSpPr>
          <p:cNvPr id="13" name="Rounded Rectangle 12"/>
          <p:cNvSpPr/>
          <p:nvPr/>
        </p:nvSpPr>
        <p:spPr>
          <a:xfrm>
            <a:off x="13661135"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62887"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04  </a:t>
            </a:r>
            <a:r>
              <a:rPr sz="1575" spc="180">
                <a:solidFill>
                  <a:srgbClr val="9FE8DC"/>
                </a:solidFill>
                <a:latin typeface="Todes 1"/>
              </a:rPr>
              <a:t>REPLICATE</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aligned places, local stewards, partner networks</a:t>
            </a:r>
          </a:p>
        </p:txBody>
      </p:sp>
      <p:sp>
        <p:nvSpPr>
          <p:cNvPr id="15" name="Rounded Rectangle 14"/>
          <p:cNvSpPr/>
          <p:nvPr/>
        </p:nvSpPr>
        <p:spPr>
          <a:xfrm>
            <a:off x="822959" y="5966459"/>
            <a:ext cx="822960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6240779"/>
            <a:ext cx="7475220" cy="1851660"/>
          </a:xfrm>
          <a:prstGeom prst="rect">
            <a:avLst/>
          </a:prstGeom>
          <a:noFill/>
        </p:spPr>
        <p:txBody>
          <a:bodyPr wrap="square" lIns="0" rIns="0" tIns="0" bIns="0">
            <a:spAutoFit/>
          </a:bodyPr>
          <a:lstStyle/>
          <a:p>
            <a:pPr algn="l">
              <a:lnSpc>
                <a:spcPct val="145000"/>
              </a:lnSpc>
            </a:pPr>
            <a:r>
              <a:rPr sz="1350" spc="180">
                <a:solidFill>
                  <a:srgbClr val="EBCF9E"/>
                </a:solidFill>
                <a:latin typeface="Todes 1"/>
              </a:rPr>
              <a:t>PROVEN BEFORE — ONE BOULDER 2020–2023</a:t>
            </a:r>
          </a:p>
          <a:p>
            <a:pPr algn="l">
              <a:lnSpc>
                <a:spcPct val="145000"/>
              </a:lnSpc>
            </a:pPr>
            <a:r>
              <a:rPr sz="1800">
                <a:solidFill>
                  <a:srgbClr val="F2ECDD"/>
                </a:solidFill>
                <a:latin typeface="TT Commons Pro"/>
              </a:rPr>
              <a:t>Nearly </a:t>
            </a:r>
            <a:r>
              <a:rPr sz="1800">
                <a:solidFill>
                  <a:srgbClr val="F4EAD8"/>
                </a:solidFill>
                <a:latin typeface="TT Commons Pro Bold"/>
              </a:rPr>
              <a:t>4,800 users</a:t>
            </a:r>
            <a:r>
              <a:rPr sz="1800">
                <a:solidFill>
                  <a:srgbClr val="F2ECDD"/>
                </a:solidFill>
                <a:latin typeface="TT Commons Pro"/>
              </a:rPr>
              <a:t> on one locale's events;</a:t>
            </a:r>
          </a:p>
          <a:p>
            <a:pPr algn="l">
              <a:lnSpc>
                <a:spcPct val="145000"/>
              </a:lnSpc>
            </a:pPr>
            <a:r>
              <a:rPr sz="1800">
                <a:solidFill>
                  <a:srgbClr val="F4EAD8"/>
                </a:solidFill>
                <a:latin typeface="TT Commons Pro Bold"/>
              </a:rPr>
              <a:t>42% of high-activity users</a:t>
            </a:r>
            <a:r>
              <a:rPr sz="1800">
                <a:solidFill>
                  <a:srgbClr val="F2ECDD"/>
                </a:solidFill>
                <a:latin typeface="TT Commons Pro"/>
              </a:rPr>
              <a:t> converted to paid</a:t>
            </a:r>
          </a:p>
          <a:p>
            <a:pPr algn="l">
              <a:lnSpc>
                <a:spcPct val="145000"/>
              </a:lnSpc>
            </a:pPr>
            <a:r>
              <a:rPr sz="1800">
                <a:solidFill>
                  <a:srgbClr val="F2ECDD"/>
                </a:solidFill>
                <a:latin typeface="TT Commons Pro"/>
              </a:rPr>
              <a:t>membership. The playbook Rivr now ships as software.</a:t>
            </a:r>
          </a:p>
        </p:txBody>
      </p:sp>
      <p:sp>
        <p:nvSpPr>
          <p:cNvPr id="17" name="Rounded Rectangle 16"/>
          <p:cNvSpPr/>
          <p:nvPr/>
        </p:nvSpPr>
        <p:spPr>
          <a:xfrm>
            <a:off x="9395459" y="5966459"/>
            <a:ext cx="8092440" cy="24003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06940" y="6240779"/>
            <a:ext cx="7338059" cy="1851660"/>
          </a:xfrm>
          <a:prstGeom prst="rect">
            <a:avLst/>
          </a:prstGeom>
          <a:noFill/>
        </p:spPr>
        <p:txBody>
          <a:bodyPr wrap="square" lIns="0" rIns="0" tIns="0" bIns="0">
            <a:spAutoFit/>
          </a:bodyPr>
          <a:lstStyle/>
          <a:p>
            <a:pPr algn="l">
              <a:lnSpc>
                <a:spcPct val="145000"/>
              </a:lnSpc>
            </a:pPr>
            <a:r>
              <a:rPr sz="1350" spc="180">
                <a:solidFill>
                  <a:srgbClr val="9FE8DC"/>
                </a:solidFill>
                <a:latin typeface="Todes 1"/>
              </a:rPr>
              <a:t>EXPANSION REGIONS MAPPED</a:t>
            </a:r>
          </a:p>
          <a:p>
            <a:pPr algn="l">
              <a:lnSpc>
                <a:spcPct val="145000"/>
              </a:lnSpc>
            </a:pPr>
            <a:r>
              <a:rPr sz="1725">
                <a:solidFill>
                  <a:srgbClr val="F2ECDD"/>
                </a:solidFill>
                <a:latin typeface="TT Commons Pro"/>
              </a:rPr>
              <a:t>Austin · Portland · Boston · Asheville · Nashville</a:t>
            </a:r>
          </a:p>
          <a:p>
            <a:pPr algn="l">
              <a:lnSpc>
                <a:spcPct val="145000"/>
              </a:lnSpc>
            </a:pPr>
            <a:r>
              <a:rPr sz="1725">
                <a:solidFill>
                  <a:srgbClr val="F2ECDD"/>
                </a:solidFill>
                <a:latin typeface="TT Commons Pro"/>
              </a:rPr>
              <a:t>San Diego · Sedona · Taos · Maui — and a variety</a:t>
            </a:r>
          </a:p>
          <a:p>
            <a:pPr algn="l">
              <a:lnSpc>
                <a:spcPct val="145000"/>
              </a:lnSpc>
            </a:pPr>
            <a:r>
              <a:rPr sz="1725">
                <a:solidFill>
                  <a:srgbClr val="F2ECDD"/>
                </a:solidFill>
                <a:latin typeface="TT Commons Pro"/>
              </a:rPr>
              <a:t>of cities in bioregions worldwide.</a:t>
            </a:r>
          </a:p>
        </p:txBody>
      </p:sp>
      <p:sp>
        <p:nvSpPr>
          <p:cNvPr id="19" name="TextBox 18"/>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Starting local, </a:t>
            </a:r>
            <a:r>
              <a:rPr sz="2250" spc="20">
                <a:solidFill>
                  <a:srgbClr val="EBCF9E"/>
                </a:solidFill>
                <a:latin typeface="Alike Italics"/>
              </a:rPr>
              <a:t>again</a:t>
            </a:r>
            <a:r>
              <a:rPr sz="2100">
                <a:solidFill>
                  <a:srgbClr val="F2ECDD"/>
                </a:solidFill>
                <a:latin typeface="TT Commons Pro"/>
              </a:rPr>
              <a:t>, in Boulder, Colorado.</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ph_culture_3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TEAM + TIMELINE</a:t>
            </a:r>
          </a:p>
        </p:txBody>
      </p:sp>
      <p:sp>
        <p:nvSpPr>
          <p:cNvPr id="4" name="TextBox 3"/>
          <p:cNvSpPr txBox="1"/>
          <p:nvPr/>
        </p:nvSpPr>
        <p:spPr>
          <a:xfrm>
            <a:off x="822959" y="1699869"/>
            <a:ext cx="8111490"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Building the software </a:t>
            </a:r>
          </a:p>
        </p:txBody>
      </p:sp>
      <p:sp>
        <p:nvSpPr>
          <p:cNvPr id="5" name="TextBox 4"/>
          <p:cNvSpPr txBox="1"/>
          <p:nvPr/>
        </p:nvSpPr>
        <p:spPr>
          <a:xfrm>
            <a:off x="7147559" y="1645919"/>
            <a:ext cx="7141130"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and the institution.</a:t>
            </a:r>
          </a:p>
        </p:txBody>
      </p:sp>
      <p:sp>
        <p:nvSpPr>
          <p:cNvPr id="6" name="Rounded Rectangle 5"/>
          <p:cNvSpPr/>
          <p:nvPr/>
        </p:nvSpPr>
        <p:spPr>
          <a:xfrm>
            <a:off x="822959"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Cameron Ely-Murdock</a:t>
            </a:r>
          </a:p>
          <a:p>
            <a:pPr algn="l">
              <a:lnSpc>
                <a:spcPct val="140000"/>
              </a:lnSpc>
            </a:pPr>
            <a:r>
              <a:rPr sz="1800" spc="20">
                <a:solidFill>
                  <a:srgbClr val="EBCF9E"/>
                </a:solidFill>
                <a:latin typeface="Alike Italics"/>
              </a:rPr>
              <a:t>Strategy Director &amp; Development</a:t>
            </a:r>
          </a:p>
        </p:txBody>
      </p:sp>
      <p:sp>
        <p:nvSpPr>
          <p:cNvPr id="8" name="Rounded Rectangle 7"/>
          <p:cNvSpPr/>
          <p:nvPr/>
        </p:nvSpPr>
        <p:spPr>
          <a:xfrm>
            <a:off x="6473951"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7999"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Kathleen Marie Rose</a:t>
            </a:r>
          </a:p>
          <a:p>
            <a:pPr algn="l">
              <a:lnSpc>
                <a:spcPct val="140000"/>
              </a:lnSpc>
            </a:pPr>
            <a:r>
              <a:rPr sz="1800" spc="20">
                <a:solidFill>
                  <a:srgbClr val="EBCF9E"/>
                </a:solidFill>
                <a:latin typeface="Alike Italics"/>
              </a:rPr>
              <a:t>Design &amp; Community Outreach</a:t>
            </a:r>
          </a:p>
        </p:txBody>
      </p:sp>
      <p:sp>
        <p:nvSpPr>
          <p:cNvPr id="10" name="Rounded Rectangle 9"/>
          <p:cNvSpPr/>
          <p:nvPr/>
        </p:nvSpPr>
        <p:spPr>
          <a:xfrm>
            <a:off x="12124943"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08991"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Grig Bilham</a:t>
            </a:r>
          </a:p>
          <a:p>
            <a:pPr algn="l">
              <a:lnSpc>
                <a:spcPct val="140000"/>
              </a:lnSpc>
            </a:pPr>
            <a:r>
              <a:rPr sz="1800" spc="20">
                <a:solidFill>
                  <a:srgbClr val="EBCF9E"/>
                </a:solidFill>
                <a:latin typeface="Alike Italics"/>
              </a:rPr>
              <a:t>Operations Management</a:t>
            </a:r>
          </a:p>
        </p:txBody>
      </p:sp>
      <p:sp>
        <p:nvSpPr>
          <p:cNvPr id="12" name="Rounded Rectangle 11"/>
          <p:cNvSpPr/>
          <p:nvPr/>
        </p:nvSpPr>
        <p:spPr>
          <a:xfrm>
            <a:off x="822959"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Q3 2026</a:t>
            </a:r>
          </a:p>
          <a:p>
            <a:pPr algn="l">
              <a:lnSpc>
                <a:spcPct val="140000"/>
              </a:lnSpc>
            </a:pPr>
            <a:r>
              <a:rPr sz="1650">
                <a:solidFill>
                  <a:srgbClr val="F2ECDD"/>
                </a:solidFill>
                <a:latin typeface="TT Commons Pro"/>
              </a:rPr>
              <a:t>Beta launch opens in Boulder — members sign up.</a:t>
            </a:r>
          </a:p>
        </p:txBody>
      </p:sp>
      <p:sp>
        <p:nvSpPr>
          <p:cNvPr id="14" name="Rounded Rectangle 13"/>
          <p:cNvSpPr/>
          <p:nvPr/>
        </p:nvSpPr>
        <p:spPr>
          <a:xfrm>
            <a:off x="6473951"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6851" y="5692140"/>
            <a:ext cx="4663440" cy="1097280"/>
          </a:xfrm>
          <a:prstGeom prst="rect">
            <a:avLst/>
          </a:prstGeom>
          <a:noFill/>
        </p:spPr>
        <p:txBody>
          <a:bodyPr wrap="square" lIns="0" rIns="0" tIns="0" bIns="0">
            <a:spAutoFit/>
          </a:bodyPr>
          <a:lstStyle/>
          <a:p>
            <a:pPr algn="l">
              <a:lnSpc>
                <a:spcPct val="140000"/>
              </a:lnSpc>
            </a:pPr>
            <a:r>
              <a:rPr sz="1425">
                <a:solidFill>
                  <a:srgbClr val="9FE8DC"/>
                </a:solidFill>
                <a:latin typeface="TT Commons Pro Bold"/>
              </a:rPr>
              <a:t>2027</a:t>
            </a:r>
          </a:p>
          <a:p>
            <a:pPr algn="l">
              <a:lnSpc>
                <a:spcPct val="140000"/>
              </a:lnSpc>
            </a:pPr>
            <a:r>
              <a:rPr sz="1650">
                <a:solidFill>
                  <a:srgbClr val="F2ECDD"/>
                </a:solidFill>
                <a:latin typeface="TT Commons Pro"/>
              </a:rPr>
              <a:t>Mobile app build-out · bioregional expansion.</a:t>
            </a:r>
          </a:p>
        </p:txBody>
      </p:sp>
      <p:sp>
        <p:nvSpPr>
          <p:cNvPr id="16" name="Rounded Rectangle 15"/>
          <p:cNvSpPr/>
          <p:nvPr/>
        </p:nvSpPr>
        <p:spPr>
          <a:xfrm>
            <a:off x="12124943"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67843"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BY END 2027</a:t>
            </a:r>
          </a:p>
          <a:p>
            <a:pPr algn="l">
              <a:lnSpc>
                <a:spcPct val="140000"/>
              </a:lnSpc>
            </a:pPr>
            <a:r>
              <a:rPr sz="1650">
                <a:solidFill>
                  <a:srgbClr val="F2ECDD"/>
                </a:solidFill>
                <a:latin typeface="TT Commons Pro"/>
              </a:rPr>
              <a:t>~30 bioregions · ~200 organizations · 5,000+ members.</a:t>
            </a:r>
          </a:p>
        </p:txBody>
      </p:sp>
      <p:sp>
        <p:nvSpPr>
          <p:cNvPr id="18" name="TextBox 17"/>
          <p:cNvSpPr txBox="1"/>
          <p:nvPr/>
        </p:nvSpPr>
        <p:spPr>
          <a:xfrm>
            <a:off x="822959" y="7680959"/>
            <a:ext cx="16596359" cy="1028700"/>
          </a:xfrm>
          <a:prstGeom prst="rect">
            <a:avLst/>
          </a:prstGeom>
          <a:noFill/>
        </p:spPr>
        <p:txBody>
          <a:bodyPr wrap="square" lIns="0" rIns="0" tIns="0" bIns="0">
            <a:spAutoFit/>
          </a:bodyPr>
          <a:lstStyle/>
          <a:p>
            <a:pPr algn="ctr">
              <a:lnSpc>
                <a:spcPct val="180000"/>
              </a:lnSpc>
            </a:pPr>
            <a:r>
              <a:rPr sz="1350" spc="180">
                <a:solidFill>
                  <a:srgbClr val="9FE8DC"/>
                </a:solidFill>
                <a:latin typeface="Todes 1"/>
              </a:rPr>
              <a:t>AFFILIATED ORGS</a:t>
            </a:r>
          </a:p>
          <a:p>
            <a:pPr algn="ctr">
              <a:lnSpc>
                <a:spcPct val="180000"/>
              </a:lnSpc>
            </a:pPr>
            <a:r>
              <a:rPr sz="1800" spc="20">
                <a:solidFill>
                  <a:srgbClr val="F2ECDD"/>
                </a:solidFill>
                <a:latin typeface="Alike Italics"/>
              </a:rPr>
              <a:t>SPIRIT of the Front Range · OpenCivics · The Riverside · regenhub.xyz · CoHere · The Mystery Works · Front Range Commons</a:t>
            </a:r>
          </a:p>
        </p:txBody>
      </p:sp>
      <p:sp>
        <p:nvSpPr>
          <p:cNvPr id="19" name="TextBox 18"/>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A small team that's ready to grow — devoted, here for the long game.</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THE ASK · SEED ROUND 2026</a:t>
            </a:r>
          </a:p>
        </p:txBody>
      </p:sp>
      <p:sp>
        <p:nvSpPr>
          <p:cNvPr id="4" name="TextBox 3"/>
          <p:cNvSpPr txBox="1"/>
          <p:nvPr/>
        </p:nvSpPr>
        <p:spPr>
          <a:xfrm>
            <a:off x="822959" y="1645919"/>
            <a:ext cx="3909377" cy="1238592"/>
          </a:xfrm>
          <a:prstGeom prst="rect">
            <a:avLst/>
          </a:prstGeom>
          <a:noFill/>
        </p:spPr>
        <p:txBody>
          <a:bodyPr wrap="none" lIns="0" rIns="0" tIns="0" bIns="0">
            <a:spAutoFit/>
          </a:bodyPr>
          <a:lstStyle/>
          <a:p>
            <a:pPr algn="l">
              <a:lnSpc>
                <a:spcPct val="115000"/>
              </a:lnSpc>
            </a:pPr>
            <a:r>
              <a:rPr sz="6725" spc="20">
                <a:solidFill>
                  <a:srgbClr val="EBCF9E"/>
                </a:solidFill>
                <a:latin typeface="Todes 1"/>
              </a:rPr>
              <a:t>$500K</a:t>
            </a:r>
          </a:p>
        </p:txBody>
      </p:sp>
      <p:sp>
        <p:nvSpPr>
          <p:cNvPr id="5" name="TextBox 4"/>
          <p:cNvSpPr txBox="1"/>
          <p:nvPr/>
        </p:nvSpPr>
        <p:spPr>
          <a:xfrm>
            <a:off x="3785869" y="1807768"/>
            <a:ext cx="9760505" cy="945241"/>
          </a:xfrm>
          <a:prstGeom prst="rect">
            <a:avLst/>
          </a:prstGeom>
          <a:noFill/>
        </p:spPr>
        <p:txBody>
          <a:bodyPr wrap="none" lIns="0" rIns="0" tIns="0" bIns="0">
            <a:spAutoFit/>
          </a:bodyPr>
          <a:lstStyle/>
          <a:p>
            <a:pPr algn="l">
              <a:lnSpc>
                <a:spcPct val="115000"/>
              </a:lnSpc>
            </a:pPr>
            <a:r>
              <a:rPr sz="5133" spc="-75">
                <a:solidFill>
                  <a:srgbClr val="F4EAD8"/>
                </a:solidFill>
                <a:latin typeface="TT Commons Pro Bold"/>
              </a:rPr>
              <a:t>  to take the built platform </a:t>
            </a:r>
          </a:p>
        </p:txBody>
      </p:sp>
      <p:sp>
        <p:nvSpPr>
          <p:cNvPr id="6" name="TextBox 5"/>
          <p:cNvSpPr txBox="1"/>
          <p:nvPr/>
        </p:nvSpPr>
        <p:spPr>
          <a:xfrm>
            <a:off x="11429682" y="1735836"/>
            <a:ext cx="1824989"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live.</a:t>
            </a:r>
          </a:p>
        </p:txBody>
      </p:sp>
      <p:sp>
        <p:nvSpPr>
          <p:cNvPr id="7" name="Rounded Rectangle 6"/>
          <p:cNvSpPr/>
          <p:nvPr/>
        </p:nvSpPr>
        <p:spPr>
          <a:xfrm>
            <a:off x="822959" y="2948939"/>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 y="31958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INSTRUMENT + TERMS</a:t>
            </a:r>
          </a:p>
          <a:p>
            <a:pPr algn="l">
              <a:lnSpc>
                <a:spcPct val="130000"/>
              </a:lnSpc>
            </a:pPr>
            <a:r>
              <a:rPr sz="1725">
                <a:solidFill>
                  <a:srgbClr val="F2ECDD"/>
                </a:solidFill>
                <a:latin typeface="TT Commons Pro"/>
              </a:rPr>
              <a:t>Cooperative SAFE — $4M cap · 20% discount → Class D Steward Shares (accredited, 506b). Colorado residents: direct Class R purchase (147A).</a:t>
            </a:r>
          </a:p>
        </p:txBody>
      </p:sp>
      <p:sp>
        <p:nvSpPr>
          <p:cNvPr id="9" name="Rounded Rectangle 8"/>
          <p:cNvSpPr/>
          <p:nvPr/>
        </p:nvSpPr>
        <p:spPr>
          <a:xfrm>
            <a:off x="822959" y="50063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5860" y="52532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SHARE PRICE</a:t>
            </a:r>
          </a:p>
          <a:p>
            <a:pPr algn="l">
              <a:lnSpc>
                <a:spcPct val="130000"/>
              </a:lnSpc>
            </a:pPr>
            <a:r>
              <a:rPr sz="1725">
                <a:solidFill>
                  <a:srgbClr val="F2ECDD"/>
                </a:solidFill>
                <a:latin typeface="TT Commons Pro"/>
              </a:rPr>
              <a:t>$0.20 per share.</a:t>
            </a:r>
          </a:p>
        </p:txBody>
      </p:sp>
      <p:sp>
        <p:nvSpPr>
          <p:cNvPr id="11" name="Rounded Rectangle 10"/>
          <p:cNvSpPr/>
          <p:nvPr/>
        </p:nvSpPr>
        <p:spPr>
          <a:xfrm>
            <a:off x="822959" y="70637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5860" y="73106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DIVIDEND RIGHT</a:t>
            </a:r>
          </a:p>
          <a:p>
            <a:pPr algn="l">
              <a:lnSpc>
                <a:spcPct val="130000"/>
              </a:lnSpc>
            </a:pPr>
            <a:r>
              <a:rPr sz="1725">
                <a:solidFill>
                  <a:srgbClr val="F2ECDD"/>
                </a:solidFill>
                <a:latin typeface="TT Commons Pro"/>
              </a:rPr>
              <a:t>Steward Pool = 33% of after-tax retained profit, pro-rata, from the first profitable year.</a:t>
            </a:r>
          </a:p>
        </p:txBody>
      </p:sp>
      <p:sp>
        <p:nvSpPr>
          <p:cNvPr id="13" name="Rounded Rectangle 12"/>
          <p:cNvSpPr/>
          <p:nvPr/>
        </p:nvSpPr>
        <p:spPr>
          <a:xfrm>
            <a:off x="9738359" y="2948939"/>
            <a:ext cx="7749540" cy="5897879"/>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0" y="3291839"/>
            <a:ext cx="6995159" cy="5280660"/>
          </a:xfrm>
          <a:prstGeom prst="rect">
            <a:avLst/>
          </a:prstGeom>
          <a:noFill/>
        </p:spPr>
        <p:txBody>
          <a:bodyPr wrap="square" lIns="0" rIns="0" tIns="0" bIns="0">
            <a:spAutoFit/>
          </a:bodyPr>
          <a:lstStyle/>
          <a:p>
            <a:pPr algn="l">
              <a:lnSpc>
                <a:spcPct val="155000"/>
              </a:lnSpc>
            </a:pPr>
            <a:r>
              <a:rPr sz="1575" spc="180">
                <a:solidFill>
                  <a:srgbClr val="EBCF9E"/>
                </a:solidFill>
                <a:latin typeface="Todes 1"/>
              </a:rPr>
              <a:t>USE OF FUNDS</a:t>
            </a:r>
          </a:p>
          <a:p>
            <a:pPr algn="l">
              <a:lnSpc>
                <a:spcPct val="155000"/>
              </a:lnSpc>
            </a:pPr>
            <a:r>
              <a:rPr sz="750" spc="150">
                <a:solidFill>
                  <a:srgbClr val="AFC4C2"/>
                </a:solidFill>
                <a:latin typeface="TT Commons Pro"/>
              </a:rPr>
              <a:t/>
            </a:r>
          </a:p>
          <a:p>
            <a:pPr algn="l">
              <a:lnSpc>
                <a:spcPct val="155000"/>
              </a:lnSpc>
            </a:pPr>
            <a:r>
              <a:rPr sz="1875">
                <a:solidFill>
                  <a:srgbClr val="F2ECDD"/>
                </a:solidFill>
                <a:latin typeface="TT Commons Pro"/>
              </a:rPr>
              <a:t>·  Live-money cutover + payment operations</a:t>
            </a:r>
          </a:p>
          <a:p>
            <a:pPr algn="l">
              <a:lnSpc>
                <a:spcPct val="155000"/>
              </a:lnSpc>
            </a:pPr>
            <a:r>
              <a:rPr sz="1875">
                <a:solidFill>
                  <a:srgbClr val="F2ECDD"/>
                </a:solidFill>
                <a:latin typeface="TT Commons Pro"/>
              </a:rPr>
              <a:t>·  Core team compensation + engineering</a:t>
            </a:r>
          </a:p>
          <a:p>
            <a:pPr algn="l">
              <a:lnSpc>
                <a:spcPct val="155000"/>
              </a:lnSpc>
            </a:pPr>
            <a:r>
              <a:rPr sz="1875">
                <a:solidFill>
                  <a:srgbClr val="F2ECDD"/>
                </a:solidFill>
                <a:latin typeface="TT Commons Pro"/>
              </a:rPr>
              <a:t>·  Community growth + chapter onboarding</a:t>
            </a:r>
          </a:p>
          <a:p>
            <a:pPr algn="l">
              <a:lnSpc>
                <a:spcPct val="155000"/>
              </a:lnSpc>
            </a:pPr>
            <a:r>
              <a:rPr sz="1875">
                <a:solidFill>
                  <a:srgbClr val="F2ECDD"/>
                </a:solidFill>
                <a:latin typeface="TT Commons Pro"/>
              </a:rPr>
              <a:t>·  Legal, compliance + co-op formation</a:t>
            </a:r>
          </a:p>
          <a:p>
            <a:pPr algn="l">
              <a:lnSpc>
                <a:spcPct val="155000"/>
              </a:lnSpc>
            </a:pPr>
            <a:r>
              <a:rPr sz="1875">
                <a:solidFill>
                  <a:srgbClr val="F2ECDD"/>
                </a:solidFill>
                <a:latin typeface="TT Commons Pro"/>
              </a:rPr>
              <a:t>·  Infrastructure + AI</a:t>
            </a:r>
          </a:p>
          <a:p>
            <a:pPr algn="l">
              <a:lnSpc>
                <a:spcPct val="155000"/>
              </a:lnSpc>
            </a:pPr>
            <a:r>
              <a:rPr sz="1050" spc="150">
                <a:solidFill>
                  <a:srgbClr val="AFC4C2"/>
                </a:solidFill>
                <a:latin typeface="TT Commons Pro"/>
              </a:rPr>
              <a:t/>
            </a:r>
          </a:p>
          <a:p>
            <a:pPr algn="l">
              <a:lnSpc>
                <a:spcPct val="155000"/>
              </a:lnSpc>
            </a:pPr>
            <a:r>
              <a:rPr sz="1950" spc="20">
                <a:solidFill>
                  <a:srgbClr val="EBCF9E"/>
                </a:solidFill>
                <a:latin typeface="Alike Italics"/>
              </a:rPr>
              <a:t>Runway into the 2027 Crowd round.</a:t>
            </a:r>
          </a:p>
        </p:txBody>
      </p:sp>
      <p:sp>
        <p:nvSpPr>
          <p:cNvPr id="15" name="TextBox 14"/>
          <p:cNvSpPr txBox="1"/>
          <p:nvPr/>
        </p:nvSpPr>
        <p:spPr>
          <a:xfrm>
            <a:off x="822959" y="9189720"/>
            <a:ext cx="16596359" cy="48005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and membership agreements for binding terms.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VALUES-BASED WORLD OUTCOMES</a:t>
            </a:r>
          </a:p>
        </p:txBody>
      </p:sp>
      <p:sp>
        <p:nvSpPr>
          <p:cNvPr id="4" name="TextBox 3"/>
          <p:cNvSpPr txBox="1"/>
          <p:nvPr/>
        </p:nvSpPr>
        <p:spPr>
          <a:xfrm>
            <a:off x="822959" y="1699869"/>
            <a:ext cx="6682740" cy="1043025"/>
          </a:xfrm>
          <a:prstGeom prst="rect">
            <a:avLst/>
          </a:prstGeom>
          <a:noFill/>
        </p:spPr>
        <p:txBody>
          <a:bodyPr wrap="none" lIns="0" rIns="0" tIns="0" bIns="0">
            <a:spAutoFit/>
          </a:bodyPr>
          <a:lstStyle/>
          <a:p>
            <a:pPr algn="l">
              <a:lnSpc>
                <a:spcPct val="115000"/>
              </a:lnSpc>
            </a:pPr>
            <a:r>
              <a:rPr sz="5664" spc="-75">
                <a:solidFill>
                  <a:srgbClr val="F4EAD8"/>
                </a:solidFill>
                <a:latin typeface="TT Commons Pro Bold"/>
              </a:rPr>
              <a:t>Public benefits, </a:t>
            </a:r>
          </a:p>
        </p:txBody>
      </p:sp>
      <p:sp>
        <p:nvSpPr>
          <p:cNvPr id="5" name="TextBox 4"/>
          <p:cNvSpPr txBox="1"/>
          <p:nvPr/>
        </p:nvSpPr>
        <p:spPr>
          <a:xfrm>
            <a:off x="6004560" y="1645919"/>
            <a:ext cx="349781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codified.</a:t>
            </a:r>
          </a:p>
        </p:txBody>
      </p:sp>
      <p:sp>
        <p:nvSpPr>
          <p:cNvPr id="6" name="Rounded Rectangle 5"/>
          <p:cNvSpPr/>
          <p:nvPr/>
        </p:nvSpPr>
        <p:spPr>
          <a:xfrm>
            <a:off x="822959"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ECONOMIC RESILIENCE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Local economic thriving — cooperative commerce, resource sharing, community building.</a:t>
            </a:r>
          </a:p>
        </p:txBody>
      </p:sp>
      <p:sp>
        <p:nvSpPr>
          <p:cNvPr id="8" name="Rounded Rectangle 7"/>
          <p:cNvSpPr/>
          <p:nvPr/>
        </p:nvSpPr>
        <p:spPr>
          <a:xfrm>
            <a:off x="6478523" y="3223260"/>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REGENERATIVE IMPACT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Environmentally regenerative practice through education, technology, and transparency.</a:t>
            </a:r>
          </a:p>
        </p:txBody>
      </p:sp>
      <p:sp>
        <p:nvSpPr>
          <p:cNvPr id="10" name="Rounded Rectangle 9"/>
          <p:cNvSpPr/>
          <p:nvPr/>
        </p:nvSpPr>
        <p:spPr>
          <a:xfrm>
            <a:off x="12134087"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CIVIC ENGAGEMENT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Democratic participation through accessible cooperative ownership.</a:t>
            </a:r>
          </a:p>
        </p:txBody>
      </p:sp>
      <p:sp>
        <p:nvSpPr>
          <p:cNvPr id="12" name="Rounded Rectangle 11"/>
          <p:cNvSpPr/>
          <p:nvPr/>
        </p:nvSpPr>
        <p:spPr>
          <a:xfrm>
            <a:off x="822959"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PERSONAL LIBERTY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Data sovereignty and open tools — an opt-in ecosystem of vibrant social organisms.</a:t>
            </a:r>
          </a:p>
        </p:txBody>
      </p:sp>
      <p:sp>
        <p:nvSpPr>
          <p:cNvPr id="14" name="Rounded Rectangle 13"/>
          <p:cNvSpPr/>
          <p:nvPr/>
        </p:nvSpPr>
        <p:spPr>
          <a:xfrm>
            <a:off x="6478523" y="5829299"/>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 CULTURE &amp; ECOLOGY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vitality of each place: water, land, food, art, music, business, care.</a:t>
            </a:r>
          </a:p>
        </p:txBody>
      </p:sp>
      <p:sp>
        <p:nvSpPr>
          <p:cNvPr id="16" name="Rounded Rectangle 15"/>
          <p:cNvSpPr/>
          <p:nvPr/>
        </p:nvSpPr>
        <p:spPr>
          <a:xfrm>
            <a:off x="12134087"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THRIVING BIOREGIONS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~30 active bioregions and ~200 living organizations by end of 2027 — and beyond.</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bigger vision is capable places — able to see and care for themselves</a:t>
            </a:r>
          </a:p>
          <a:p>
            <a:pPr algn="ctr">
              <a:lnSpc>
                <a:spcPct val="140000"/>
              </a:lnSpc>
            </a:pPr>
            <a:r>
              <a:rPr sz="2100" spc="20">
                <a:solidFill>
                  <a:srgbClr val="9FE8DC"/>
                </a:solidFill>
                <a:latin typeface="Alike Italics"/>
              </a:rPr>
              <a:t>without cutting themselves off from the rest of the world.</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CLOSING · FLOW LOCAL. CONNECT GLOBAL.</a:t>
            </a:r>
          </a:p>
        </p:txBody>
      </p:sp>
      <p:sp>
        <p:nvSpPr>
          <p:cNvPr id="4" name="TextBox 3"/>
          <p:cNvSpPr txBox="1"/>
          <p:nvPr/>
        </p:nvSpPr>
        <p:spPr>
          <a:xfrm>
            <a:off x="1234440" y="2057400"/>
            <a:ext cx="15773400" cy="2194560"/>
          </a:xfrm>
          <a:prstGeom prst="rect">
            <a:avLst/>
          </a:prstGeom>
          <a:noFill/>
        </p:spPr>
        <p:txBody>
          <a:bodyPr wrap="square" lIns="0" rIns="0" tIns="0" bIns="0">
            <a:spAutoFit/>
          </a:bodyPr>
          <a:lstStyle/>
          <a:p>
            <a:pPr algn="ctr">
              <a:lnSpc>
                <a:spcPct val="140000"/>
              </a:lnSpc>
            </a:pPr>
            <a:r>
              <a:rPr sz="4200" spc="-75">
                <a:solidFill>
                  <a:srgbClr val="F4EAD8"/>
                </a:solidFill>
                <a:latin typeface="Ibarra Real Nova Italics"/>
              </a:rPr>
              <a:t>The best Rivr interaction may end</a:t>
            </a:r>
          </a:p>
          <a:p>
            <a:pPr algn="ctr">
              <a:lnSpc>
                <a:spcPct val="140000"/>
              </a:lnSpc>
            </a:pPr>
            <a:r>
              <a:rPr sz="4200" spc="-75">
                <a:solidFill>
                  <a:srgbClr val="F4EAD8"/>
                </a:solidFill>
                <a:latin typeface="Ibarra Real Nova Italics"/>
              </a:rPr>
              <a:t>with you </a:t>
            </a:r>
            <a:r>
              <a:rPr sz="4200" spc="-75">
                <a:solidFill>
                  <a:srgbClr val="EBCF9E"/>
                </a:solidFill>
                <a:latin typeface="Ibarra Real Nova Italics"/>
              </a:rPr>
              <a:t>leaving Rivr.</a:t>
            </a:r>
          </a:p>
        </p:txBody>
      </p:sp>
      <p:sp>
        <p:nvSpPr>
          <p:cNvPr id="5" name="TextBox 4"/>
          <p:cNvSpPr txBox="1"/>
          <p:nvPr/>
        </p:nvSpPr>
        <p:spPr>
          <a:xfrm>
            <a:off x="1234440" y="4389120"/>
            <a:ext cx="15773400" cy="1097280"/>
          </a:xfrm>
          <a:prstGeom prst="rect">
            <a:avLst/>
          </a:prstGeom>
          <a:noFill/>
        </p:spPr>
        <p:txBody>
          <a:bodyPr wrap="square" lIns="0" rIns="0" tIns="0" bIns="0">
            <a:spAutoFit/>
          </a:bodyPr>
          <a:lstStyle/>
          <a:p>
            <a:pPr algn="ctr">
              <a:lnSpc>
                <a:spcPct val="160000"/>
              </a:lnSpc>
            </a:pPr>
            <a:r>
              <a:rPr sz="2100">
                <a:solidFill>
                  <a:srgbClr val="F2ECDD"/>
                </a:solidFill>
                <a:latin typeface="TT Commons Pro"/>
              </a:rPr>
              <a:t>Find the thing. Find the person. Make the agreement. Join the project.</a:t>
            </a:r>
          </a:p>
          <a:p>
            <a:pPr algn="ctr">
              <a:lnSpc>
                <a:spcPct val="160000"/>
              </a:lnSpc>
            </a:pPr>
            <a:r>
              <a:rPr sz="2100">
                <a:solidFill>
                  <a:srgbClr val="F2ECDD"/>
                </a:solidFill>
                <a:latin typeface="TT Commons Pro"/>
              </a:rPr>
              <a:t>Go meet them. Go do the work. </a:t>
            </a:r>
            <a:r>
              <a:rPr sz="2100">
                <a:solidFill>
                  <a:srgbClr val="9FE8DC"/>
                </a:solidFill>
                <a:latin typeface="TT Commons Pro Bold"/>
              </a:rPr>
              <a:t>Put the phone away.</a:t>
            </a:r>
          </a:p>
        </p:txBody>
      </p:sp>
      <p:sp>
        <p:nvSpPr>
          <p:cNvPr id="6" name="Rounded Rectangle 5"/>
          <p:cNvSpPr/>
          <p:nvPr/>
        </p:nvSpPr>
        <p:spPr>
          <a:xfrm>
            <a:off x="3154679" y="5966459"/>
            <a:ext cx="11932919" cy="2537460"/>
          </a:xfrm>
          <a:prstGeom prst="roundRect">
            <a:avLst>
              <a:gd name="adj" fmla="val 6000"/>
            </a:avLst>
          </a:prstGeom>
          <a:solidFill>
            <a:srgbClr val="062A2C"/>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6309359"/>
            <a:ext cx="10835640" cy="1920239"/>
          </a:xfrm>
          <a:prstGeom prst="rect">
            <a:avLst/>
          </a:prstGeom>
          <a:noFill/>
        </p:spPr>
        <p:txBody>
          <a:bodyPr wrap="square" lIns="0" rIns="0" tIns="0" bIns="0">
            <a:spAutoFit/>
          </a:bodyPr>
          <a:lstStyle/>
          <a:p>
            <a:pPr algn="ctr">
              <a:lnSpc>
                <a:spcPct val="155000"/>
              </a:lnSpc>
            </a:pPr>
            <a:r>
              <a:rPr sz="1875">
                <a:solidFill>
                  <a:srgbClr val="F2ECDD"/>
                </a:solidFill>
                <a:latin typeface="TT Commons Pro"/>
              </a:rPr>
              <a:t>We don't need to abandon modern technology to remember how to live together —</a:t>
            </a:r>
          </a:p>
          <a:p>
            <a:pPr algn="ctr">
              <a:lnSpc>
                <a:spcPct val="155000"/>
              </a:lnSpc>
            </a:pPr>
            <a:r>
              <a:rPr sz="1875">
                <a:solidFill>
                  <a:srgbClr val="F2ECDD"/>
                </a:solidFill>
                <a:latin typeface="TT Commons Pro"/>
              </a:rPr>
              <a:t>we can build </a:t>
            </a:r>
            <a:r>
              <a:rPr sz="2025" spc="20">
                <a:solidFill>
                  <a:srgbClr val="EBCF9E"/>
                </a:solidFill>
                <a:latin typeface="Alike Italics"/>
              </a:rPr>
              <a:t>better technology</a:t>
            </a:r>
            <a:r>
              <a:rPr sz="1875">
                <a:solidFill>
                  <a:srgbClr val="F2ECDD"/>
                </a:solidFill>
                <a:latin typeface="TT Commons Pro"/>
              </a:rPr>
              <a:t> for it.</a:t>
            </a:r>
          </a:p>
          <a:p>
            <a:pPr algn="ctr">
              <a:lnSpc>
                <a:spcPct val="155000"/>
              </a:lnSpc>
            </a:pPr>
            <a:r>
              <a:rPr sz="750" spc="150">
                <a:solidFill>
                  <a:srgbClr val="AFC4C2"/>
                </a:solidFill>
                <a:latin typeface="TT Commons Pro"/>
              </a:rPr>
              <a:t/>
            </a:r>
          </a:p>
          <a:p>
            <a:pPr algn="ctr">
              <a:lnSpc>
                <a:spcPct val="155000"/>
              </a:lnSpc>
            </a:pPr>
            <a:r>
              <a:rPr sz="2025">
                <a:solidFill>
                  <a:srgbClr val="9FE8DC"/>
                </a:solidFill>
                <a:latin typeface="TT Commons Pro Bold"/>
              </a:rPr>
              <a:t>admin@rivr.social    ·    app.rivr.social    ·    invest.rivr.social</a:t>
            </a:r>
          </a:p>
        </p:txBody>
      </p:sp>
      <p:sp>
        <p:nvSpPr>
          <p:cNvPr id="8" name="TextBox 7"/>
          <p:cNvSpPr txBox="1"/>
          <p:nvPr/>
        </p:nvSpPr>
        <p:spPr>
          <a:xfrm>
            <a:off x="1234440" y="8915400"/>
            <a:ext cx="15773400" cy="548640"/>
          </a:xfrm>
          <a:prstGeom prst="rect">
            <a:avLst/>
          </a:prstGeom>
          <a:noFill/>
        </p:spPr>
        <p:txBody>
          <a:bodyPr wrap="square" lIns="0" rIns="0" tIns="0" bIns="0">
            <a:spAutoFit/>
          </a:bodyPr>
          <a:lstStyle/>
          <a:p>
            <a:pPr algn="ctr">
              <a:lnSpc>
                <a:spcPct val="115000"/>
              </a:lnSpc>
            </a:pPr>
            <a:r>
              <a:rPr sz="2400" spc="20">
                <a:solidFill>
                  <a:srgbClr val="F4EAD8"/>
                </a:solidFill>
                <a:latin typeface="Alike Italics"/>
              </a:rPr>
              <a:t>Flow local. Connect global.  </a:t>
            </a:r>
            <a:r>
              <a:rPr sz="2400" spc="20">
                <a:solidFill>
                  <a:srgbClr val="EBCF9E"/>
                </a:solidFill>
                <a:latin typeface="Alike Italics"/>
              </a:rPr>
              <a:t>A Rivr made of many rivers.</a:t>
            </a:r>
          </a:p>
        </p:txBody>
      </p:sp>
      <p:pic>
        <p:nvPicPr>
          <p:cNvPr id="9" name="Picture 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0" name="TextBox 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1" name="TextBox 1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