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Rivr makes the capacity of a place visible enough to act on — connecting the people, resources, opportunities, and organizations of a place. Flow local. Connect global.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capacity is already here. The problem is finding it, trusting it, and coordinating around it. A need and a resource can exist blocks apart without ever meeting.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each other is only the beginning. Real coordination means agreements, roles, scheduling, shared resources, tracking, approval, and exchanging value. People assemble that process themselves every time — coordination overhead prevents useful activity from happening.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digital lives are split across too many places. We spend too much time coordinating the tools meant to help us coordinate. Social media evolved toward coordination — under extractive incentives. The problem was the incentive structure underneath.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happens when a community can actually see itself — what we know, need, offer, make, can share, what sits unused, what could be built next. Sometimes resources simply need to be connected.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internet made it possible to find almost anything, anywhere — and easy to overlook what's already around us. Rivr brings place back into the digital experience: as context, not a wall. Local when possible, wider network when needed.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can mean more than a city boundary — household, neighborhood, organization, town, watershed, bioregion, wider network. People belong to several places at once. Not geographic lock-in: layered belonging. The right activity appears at the scope where it matters.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Technology for living places. River basins offer a natural way of seeing how regions connect. The question: what technology helps humans live intelligently within the ecosystems that sustain 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is a place-based social and economic network: find people, skills, services, resources and opportunities nearby; create events, groups, projects, roles and tasks; exchange value; coordinate action.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should not feel like enterprise software. It begins with things people already understand — and stays alive and social. Economic relationships often begin as human relationships.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should feel useful without becoming mechanical. Show me what I'm looking for — and something I'd be glad to know exists. Useful serendipity, not random noise, not whoever paid to be inserted. Optimized for the user's world rather than advertiser demand.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is not another platform where people talk about what they might do. The deeper value appears when discovery becomes action: discover, trust, agree, organize, act, verify, account, compensate.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a gamified popularity score — participation made legible as useful context for trust, qualification, reputation, compensation, stake, and cooperative participation.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the resource is not enough — we need context to act. Trust emerges from relationships, history, qualifications, references, verified claims, group membership, and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 individual: a useful local social network. For an organization: coordination tools. For a community: a living map of what the place has, needs, knows, makes, and can do.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should work for ordinary life too — households, neighbors, shared resources, work parties. Resilience is built partly through ordinary life.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small business schedules shifts; a cooperative tracks contribution; an organization needs documents, projects, governance, treasury, payments, membership — in one shared relational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collaborative problems are mundane: who agreed, did it happen, who contributed, who approved, what does somebody get paid. Shared records make cooperation less dependent on memory and chasing people. The ledger is social infrastructure as well as financial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projects and organizations need recurring structures. Rivr encodes those patterns into templates, workflows, and shared tools — lowering the activation energy to start something.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useful exchange has to begin and end with money. A community contains far more value than the dollars circulating through it. Sold, rented, traded, lent, shared, gifted, contributed, mutual credit — the aim is useful resource flow.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lack of cash should not automatically mean a lack of capacity. Economic sovereignty means more than one way to participate — not abandoning existing money. Communities become more resilient when useful exchange continues through multiple mutually agreed forms.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goal is not simply to circulate what exists. Visibility→coordination→exchange→relationships→intelligence→demand→productive capacity→resilience.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more activity becomes visible, a place can begin to understand itself — a feedback system for developing local capacity, not merely a marketplace for what already exists.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Visibility can create collaboration, not only transactions. Two organizations working separately on the same problem; complementary resources; missions too large for one org become possible through coalition.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cultural shift is toward functional interdependence — not less autonomy, but greater autonomy supported by stronger interdependence.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social network is the doorway; coordination infrastructure is the larger opportunity. Instead of stitching disconnected platforms together, these functions share one underlying relational system between people, organizations, resources, needs, agreements, and actions.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ambition is large because human life is complex — but the experience should not feel complex. Nobody needs to understand federation, REA models, or cooperative law to find a bike or take a job. Complex infrastructure; simple participation.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Rivr's underlying model is about activity, not just content. Resource, Event, Agent: an agent acts, something happens, a resource changes state, and that event becomes part of the record. Model the real activity underneath the feed.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doesn't need to build every possible app. Specialized tools plug into the ecosystem; Rivr is the connective environment they share. Ecosystem coherence, not total software ownership.</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Shared schemas, open source, and protocols matter — but alone they don't produce a usable ecosystem. Somebody still has to integrate, design, maintain, support, market, and keep listening.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Purely theoretical protocols optimize for imagined needs. Rivr follows build → use → learn → refine → standardize → federate. Let use teach us what should become standard.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person controls where their information lives; a group can run its own instance; a community can share infrastructure — still connected, with only what people permit moving outward.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should be contextual. People control who can discover them, what can be seen, under what conditions, for what purpose. The goal is not secrecy — it is appropriate visibility.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sovereignty is only half the story — people should also control what enters their field of view. What reaches me? Why? According to whose priorities? Selective disclosure outward, selective attention inward. Useful relevance instead of attention capture.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is becoming capable of acting across our lives. It could become another centralized surveillance layer — or help communities become more capable where they are.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people using a network create its value, they should participate in its success. Rivr's loop routes revenue to operations, patrons, workers, stewards, reserves, and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cooperative should live inside the product too — membership, stake, participation, contribution, revenue, surplus, patronage, and governance visible in the system. Use Rivr to run Rivr.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strong shared product is not the same as centralized control. Centralized coordination and centralized control are different things.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Anti-capture should be structural: cooperative ownership, public-benefit purpose, federation, sovereign data, interoperability, contextual permissions.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competition is not one app — it is the fragmented stack. A 5-seat organization pays about $328.20/month across Asana, Slack, Google Workspace, Square, Shopify, Luma and more; a Rivr Organization runs $46.06 — saving $282.14/month, about $3,546.68/year. Rivr is one relational ecosystem built around people, organizations, and place.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Better values are not enough — Rivr cannot succeed because people agree with the philosophy. It must save time and money, replace fragmented tools, make discovery useful, reduce coordination friction, and feel good to use. People should choose Rivr because Rivr works.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sits at the intersection of local social, local commerce, events, coordination, services, community infrastructure, and AI-enabled productivity. The platform is built and running.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Membership velocity, not fee inflation. Tiers: Collaborator $11, Seller $22, Host/Producer $22, Organizer $44; 42% of active users convert to paid membership, calibrated on ONE Boulder. Unified 3.3% + $1.49 transaction fee across all rails, patronage-eligible. Streams: memberships, platform + transaction fees, local advertising from local businesses, invested reserves.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Fee surplus: 50% Association / 25% fee-paying member / 25% Chapter — patronage goes only to the members who generated the fees. Non-fee surplus: 100% Association. Retained profit after tax: 33/33/33 Stewards, Workers, Reserves. Patronage refunds arrive 20% cash + 80% member capital.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More participation creates visibility; visibility reveals demand; demand supports local businesses, services, jobs, cooperative purchasing, infrastructure, and new markets.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enough of the market to change what the market rewards. Not a tiny alternative for people who already agree — a serious, competitive company. Enough adoption changes user expectations, influences competitors, raises standards, and proves a different ownership model can win.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is not building one giant global community — it is infrastructure many local communities use and connect through. Shared standards allow exchange; local autonomy allows adaptation.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 one place deep at a time — Boulder is the first branch of the Rivr. Seed, anchor, density, replicate: density makes the network useful. Proven before: ONE Boulder 2020-2023, nearly 4,800 users, 42% of high-activity users converted to paid membership. Expansion regions mapped across the US and bioregions worldwide.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software, community, governance, and local infrastructure at once. Cameron Ely-Murdock — Strategy Director &amp; Development. Kathleen Marie Rose — Design &amp; Community Outreach. Grig Bilham — Operations Management. Q3 2026 beta opens in Boulder; 2027 mobile build-out and bioregional expansion; ~30 bioregions, ~200 organizations, 5,000+ members by end of 2027.</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$500K to take the built Rivr Social platform live. Cooperative SAFE — $4M cap, 20% discount → Class D Steward Shares (506b); Colorado residents direct Class R (147A); $0.20/share. Steward Pool: 33% of after-tax retained profit, pro-rata, from first profitable year. Use of funds: live-money cutover, team + engineering, community growth + chapters, compliance, infrastructure + AI — runway into the 2027 Crowd round.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Public Benefit Corporation these outcomes are in the Articles — obligations, not aspirations. The bigger vision is capable places: distinct local networks connected through shared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best Rivr interaction may end with you leaving Rivr. The goal is not screen time — it is successful coordination: find the thing, find the person, make the agreement, go do the work, put the phone away. We can build better technology for living together. Flow local. Connect global. A Rivr made of many rivers.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5.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6.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25.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49.xml"/><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52.xml"/><Relationship Id="rId4"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hero-water_d50.jpg"/>
          <p:cNvPicPr>
            <a:picLocks noChangeAspect="1"/>
          </p:cNvPicPr>
          <p:nvPr/>
        </p:nvPicPr>
        <p:blipFill>
          <a:blip r:embed="rId2"/>
          <a:stretch>
            <a:fillRect/>
          </a:stretch>
        </p:blipFill>
        <p:spPr>
          <a:xfrm>
            <a:off x="953376" y="0"/>
            <a:ext cx="10284943" cy="6858000"/>
          </a:xfrm>
          <a:prstGeom prst="rect">
            <a:avLst/>
          </a:prstGeom>
        </p:spPr>
      </p:pic>
      <p:pic>
        <p:nvPicPr>
          <p:cNvPr id="3" name="Picture 2" descr="rivr-symbol-light.png"/>
          <p:cNvPicPr>
            <a:picLocks noChangeAspect="1"/>
          </p:cNvPicPr>
          <p:nvPr/>
        </p:nvPicPr>
        <p:blipFill>
          <a:blip r:embed="rId4"/>
          <a:stretch>
            <a:fillRect/>
          </a:stretch>
        </p:blipFill>
        <p:spPr>
          <a:xfrm>
            <a:off x="566928" y="530352"/>
            <a:ext cx="822960" cy="822960"/>
          </a:xfrm>
          <a:prstGeom prst="rect">
            <a:avLst/>
          </a:prstGeom>
        </p:spPr>
      </p:pic>
      <p:sp>
        <p:nvSpPr>
          <p:cNvPr id="4" name="TextBox 3"/>
          <p:cNvSpPr txBox="1"/>
          <p:nvPr/>
        </p:nvSpPr>
        <p:spPr>
          <a:xfrm>
            <a:off x="566928" y="2377440"/>
            <a:ext cx="11064240" cy="1828800"/>
          </a:xfrm>
          <a:prstGeom prst="rect">
            <a:avLst/>
          </a:prstGeom>
          <a:noFill/>
        </p:spPr>
        <p:txBody>
          <a:bodyPr wrap="square" lIns="0" rIns="0" tIns="0" bIns="0">
            <a:spAutoFit/>
          </a:bodyPr>
          <a:lstStyle/>
          <a:p>
            <a:pPr algn="l">
              <a:lnSpc>
                <a:spcPct val="125000"/>
              </a:lnSpc>
            </a:pPr>
            <a:r>
              <a:rPr sz="6400" b="1" i="0">
                <a:solidFill>
                  <a:srgbClr val="F4EAD8"/>
                </a:solidFill>
                <a:latin typeface="Inter"/>
              </a:rPr>
              <a:t>RIVR</a:t>
            </a:r>
          </a:p>
          <a:p>
            <a:pPr algn="l">
              <a:lnSpc>
                <a:spcPct val="125000"/>
              </a:lnSpc>
            </a:pPr>
            <a:r>
              <a:rPr sz="3000" b="0" i="1">
                <a:solidFill>
                  <a:srgbClr val="F2ECDD"/>
                </a:solidFill>
                <a:latin typeface="Georgia"/>
              </a:rPr>
              <a:t>A social network for </a:t>
            </a:r>
            <a:r>
              <a:rPr sz="3000" b="0" i="1">
                <a:solidFill>
                  <a:srgbClr val="EBCF9E"/>
                </a:solidFill>
                <a:latin typeface="Georgia"/>
              </a:rPr>
              <a:t>local life.</a:t>
            </a:r>
          </a:p>
        </p:txBody>
      </p:sp>
      <p:sp>
        <p:nvSpPr>
          <p:cNvPr id="5" name="TextBox 4"/>
          <p:cNvSpPr txBox="1"/>
          <p:nvPr/>
        </p:nvSpPr>
        <p:spPr>
          <a:xfrm>
            <a:off x="566928" y="4343400"/>
            <a:ext cx="10789920" cy="822960"/>
          </a:xfrm>
          <a:prstGeom prst="rect">
            <a:avLst/>
          </a:prstGeom>
          <a:noFill/>
        </p:spPr>
        <p:txBody>
          <a:bodyPr wrap="square" lIns="0" rIns="0" tIns="0" bIns="0">
            <a:spAutoFit/>
          </a:bodyPr>
          <a:lstStyle/>
          <a:p>
            <a:pPr algn="l">
              <a:lnSpc>
                <a:spcPct val="150000"/>
              </a:lnSpc>
            </a:pPr>
            <a:r>
              <a:rPr sz="1500" b="0" i="0">
                <a:solidFill>
                  <a:srgbClr val="F2ECDD"/>
                </a:solidFill>
                <a:latin typeface="Inter"/>
              </a:rPr>
              <a:t>Rivr makes the capacity of a place </a:t>
            </a:r>
            <a:r>
              <a:rPr sz="1500" b="1" i="0">
                <a:solidFill>
                  <a:srgbClr val="9FE8DC"/>
                </a:solidFill>
                <a:latin typeface="Inter"/>
              </a:rPr>
              <a:t>visible enough to act on</a:t>
            </a:r>
            <a:r>
              <a:rPr sz="1500" b="0" i="0">
                <a:solidFill>
                  <a:srgbClr val="F2ECDD"/>
                </a:solidFill>
                <a:latin typeface="Inter"/>
              </a:rPr>
              <a:t> — so more of what we need</a:t>
            </a:r>
          </a:p>
          <a:p>
            <a:pPr algn="l">
              <a:lnSpc>
                <a:spcPct val="150000"/>
              </a:lnSpc>
            </a:pPr>
            <a:r>
              <a:rPr sz="1500" b="0" i="0">
                <a:solidFill>
                  <a:srgbClr val="F2ECDD"/>
                </a:solidFill>
                <a:latin typeface="Inter"/>
              </a:rPr>
              <a:t>can be found, shared, coordinated, exchanged, and created together.</a:t>
            </a:r>
          </a:p>
        </p:txBody>
      </p:sp>
      <p:sp>
        <p:nvSpPr>
          <p:cNvPr id="6" name="TextBox 5"/>
          <p:cNvSpPr txBox="1"/>
          <p:nvPr/>
        </p:nvSpPr>
        <p:spPr>
          <a:xfrm>
            <a:off x="566928" y="5623560"/>
            <a:ext cx="10789920" cy="365760"/>
          </a:xfrm>
          <a:prstGeom prst="rect">
            <a:avLst/>
          </a:prstGeom>
          <a:noFill/>
        </p:spPr>
        <p:txBody>
          <a:bodyPr wrap="square" lIns="0" rIns="0" tIns="0" bIns="0">
            <a:spAutoFit/>
          </a:bodyPr>
          <a:lstStyle/>
          <a:p>
            <a:pPr algn="l">
              <a:lnSpc>
                <a:spcPct val="115000"/>
              </a:lnSpc>
            </a:pPr>
            <a:r>
              <a:rPr sz="1050" b="1" i="0">
                <a:solidFill>
                  <a:srgbClr val="9FE8DC"/>
                </a:solidFill>
                <a:latin typeface="Inter"/>
              </a:rPr>
              <a:t>R E G E N E R A T I V E   ·   I N T E R C O N N E C T E D   ·   V I B R A N T   ·   R E G I O N S</a:t>
            </a:r>
          </a:p>
        </p:txBody>
      </p:sp>
      <p:sp>
        <p:nvSpPr>
          <p:cNvPr id="7" name="TextBox 6"/>
          <p:cNvSpPr txBox="1"/>
          <p:nvPr/>
        </p:nvSpPr>
        <p:spPr>
          <a:xfrm>
            <a:off x="566928" y="5989320"/>
            <a:ext cx="10789920" cy="365760"/>
          </a:xfrm>
          <a:prstGeom prst="rect">
            <a:avLst/>
          </a:prstGeom>
          <a:noFill/>
        </p:spPr>
        <p:txBody>
          <a:bodyPr wrap="square" lIns="0" rIns="0" tIns="0" bIns="0">
            <a:spAutoFit/>
          </a:bodyPr>
          <a:lstStyle/>
          <a:p>
            <a:pPr algn="l">
              <a:lnSpc>
                <a:spcPct val="115000"/>
              </a:lnSpc>
            </a:pPr>
            <a:r>
              <a:rPr sz="1400" b="0" i="1">
                <a:solidFill>
                  <a:srgbClr val="EBCF9E"/>
                </a:solidFill>
                <a:latin typeface="Georgia"/>
              </a:rPr>
              <a:t>Flow local. Connect global.  </a:t>
            </a:r>
            <a:r>
              <a:rPr sz="1400" b="0" i="1">
                <a:solidFill>
                  <a:srgbClr val="AFC4C2"/>
                </a:solidFill>
                <a:latin typeface="Georgia"/>
              </a:rPr>
              <a:t>A Rivr made of many rivers.</a:t>
            </a:r>
          </a:p>
        </p:txBody>
      </p:sp>
      <p:sp>
        <p:nvSpPr>
          <p:cNvPr id="8" name="TextBox 7"/>
          <p:cNvSpPr txBox="1"/>
          <p:nvPr/>
        </p:nvSpPr>
        <p:spPr>
          <a:xfrm>
            <a:off x="566928" y="6455664"/>
            <a:ext cx="8229600" cy="274320"/>
          </a:xfrm>
          <a:prstGeom prst="rect">
            <a:avLst/>
          </a:prstGeom>
          <a:noFill/>
        </p:spPr>
        <p:txBody>
          <a:bodyPr wrap="square" lIns="0" rIns="0" tIns="0" bIns="0">
            <a:spAutoFit/>
          </a:bodyPr>
          <a:lstStyle/>
          <a:p>
            <a:pPr algn="l">
              <a:lnSpc>
                <a:spcPct val="115000"/>
              </a:lnSpc>
            </a:pPr>
            <a:r>
              <a:rPr sz="1000" b="0" i="0">
                <a:solidFill>
                  <a:srgbClr val="AFC4C2"/>
                </a:solidFill>
                <a:latin typeface="Inter"/>
              </a:rPr>
              <a:t>Seed Round 2026   ·   rivr.social   ·   app.rivr.social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T H E   P R O B L E M</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000" b="1" i="0">
                <a:solidFill>
                  <a:srgbClr val="F4EAD8"/>
                </a:solidFill>
                <a:latin typeface="Inter"/>
              </a:rPr>
              <a:t>We already have so much of what we need — </a:t>
            </a:r>
          </a:p>
          <a:p>
            <a:pPr algn="l">
              <a:lnSpc>
                <a:spcPct val="120000"/>
              </a:lnSpc>
            </a:pPr>
            <a:r>
              <a:rPr sz="3000" b="1" i="0">
                <a:solidFill>
                  <a:srgbClr val="F4EAD8"/>
                </a:solidFill>
                <a:latin typeface="Inter"/>
              </a:rPr>
              <a:t>we just can't always </a:t>
            </a:r>
            <a:r>
              <a:rPr sz="3300" b="0" i="1">
                <a:solidFill>
                  <a:srgbClr val="99E6D9"/>
                </a:solidFill>
                <a:latin typeface="Georgia"/>
              </a:rPr>
              <a:t>see it.</a:t>
            </a:r>
          </a:p>
        </p:txBody>
      </p:sp>
      <p:sp>
        <p:nvSpPr>
          <p:cNvPr id="4" name="TextBox 3"/>
          <p:cNvSpPr txBox="1"/>
          <p:nvPr/>
        </p:nvSpPr>
        <p:spPr>
          <a:xfrm>
            <a:off x="548640" y="2286000"/>
            <a:ext cx="8229600" cy="292608"/>
          </a:xfrm>
          <a:prstGeom prst="rect">
            <a:avLst/>
          </a:prstGeom>
          <a:noFill/>
        </p:spPr>
        <p:txBody>
          <a:bodyPr wrap="square" lIns="0" rIns="0" tIns="0" bIns="0">
            <a:spAutoFit/>
          </a:bodyPr>
          <a:lstStyle/>
          <a:p>
            <a:pPr algn="l">
              <a:lnSpc>
                <a:spcPct val="115000"/>
              </a:lnSpc>
            </a:pPr>
            <a:r>
              <a:rPr sz="1000" b="1" i="0">
                <a:solidFill>
                  <a:srgbClr val="9FE8DC"/>
                </a:solidFill>
                <a:latin typeface="Inter"/>
              </a:rPr>
              <a:t>E V E R Y   P L A C E   A L R E A D Y   C O N T A I N S</a:t>
            </a:r>
          </a:p>
        </p:txBody>
      </p:sp>
      <p:sp>
        <p:nvSpPr>
          <p:cNvPr id="5" name="Rounded Rectangle 4"/>
          <p:cNvSpPr/>
          <p:nvPr/>
        </p:nvSpPr>
        <p:spPr>
          <a:xfrm>
            <a:off x="548640" y="2697480"/>
            <a:ext cx="2084831" cy="502920"/>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83006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people with skills</a:t>
            </a:r>
          </a:p>
        </p:txBody>
      </p:sp>
      <p:sp>
        <p:nvSpPr>
          <p:cNvPr id="7" name="Rounded Rectangle 6"/>
          <p:cNvSpPr/>
          <p:nvPr/>
        </p:nvSpPr>
        <p:spPr>
          <a:xfrm>
            <a:off x="2804922" y="269748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04922" y="283006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people seeking work</a:t>
            </a:r>
          </a:p>
        </p:txBody>
      </p:sp>
      <p:sp>
        <p:nvSpPr>
          <p:cNvPr id="9" name="Rounded Rectangle 8"/>
          <p:cNvSpPr/>
          <p:nvPr/>
        </p:nvSpPr>
        <p:spPr>
          <a:xfrm>
            <a:off x="5061204" y="2697480"/>
            <a:ext cx="2084831" cy="502920"/>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61204" y="283006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tools sitting unused</a:t>
            </a:r>
          </a:p>
        </p:txBody>
      </p:sp>
      <p:sp>
        <p:nvSpPr>
          <p:cNvPr id="11" name="Rounded Rectangle 10"/>
          <p:cNvSpPr/>
          <p:nvPr/>
        </p:nvSpPr>
        <p:spPr>
          <a:xfrm>
            <a:off x="7317486" y="269748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7486" y="283006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food being grown</a:t>
            </a:r>
          </a:p>
        </p:txBody>
      </p:sp>
      <p:sp>
        <p:nvSpPr>
          <p:cNvPr id="13" name="Rounded Rectangle 12"/>
          <p:cNvSpPr/>
          <p:nvPr/>
        </p:nvSpPr>
        <p:spPr>
          <a:xfrm>
            <a:off x="9573768" y="2697480"/>
            <a:ext cx="2084831" cy="502920"/>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73768" y="283006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businesses</a:t>
            </a:r>
          </a:p>
        </p:txBody>
      </p:sp>
      <p:sp>
        <p:nvSpPr>
          <p:cNvPr id="15" name="Rounded Rectangle 14"/>
          <p:cNvSpPr/>
          <p:nvPr/>
        </p:nvSpPr>
        <p:spPr>
          <a:xfrm>
            <a:off x="548640" y="3383280"/>
            <a:ext cx="2084831" cy="502920"/>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51586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organizations</a:t>
            </a:r>
          </a:p>
        </p:txBody>
      </p:sp>
      <p:sp>
        <p:nvSpPr>
          <p:cNvPr id="17" name="Rounded Rectangle 16"/>
          <p:cNvSpPr/>
          <p:nvPr/>
        </p:nvSpPr>
        <p:spPr>
          <a:xfrm>
            <a:off x="2804922" y="338328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04922" y="351586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spaces</a:t>
            </a:r>
          </a:p>
        </p:txBody>
      </p:sp>
      <p:sp>
        <p:nvSpPr>
          <p:cNvPr id="19" name="Rounded Rectangle 18"/>
          <p:cNvSpPr/>
          <p:nvPr/>
        </p:nvSpPr>
        <p:spPr>
          <a:xfrm>
            <a:off x="5061204" y="3383280"/>
            <a:ext cx="2084831" cy="502920"/>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61204" y="351586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knowledge</a:t>
            </a:r>
          </a:p>
        </p:txBody>
      </p:sp>
      <p:sp>
        <p:nvSpPr>
          <p:cNvPr id="21" name="Rounded Rectangle 20"/>
          <p:cNvSpPr/>
          <p:nvPr/>
        </p:nvSpPr>
        <p:spPr>
          <a:xfrm>
            <a:off x="7317486" y="338328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7486" y="351586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projects</a:t>
            </a:r>
          </a:p>
        </p:txBody>
      </p:sp>
      <p:sp>
        <p:nvSpPr>
          <p:cNvPr id="23" name="Rounded Rectangle 22"/>
          <p:cNvSpPr/>
          <p:nvPr/>
        </p:nvSpPr>
        <p:spPr>
          <a:xfrm>
            <a:off x="9573768" y="3383280"/>
            <a:ext cx="2084831" cy="502920"/>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73768" y="351586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money</a:t>
            </a:r>
          </a:p>
        </p:txBody>
      </p:sp>
      <p:sp>
        <p:nvSpPr>
          <p:cNvPr id="25" name="Rounded Rectangle 24"/>
          <p:cNvSpPr/>
          <p:nvPr/>
        </p:nvSpPr>
        <p:spPr>
          <a:xfrm>
            <a:off x="548640" y="4069080"/>
            <a:ext cx="2084831" cy="502920"/>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20166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care</a:t>
            </a:r>
          </a:p>
        </p:txBody>
      </p:sp>
      <p:sp>
        <p:nvSpPr>
          <p:cNvPr id="27" name="Rounded Rectangle 26"/>
          <p:cNvSpPr/>
          <p:nvPr/>
        </p:nvSpPr>
        <p:spPr>
          <a:xfrm>
            <a:off x="2804922" y="406908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04922" y="420166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ideas</a:t>
            </a:r>
          </a:p>
        </p:txBody>
      </p:sp>
      <p:sp>
        <p:nvSpPr>
          <p:cNvPr id="29" name="Rounded Rectangle 28"/>
          <p:cNvSpPr/>
          <p:nvPr/>
        </p:nvSpPr>
        <p:spPr>
          <a:xfrm>
            <a:off x="5061204" y="4069080"/>
            <a:ext cx="2084831" cy="502920"/>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61204" y="420166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things to give away</a:t>
            </a:r>
          </a:p>
        </p:txBody>
      </p:sp>
      <p:sp>
        <p:nvSpPr>
          <p:cNvPr id="31" name="Rounded Rectangle 30"/>
          <p:cNvSpPr/>
          <p:nvPr/>
        </p:nvSpPr>
        <p:spPr>
          <a:xfrm>
            <a:off x="7317486" y="406908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7486" y="420166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things being sought</a:t>
            </a:r>
          </a:p>
        </p:txBody>
      </p:sp>
      <p:sp>
        <p:nvSpPr>
          <p:cNvPr id="33" name="TextBox 32"/>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300" b="0" i="0">
                <a:solidFill>
                  <a:srgbClr val="F2ECDD"/>
                </a:solidFill>
                <a:latin typeface="Inter"/>
              </a:rPr>
              <a:t>The problem is not that these things don't exist — it is finding them, trusting them, and coordinating around them.</a:t>
            </a:r>
          </a:p>
          <a:p>
            <a:pPr algn="ctr">
              <a:lnSpc>
                <a:spcPct val="140000"/>
              </a:lnSpc>
            </a:pPr>
            <a:r>
              <a:rPr sz="1500" b="0" i="1">
                <a:solidFill>
                  <a:srgbClr val="EBCF9E"/>
                </a:solidFill>
                <a:latin typeface="Georgia"/>
              </a:rPr>
              <a:t>A need and a resource can exist blocks apart without ever meeting.</a:t>
            </a:r>
          </a:p>
        </p:txBody>
      </p:sp>
      <p:pic>
        <p:nvPicPr>
          <p:cNvPr id="34" name="Picture 33"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35" name="TextBox 34"/>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36" name="TextBox 35"/>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T H E   P R O B L E M   ·   C O O R D I N A T I O N</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200" b="1" i="0">
                <a:solidFill>
                  <a:srgbClr val="F4EAD8"/>
                </a:solidFill>
                <a:latin typeface="Inter"/>
              </a:rPr>
              <a:t>Finding each other is only </a:t>
            </a:r>
            <a:r>
              <a:rPr sz="3500" b="0" i="1">
                <a:solidFill>
                  <a:srgbClr val="99E6D9"/>
                </a:solidFill>
                <a:latin typeface="Georgia"/>
              </a:rPr>
              <a:t>the beginning.</a:t>
            </a:r>
          </a:p>
        </p:txBody>
      </p:sp>
      <p:sp>
        <p:nvSpPr>
          <p:cNvPr id="4" name="TextBox 3"/>
          <p:cNvSpPr txBox="1"/>
          <p:nvPr/>
        </p:nvSpPr>
        <p:spPr>
          <a:xfrm>
            <a:off x="548640" y="1965960"/>
            <a:ext cx="5394960" cy="320040"/>
          </a:xfrm>
          <a:prstGeom prst="rect">
            <a:avLst/>
          </a:prstGeom>
          <a:noFill/>
        </p:spPr>
        <p:txBody>
          <a:bodyPr wrap="square" lIns="0" rIns="0" tIns="0" bIns="0">
            <a:spAutoFit/>
          </a:bodyPr>
          <a:lstStyle/>
          <a:p>
            <a:pPr algn="l">
              <a:lnSpc>
                <a:spcPct val="115000"/>
              </a:lnSpc>
            </a:pPr>
            <a:r>
              <a:rPr sz="950" b="1" i="0">
                <a:solidFill>
                  <a:srgbClr val="9FE8DC"/>
                </a:solidFill>
                <a:latin typeface="Inter"/>
              </a:rPr>
              <a:t>O N C E   P E O P L E   C O N N E C T ,   T H E Y   S T I L L   A S K</a:t>
            </a:r>
          </a:p>
        </p:txBody>
      </p:sp>
      <p:sp>
        <p:nvSpPr>
          <p:cNvPr id="5" name="TextBox 4"/>
          <p:cNvSpPr txBox="1"/>
          <p:nvPr/>
        </p:nvSpPr>
        <p:spPr>
          <a:xfrm>
            <a:off x="685800" y="2395728"/>
            <a:ext cx="5212080" cy="365760"/>
          </a:xfrm>
          <a:prstGeom prst="rect">
            <a:avLst/>
          </a:prstGeom>
          <a:noFill/>
        </p:spPr>
        <p:txBody>
          <a:bodyPr wrap="square" lIns="0" rIns="0" tIns="0" bIns="0">
            <a:spAutoFit/>
          </a:bodyPr>
          <a:lstStyle/>
          <a:p>
            <a:pPr algn="l">
              <a:lnSpc>
                <a:spcPct val="115000"/>
              </a:lnSpc>
            </a:pPr>
            <a:r>
              <a:rPr sz="1400" b="0" i="1">
                <a:solidFill>
                  <a:srgbClr val="F0CC8B"/>
                </a:solidFill>
                <a:latin typeface="Georgia"/>
              </a:rPr>
              <a:t>?  </a:t>
            </a:r>
            <a:r>
              <a:rPr sz="1350" b="0" i="1">
                <a:solidFill>
                  <a:srgbClr val="F2ECDD"/>
                </a:solidFill>
                <a:latin typeface="Georgia"/>
              </a:rPr>
              <a:t>Who is doing what?</a:t>
            </a:r>
          </a:p>
        </p:txBody>
      </p:sp>
      <p:sp>
        <p:nvSpPr>
          <p:cNvPr id="6" name="TextBox 5"/>
          <p:cNvSpPr txBox="1"/>
          <p:nvPr/>
        </p:nvSpPr>
        <p:spPr>
          <a:xfrm>
            <a:off x="685800" y="2944368"/>
            <a:ext cx="5212080" cy="365760"/>
          </a:xfrm>
          <a:prstGeom prst="rect">
            <a:avLst/>
          </a:prstGeom>
          <a:noFill/>
        </p:spPr>
        <p:txBody>
          <a:bodyPr wrap="square" lIns="0" rIns="0" tIns="0" bIns="0">
            <a:spAutoFit/>
          </a:bodyPr>
          <a:lstStyle/>
          <a:p>
            <a:pPr algn="l">
              <a:lnSpc>
                <a:spcPct val="115000"/>
              </a:lnSpc>
            </a:pPr>
            <a:r>
              <a:rPr sz="1400" b="0" i="1">
                <a:solidFill>
                  <a:srgbClr val="F0CC8B"/>
                </a:solidFill>
                <a:latin typeface="Georgia"/>
              </a:rPr>
              <a:t>?  </a:t>
            </a:r>
            <a:r>
              <a:rPr sz="1350" b="0" i="1">
                <a:solidFill>
                  <a:srgbClr val="F2ECDD"/>
                </a:solidFill>
                <a:latin typeface="Georgia"/>
              </a:rPr>
              <a:t>What was agreed to?</a:t>
            </a:r>
          </a:p>
        </p:txBody>
      </p:sp>
      <p:sp>
        <p:nvSpPr>
          <p:cNvPr id="7" name="TextBox 6"/>
          <p:cNvSpPr txBox="1"/>
          <p:nvPr/>
        </p:nvSpPr>
        <p:spPr>
          <a:xfrm>
            <a:off x="685800" y="3493008"/>
            <a:ext cx="5212080" cy="365760"/>
          </a:xfrm>
          <a:prstGeom prst="rect">
            <a:avLst/>
          </a:prstGeom>
          <a:noFill/>
        </p:spPr>
        <p:txBody>
          <a:bodyPr wrap="square" lIns="0" rIns="0" tIns="0" bIns="0">
            <a:spAutoFit/>
          </a:bodyPr>
          <a:lstStyle/>
          <a:p>
            <a:pPr algn="l">
              <a:lnSpc>
                <a:spcPct val="115000"/>
              </a:lnSpc>
            </a:pPr>
            <a:r>
              <a:rPr sz="1400" b="0" i="1">
                <a:solidFill>
                  <a:srgbClr val="F0CC8B"/>
                </a:solidFill>
                <a:latin typeface="Georgia"/>
              </a:rPr>
              <a:t>?  </a:t>
            </a:r>
            <a:r>
              <a:rPr sz="1350" b="0" i="1">
                <a:solidFill>
                  <a:srgbClr val="F2ECDD"/>
                </a:solidFill>
                <a:latin typeface="Georgia"/>
              </a:rPr>
              <a:t>What resources are needed?</a:t>
            </a:r>
          </a:p>
        </p:txBody>
      </p:sp>
      <p:sp>
        <p:nvSpPr>
          <p:cNvPr id="8" name="TextBox 7"/>
          <p:cNvSpPr txBox="1"/>
          <p:nvPr/>
        </p:nvSpPr>
        <p:spPr>
          <a:xfrm>
            <a:off x="685800" y="4041648"/>
            <a:ext cx="5212080" cy="365760"/>
          </a:xfrm>
          <a:prstGeom prst="rect">
            <a:avLst/>
          </a:prstGeom>
          <a:noFill/>
        </p:spPr>
        <p:txBody>
          <a:bodyPr wrap="square" lIns="0" rIns="0" tIns="0" bIns="0">
            <a:spAutoFit/>
          </a:bodyPr>
          <a:lstStyle/>
          <a:p>
            <a:pPr algn="l">
              <a:lnSpc>
                <a:spcPct val="115000"/>
              </a:lnSpc>
            </a:pPr>
            <a:r>
              <a:rPr sz="1400" b="0" i="1">
                <a:solidFill>
                  <a:srgbClr val="F0CC8B"/>
                </a:solidFill>
                <a:latin typeface="Georgia"/>
              </a:rPr>
              <a:t>?  </a:t>
            </a:r>
            <a:r>
              <a:rPr sz="1350" b="0" i="1">
                <a:solidFill>
                  <a:srgbClr val="F2ECDD"/>
                </a:solidFill>
                <a:latin typeface="Georgia"/>
              </a:rPr>
              <a:t>How does someone participate?</a:t>
            </a:r>
          </a:p>
        </p:txBody>
      </p:sp>
      <p:sp>
        <p:nvSpPr>
          <p:cNvPr id="9" name="TextBox 8"/>
          <p:cNvSpPr txBox="1"/>
          <p:nvPr/>
        </p:nvSpPr>
        <p:spPr>
          <a:xfrm>
            <a:off x="685800" y="4590288"/>
            <a:ext cx="5212080" cy="365760"/>
          </a:xfrm>
          <a:prstGeom prst="rect">
            <a:avLst/>
          </a:prstGeom>
          <a:noFill/>
        </p:spPr>
        <p:txBody>
          <a:bodyPr wrap="square" lIns="0" rIns="0" tIns="0" bIns="0">
            <a:spAutoFit/>
          </a:bodyPr>
          <a:lstStyle/>
          <a:p>
            <a:pPr algn="l">
              <a:lnSpc>
                <a:spcPct val="115000"/>
              </a:lnSpc>
            </a:pPr>
            <a:r>
              <a:rPr sz="1400" b="0" i="1">
                <a:solidFill>
                  <a:srgbClr val="F0CC8B"/>
                </a:solidFill>
                <a:latin typeface="Georgia"/>
              </a:rPr>
              <a:t>?  </a:t>
            </a:r>
            <a:r>
              <a:rPr sz="1350" b="0" i="1">
                <a:solidFill>
                  <a:srgbClr val="F2ECDD"/>
                </a:solidFill>
                <a:latin typeface="Georgia"/>
              </a:rPr>
              <a:t>Who contributed?</a:t>
            </a:r>
          </a:p>
        </p:txBody>
      </p:sp>
      <p:sp>
        <p:nvSpPr>
          <p:cNvPr id="10" name="TextBox 9"/>
          <p:cNvSpPr txBox="1"/>
          <p:nvPr/>
        </p:nvSpPr>
        <p:spPr>
          <a:xfrm>
            <a:off x="685800" y="5138928"/>
            <a:ext cx="5212080" cy="365760"/>
          </a:xfrm>
          <a:prstGeom prst="rect">
            <a:avLst/>
          </a:prstGeom>
          <a:noFill/>
        </p:spPr>
        <p:txBody>
          <a:bodyPr wrap="square" lIns="0" rIns="0" tIns="0" bIns="0">
            <a:spAutoFit/>
          </a:bodyPr>
          <a:lstStyle/>
          <a:p>
            <a:pPr algn="l">
              <a:lnSpc>
                <a:spcPct val="115000"/>
              </a:lnSpc>
            </a:pPr>
            <a:r>
              <a:rPr sz="1400" b="0" i="1">
                <a:solidFill>
                  <a:srgbClr val="F0CC8B"/>
                </a:solidFill>
                <a:latin typeface="Georgia"/>
              </a:rPr>
              <a:t>?  </a:t>
            </a:r>
            <a:r>
              <a:rPr sz="1350" b="0" i="1">
                <a:solidFill>
                  <a:srgbClr val="F2ECDD"/>
                </a:solidFill>
                <a:latin typeface="Georgia"/>
              </a:rPr>
              <a:t>What happened? What is owed?</a:t>
            </a:r>
          </a:p>
        </p:txBody>
      </p:sp>
      <p:sp>
        <p:nvSpPr>
          <p:cNvPr id="11" name="Rounded Rectangle 10"/>
          <p:cNvSpPr/>
          <p:nvPr/>
        </p:nvSpPr>
        <p:spPr>
          <a:xfrm>
            <a:off x="6263640" y="1965960"/>
            <a:ext cx="5394960" cy="3611880"/>
          </a:xfrm>
          <a:prstGeom prst="roundRect">
            <a:avLst>
              <a:gd name="adj" fmla="val 6000"/>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2194560"/>
            <a:ext cx="4892040" cy="3200400"/>
          </a:xfrm>
          <a:prstGeom prst="rect">
            <a:avLst/>
          </a:prstGeom>
          <a:noFill/>
        </p:spPr>
        <p:txBody>
          <a:bodyPr wrap="square" lIns="0" rIns="0" tIns="0" bIns="0">
            <a:spAutoFit/>
          </a:bodyPr>
          <a:lstStyle/>
          <a:p>
            <a:pPr algn="l">
              <a:lnSpc>
                <a:spcPct val="145000"/>
              </a:lnSpc>
            </a:pPr>
            <a:r>
              <a:rPr sz="1000" b="1" i="0">
                <a:solidFill>
                  <a:srgbClr val="9FE8DC"/>
                </a:solidFill>
                <a:latin typeface="Inter"/>
              </a:rPr>
              <a:t>R E A L   C O O R D I N A T I O N   M E A N S</a:t>
            </a:r>
          </a:p>
          <a:p>
            <a:pPr algn="l">
              <a:lnSpc>
                <a:spcPct val="145000"/>
              </a:lnSpc>
            </a:pPr>
            <a:r>
              <a:rPr sz="400" b="0" i="0">
                <a:solidFill>
                  <a:srgbClr val="AFC4C2"/>
                </a:solidFill>
                <a:latin typeface="Inter"/>
              </a:rPr>
              <a:t/>
            </a:r>
          </a:p>
          <a:p>
            <a:pPr algn="l">
              <a:lnSpc>
                <a:spcPct val="145000"/>
              </a:lnSpc>
            </a:pPr>
            <a:r>
              <a:rPr sz="1250" b="0" i="0">
                <a:solidFill>
                  <a:srgbClr val="F2ECDD"/>
                </a:solidFill>
                <a:latin typeface="Inter"/>
              </a:rPr>
              <a:t>·  making agreements</a:t>
            </a:r>
          </a:p>
          <a:p>
            <a:pPr algn="l">
              <a:lnSpc>
                <a:spcPct val="145000"/>
              </a:lnSpc>
            </a:pPr>
            <a:r>
              <a:rPr sz="1250" b="0" i="0">
                <a:solidFill>
                  <a:srgbClr val="F2ECDD"/>
                </a:solidFill>
                <a:latin typeface="Inter"/>
              </a:rPr>
              <a:t>·  deciding roles and scheduling</a:t>
            </a:r>
          </a:p>
          <a:p>
            <a:pPr algn="l">
              <a:lnSpc>
                <a:spcPct val="145000"/>
              </a:lnSpc>
            </a:pPr>
            <a:r>
              <a:rPr sz="1250" b="0" i="0">
                <a:solidFill>
                  <a:srgbClr val="F2ECDD"/>
                </a:solidFill>
                <a:latin typeface="Inter"/>
              </a:rPr>
              <a:t>·  sharing resources</a:t>
            </a:r>
          </a:p>
          <a:p>
            <a:pPr algn="l">
              <a:lnSpc>
                <a:spcPct val="145000"/>
              </a:lnSpc>
            </a:pPr>
            <a:r>
              <a:rPr sz="1250" b="0" i="0">
                <a:solidFill>
                  <a:srgbClr val="F2ECDD"/>
                </a:solidFill>
                <a:latin typeface="Inter"/>
              </a:rPr>
              <a:t>·  tracking what happened</a:t>
            </a:r>
          </a:p>
          <a:p>
            <a:pPr algn="l">
              <a:lnSpc>
                <a:spcPct val="145000"/>
              </a:lnSpc>
            </a:pPr>
            <a:r>
              <a:rPr sz="1250" b="0" i="0">
                <a:solidFill>
                  <a:srgbClr val="F2ECDD"/>
                </a:solidFill>
                <a:latin typeface="Inter"/>
              </a:rPr>
              <a:t>·  approving work</a:t>
            </a:r>
          </a:p>
          <a:p>
            <a:pPr algn="l">
              <a:lnSpc>
                <a:spcPct val="145000"/>
              </a:lnSpc>
            </a:pPr>
            <a:r>
              <a:rPr sz="1250" b="0" i="0">
                <a:solidFill>
                  <a:srgbClr val="F2ECDD"/>
                </a:solidFill>
                <a:latin typeface="Inter"/>
              </a:rPr>
              <a:t>·  exchanging value</a:t>
            </a:r>
          </a:p>
          <a:p>
            <a:pPr algn="l">
              <a:lnSpc>
                <a:spcPct val="145000"/>
              </a:lnSpc>
            </a:pPr>
            <a:r>
              <a:rPr sz="500" b="0" i="0">
                <a:solidFill>
                  <a:srgbClr val="AFC4C2"/>
                </a:solidFill>
                <a:latin typeface="Inter"/>
              </a:rPr>
              <a:t/>
            </a:r>
          </a:p>
          <a:p>
            <a:pPr algn="l">
              <a:lnSpc>
                <a:spcPct val="145000"/>
              </a:lnSpc>
            </a:pPr>
            <a:r>
              <a:rPr sz="1200" b="1" i="0">
                <a:solidFill>
                  <a:srgbClr val="EBCF9E"/>
                </a:solidFill>
                <a:latin typeface="Inter"/>
              </a:rPr>
              <a:t>Right now, people assemble that process</a:t>
            </a:r>
          </a:p>
          <a:p>
            <a:pPr algn="l">
              <a:lnSpc>
                <a:spcPct val="145000"/>
              </a:lnSpc>
            </a:pPr>
            <a:r>
              <a:rPr sz="1200" b="1" i="0">
                <a:solidFill>
                  <a:srgbClr val="EBCF9E"/>
                </a:solidFill>
                <a:latin typeface="Inter"/>
              </a:rPr>
              <a:t>themselves — every single time.</a:t>
            </a:r>
          </a:p>
        </p:txBody>
      </p:sp>
      <p:sp>
        <p:nvSpPr>
          <p:cNvPr id="13" name="TextBox 12"/>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300" b="0" i="0">
                <a:solidFill>
                  <a:srgbClr val="F2ECDD"/>
                </a:solidFill>
                <a:latin typeface="Inter"/>
              </a:rPr>
              <a:t>Coordination overhead prevents useful activity from happening. </a:t>
            </a:r>
            <a:r>
              <a:rPr sz="1400" b="0" i="1">
                <a:solidFill>
                  <a:srgbClr val="9FE8DC"/>
                </a:solidFill>
                <a:latin typeface="Georgia"/>
              </a:rPr>
              <a:t>Rivr lowers the friction between wanting to do something together and doing it.</a:t>
            </a:r>
          </a:p>
        </p:txBody>
      </p:sp>
      <p:pic>
        <p:nvPicPr>
          <p:cNvPr id="14" name="Picture 13"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5" name="TextBox 14"/>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6" name="TextBox 15"/>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T H E   P R O B L E M   ·   D I G I T A L   F R A G M E N T A T I O N</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000" b="1" i="0">
                <a:solidFill>
                  <a:srgbClr val="F4EAD8"/>
                </a:solidFill>
                <a:latin typeface="Inter"/>
              </a:rPr>
              <a:t>Our digital lives are split across </a:t>
            </a:r>
            <a:r>
              <a:rPr sz="3300" b="0" i="1">
                <a:solidFill>
                  <a:srgbClr val="D3B7A5"/>
                </a:solidFill>
                <a:latin typeface="Georgia"/>
              </a:rPr>
              <a:t>too many places.</a:t>
            </a:r>
          </a:p>
        </p:txBody>
      </p:sp>
      <p:sp>
        <p:nvSpPr>
          <p:cNvPr id="4" name="Rounded Rectangle 3"/>
          <p:cNvSpPr/>
          <p:nvPr/>
        </p:nvSpPr>
        <p:spPr>
          <a:xfrm>
            <a:off x="548640" y="2103120"/>
            <a:ext cx="1298448" cy="77724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212848"/>
            <a:ext cx="1298448" cy="548640"/>
          </a:xfrm>
          <a:prstGeom prst="rect">
            <a:avLst/>
          </a:prstGeom>
          <a:noFill/>
        </p:spPr>
        <p:txBody>
          <a:bodyPr wrap="square" lIns="0" rIns="0" tIns="0" bIns="0">
            <a:spAutoFit/>
          </a:bodyPr>
          <a:lstStyle/>
          <a:p>
            <a:pPr algn="ctr">
              <a:lnSpc>
                <a:spcPct val="130000"/>
              </a:lnSpc>
            </a:pPr>
            <a:r>
              <a:rPr sz="850" b="0" i="0">
                <a:solidFill>
                  <a:srgbClr val="AFC4C2"/>
                </a:solidFill>
                <a:latin typeface="Inter"/>
              </a:rPr>
              <a:t>one tool</a:t>
            </a:r>
          </a:p>
          <a:p>
            <a:pPr algn="ctr">
              <a:lnSpc>
                <a:spcPct val="130000"/>
              </a:lnSpc>
            </a:pPr>
            <a:r>
              <a:rPr sz="1100" b="0" i="0">
                <a:solidFill>
                  <a:srgbClr val="F4EAD8"/>
                </a:solidFill>
                <a:latin typeface="Inter"/>
              </a:rPr>
              <a:t>events</a:t>
            </a:r>
          </a:p>
        </p:txBody>
      </p:sp>
      <p:sp>
        <p:nvSpPr>
          <p:cNvPr id="6" name="Rounded Rectangle 5"/>
          <p:cNvSpPr/>
          <p:nvPr/>
        </p:nvSpPr>
        <p:spPr>
          <a:xfrm>
            <a:off x="1965960" y="2103120"/>
            <a:ext cx="1298448" cy="77724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65960" y="2212848"/>
            <a:ext cx="1298448" cy="548640"/>
          </a:xfrm>
          <a:prstGeom prst="rect">
            <a:avLst/>
          </a:prstGeom>
          <a:noFill/>
        </p:spPr>
        <p:txBody>
          <a:bodyPr wrap="square" lIns="0" rIns="0" tIns="0" bIns="0">
            <a:spAutoFit/>
          </a:bodyPr>
          <a:lstStyle/>
          <a:p>
            <a:pPr algn="ctr">
              <a:lnSpc>
                <a:spcPct val="130000"/>
              </a:lnSpc>
            </a:pPr>
            <a:r>
              <a:rPr sz="850" b="0" i="0">
                <a:solidFill>
                  <a:srgbClr val="AFC4C2"/>
                </a:solidFill>
                <a:latin typeface="Inter"/>
              </a:rPr>
              <a:t>one tool</a:t>
            </a:r>
          </a:p>
          <a:p>
            <a:pPr algn="ctr">
              <a:lnSpc>
                <a:spcPct val="130000"/>
              </a:lnSpc>
            </a:pPr>
            <a:r>
              <a:rPr sz="1100" b="0" i="0">
                <a:solidFill>
                  <a:srgbClr val="F4EAD8"/>
                </a:solidFill>
                <a:latin typeface="Inter"/>
              </a:rPr>
              <a:t>payments</a:t>
            </a:r>
          </a:p>
        </p:txBody>
      </p:sp>
      <p:sp>
        <p:nvSpPr>
          <p:cNvPr id="8" name="Rounded Rectangle 7"/>
          <p:cNvSpPr/>
          <p:nvPr/>
        </p:nvSpPr>
        <p:spPr>
          <a:xfrm>
            <a:off x="3383280" y="2103120"/>
            <a:ext cx="1298448" cy="77724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0" y="2212848"/>
            <a:ext cx="1298448" cy="548640"/>
          </a:xfrm>
          <a:prstGeom prst="rect">
            <a:avLst/>
          </a:prstGeom>
          <a:noFill/>
        </p:spPr>
        <p:txBody>
          <a:bodyPr wrap="square" lIns="0" rIns="0" tIns="0" bIns="0">
            <a:spAutoFit/>
          </a:bodyPr>
          <a:lstStyle/>
          <a:p>
            <a:pPr algn="ctr">
              <a:lnSpc>
                <a:spcPct val="130000"/>
              </a:lnSpc>
            </a:pPr>
            <a:r>
              <a:rPr sz="850" b="0" i="0">
                <a:solidFill>
                  <a:srgbClr val="AFC4C2"/>
                </a:solidFill>
                <a:latin typeface="Inter"/>
              </a:rPr>
              <a:t>one tool</a:t>
            </a:r>
          </a:p>
          <a:p>
            <a:pPr algn="ctr">
              <a:lnSpc>
                <a:spcPct val="130000"/>
              </a:lnSpc>
            </a:pPr>
            <a:r>
              <a:rPr sz="1100" b="0" i="0">
                <a:solidFill>
                  <a:srgbClr val="F4EAD8"/>
                </a:solidFill>
                <a:latin typeface="Inter"/>
              </a:rPr>
              <a:t>projects</a:t>
            </a:r>
          </a:p>
        </p:txBody>
      </p:sp>
      <p:sp>
        <p:nvSpPr>
          <p:cNvPr id="10" name="Rounded Rectangle 9"/>
          <p:cNvSpPr/>
          <p:nvPr/>
        </p:nvSpPr>
        <p:spPr>
          <a:xfrm>
            <a:off x="4800600" y="2103120"/>
            <a:ext cx="1298448" cy="77724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00600" y="2212848"/>
            <a:ext cx="1298448" cy="548640"/>
          </a:xfrm>
          <a:prstGeom prst="rect">
            <a:avLst/>
          </a:prstGeom>
          <a:noFill/>
        </p:spPr>
        <p:txBody>
          <a:bodyPr wrap="square" lIns="0" rIns="0" tIns="0" bIns="0">
            <a:spAutoFit/>
          </a:bodyPr>
          <a:lstStyle/>
          <a:p>
            <a:pPr algn="ctr">
              <a:lnSpc>
                <a:spcPct val="130000"/>
              </a:lnSpc>
            </a:pPr>
            <a:r>
              <a:rPr sz="850" b="0" i="0">
                <a:solidFill>
                  <a:srgbClr val="AFC4C2"/>
                </a:solidFill>
                <a:latin typeface="Inter"/>
              </a:rPr>
              <a:t>one tool</a:t>
            </a:r>
          </a:p>
          <a:p>
            <a:pPr algn="ctr">
              <a:lnSpc>
                <a:spcPct val="130000"/>
              </a:lnSpc>
            </a:pPr>
            <a:r>
              <a:rPr sz="1100" b="0" i="0">
                <a:solidFill>
                  <a:srgbClr val="F4EAD8"/>
                </a:solidFill>
                <a:latin typeface="Inter"/>
              </a:rPr>
              <a:t>messages</a:t>
            </a:r>
          </a:p>
        </p:txBody>
      </p:sp>
      <p:sp>
        <p:nvSpPr>
          <p:cNvPr id="12" name="Rounded Rectangle 11"/>
          <p:cNvSpPr/>
          <p:nvPr/>
        </p:nvSpPr>
        <p:spPr>
          <a:xfrm>
            <a:off x="6217920" y="2103120"/>
            <a:ext cx="1298448" cy="77724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2212848"/>
            <a:ext cx="1298448" cy="548640"/>
          </a:xfrm>
          <a:prstGeom prst="rect">
            <a:avLst/>
          </a:prstGeom>
          <a:noFill/>
        </p:spPr>
        <p:txBody>
          <a:bodyPr wrap="square" lIns="0" rIns="0" tIns="0" bIns="0">
            <a:spAutoFit/>
          </a:bodyPr>
          <a:lstStyle/>
          <a:p>
            <a:pPr algn="ctr">
              <a:lnSpc>
                <a:spcPct val="130000"/>
              </a:lnSpc>
            </a:pPr>
            <a:r>
              <a:rPr sz="850" b="0" i="0">
                <a:solidFill>
                  <a:srgbClr val="AFC4C2"/>
                </a:solidFill>
                <a:latin typeface="Inter"/>
              </a:rPr>
              <a:t>one tool</a:t>
            </a:r>
          </a:p>
          <a:p>
            <a:pPr algn="ctr">
              <a:lnSpc>
                <a:spcPct val="130000"/>
              </a:lnSpc>
            </a:pPr>
            <a:r>
              <a:rPr sz="1100" b="0" i="0">
                <a:solidFill>
                  <a:srgbClr val="F4EAD8"/>
                </a:solidFill>
                <a:latin typeface="Inter"/>
              </a:rPr>
              <a:t>markets</a:t>
            </a:r>
          </a:p>
        </p:txBody>
      </p:sp>
      <p:sp>
        <p:nvSpPr>
          <p:cNvPr id="14" name="Rounded Rectangle 13"/>
          <p:cNvSpPr/>
          <p:nvPr/>
        </p:nvSpPr>
        <p:spPr>
          <a:xfrm>
            <a:off x="7635240" y="2103120"/>
            <a:ext cx="1298448" cy="77724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2212848"/>
            <a:ext cx="1298448" cy="548640"/>
          </a:xfrm>
          <a:prstGeom prst="rect">
            <a:avLst/>
          </a:prstGeom>
          <a:noFill/>
        </p:spPr>
        <p:txBody>
          <a:bodyPr wrap="square" lIns="0" rIns="0" tIns="0" bIns="0">
            <a:spAutoFit/>
          </a:bodyPr>
          <a:lstStyle/>
          <a:p>
            <a:pPr algn="ctr">
              <a:lnSpc>
                <a:spcPct val="130000"/>
              </a:lnSpc>
            </a:pPr>
            <a:r>
              <a:rPr sz="850" b="0" i="0">
                <a:solidFill>
                  <a:srgbClr val="AFC4C2"/>
                </a:solidFill>
                <a:latin typeface="Inter"/>
              </a:rPr>
              <a:t>one tool</a:t>
            </a:r>
          </a:p>
          <a:p>
            <a:pPr algn="ctr">
              <a:lnSpc>
                <a:spcPct val="130000"/>
              </a:lnSpc>
            </a:pPr>
            <a:r>
              <a:rPr sz="1100" b="0" i="0">
                <a:solidFill>
                  <a:srgbClr val="F4EAD8"/>
                </a:solidFill>
                <a:latin typeface="Inter"/>
              </a:rPr>
              <a:t>documents</a:t>
            </a:r>
          </a:p>
        </p:txBody>
      </p:sp>
      <p:sp>
        <p:nvSpPr>
          <p:cNvPr id="16" name="Rounded Rectangle 15"/>
          <p:cNvSpPr/>
          <p:nvPr/>
        </p:nvSpPr>
        <p:spPr>
          <a:xfrm>
            <a:off x="9052560" y="2103120"/>
            <a:ext cx="1298448" cy="77724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52560" y="2212848"/>
            <a:ext cx="1298448" cy="548640"/>
          </a:xfrm>
          <a:prstGeom prst="rect">
            <a:avLst/>
          </a:prstGeom>
          <a:noFill/>
        </p:spPr>
        <p:txBody>
          <a:bodyPr wrap="square" lIns="0" rIns="0" tIns="0" bIns="0">
            <a:spAutoFit/>
          </a:bodyPr>
          <a:lstStyle/>
          <a:p>
            <a:pPr algn="ctr">
              <a:lnSpc>
                <a:spcPct val="130000"/>
              </a:lnSpc>
            </a:pPr>
            <a:r>
              <a:rPr sz="850" b="0" i="0">
                <a:solidFill>
                  <a:srgbClr val="AFC4C2"/>
                </a:solidFill>
                <a:latin typeface="Inter"/>
              </a:rPr>
              <a:t>one tool</a:t>
            </a:r>
          </a:p>
          <a:p>
            <a:pPr algn="ctr">
              <a:lnSpc>
                <a:spcPct val="130000"/>
              </a:lnSpc>
            </a:pPr>
            <a:r>
              <a:rPr sz="1100" b="0" i="0">
                <a:solidFill>
                  <a:srgbClr val="F4EAD8"/>
                </a:solidFill>
                <a:latin typeface="Inter"/>
              </a:rPr>
              <a:t>scheduling</a:t>
            </a:r>
          </a:p>
        </p:txBody>
      </p:sp>
      <p:sp>
        <p:nvSpPr>
          <p:cNvPr id="18" name="Rounded Rectangle 17"/>
          <p:cNvSpPr/>
          <p:nvPr/>
        </p:nvSpPr>
        <p:spPr>
          <a:xfrm>
            <a:off x="10469880" y="2103120"/>
            <a:ext cx="1298448" cy="77724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69880" y="2212848"/>
            <a:ext cx="1298448" cy="548640"/>
          </a:xfrm>
          <a:prstGeom prst="rect">
            <a:avLst/>
          </a:prstGeom>
          <a:noFill/>
        </p:spPr>
        <p:txBody>
          <a:bodyPr wrap="square" lIns="0" rIns="0" tIns="0" bIns="0">
            <a:spAutoFit/>
          </a:bodyPr>
          <a:lstStyle/>
          <a:p>
            <a:pPr algn="ctr">
              <a:lnSpc>
                <a:spcPct val="130000"/>
              </a:lnSpc>
            </a:pPr>
            <a:r>
              <a:rPr sz="850" b="0" i="0">
                <a:solidFill>
                  <a:srgbClr val="AFC4C2"/>
                </a:solidFill>
                <a:latin typeface="Inter"/>
              </a:rPr>
              <a:t>one tool</a:t>
            </a:r>
          </a:p>
          <a:p>
            <a:pPr algn="ctr">
              <a:lnSpc>
                <a:spcPct val="130000"/>
              </a:lnSpc>
            </a:pPr>
            <a:r>
              <a:rPr sz="1100" b="0" i="0">
                <a:solidFill>
                  <a:srgbClr val="F4EAD8"/>
                </a:solidFill>
                <a:latin typeface="Inter"/>
              </a:rPr>
              <a:t>governance</a:t>
            </a:r>
          </a:p>
        </p:txBody>
      </p:sp>
      <p:sp>
        <p:nvSpPr>
          <p:cNvPr id="20" name="TextBox 19"/>
          <p:cNvSpPr txBox="1"/>
          <p:nvPr/>
        </p:nvSpPr>
        <p:spPr>
          <a:xfrm>
            <a:off x="548640" y="3200400"/>
            <a:ext cx="11064240" cy="365760"/>
          </a:xfrm>
          <a:prstGeom prst="rect">
            <a:avLst/>
          </a:prstGeom>
          <a:noFill/>
        </p:spPr>
        <p:txBody>
          <a:bodyPr wrap="square" lIns="0" rIns="0" tIns="0" bIns="0">
            <a:spAutoFit/>
          </a:bodyPr>
          <a:lstStyle/>
          <a:p>
            <a:pPr algn="ctr">
              <a:lnSpc>
                <a:spcPct val="115000"/>
              </a:lnSpc>
            </a:pPr>
            <a:r>
              <a:rPr sz="1500" b="0" i="1">
                <a:solidFill>
                  <a:srgbClr val="F2ECDD"/>
                </a:solidFill>
                <a:latin typeface="Georgia"/>
              </a:rPr>
              <a:t>We spend too much time coordinating the tools meant to help us coordinate.</a:t>
            </a:r>
          </a:p>
        </p:txBody>
      </p:sp>
      <p:sp>
        <p:nvSpPr>
          <p:cNvPr id="21" name="Rounded Rectangle 20"/>
          <p:cNvSpPr/>
          <p:nvPr/>
        </p:nvSpPr>
        <p:spPr>
          <a:xfrm>
            <a:off x="548640" y="3977639"/>
            <a:ext cx="11109960" cy="1417320"/>
          </a:xfrm>
          <a:prstGeom prst="roundRect">
            <a:avLst>
              <a:gd name="adj" fmla="val 6000"/>
            </a:avLst>
          </a:prstGeom>
          <a:solidFill>
            <a:srgbClr val="0D3E40"/>
          </a:solidFill>
          <a:ln w="1397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160520"/>
            <a:ext cx="10607040" cy="1097280"/>
          </a:xfrm>
          <a:prstGeom prst="rect">
            <a:avLst/>
          </a:prstGeom>
          <a:noFill/>
        </p:spPr>
        <p:txBody>
          <a:bodyPr wrap="square" lIns="0" rIns="0" tIns="0" bIns="0">
            <a:spAutoFit/>
          </a:bodyPr>
          <a:lstStyle/>
          <a:p>
            <a:pPr algn="l">
              <a:lnSpc>
                <a:spcPct val="150000"/>
              </a:lnSpc>
            </a:pPr>
            <a:r>
              <a:rPr sz="1300" b="0" i="0">
                <a:solidFill>
                  <a:srgbClr val="F2ECDD"/>
                </a:solidFill>
                <a:latin typeface="Inter"/>
              </a:rPr>
              <a:t>Social media evolved toward coordination — </a:t>
            </a:r>
            <a:r>
              <a:rPr sz="1300" b="1" i="0">
                <a:solidFill>
                  <a:srgbClr val="EBCF9E"/>
                </a:solidFill>
                <a:latin typeface="Inter"/>
              </a:rPr>
              <a:t>under extractive incentives.</a:t>
            </a:r>
          </a:p>
          <a:p>
            <a:pPr algn="l">
              <a:lnSpc>
                <a:spcPct val="150000"/>
              </a:lnSpc>
            </a:pPr>
            <a:r>
              <a:rPr sz="1300" b="0" i="0">
                <a:solidFill>
                  <a:srgbClr val="F2ECDD"/>
                </a:solidFill>
                <a:latin typeface="Inter"/>
              </a:rPr>
              <a:t>The problem was not that social networks expanded into groups, events, marketplaces, and business tools.</a:t>
            </a:r>
          </a:p>
          <a:p>
            <a:pPr algn="l">
              <a:lnSpc>
                <a:spcPct val="150000"/>
              </a:lnSpc>
            </a:pPr>
            <a:r>
              <a:rPr sz="1300" b="0" i="0">
                <a:solidFill>
                  <a:srgbClr val="F2ECDD"/>
                </a:solidFill>
                <a:latin typeface="Inter"/>
              </a:rPr>
              <a:t>The problem was the incentive structure underneath them.</a:t>
            </a:r>
          </a:p>
        </p:txBody>
      </p:sp>
      <p:sp>
        <p:nvSpPr>
          <p:cNvPr id="23" name="TextBox 22"/>
          <p:cNvSpPr txBox="1"/>
          <p:nvPr/>
        </p:nvSpPr>
        <p:spPr>
          <a:xfrm>
            <a:off x="548640" y="5669280"/>
            <a:ext cx="11064240" cy="731520"/>
          </a:xfrm>
          <a:prstGeom prst="rect">
            <a:avLst/>
          </a:prstGeom>
          <a:noFill/>
        </p:spPr>
        <p:txBody>
          <a:bodyPr wrap="square" lIns="0" rIns="0" tIns="0" bIns="0">
            <a:spAutoFit/>
          </a:bodyPr>
          <a:lstStyle/>
          <a:p>
            <a:pPr algn="ctr">
              <a:lnSpc>
                <a:spcPct val="140000"/>
              </a:lnSpc>
            </a:pPr>
            <a:r>
              <a:rPr sz="1400" b="0" i="1">
                <a:solidFill>
                  <a:srgbClr val="9FE8DC"/>
                </a:solidFill>
                <a:latin typeface="Georgia"/>
              </a:rPr>
              <a:t>A platform designed to keep you scrolling behaves differently from one designed</a:t>
            </a:r>
          </a:p>
          <a:p>
            <a:pPr algn="ctr">
              <a:lnSpc>
                <a:spcPct val="140000"/>
              </a:lnSpc>
            </a:pPr>
            <a:r>
              <a:rPr sz="1400" b="0" i="1">
                <a:solidFill>
                  <a:srgbClr val="9FE8DC"/>
                </a:solidFill>
                <a:latin typeface="Georgia"/>
              </a:rPr>
              <a:t>to help you find what you need and get on with your life.</a:t>
            </a:r>
          </a:p>
        </p:txBody>
      </p:sp>
      <p:pic>
        <p:nvPicPr>
          <p:cNvPr id="24" name="Picture 23"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25" name="TextBox 24"/>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26" name="TextBox 25"/>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community-landscape_d36.jpg"/>
          <p:cNvPicPr>
            <a:picLocks noChangeAspect="1"/>
          </p:cNvPicPr>
          <p:nvPr/>
        </p:nvPicPr>
        <p:blipFill>
          <a:blip r:embed="rId2"/>
          <a:stretch>
            <a:fillRect/>
          </a:stretch>
        </p:blipFill>
        <p:spPr>
          <a:xfrm>
            <a:off x="950289" y="0"/>
            <a:ext cx="10291116" cy="6858000"/>
          </a:xfrm>
          <a:prstGeom prst="rect">
            <a:avLst/>
          </a:prstGeom>
        </p:spPr>
      </p:pic>
      <p:sp>
        <p:nvSpPr>
          <p:cNvPr id="3" name="TextBox 2"/>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T H E   P O S S I B I L I T Y</a:t>
            </a:r>
          </a:p>
        </p:txBody>
      </p:sp>
      <p:sp>
        <p:nvSpPr>
          <p:cNvPr id="4" name="TextBox 3"/>
          <p:cNvSpPr txBox="1"/>
          <p:nvPr/>
        </p:nvSpPr>
        <p:spPr>
          <a:xfrm>
            <a:off x="822960" y="2103120"/>
            <a:ext cx="10515600" cy="2011680"/>
          </a:xfrm>
          <a:prstGeom prst="rect">
            <a:avLst/>
          </a:prstGeom>
          <a:noFill/>
        </p:spPr>
        <p:txBody>
          <a:bodyPr wrap="square" lIns="0" rIns="0" tIns="0" bIns="0">
            <a:spAutoFit/>
          </a:bodyPr>
          <a:lstStyle/>
          <a:p>
            <a:pPr algn="ctr">
              <a:lnSpc>
                <a:spcPct val="145000"/>
              </a:lnSpc>
            </a:pPr>
            <a:r>
              <a:rPr sz="3000" b="0" i="1">
                <a:solidFill>
                  <a:srgbClr val="F4EAD8"/>
                </a:solidFill>
                <a:latin typeface="Georgia"/>
              </a:rPr>
              <a:t>What happens when a community</a:t>
            </a:r>
          </a:p>
          <a:p>
            <a:pPr algn="ctr">
              <a:lnSpc>
                <a:spcPct val="145000"/>
              </a:lnSpc>
            </a:pPr>
            <a:r>
              <a:rPr sz="3000" b="0" i="1">
                <a:solidFill>
                  <a:srgbClr val="F4EAD8"/>
                </a:solidFill>
                <a:latin typeface="Georgia"/>
              </a:rPr>
              <a:t>can actually </a:t>
            </a:r>
            <a:r>
              <a:rPr sz="3000" b="0" i="1">
                <a:solidFill>
                  <a:srgbClr val="EBCF9E"/>
                </a:solidFill>
                <a:latin typeface="Georgia"/>
              </a:rPr>
              <a:t>see itself?</a:t>
            </a:r>
          </a:p>
        </p:txBody>
      </p:sp>
      <p:sp>
        <p:nvSpPr>
          <p:cNvPr id="5" name="TextBox 4"/>
          <p:cNvSpPr txBox="1"/>
          <p:nvPr/>
        </p:nvSpPr>
        <p:spPr>
          <a:xfrm>
            <a:off x="822960" y="5120640"/>
            <a:ext cx="10515600" cy="914400"/>
          </a:xfrm>
          <a:prstGeom prst="rect">
            <a:avLst/>
          </a:prstGeom>
          <a:noFill/>
        </p:spPr>
        <p:txBody>
          <a:bodyPr wrap="square" lIns="0" rIns="0" tIns="0" bIns="0">
            <a:spAutoFit/>
          </a:bodyPr>
          <a:lstStyle/>
          <a:p>
            <a:pPr algn="ctr">
              <a:lnSpc>
                <a:spcPct val="155000"/>
              </a:lnSpc>
            </a:pPr>
            <a:r>
              <a:rPr sz="1400" b="0" i="0">
                <a:solidFill>
                  <a:srgbClr val="F2ECDD"/>
                </a:solidFill>
                <a:latin typeface="Inter"/>
              </a:rPr>
              <a:t>Needs find resources.  Skills find opportunities.  People find each other.  Ideas find collaborators.</a:t>
            </a:r>
          </a:p>
          <a:p>
            <a:pPr algn="ctr">
              <a:lnSpc>
                <a:spcPct val="155000"/>
              </a:lnSpc>
            </a:pPr>
            <a:r>
              <a:rPr sz="1400" b="0" i="0">
                <a:solidFill>
                  <a:srgbClr val="F2ECDD"/>
                </a:solidFill>
                <a:latin typeface="Inter"/>
              </a:rPr>
              <a:t>Local businesses find local customers.  Projects find the people who can make them happen.</a:t>
            </a:r>
          </a:p>
          <a:p>
            <a:pPr algn="ctr">
              <a:lnSpc>
                <a:spcPct val="155000"/>
              </a:lnSpc>
            </a:pPr>
            <a:r>
              <a:rPr sz="1500" b="0" i="1">
                <a:solidFill>
                  <a:srgbClr val="9FE8DC"/>
                </a:solidFill>
                <a:latin typeface="Georgia"/>
              </a:rPr>
              <a:t>The resources don't always need to be created — sometimes they simply need to be connected.</a:t>
            </a:r>
          </a:p>
        </p:txBody>
      </p:sp>
      <p:pic>
        <p:nvPicPr>
          <p:cNvPr id="6" name="Picture 5"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7" name="TextBox 6"/>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8" name="TextBox 7"/>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P L A C E   M A T T E R S</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2900" b="1" i="0">
                <a:solidFill>
                  <a:srgbClr val="F4EAD8"/>
                </a:solidFill>
                <a:latin typeface="Inter"/>
              </a:rPr>
              <a:t>We can search the whole planet — </a:t>
            </a:r>
          </a:p>
          <a:p>
            <a:pPr algn="l">
              <a:lnSpc>
                <a:spcPct val="120000"/>
              </a:lnSpc>
            </a:pPr>
            <a:r>
              <a:rPr sz="2900" b="1" i="0">
                <a:solidFill>
                  <a:srgbClr val="F4EAD8"/>
                </a:solidFill>
                <a:latin typeface="Inter"/>
              </a:rPr>
              <a:t>and miss the thing </a:t>
            </a:r>
            <a:r>
              <a:rPr sz="3200" b="0" i="1">
                <a:solidFill>
                  <a:srgbClr val="EBCF9E"/>
                </a:solidFill>
                <a:latin typeface="Georgia"/>
              </a:rPr>
              <a:t>down the street.</a:t>
            </a:r>
          </a:p>
        </p:txBody>
      </p:sp>
      <p:sp>
        <p:nvSpPr>
          <p:cNvPr id="4" name="TextBox 3"/>
          <p:cNvSpPr txBox="1"/>
          <p:nvPr/>
        </p:nvSpPr>
        <p:spPr>
          <a:xfrm>
            <a:off x="548640" y="2697480"/>
            <a:ext cx="5852160" cy="2926080"/>
          </a:xfrm>
          <a:prstGeom prst="rect">
            <a:avLst/>
          </a:prstGeom>
          <a:noFill/>
        </p:spPr>
        <p:txBody>
          <a:bodyPr wrap="square" lIns="0" rIns="0" tIns="0" bIns="0">
            <a:spAutoFit/>
          </a:bodyPr>
          <a:lstStyle/>
          <a:p>
            <a:pPr algn="l">
              <a:lnSpc>
                <a:spcPct val="145000"/>
              </a:lnSpc>
            </a:pPr>
            <a:r>
              <a:rPr sz="1400" b="0" i="0">
                <a:solidFill>
                  <a:srgbClr val="F2ECDD"/>
                </a:solidFill>
                <a:latin typeface="Inter"/>
              </a:rPr>
              <a:t>Someone buys from across the country what a</a:t>
            </a:r>
          </a:p>
          <a:p>
            <a:pPr algn="l">
              <a:lnSpc>
                <a:spcPct val="145000"/>
              </a:lnSpc>
            </a:pPr>
            <a:r>
              <a:rPr sz="1400" b="0" i="0">
                <a:solidFill>
                  <a:srgbClr val="F2ECDD"/>
                </a:solidFill>
                <a:latin typeface="Inter"/>
              </a:rPr>
              <a:t>neighbor already has.</a:t>
            </a:r>
          </a:p>
          <a:p>
            <a:pPr algn="l">
              <a:lnSpc>
                <a:spcPct val="145000"/>
              </a:lnSpc>
            </a:pPr>
            <a:r>
              <a:rPr sz="800" b="0" i="0">
                <a:solidFill>
                  <a:srgbClr val="AFC4C2"/>
                </a:solidFill>
                <a:latin typeface="Inter"/>
              </a:rPr>
              <a:t/>
            </a:r>
          </a:p>
          <a:p>
            <a:pPr algn="l">
              <a:lnSpc>
                <a:spcPct val="145000"/>
              </a:lnSpc>
            </a:pPr>
            <a:r>
              <a:rPr sz="1400" b="0" i="0">
                <a:solidFill>
                  <a:srgbClr val="F2ECDD"/>
                </a:solidFill>
                <a:latin typeface="Inter"/>
              </a:rPr>
              <a:t>A business struggles to find customers while nearby</a:t>
            </a:r>
          </a:p>
          <a:p>
            <a:pPr algn="l">
              <a:lnSpc>
                <a:spcPct val="145000"/>
              </a:lnSpc>
            </a:pPr>
            <a:r>
              <a:rPr sz="1400" b="0" i="0">
                <a:solidFill>
                  <a:srgbClr val="F2ECDD"/>
                </a:solidFill>
                <a:latin typeface="Inter"/>
              </a:rPr>
              <a:t>residents search elsewhere for exactly what it offers.</a:t>
            </a:r>
          </a:p>
          <a:p>
            <a:pPr algn="l">
              <a:lnSpc>
                <a:spcPct val="145000"/>
              </a:lnSpc>
            </a:pPr>
            <a:r>
              <a:rPr sz="800" b="0" i="0">
                <a:solidFill>
                  <a:srgbClr val="AFC4C2"/>
                </a:solidFill>
                <a:latin typeface="Inter"/>
              </a:rPr>
              <a:t/>
            </a:r>
          </a:p>
          <a:p>
            <a:pPr algn="l">
              <a:lnSpc>
                <a:spcPct val="145000"/>
              </a:lnSpc>
            </a:pPr>
            <a:r>
              <a:rPr sz="1400" b="0" i="0">
                <a:solidFill>
                  <a:srgbClr val="F2ECDD"/>
                </a:solidFill>
                <a:latin typeface="Inter"/>
              </a:rPr>
              <a:t>Organizations duplicate work because they</a:t>
            </a:r>
          </a:p>
          <a:p>
            <a:pPr algn="l">
              <a:lnSpc>
                <a:spcPct val="145000"/>
              </a:lnSpc>
            </a:pPr>
            <a:r>
              <a:rPr sz="1400" b="0" i="0">
                <a:solidFill>
                  <a:srgbClr val="F2ECDD"/>
                </a:solidFill>
                <a:latin typeface="Inter"/>
              </a:rPr>
              <a:t>cannot see one another clearly.</a:t>
            </a:r>
          </a:p>
        </p:txBody>
      </p:sp>
      <p:sp>
        <p:nvSpPr>
          <p:cNvPr id="5" name="Rounded Rectangle 4"/>
          <p:cNvSpPr/>
          <p:nvPr/>
        </p:nvSpPr>
        <p:spPr>
          <a:xfrm>
            <a:off x="6858000" y="2697480"/>
            <a:ext cx="4800600" cy="2788920"/>
          </a:xfrm>
          <a:prstGeom prst="roundRect">
            <a:avLst>
              <a:gd name="adj" fmla="val 6000"/>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0" y="2971800"/>
            <a:ext cx="4297680" cy="2286000"/>
          </a:xfrm>
          <a:prstGeom prst="rect">
            <a:avLst/>
          </a:prstGeom>
          <a:noFill/>
        </p:spPr>
        <p:txBody>
          <a:bodyPr wrap="square" lIns="0" rIns="0" tIns="0" bIns="0">
            <a:spAutoFit/>
          </a:bodyPr>
          <a:lstStyle/>
          <a:p>
            <a:pPr algn="l">
              <a:lnSpc>
                <a:spcPct val="150000"/>
              </a:lnSpc>
            </a:pPr>
            <a:r>
              <a:rPr sz="1000" b="1" i="0">
                <a:solidFill>
                  <a:srgbClr val="9FE8DC"/>
                </a:solidFill>
                <a:latin typeface="Inter"/>
              </a:rPr>
              <a:t>R I V R   B R I N G S   P L A C E   B A C K</a:t>
            </a:r>
          </a:p>
          <a:p>
            <a:pPr algn="l">
              <a:lnSpc>
                <a:spcPct val="150000"/>
              </a:lnSpc>
            </a:pPr>
            <a:r>
              <a:rPr sz="600" b="0" i="0">
                <a:solidFill>
                  <a:srgbClr val="AFC4C2"/>
                </a:solidFill>
                <a:latin typeface="Inter"/>
              </a:rPr>
              <a:t/>
            </a:r>
          </a:p>
          <a:p>
            <a:pPr algn="l">
              <a:lnSpc>
                <a:spcPct val="150000"/>
              </a:lnSpc>
            </a:pPr>
            <a:r>
              <a:rPr sz="1300" b="0" i="0">
                <a:solidFill>
                  <a:srgbClr val="F2ECDD"/>
                </a:solidFill>
                <a:latin typeface="Inter"/>
              </a:rPr>
              <a:t>Not as a wall around a community.</a:t>
            </a:r>
          </a:p>
          <a:p>
            <a:pPr algn="l">
              <a:lnSpc>
                <a:spcPct val="150000"/>
              </a:lnSpc>
            </a:pPr>
            <a:r>
              <a:rPr sz="1300" b="0" i="0">
                <a:solidFill>
                  <a:srgbClr val="F2ECDD"/>
                </a:solidFill>
                <a:latin typeface="Inter"/>
              </a:rPr>
              <a:t>As </a:t>
            </a:r>
            <a:r>
              <a:rPr sz="1500" b="0" i="1">
                <a:solidFill>
                  <a:srgbClr val="EBCF9E"/>
                </a:solidFill>
                <a:latin typeface="Georgia"/>
              </a:rPr>
              <a:t>context.</a:t>
            </a:r>
          </a:p>
          <a:p>
            <a:pPr algn="l">
              <a:lnSpc>
                <a:spcPct val="150000"/>
              </a:lnSpc>
            </a:pPr>
            <a:r>
              <a:rPr sz="800" b="0" i="0">
                <a:solidFill>
                  <a:srgbClr val="AFC4C2"/>
                </a:solidFill>
                <a:latin typeface="Inter"/>
              </a:rPr>
              <a:t/>
            </a:r>
          </a:p>
          <a:p>
            <a:pPr algn="l">
              <a:lnSpc>
                <a:spcPct val="150000"/>
              </a:lnSpc>
            </a:pPr>
            <a:r>
              <a:rPr sz="1600" b="0" i="1">
                <a:solidFill>
                  <a:srgbClr val="F4EAD8"/>
                </a:solidFill>
                <a:latin typeface="Georgia"/>
              </a:rPr>
              <a:t>Local when possible.</a:t>
            </a:r>
          </a:p>
          <a:p>
            <a:pPr algn="l">
              <a:lnSpc>
                <a:spcPct val="150000"/>
              </a:lnSpc>
            </a:pPr>
            <a:r>
              <a:rPr sz="1600" b="0" i="1">
                <a:solidFill>
                  <a:srgbClr val="F4EAD8"/>
                </a:solidFill>
                <a:latin typeface="Georgia"/>
              </a:rPr>
              <a:t>Wider network when needed.</a:t>
            </a:r>
          </a:p>
        </p:txBody>
      </p:sp>
      <p:pic>
        <p:nvPicPr>
          <p:cNvPr id="7" name="Picture 6"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8" name="TextBox 7"/>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9" name="TextBox 8"/>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P L A C E   I S   L A Y E R E D</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200" b="1" i="0">
                <a:solidFill>
                  <a:srgbClr val="F4EAD8"/>
                </a:solidFill>
                <a:latin typeface="Inter"/>
              </a:rPr>
              <a:t>Not geographic lock-in — </a:t>
            </a:r>
            <a:r>
              <a:rPr sz="3500" b="0" i="1">
                <a:solidFill>
                  <a:srgbClr val="99E6D9"/>
                </a:solidFill>
                <a:latin typeface="Georgia"/>
              </a:rPr>
              <a:t>layered belonging.</a:t>
            </a:r>
          </a:p>
        </p:txBody>
      </p:sp>
      <p:sp>
        <p:nvSpPr>
          <p:cNvPr id="4" name="TextBox 3"/>
          <p:cNvSpPr txBox="1"/>
          <p:nvPr/>
        </p:nvSpPr>
        <p:spPr>
          <a:xfrm>
            <a:off x="548640" y="2194560"/>
            <a:ext cx="5760720" cy="3108960"/>
          </a:xfrm>
          <a:prstGeom prst="rect">
            <a:avLst/>
          </a:prstGeom>
          <a:noFill/>
        </p:spPr>
        <p:txBody>
          <a:bodyPr wrap="square" lIns="0" rIns="0" tIns="0" bIns="0">
            <a:spAutoFit/>
          </a:bodyPr>
          <a:lstStyle/>
          <a:p>
            <a:pPr algn="l">
              <a:lnSpc>
                <a:spcPct val="150000"/>
              </a:lnSpc>
            </a:pPr>
            <a:r>
              <a:rPr sz="1400" b="0" i="0">
                <a:solidFill>
                  <a:srgbClr val="F2ECDD"/>
                </a:solidFill>
                <a:latin typeface="Inter"/>
              </a:rPr>
              <a:t>Place itself can be nested — and people can belong</a:t>
            </a:r>
          </a:p>
          <a:p>
            <a:pPr algn="l">
              <a:lnSpc>
                <a:spcPct val="150000"/>
              </a:lnSpc>
            </a:pPr>
            <a:r>
              <a:rPr sz="1400" b="0" i="0">
                <a:solidFill>
                  <a:srgbClr val="F2ECDD"/>
                </a:solidFill>
                <a:latin typeface="Inter"/>
              </a:rPr>
              <a:t>to several places and communities at once.</a:t>
            </a:r>
          </a:p>
          <a:p>
            <a:pPr algn="l">
              <a:lnSpc>
                <a:spcPct val="150000"/>
              </a:lnSpc>
            </a:pPr>
            <a:r>
              <a:rPr sz="1000" b="0" i="0">
                <a:solidFill>
                  <a:srgbClr val="AFC4C2"/>
                </a:solidFill>
                <a:latin typeface="Inter"/>
              </a:rPr>
              <a:t/>
            </a:r>
          </a:p>
          <a:p>
            <a:pPr algn="l">
              <a:lnSpc>
                <a:spcPct val="150000"/>
              </a:lnSpc>
            </a:pPr>
            <a:r>
              <a:rPr sz="1400" b="0" i="0">
                <a:solidFill>
                  <a:srgbClr val="F2ECDD"/>
                </a:solidFill>
                <a:latin typeface="Inter"/>
              </a:rPr>
              <a:t>The right people, information, resources, and</a:t>
            </a:r>
          </a:p>
          <a:p>
            <a:pPr algn="l">
              <a:lnSpc>
                <a:spcPct val="150000"/>
              </a:lnSpc>
            </a:pPr>
            <a:r>
              <a:rPr sz="1400" b="0" i="0">
                <a:solidFill>
                  <a:srgbClr val="F2ECDD"/>
                </a:solidFill>
                <a:latin typeface="Inter"/>
              </a:rPr>
              <a:t>activity should appear </a:t>
            </a:r>
            <a:r>
              <a:rPr sz="1400" b="1" i="0">
                <a:solidFill>
                  <a:srgbClr val="9FE8DC"/>
                </a:solidFill>
                <a:latin typeface="Inter"/>
              </a:rPr>
              <a:t>at the scope where</a:t>
            </a:r>
          </a:p>
          <a:p>
            <a:pPr algn="l">
              <a:lnSpc>
                <a:spcPct val="150000"/>
              </a:lnSpc>
            </a:pPr>
            <a:r>
              <a:rPr sz="1400" b="1" i="0">
                <a:solidFill>
                  <a:srgbClr val="9FE8DC"/>
                </a:solidFill>
                <a:latin typeface="Inter"/>
              </a:rPr>
              <a:t>they matter.</a:t>
            </a:r>
          </a:p>
        </p:txBody>
      </p:sp>
      <p:sp>
        <p:nvSpPr>
          <p:cNvPr id="5" name="Oval 4"/>
          <p:cNvSpPr/>
          <p:nvPr/>
        </p:nvSpPr>
        <p:spPr>
          <a:xfrm>
            <a:off x="6995160" y="1645920"/>
            <a:ext cx="4297680" cy="4297680"/>
          </a:xfrm>
          <a:prstGeom prst="ellipse">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60920" y="2011680"/>
            <a:ext cx="3566160" cy="3566160"/>
          </a:xfrm>
          <a:prstGeom prst="ellipse">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26680" y="2377440"/>
            <a:ext cx="2834640" cy="2834640"/>
          </a:xfrm>
          <a:prstGeom prst="ellipse">
            <a:avLst/>
          </a:prstGeom>
          <a:solidFill>
            <a:srgbClr val="084B4D"/>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092440" y="2743200"/>
            <a:ext cx="2103120" cy="2103120"/>
          </a:xfrm>
          <a:prstGeom prst="ellipse">
            <a:avLst/>
          </a:prstGeom>
          <a:solidFill>
            <a:srgbClr val="084B4D"/>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458200" y="3108960"/>
            <a:ext cx="1371600" cy="1371600"/>
          </a:xfrm>
          <a:prstGeom prst="ellipse">
            <a:avLst/>
          </a:prstGeom>
          <a:solidFill>
            <a:srgbClr val="062A2C"/>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639312"/>
            <a:ext cx="3291840" cy="274320"/>
          </a:xfrm>
          <a:prstGeom prst="rect">
            <a:avLst/>
          </a:prstGeom>
          <a:noFill/>
        </p:spPr>
        <p:txBody>
          <a:bodyPr wrap="square" lIns="0" rIns="0" tIns="0" bIns="0">
            <a:spAutoFit/>
          </a:bodyPr>
          <a:lstStyle/>
          <a:p>
            <a:pPr algn="ctr">
              <a:lnSpc>
                <a:spcPct val="115000"/>
              </a:lnSpc>
            </a:pPr>
            <a:r>
              <a:rPr sz="800" b="1" i="0">
                <a:solidFill>
                  <a:srgbClr val="EBCF9E"/>
                </a:solidFill>
                <a:latin typeface="Inter"/>
              </a:rPr>
              <a:t>H O U S E H O L D</a:t>
            </a:r>
          </a:p>
        </p:txBody>
      </p:sp>
      <p:sp>
        <p:nvSpPr>
          <p:cNvPr id="11" name="TextBox 10"/>
          <p:cNvSpPr txBox="1"/>
          <p:nvPr/>
        </p:nvSpPr>
        <p:spPr>
          <a:xfrm>
            <a:off x="7498079" y="3218688"/>
            <a:ext cx="3291840" cy="274320"/>
          </a:xfrm>
          <a:prstGeom prst="rect">
            <a:avLst/>
          </a:prstGeom>
          <a:noFill/>
        </p:spPr>
        <p:txBody>
          <a:bodyPr wrap="square" lIns="0" rIns="0" tIns="0" bIns="0">
            <a:spAutoFit/>
          </a:bodyPr>
          <a:lstStyle/>
          <a:p>
            <a:pPr algn="ctr">
              <a:lnSpc>
                <a:spcPct val="115000"/>
              </a:lnSpc>
            </a:pPr>
            <a:r>
              <a:rPr sz="800" b="1" i="0">
                <a:solidFill>
                  <a:srgbClr val="9FE8DC"/>
                </a:solidFill>
                <a:latin typeface="Inter"/>
              </a:rPr>
              <a:t>N E I G H B O R H O O D</a:t>
            </a:r>
          </a:p>
        </p:txBody>
      </p:sp>
      <p:sp>
        <p:nvSpPr>
          <p:cNvPr id="12" name="TextBox 11"/>
          <p:cNvSpPr txBox="1"/>
          <p:nvPr/>
        </p:nvSpPr>
        <p:spPr>
          <a:xfrm>
            <a:off x="7498079" y="2816352"/>
            <a:ext cx="3291840" cy="274320"/>
          </a:xfrm>
          <a:prstGeom prst="rect">
            <a:avLst/>
          </a:prstGeom>
          <a:noFill/>
        </p:spPr>
        <p:txBody>
          <a:bodyPr wrap="square" lIns="0" rIns="0" tIns="0" bIns="0">
            <a:spAutoFit/>
          </a:bodyPr>
          <a:lstStyle/>
          <a:p>
            <a:pPr algn="ctr">
              <a:lnSpc>
                <a:spcPct val="115000"/>
              </a:lnSpc>
            </a:pPr>
            <a:r>
              <a:rPr sz="800" b="1" i="0">
                <a:solidFill>
                  <a:srgbClr val="9FE8DC"/>
                </a:solidFill>
                <a:latin typeface="Inter"/>
              </a:rPr>
              <a:t>T O W N   ·   O R G A N I Z A T I O N</a:t>
            </a:r>
          </a:p>
        </p:txBody>
      </p:sp>
      <p:sp>
        <p:nvSpPr>
          <p:cNvPr id="13" name="TextBox 12"/>
          <p:cNvSpPr txBox="1"/>
          <p:nvPr/>
        </p:nvSpPr>
        <p:spPr>
          <a:xfrm>
            <a:off x="7498079" y="2395728"/>
            <a:ext cx="3291840" cy="274320"/>
          </a:xfrm>
          <a:prstGeom prst="rect">
            <a:avLst/>
          </a:prstGeom>
          <a:noFill/>
        </p:spPr>
        <p:txBody>
          <a:bodyPr wrap="square" lIns="0" rIns="0" tIns="0" bIns="0">
            <a:spAutoFit/>
          </a:bodyPr>
          <a:lstStyle/>
          <a:p>
            <a:pPr algn="ctr">
              <a:lnSpc>
                <a:spcPct val="115000"/>
              </a:lnSpc>
            </a:pPr>
            <a:r>
              <a:rPr sz="800" b="1" i="0">
                <a:solidFill>
                  <a:srgbClr val="9FE8DC"/>
                </a:solidFill>
                <a:latin typeface="Inter"/>
              </a:rPr>
              <a:t>W A T E R S H E D   ·   B I O R E G I O N</a:t>
            </a:r>
          </a:p>
        </p:txBody>
      </p:sp>
      <p:sp>
        <p:nvSpPr>
          <p:cNvPr id="14" name="TextBox 13"/>
          <p:cNvSpPr txBox="1"/>
          <p:nvPr/>
        </p:nvSpPr>
        <p:spPr>
          <a:xfrm>
            <a:off x="7498079" y="1993392"/>
            <a:ext cx="3291840" cy="274320"/>
          </a:xfrm>
          <a:prstGeom prst="rect">
            <a:avLst/>
          </a:prstGeom>
          <a:noFill/>
        </p:spPr>
        <p:txBody>
          <a:bodyPr wrap="square" lIns="0" rIns="0" tIns="0" bIns="0">
            <a:spAutoFit/>
          </a:bodyPr>
          <a:lstStyle/>
          <a:p>
            <a:pPr algn="ctr">
              <a:lnSpc>
                <a:spcPct val="115000"/>
              </a:lnSpc>
            </a:pPr>
            <a:r>
              <a:rPr sz="800" b="1" i="0">
                <a:solidFill>
                  <a:srgbClr val="9FE8DC"/>
                </a:solidFill>
                <a:latin typeface="Inter"/>
              </a:rPr>
              <a:t>W I D E R   N E T W O R K</a:t>
            </a:r>
          </a:p>
        </p:txBody>
      </p:sp>
      <p:pic>
        <p:nvPicPr>
          <p:cNvPr id="15" name="Picture 14"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6" name="TextBox 15"/>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7" name="TextBox 16"/>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connected-place_d34.jpg"/>
          <p:cNvPicPr>
            <a:picLocks noChangeAspect="1"/>
          </p:cNvPicPr>
          <p:nvPr/>
        </p:nvPicPr>
        <p:blipFill>
          <a:blip r:embed="rId2"/>
          <a:stretch>
            <a:fillRect/>
          </a:stretch>
        </p:blipFill>
        <p:spPr>
          <a:xfrm>
            <a:off x="953376" y="0"/>
            <a:ext cx="10284943" cy="6858000"/>
          </a:xfrm>
          <a:prstGeom prst="rect">
            <a:avLst/>
          </a:prstGeom>
        </p:spPr>
      </p:pic>
      <p:sp>
        <p:nvSpPr>
          <p:cNvPr id="3" name="TextBox 2"/>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P L A C E   +   E C O L O G Y</a:t>
            </a:r>
          </a:p>
        </p:txBody>
      </p:sp>
      <p:sp>
        <p:nvSpPr>
          <p:cNvPr id="4" name="TextBox 3"/>
          <p:cNvSpPr txBox="1"/>
          <p:nvPr/>
        </p:nvSpPr>
        <p:spPr>
          <a:xfrm>
            <a:off x="822960" y="2148840"/>
            <a:ext cx="10515600" cy="2011680"/>
          </a:xfrm>
          <a:prstGeom prst="rect">
            <a:avLst/>
          </a:prstGeom>
          <a:noFill/>
        </p:spPr>
        <p:txBody>
          <a:bodyPr wrap="square" lIns="0" rIns="0" tIns="0" bIns="0">
            <a:spAutoFit/>
          </a:bodyPr>
          <a:lstStyle/>
          <a:p>
            <a:pPr algn="ctr">
              <a:lnSpc>
                <a:spcPct val="145000"/>
              </a:lnSpc>
            </a:pPr>
            <a:r>
              <a:rPr sz="2800" b="0" i="1">
                <a:solidFill>
                  <a:srgbClr val="F4EAD8"/>
                </a:solidFill>
                <a:latin typeface="Georgia"/>
              </a:rPr>
              <a:t>A river basin tells a different story</a:t>
            </a:r>
          </a:p>
          <a:p>
            <a:pPr algn="ctr">
              <a:lnSpc>
                <a:spcPct val="145000"/>
              </a:lnSpc>
            </a:pPr>
            <a:r>
              <a:rPr sz="2800" b="0" i="1">
                <a:solidFill>
                  <a:srgbClr val="F4EAD8"/>
                </a:solidFill>
                <a:latin typeface="Georgia"/>
              </a:rPr>
              <a:t>about </a:t>
            </a:r>
            <a:r>
              <a:rPr sz="2800" b="0" i="1">
                <a:solidFill>
                  <a:srgbClr val="EBCF9E"/>
                </a:solidFill>
                <a:latin typeface="Georgia"/>
              </a:rPr>
              <a:t>where we live.</a:t>
            </a:r>
          </a:p>
        </p:txBody>
      </p:sp>
      <p:sp>
        <p:nvSpPr>
          <p:cNvPr id="5" name="TextBox 4"/>
          <p:cNvSpPr txBox="1"/>
          <p:nvPr/>
        </p:nvSpPr>
        <p:spPr>
          <a:xfrm>
            <a:off x="822960" y="5120640"/>
            <a:ext cx="10515600" cy="914400"/>
          </a:xfrm>
          <a:prstGeom prst="rect">
            <a:avLst/>
          </a:prstGeom>
          <a:noFill/>
        </p:spPr>
        <p:txBody>
          <a:bodyPr wrap="square" lIns="0" rIns="0" tIns="0" bIns="0">
            <a:spAutoFit/>
          </a:bodyPr>
          <a:lstStyle/>
          <a:p>
            <a:pPr algn="ctr">
              <a:lnSpc>
                <a:spcPct val="155000"/>
              </a:lnSpc>
            </a:pPr>
            <a:r>
              <a:rPr sz="1400" b="0" i="0">
                <a:solidFill>
                  <a:srgbClr val="F2ECDD"/>
                </a:solidFill>
                <a:latin typeface="Inter"/>
              </a:rPr>
              <a:t>Water, food, energy, transport, habitat, economy, and culture all move through actual places.</a:t>
            </a:r>
          </a:p>
          <a:p>
            <a:pPr algn="ctr">
              <a:lnSpc>
                <a:spcPct val="155000"/>
              </a:lnSpc>
            </a:pPr>
            <a:r>
              <a:rPr sz="1400" b="0" i="0">
                <a:solidFill>
                  <a:srgbClr val="F2ECDD"/>
                </a:solidFill>
                <a:latin typeface="Inter"/>
              </a:rPr>
              <a:t>The question is not simply what kind of social media comes next — it is what kind of technology</a:t>
            </a:r>
          </a:p>
          <a:p>
            <a:pPr algn="ctr">
              <a:lnSpc>
                <a:spcPct val="155000"/>
              </a:lnSpc>
            </a:pPr>
            <a:r>
              <a:rPr sz="1500" b="0" i="1">
                <a:solidFill>
                  <a:srgbClr val="9FE8DC"/>
                </a:solidFill>
                <a:latin typeface="Georgia"/>
              </a:rPr>
              <a:t>helps humans live more intelligently within the places and ecosystems that sustain us.</a:t>
            </a:r>
          </a:p>
        </p:txBody>
      </p:sp>
      <p:pic>
        <p:nvPicPr>
          <p:cNvPr id="6" name="Picture 5"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7" name="TextBox 6"/>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8" name="TextBox 7"/>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T H E   S O L U T I O N</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2900" b="1" i="0">
                <a:solidFill>
                  <a:srgbClr val="F4EAD8"/>
                </a:solidFill>
                <a:latin typeface="Inter"/>
              </a:rPr>
              <a:t>Rivr makes the resources of a place </a:t>
            </a:r>
            <a:r>
              <a:rPr sz="3200" b="0" i="1">
                <a:solidFill>
                  <a:srgbClr val="F0CC8B"/>
                </a:solidFill>
                <a:latin typeface="Georgia"/>
              </a:rPr>
              <a:t>visible to itself.</a:t>
            </a:r>
          </a:p>
        </p:txBody>
      </p:sp>
      <p:sp>
        <p:nvSpPr>
          <p:cNvPr id="4" name="TextBox 3"/>
          <p:cNvSpPr txBox="1"/>
          <p:nvPr/>
        </p:nvSpPr>
        <p:spPr>
          <a:xfrm>
            <a:off x="548640" y="1874519"/>
            <a:ext cx="8229600" cy="292608"/>
          </a:xfrm>
          <a:prstGeom prst="rect">
            <a:avLst/>
          </a:prstGeom>
          <a:noFill/>
        </p:spPr>
        <p:txBody>
          <a:bodyPr wrap="square" lIns="0" rIns="0" tIns="0" bIns="0">
            <a:spAutoFit/>
          </a:bodyPr>
          <a:lstStyle/>
          <a:p>
            <a:pPr algn="l">
              <a:lnSpc>
                <a:spcPct val="115000"/>
              </a:lnSpc>
            </a:pPr>
            <a:r>
              <a:rPr sz="1000" b="1" i="0">
                <a:solidFill>
                  <a:srgbClr val="9FE8DC"/>
                </a:solidFill>
                <a:latin typeface="Inter"/>
              </a:rPr>
              <a:t>A   P L A C E - B A S E D   S O C I A L   A N D   E C O N O M I C   N E T W O R K</a:t>
            </a:r>
          </a:p>
        </p:txBody>
      </p:sp>
      <p:sp>
        <p:nvSpPr>
          <p:cNvPr id="5" name="Rounded Rectangle 4"/>
          <p:cNvSpPr/>
          <p:nvPr/>
        </p:nvSpPr>
        <p:spPr>
          <a:xfrm>
            <a:off x="548640" y="2286000"/>
            <a:ext cx="3566160" cy="65836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496311"/>
            <a:ext cx="35661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find what's nearby</a:t>
            </a:r>
          </a:p>
        </p:txBody>
      </p:sp>
      <p:sp>
        <p:nvSpPr>
          <p:cNvPr id="7" name="Rounded Rectangle 6"/>
          <p:cNvSpPr/>
          <p:nvPr/>
        </p:nvSpPr>
        <p:spPr>
          <a:xfrm>
            <a:off x="4320540" y="2286000"/>
            <a:ext cx="3566160" cy="65836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20540" y="2496311"/>
            <a:ext cx="35661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discover + create events</a:t>
            </a:r>
          </a:p>
        </p:txBody>
      </p:sp>
      <p:sp>
        <p:nvSpPr>
          <p:cNvPr id="9" name="Rounded Rectangle 8"/>
          <p:cNvSpPr/>
          <p:nvPr/>
        </p:nvSpPr>
        <p:spPr>
          <a:xfrm>
            <a:off x="8092440" y="2286000"/>
            <a:ext cx="3566160" cy="65836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2496311"/>
            <a:ext cx="35661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offer + ask</a:t>
            </a:r>
          </a:p>
        </p:txBody>
      </p:sp>
      <p:sp>
        <p:nvSpPr>
          <p:cNvPr id="11" name="Rounded Rectangle 10"/>
          <p:cNvSpPr/>
          <p:nvPr/>
        </p:nvSpPr>
        <p:spPr>
          <a:xfrm>
            <a:off x="548640" y="3127247"/>
            <a:ext cx="3566160" cy="65836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337558"/>
            <a:ext cx="35661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find work · hire well</a:t>
            </a:r>
          </a:p>
        </p:txBody>
      </p:sp>
      <p:sp>
        <p:nvSpPr>
          <p:cNvPr id="13" name="Rounded Rectangle 12"/>
          <p:cNvSpPr/>
          <p:nvPr/>
        </p:nvSpPr>
        <p:spPr>
          <a:xfrm>
            <a:off x="4320540" y="3127247"/>
            <a:ext cx="3566160" cy="65836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0540" y="3337558"/>
            <a:ext cx="35661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create groups</a:t>
            </a:r>
          </a:p>
        </p:txBody>
      </p:sp>
      <p:sp>
        <p:nvSpPr>
          <p:cNvPr id="15" name="Rounded Rectangle 14"/>
          <p:cNvSpPr/>
          <p:nvPr/>
        </p:nvSpPr>
        <p:spPr>
          <a:xfrm>
            <a:off x="8092440" y="3127247"/>
            <a:ext cx="3566160" cy="65836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2440" y="3337558"/>
            <a:ext cx="35661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build projects together</a:t>
            </a:r>
          </a:p>
        </p:txBody>
      </p:sp>
      <p:sp>
        <p:nvSpPr>
          <p:cNvPr id="17" name="Rounded Rectangle 16"/>
          <p:cNvSpPr/>
          <p:nvPr/>
        </p:nvSpPr>
        <p:spPr>
          <a:xfrm>
            <a:off x="548640" y="3968494"/>
            <a:ext cx="3566160" cy="65836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178805"/>
            <a:ext cx="35661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create roles + tasks</a:t>
            </a:r>
          </a:p>
        </p:txBody>
      </p:sp>
      <p:sp>
        <p:nvSpPr>
          <p:cNvPr id="19" name="Rounded Rectangle 18"/>
          <p:cNvSpPr/>
          <p:nvPr/>
        </p:nvSpPr>
        <p:spPr>
          <a:xfrm>
            <a:off x="4320540" y="3968494"/>
            <a:ext cx="3566160" cy="65836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20540" y="4178805"/>
            <a:ext cx="35661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exchange value</a:t>
            </a:r>
          </a:p>
        </p:txBody>
      </p:sp>
      <p:sp>
        <p:nvSpPr>
          <p:cNvPr id="21" name="Rounded Rectangle 20"/>
          <p:cNvSpPr/>
          <p:nvPr/>
        </p:nvSpPr>
        <p:spPr>
          <a:xfrm>
            <a:off x="8092440" y="3968494"/>
            <a:ext cx="3566160" cy="65836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92440" y="4178805"/>
            <a:ext cx="35661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coordinate action</a:t>
            </a:r>
          </a:p>
        </p:txBody>
      </p:sp>
      <p:sp>
        <p:nvSpPr>
          <p:cNvPr id="23" name="TextBox 22"/>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400" b="0" i="0">
                <a:solidFill>
                  <a:srgbClr val="F2ECDD"/>
                </a:solidFill>
                <a:latin typeface="Inter"/>
              </a:rPr>
              <a:t>Less searching through disconnected platforms. </a:t>
            </a:r>
            <a:r>
              <a:rPr sz="1400" b="1" i="0">
                <a:solidFill>
                  <a:srgbClr val="F4EAD8"/>
                </a:solidFill>
                <a:latin typeface="Inter"/>
              </a:rPr>
              <a:t>More actually doing things together.</a:t>
            </a:r>
          </a:p>
        </p:txBody>
      </p:sp>
      <p:pic>
        <p:nvPicPr>
          <p:cNvPr id="24" name="Picture 23"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25" name="TextBox 24"/>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26" name="TextBox 25"/>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F A M I L I A R   O N   T H E   S U R F A C E</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200" b="1" i="0">
                <a:solidFill>
                  <a:srgbClr val="F4EAD8"/>
                </a:solidFill>
                <a:latin typeface="Inter"/>
              </a:rPr>
              <a:t>The social network is the </a:t>
            </a:r>
            <a:r>
              <a:rPr sz="3500" b="0" i="1">
                <a:solidFill>
                  <a:srgbClr val="99E6D9"/>
                </a:solidFill>
                <a:latin typeface="Georgia"/>
              </a:rPr>
              <a:t>familiar doorway.</a:t>
            </a:r>
          </a:p>
        </p:txBody>
      </p:sp>
      <p:sp>
        <p:nvSpPr>
          <p:cNvPr id="4" name="Rounded Rectangle 3"/>
          <p:cNvSpPr/>
          <p:nvPr/>
        </p:nvSpPr>
        <p:spPr>
          <a:xfrm>
            <a:off x="548640" y="2240280"/>
            <a:ext cx="2651760" cy="566928"/>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404872"/>
            <a:ext cx="26517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profiles</a:t>
            </a:r>
          </a:p>
        </p:txBody>
      </p:sp>
      <p:sp>
        <p:nvSpPr>
          <p:cNvPr id="6" name="Rounded Rectangle 5"/>
          <p:cNvSpPr/>
          <p:nvPr/>
        </p:nvSpPr>
        <p:spPr>
          <a:xfrm>
            <a:off x="3368040" y="2240280"/>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68040" y="2404872"/>
            <a:ext cx="26517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posts</a:t>
            </a:r>
          </a:p>
        </p:txBody>
      </p:sp>
      <p:sp>
        <p:nvSpPr>
          <p:cNvPr id="8" name="Rounded Rectangle 7"/>
          <p:cNvSpPr/>
          <p:nvPr/>
        </p:nvSpPr>
        <p:spPr>
          <a:xfrm>
            <a:off x="6187440" y="2240280"/>
            <a:ext cx="2651760" cy="566928"/>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87440" y="2404872"/>
            <a:ext cx="26517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feeds</a:t>
            </a:r>
          </a:p>
        </p:txBody>
      </p:sp>
      <p:sp>
        <p:nvSpPr>
          <p:cNvPr id="10" name="Rounded Rectangle 9"/>
          <p:cNvSpPr/>
          <p:nvPr/>
        </p:nvSpPr>
        <p:spPr>
          <a:xfrm>
            <a:off x="9006840" y="2240280"/>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06840" y="2404872"/>
            <a:ext cx="26517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events</a:t>
            </a:r>
          </a:p>
        </p:txBody>
      </p:sp>
      <p:sp>
        <p:nvSpPr>
          <p:cNvPr id="12" name="Rounded Rectangle 11"/>
          <p:cNvSpPr/>
          <p:nvPr/>
        </p:nvSpPr>
        <p:spPr>
          <a:xfrm>
            <a:off x="548640" y="2990088"/>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154680"/>
            <a:ext cx="26517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groups</a:t>
            </a:r>
          </a:p>
        </p:txBody>
      </p:sp>
      <p:sp>
        <p:nvSpPr>
          <p:cNvPr id="14" name="Rounded Rectangle 13"/>
          <p:cNvSpPr/>
          <p:nvPr/>
        </p:nvSpPr>
        <p:spPr>
          <a:xfrm>
            <a:off x="3368040" y="2990088"/>
            <a:ext cx="2651760" cy="566928"/>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68040" y="3154680"/>
            <a:ext cx="26517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messages</a:t>
            </a:r>
          </a:p>
        </p:txBody>
      </p:sp>
      <p:sp>
        <p:nvSpPr>
          <p:cNvPr id="16" name="Rounded Rectangle 15"/>
          <p:cNvSpPr/>
          <p:nvPr/>
        </p:nvSpPr>
        <p:spPr>
          <a:xfrm>
            <a:off x="6187440" y="2990088"/>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87440" y="3154680"/>
            <a:ext cx="26517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offers</a:t>
            </a:r>
          </a:p>
        </p:txBody>
      </p:sp>
      <p:sp>
        <p:nvSpPr>
          <p:cNvPr id="18" name="Rounded Rectangle 17"/>
          <p:cNvSpPr/>
          <p:nvPr/>
        </p:nvSpPr>
        <p:spPr>
          <a:xfrm>
            <a:off x="9006840" y="2990088"/>
            <a:ext cx="2651760" cy="566928"/>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06840" y="3154680"/>
            <a:ext cx="26517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businesses</a:t>
            </a:r>
          </a:p>
        </p:txBody>
      </p:sp>
      <p:sp>
        <p:nvSpPr>
          <p:cNvPr id="20" name="Rounded Rectangle 19"/>
          <p:cNvSpPr/>
          <p:nvPr/>
        </p:nvSpPr>
        <p:spPr>
          <a:xfrm>
            <a:off x="548640" y="3739896"/>
            <a:ext cx="2651760" cy="566928"/>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904488"/>
            <a:ext cx="26517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products</a:t>
            </a:r>
          </a:p>
        </p:txBody>
      </p:sp>
      <p:sp>
        <p:nvSpPr>
          <p:cNvPr id="22" name="Rounded Rectangle 21"/>
          <p:cNvSpPr/>
          <p:nvPr/>
        </p:nvSpPr>
        <p:spPr>
          <a:xfrm>
            <a:off x="3368040" y="3739896"/>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68040" y="3904488"/>
            <a:ext cx="26517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services</a:t>
            </a:r>
          </a:p>
        </p:txBody>
      </p:sp>
      <p:sp>
        <p:nvSpPr>
          <p:cNvPr id="24" name="Rounded Rectangle 23"/>
          <p:cNvSpPr/>
          <p:nvPr/>
        </p:nvSpPr>
        <p:spPr>
          <a:xfrm>
            <a:off x="6187440" y="3739896"/>
            <a:ext cx="2651760" cy="566928"/>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87440" y="3904488"/>
            <a:ext cx="26517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jobs</a:t>
            </a:r>
          </a:p>
        </p:txBody>
      </p:sp>
      <p:sp>
        <p:nvSpPr>
          <p:cNvPr id="26" name="Rounded Rectangle 25"/>
          <p:cNvSpPr/>
          <p:nvPr/>
        </p:nvSpPr>
        <p:spPr>
          <a:xfrm>
            <a:off x="9006840" y="3739896"/>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06840" y="3904488"/>
            <a:ext cx="26517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local discovery</a:t>
            </a:r>
          </a:p>
        </p:txBody>
      </p:sp>
      <p:sp>
        <p:nvSpPr>
          <p:cNvPr id="28" name="TextBox 27"/>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300" b="0" i="0">
                <a:solidFill>
                  <a:srgbClr val="F2ECDD"/>
                </a:solidFill>
                <a:latin typeface="Inter"/>
              </a:rPr>
              <a:t>Rivr should still feel alive and social — expression, personality, interests, and relationships matter.</a:t>
            </a:r>
          </a:p>
          <a:p>
            <a:pPr algn="ctr">
              <a:lnSpc>
                <a:spcPct val="140000"/>
              </a:lnSpc>
            </a:pPr>
            <a:r>
              <a:rPr sz="1500" b="0" i="1">
                <a:solidFill>
                  <a:srgbClr val="EBCF9E"/>
                </a:solidFill>
                <a:latin typeface="Georgia"/>
              </a:rPr>
              <a:t>Economic relationships often begin as human relationships.</a:t>
            </a:r>
          </a:p>
        </p:txBody>
      </p:sp>
      <p:pic>
        <p:nvPicPr>
          <p:cNvPr id="29" name="Picture 28"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30" name="TextBox 29"/>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31" name="TextBox 30"/>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09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U S E F U L   D I S C O V E R Y</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400" b="1" i="0">
                <a:solidFill>
                  <a:srgbClr val="F4EAD8"/>
                </a:solidFill>
                <a:latin typeface="Inter"/>
              </a:rPr>
              <a:t>Useful </a:t>
            </a:r>
            <a:r>
              <a:rPr sz="3800" b="0" i="1">
                <a:solidFill>
                  <a:srgbClr val="EBCF9E"/>
                </a:solidFill>
                <a:latin typeface="Georgia"/>
              </a:rPr>
              <a:t>serendipity.</a:t>
            </a:r>
          </a:p>
        </p:txBody>
      </p:sp>
      <p:sp>
        <p:nvSpPr>
          <p:cNvPr id="4" name="Rounded Rectangle 3"/>
          <p:cNvSpPr/>
          <p:nvPr/>
        </p:nvSpPr>
        <p:spPr>
          <a:xfrm>
            <a:off x="548640" y="2194560"/>
            <a:ext cx="5394960" cy="2011680"/>
          </a:xfrm>
          <a:prstGeom prst="roundRect">
            <a:avLst>
              <a:gd name="adj" fmla="val 6000"/>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468880"/>
            <a:ext cx="4846320" cy="1554480"/>
          </a:xfrm>
          <a:prstGeom prst="rect">
            <a:avLst/>
          </a:prstGeom>
          <a:noFill/>
        </p:spPr>
        <p:txBody>
          <a:bodyPr wrap="square" lIns="0" rIns="0" tIns="0" bIns="0">
            <a:spAutoFit/>
          </a:bodyPr>
          <a:lstStyle/>
          <a:p>
            <a:pPr algn="l">
              <a:lnSpc>
                <a:spcPct val="145000"/>
              </a:lnSpc>
            </a:pPr>
            <a:r>
              <a:rPr sz="1000" b="1" i="0">
                <a:solidFill>
                  <a:srgbClr val="9FE8DC"/>
                </a:solidFill>
                <a:latin typeface="Inter"/>
              </a:rPr>
              <a:t>S H O W   M E   W H A T   I ' M   L O O K I N G   F O R</a:t>
            </a:r>
          </a:p>
          <a:p>
            <a:pPr algn="l">
              <a:lnSpc>
                <a:spcPct val="145000"/>
              </a:lnSpc>
            </a:pPr>
            <a:r>
              <a:rPr sz="600" b="0" i="0">
                <a:solidFill>
                  <a:srgbClr val="AFC4C2"/>
                </a:solidFill>
                <a:latin typeface="Inter"/>
              </a:rPr>
              <a:t/>
            </a:r>
          </a:p>
          <a:p>
            <a:pPr algn="l">
              <a:lnSpc>
                <a:spcPct val="145000"/>
              </a:lnSpc>
            </a:pPr>
            <a:r>
              <a:rPr sz="1250" b="0" i="0">
                <a:solidFill>
                  <a:srgbClr val="F2ECDD"/>
                </a:solidFill>
                <a:latin typeface="Inter"/>
              </a:rPr>
              <a:t>Sometimes we know exactly what we need — a person, a service, a tool, a venue, tonight's event.</a:t>
            </a:r>
          </a:p>
        </p:txBody>
      </p:sp>
      <p:sp>
        <p:nvSpPr>
          <p:cNvPr id="6" name="Rounded Rectangle 5"/>
          <p:cNvSpPr/>
          <p:nvPr/>
        </p:nvSpPr>
        <p:spPr>
          <a:xfrm>
            <a:off x="6263640" y="2194560"/>
            <a:ext cx="5394960" cy="2011680"/>
          </a:xfrm>
          <a:prstGeom prst="roundRect">
            <a:avLst>
              <a:gd name="adj" fmla="val 6000"/>
            </a:avLst>
          </a:prstGeom>
          <a:solidFill>
            <a:srgbClr val="084B4D"/>
          </a:solidFill>
          <a:ln w="1397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37960" y="2468880"/>
            <a:ext cx="4846320" cy="1554480"/>
          </a:xfrm>
          <a:prstGeom prst="rect">
            <a:avLst/>
          </a:prstGeom>
          <a:noFill/>
        </p:spPr>
        <p:txBody>
          <a:bodyPr wrap="square" lIns="0" rIns="0" tIns="0" bIns="0">
            <a:spAutoFit/>
          </a:bodyPr>
          <a:lstStyle/>
          <a:p>
            <a:pPr algn="l">
              <a:lnSpc>
                <a:spcPct val="145000"/>
              </a:lnSpc>
            </a:pPr>
            <a:r>
              <a:rPr sz="1000" b="1" i="0">
                <a:solidFill>
                  <a:srgbClr val="EBCF9E"/>
                </a:solidFill>
                <a:latin typeface="Inter"/>
              </a:rPr>
              <a:t>A N D   W H A T   I ' D   B E   G L A D   T O   K N O W   E X I S T S</a:t>
            </a:r>
          </a:p>
          <a:p>
            <a:pPr algn="l">
              <a:lnSpc>
                <a:spcPct val="145000"/>
              </a:lnSpc>
            </a:pPr>
            <a:r>
              <a:rPr sz="600" b="0" i="0">
                <a:solidFill>
                  <a:srgbClr val="AFC4C2"/>
                </a:solidFill>
                <a:latin typeface="Inter"/>
              </a:rPr>
              <a:t/>
            </a:r>
          </a:p>
          <a:p>
            <a:pPr algn="l">
              <a:lnSpc>
                <a:spcPct val="145000"/>
              </a:lnSpc>
            </a:pPr>
            <a:r>
              <a:rPr sz="1250" b="0" i="0">
                <a:solidFill>
                  <a:srgbClr val="F2ECDD"/>
                </a:solidFill>
                <a:latin typeface="Inter"/>
              </a:rPr>
              <a:t>Sometimes we don't know what is possible yet — a project, a skill nearby, an opportunity we didn't know to search for.</a:t>
            </a:r>
          </a:p>
        </p:txBody>
      </p:sp>
      <p:sp>
        <p:nvSpPr>
          <p:cNvPr id="8" name="TextBox 7"/>
          <p:cNvSpPr txBox="1"/>
          <p:nvPr/>
        </p:nvSpPr>
        <p:spPr>
          <a:xfrm>
            <a:off x="548640" y="4846320"/>
            <a:ext cx="11064240" cy="731520"/>
          </a:xfrm>
          <a:prstGeom prst="rect">
            <a:avLst/>
          </a:prstGeom>
          <a:noFill/>
        </p:spPr>
        <p:txBody>
          <a:bodyPr wrap="square" lIns="0" rIns="0" tIns="0" bIns="0">
            <a:spAutoFit/>
          </a:bodyPr>
          <a:lstStyle/>
          <a:p>
            <a:pPr algn="ctr">
              <a:lnSpc>
                <a:spcPct val="140000"/>
              </a:lnSpc>
            </a:pPr>
            <a:r>
              <a:rPr sz="1400" b="0" i="0">
                <a:solidFill>
                  <a:srgbClr val="F2ECDD"/>
                </a:solidFill>
                <a:latin typeface="Inter"/>
              </a:rPr>
              <a:t>Not random noise. Not whoever paid to be inserted into the feed.</a:t>
            </a:r>
          </a:p>
          <a:p>
            <a:pPr algn="ctr">
              <a:lnSpc>
                <a:spcPct val="140000"/>
              </a:lnSpc>
            </a:pPr>
            <a:r>
              <a:rPr sz="1500" b="0" i="1">
                <a:solidFill>
                  <a:srgbClr val="9FE8DC"/>
                </a:solidFill>
                <a:latin typeface="Georgia"/>
              </a:rPr>
              <a:t>Discovery optimized for the user's world — not advertiser demand.</a:t>
            </a:r>
          </a:p>
        </p:txBody>
      </p:sp>
      <p:pic>
        <p:nvPicPr>
          <p:cNvPr id="9" name="Picture 8"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0" name="TextBox 9"/>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1" name="TextBox 10"/>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D I S C O V E R Y   B E C O M E S   P A R T I C I P A T I O N</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000" b="1" i="0">
                <a:solidFill>
                  <a:srgbClr val="F4EAD8"/>
                </a:solidFill>
                <a:latin typeface="Inter"/>
              </a:rPr>
              <a:t>Finding one another is only </a:t>
            </a:r>
            <a:r>
              <a:rPr sz="3300" b="0" i="1">
                <a:solidFill>
                  <a:srgbClr val="99E6D9"/>
                </a:solidFill>
                <a:latin typeface="Georgia"/>
              </a:rPr>
              <a:t>the beginning.</a:t>
            </a:r>
          </a:p>
        </p:txBody>
      </p:sp>
      <p:sp>
        <p:nvSpPr>
          <p:cNvPr id="4" name="TextBox 3"/>
          <p:cNvSpPr txBox="1"/>
          <p:nvPr/>
        </p:nvSpPr>
        <p:spPr>
          <a:xfrm>
            <a:off x="548640" y="2011680"/>
            <a:ext cx="7315200" cy="274320"/>
          </a:xfrm>
          <a:prstGeom prst="rect">
            <a:avLst/>
          </a:prstGeom>
          <a:noFill/>
        </p:spPr>
        <p:txBody>
          <a:bodyPr wrap="square" lIns="0" rIns="0" tIns="0" bIns="0">
            <a:spAutoFit/>
          </a:bodyPr>
          <a:lstStyle/>
          <a:p>
            <a:pPr algn="l">
              <a:lnSpc>
                <a:spcPct val="115000"/>
              </a:lnSpc>
            </a:pPr>
            <a:r>
              <a:rPr sz="950" b="1" i="0">
                <a:solidFill>
                  <a:srgbClr val="9FE8DC"/>
                </a:solidFill>
                <a:latin typeface="Inter"/>
              </a:rPr>
              <a:t>T H E   A R C   O F   P A R T I C I P A T I O N</a:t>
            </a:r>
          </a:p>
        </p:txBody>
      </p:sp>
      <p:sp>
        <p:nvSpPr>
          <p:cNvPr id="5" name="Rounded Rectangle 4"/>
          <p:cNvSpPr/>
          <p:nvPr/>
        </p:nvSpPr>
        <p:spPr>
          <a:xfrm>
            <a:off x="548640" y="2377440"/>
            <a:ext cx="11109960" cy="1179576"/>
          </a:xfrm>
          <a:prstGeom prst="roundRect">
            <a:avLst>
              <a:gd name="adj" fmla="val 6000"/>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578608"/>
            <a:ext cx="10515600" cy="768096"/>
          </a:xfrm>
          <a:prstGeom prst="rect">
            <a:avLst/>
          </a:prstGeom>
          <a:noFill/>
        </p:spPr>
        <p:txBody>
          <a:bodyPr wrap="square" lIns="0" rIns="0" tIns="0" bIns="0">
            <a:spAutoFit/>
          </a:bodyPr>
          <a:lstStyle/>
          <a:p>
            <a:pPr algn="ctr">
              <a:lnSpc>
                <a:spcPct val="140000"/>
              </a:lnSpc>
            </a:pPr>
            <a:r>
              <a:rPr sz="1700" b="0" i="1">
                <a:solidFill>
                  <a:srgbClr val="F4EAD8"/>
                </a:solidFill>
                <a:latin typeface="Georgia"/>
              </a:rPr>
              <a:t>discover → trust → agree → organize →</a:t>
            </a:r>
          </a:p>
          <a:p>
            <a:pPr algn="ctr">
              <a:lnSpc>
                <a:spcPct val="140000"/>
              </a:lnSpc>
            </a:pPr>
            <a:r>
              <a:rPr sz="1700" b="0" i="1">
                <a:solidFill>
                  <a:srgbClr val="9FE8DC"/>
                </a:solidFill>
                <a:latin typeface="Georgia"/>
              </a:rPr>
              <a:t>act → verify → account → compensate</a:t>
            </a:r>
          </a:p>
        </p:txBody>
      </p:sp>
      <p:sp>
        <p:nvSpPr>
          <p:cNvPr id="7" name="TextBox 6"/>
          <p:cNvSpPr txBox="1"/>
          <p:nvPr/>
        </p:nvSpPr>
        <p:spPr>
          <a:xfrm>
            <a:off x="548640" y="3831336"/>
            <a:ext cx="11064240" cy="1280160"/>
          </a:xfrm>
          <a:prstGeom prst="rect">
            <a:avLst/>
          </a:prstGeom>
          <a:noFill/>
        </p:spPr>
        <p:txBody>
          <a:bodyPr wrap="square" lIns="0" rIns="0" tIns="0" bIns="0">
            <a:spAutoFit/>
          </a:bodyPr>
          <a:lstStyle/>
          <a:p>
            <a:pPr algn="ctr">
              <a:lnSpc>
                <a:spcPct val="150000"/>
              </a:lnSpc>
            </a:pPr>
            <a:r>
              <a:rPr sz="1300" b="0" i="0">
                <a:solidFill>
                  <a:srgbClr val="F2ECDD"/>
                </a:solidFill>
                <a:latin typeface="Inter"/>
              </a:rPr>
              <a:t>A person finds a project. The project creates a role. The role has tasks. The person fulfills them.</a:t>
            </a:r>
          </a:p>
          <a:p>
            <a:pPr algn="ctr">
              <a:lnSpc>
                <a:spcPct val="150000"/>
              </a:lnSpc>
            </a:pPr>
            <a:r>
              <a:rPr sz="1300" b="0" i="0">
                <a:solidFill>
                  <a:srgbClr val="F2ECDD"/>
                </a:solidFill>
                <a:latin typeface="Inter"/>
              </a:rPr>
              <a:t>The contribution is recorded. Value moves. The organization sees what happened.</a:t>
            </a:r>
          </a:p>
          <a:p>
            <a:pPr algn="ctr">
              <a:lnSpc>
                <a:spcPct val="150000"/>
              </a:lnSpc>
            </a:pPr>
            <a:r>
              <a:rPr sz="1350" b="1" i="0">
                <a:solidFill>
                  <a:srgbClr val="EBCF9E"/>
                </a:solidFill>
                <a:latin typeface="Inter"/>
              </a:rPr>
              <a:t>The person builds a history of real participation.</a:t>
            </a:r>
          </a:p>
        </p:txBody>
      </p:sp>
      <p:pic>
        <p:nvPicPr>
          <p:cNvPr id="8" name="Picture 7"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9" name="TextBox 8"/>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0" name="TextBox 9"/>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C O N T R I B U T I O N   O V E R   P O P U L A R I T Y</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2700" b="1" i="0">
                <a:solidFill>
                  <a:srgbClr val="F4EAD8"/>
                </a:solidFill>
                <a:latin typeface="Inter"/>
              </a:rPr>
              <a:t>Contribution can become more visible </a:t>
            </a:r>
            <a:r>
              <a:rPr sz="3000" b="0" i="1">
                <a:solidFill>
                  <a:srgbClr val="F0CC8B"/>
                </a:solidFill>
                <a:latin typeface="Georgia"/>
              </a:rPr>
              <a:t>than popularity.</a:t>
            </a:r>
          </a:p>
        </p:txBody>
      </p:sp>
      <p:sp>
        <p:nvSpPr>
          <p:cNvPr id="4" name="Rounded Rectangle 3"/>
          <p:cNvSpPr/>
          <p:nvPr/>
        </p:nvSpPr>
        <p:spPr>
          <a:xfrm>
            <a:off x="548640" y="2606040"/>
            <a:ext cx="5486400" cy="2514600"/>
          </a:xfrm>
          <a:prstGeom prst="roundRect">
            <a:avLst>
              <a:gd name="adj" fmla="val 6000"/>
            </a:avLst>
          </a:prstGeom>
          <a:solidFill>
            <a:srgbClr val="084B4D"/>
          </a:solidFill>
          <a:ln w="1270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834640"/>
            <a:ext cx="4983480" cy="2057400"/>
          </a:xfrm>
          <a:prstGeom prst="rect">
            <a:avLst/>
          </a:prstGeom>
          <a:noFill/>
        </p:spPr>
        <p:txBody>
          <a:bodyPr wrap="square" lIns="0" rIns="0" tIns="0" bIns="0">
            <a:spAutoFit/>
          </a:bodyPr>
          <a:lstStyle/>
          <a:p>
            <a:pPr algn="l">
              <a:lnSpc>
                <a:spcPct val="140000"/>
              </a:lnSpc>
            </a:pPr>
            <a:r>
              <a:rPr sz="1000" b="1" i="0">
                <a:solidFill>
                  <a:srgbClr val="D3B7A5"/>
                </a:solidFill>
                <a:latin typeface="Inter"/>
              </a:rPr>
              <a:t>M O S T   P L A T F O R M S   M E A S U R E</a:t>
            </a:r>
          </a:p>
          <a:p>
            <a:pPr algn="l">
              <a:lnSpc>
                <a:spcPct val="140000"/>
              </a:lnSpc>
            </a:pPr>
            <a:r>
              <a:rPr sz="500" b="0" i="0">
                <a:solidFill>
                  <a:srgbClr val="AFC4C2"/>
                </a:solidFill>
                <a:latin typeface="Inter"/>
              </a:rPr>
              <a:t/>
            </a:r>
          </a:p>
          <a:p>
            <a:pPr algn="l">
              <a:lnSpc>
                <a:spcPct val="140000"/>
              </a:lnSpc>
            </a:pPr>
            <a:r>
              <a:rPr sz="1200" b="0" i="0">
                <a:solidFill>
                  <a:srgbClr val="F2ECDD"/>
                </a:solidFill>
                <a:latin typeface="Inter"/>
              </a:rPr>
              <a:t>Followers. Likes. Views. Engagement.</a:t>
            </a:r>
          </a:p>
          <a:p>
            <a:pPr algn="l">
              <a:lnSpc>
                <a:spcPct val="140000"/>
              </a:lnSpc>
            </a:pPr>
            <a:r>
              <a:rPr sz="1200" b="0" i="0">
                <a:solidFill>
                  <a:srgbClr val="F2ECDD"/>
                </a:solidFill>
                <a:latin typeface="Inter"/>
              </a:rPr>
              <a:t/>
            </a:r>
          </a:p>
          <a:p>
            <a:pPr algn="l">
              <a:lnSpc>
                <a:spcPct val="140000"/>
              </a:lnSpc>
            </a:pPr>
            <a:r>
              <a:rPr sz="1200" b="0" i="0">
                <a:solidFill>
                  <a:srgbClr val="F2ECDD"/>
                </a:solidFill>
                <a:latin typeface="Inter"/>
              </a:rPr>
              <a:t>A popularity score — tuned to keep</a:t>
            </a:r>
          </a:p>
          <a:p>
            <a:pPr algn="l">
              <a:lnSpc>
                <a:spcPct val="140000"/>
              </a:lnSpc>
            </a:pPr>
            <a:r>
              <a:rPr sz="1200" b="0" i="0">
                <a:solidFill>
                  <a:srgbClr val="F2ECDD"/>
                </a:solidFill>
                <a:latin typeface="Inter"/>
              </a:rPr>
              <a:t>people performing for the feed.</a:t>
            </a:r>
          </a:p>
        </p:txBody>
      </p:sp>
      <p:sp>
        <p:nvSpPr>
          <p:cNvPr id="6" name="Rounded Rectangle 5"/>
          <p:cNvSpPr/>
          <p:nvPr/>
        </p:nvSpPr>
        <p:spPr>
          <a:xfrm>
            <a:off x="6263640" y="2606040"/>
            <a:ext cx="5394960" cy="2514600"/>
          </a:xfrm>
          <a:prstGeom prst="roundRect">
            <a:avLst>
              <a:gd name="adj" fmla="val 6000"/>
            </a:avLst>
          </a:prstGeom>
          <a:solidFill>
            <a:srgbClr val="0D3E40"/>
          </a:solidFill>
          <a:ln w="1524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37960" y="2834640"/>
            <a:ext cx="4892040" cy="2057400"/>
          </a:xfrm>
          <a:prstGeom prst="rect">
            <a:avLst/>
          </a:prstGeom>
          <a:noFill/>
        </p:spPr>
        <p:txBody>
          <a:bodyPr wrap="square" lIns="0" rIns="0" tIns="0" bIns="0">
            <a:spAutoFit/>
          </a:bodyPr>
          <a:lstStyle/>
          <a:p>
            <a:pPr algn="l">
              <a:lnSpc>
                <a:spcPct val="140000"/>
              </a:lnSpc>
            </a:pPr>
            <a:r>
              <a:rPr sz="1000" b="1" i="0">
                <a:solidFill>
                  <a:srgbClr val="EBCF9E"/>
                </a:solidFill>
                <a:latin typeface="Inter"/>
              </a:rPr>
              <a:t>A N O T H E R   S I G N A L   M A T T E R S</a:t>
            </a:r>
          </a:p>
          <a:p>
            <a:pPr algn="l">
              <a:lnSpc>
                <a:spcPct val="140000"/>
              </a:lnSpc>
            </a:pPr>
            <a:r>
              <a:rPr sz="500" b="0" i="0">
                <a:solidFill>
                  <a:srgbClr val="AFC4C2"/>
                </a:solidFill>
                <a:latin typeface="Inter"/>
              </a:rPr>
              <a:t/>
            </a:r>
          </a:p>
          <a:p>
            <a:pPr algn="l">
              <a:lnSpc>
                <a:spcPct val="140000"/>
              </a:lnSpc>
            </a:pPr>
            <a:r>
              <a:rPr sz="1200" b="0" i="0">
                <a:solidFill>
                  <a:srgbClr val="F2ECDD"/>
                </a:solidFill>
                <a:latin typeface="Inter"/>
              </a:rPr>
              <a:t>What have you actually contributed?</a:t>
            </a:r>
          </a:p>
          <a:p>
            <a:pPr algn="l">
              <a:lnSpc>
                <a:spcPct val="140000"/>
              </a:lnSpc>
            </a:pPr>
            <a:r>
              <a:rPr sz="1200" b="0" i="0">
                <a:solidFill>
                  <a:srgbClr val="F2ECDD"/>
                </a:solidFill>
                <a:latin typeface="Inter"/>
              </a:rPr>
              <a:t/>
            </a:r>
          </a:p>
          <a:p>
            <a:pPr algn="l">
              <a:lnSpc>
                <a:spcPct val="140000"/>
              </a:lnSpc>
            </a:pPr>
            <a:r>
              <a:rPr sz="1200" b="0" i="0">
                <a:solidFill>
                  <a:srgbClr val="F2ECDD"/>
                </a:solidFill>
                <a:latin typeface="Inter"/>
              </a:rPr>
              <a:t>Helped with projects · completed work · offered</a:t>
            </a:r>
          </a:p>
          <a:p>
            <a:pPr algn="l">
              <a:lnSpc>
                <a:spcPct val="140000"/>
              </a:lnSpc>
            </a:pPr>
            <a:r>
              <a:rPr sz="1200" b="0" i="0">
                <a:solidFill>
                  <a:srgbClr val="F2ECDD"/>
                </a:solidFill>
                <a:latin typeface="Inter"/>
              </a:rPr>
              <a:t>skills · shown up · supported people · created value.</a:t>
            </a:r>
          </a:p>
        </p:txBody>
      </p:sp>
      <p:sp>
        <p:nvSpPr>
          <p:cNvPr id="8" name="TextBox 7"/>
          <p:cNvSpPr txBox="1"/>
          <p:nvPr/>
        </p:nvSpPr>
        <p:spPr>
          <a:xfrm>
            <a:off x="548640" y="5440679"/>
            <a:ext cx="11064240" cy="731520"/>
          </a:xfrm>
          <a:prstGeom prst="rect">
            <a:avLst/>
          </a:prstGeom>
          <a:noFill/>
        </p:spPr>
        <p:txBody>
          <a:bodyPr wrap="square" lIns="0" rIns="0" tIns="0" bIns="0">
            <a:spAutoFit/>
          </a:bodyPr>
          <a:lstStyle/>
          <a:p>
            <a:pPr algn="ctr">
              <a:lnSpc>
                <a:spcPct val="140000"/>
              </a:lnSpc>
            </a:pPr>
            <a:r>
              <a:rPr sz="1250" b="0" i="0">
                <a:solidFill>
                  <a:srgbClr val="F2ECDD"/>
                </a:solidFill>
                <a:latin typeface="Inter"/>
              </a:rPr>
              <a:t>Participation becomes legible — context for trust, qualification, reputation, compensation, and stake.</a:t>
            </a:r>
          </a:p>
          <a:p>
            <a:pPr algn="ctr">
              <a:lnSpc>
                <a:spcPct val="140000"/>
              </a:lnSpc>
            </a:pPr>
            <a:r>
              <a:rPr sz="1450" b="0" i="1">
                <a:solidFill>
                  <a:srgbClr val="9FE8DC"/>
                </a:solidFill>
                <a:latin typeface="Georgia"/>
              </a:rPr>
              <a:t>Trust grows through real participation, not follower counts.</a:t>
            </a:r>
          </a:p>
        </p:txBody>
      </p:sp>
      <p:pic>
        <p:nvPicPr>
          <p:cNvPr id="9" name="Picture 8"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0" name="TextBox 9"/>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1" name="TextBox 10"/>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T R U S T</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400" b="1" i="0">
                <a:solidFill>
                  <a:srgbClr val="F4EAD8"/>
                </a:solidFill>
                <a:latin typeface="Inter"/>
              </a:rPr>
              <a:t>Trust is part of </a:t>
            </a:r>
            <a:r>
              <a:rPr sz="3800" b="0" i="1">
                <a:solidFill>
                  <a:srgbClr val="99E6D9"/>
                </a:solidFill>
                <a:latin typeface="Georgia"/>
              </a:rPr>
              <a:t>coordination.</a:t>
            </a:r>
          </a:p>
        </p:txBody>
      </p:sp>
      <p:sp>
        <p:nvSpPr>
          <p:cNvPr id="4" name="TextBox 3"/>
          <p:cNvSpPr txBox="1"/>
          <p:nvPr/>
        </p:nvSpPr>
        <p:spPr>
          <a:xfrm>
            <a:off x="548640" y="1920240"/>
            <a:ext cx="5486400" cy="457200"/>
          </a:xfrm>
          <a:prstGeom prst="rect">
            <a:avLst/>
          </a:prstGeom>
          <a:noFill/>
        </p:spPr>
        <p:txBody>
          <a:bodyPr wrap="square" lIns="0" rIns="0" tIns="0" bIns="0">
            <a:spAutoFit/>
          </a:bodyPr>
          <a:lstStyle/>
          <a:p>
            <a:pPr algn="l">
              <a:lnSpc>
                <a:spcPct val="115000"/>
              </a:lnSpc>
            </a:pPr>
            <a:r>
              <a:rPr sz="1500" b="0" i="1">
                <a:solidFill>
                  <a:srgbClr val="F0CC8B"/>
                </a:solidFill>
                <a:latin typeface="Georgia"/>
              </a:rPr>
              <a:t>?  </a:t>
            </a:r>
            <a:r>
              <a:rPr sz="1450" b="0" i="1">
                <a:solidFill>
                  <a:srgbClr val="F2ECDD"/>
                </a:solidFill>
                <a:latin typeface="Georgia"/>
              </a:rPr>
              <a:t>Who is this person?</a:t>
            </a:r>
          </a:p>
        </p:txBody>
      </p:sp>
      <p:sp>
        <p:nvSpPr>
          <p:cNvPr id="5" name="TextBox 4"/>
          <p:cNvSpPr txBox="1"/>
          <p:nvPr/>
        </p:nvSpPr>
        <p:spPr>
          <a:xfrm>
            <a:off x="6291072" y="1920240"/>
            <a:ext cx="5486400" cy="457200"/>
          </a:xfrm>
          <a:prstGeom prst="rect">
            <a:avLst/>
          </a:prstGeom>
          <a:noFill/>
        </p:spPr>
        <p:txBody>
          <a:bodyPr wrap="square" lIns="0" rIns="0" tIns="0" bIns="0">
            <a:spAutoFit/>
          </a:bodyPr>
          <a:lstStyle/>
          <a:p>
            <a:pPr algn="l">
              <a:lnSpc>
                <a:spcPct val="115000"/>
              </a:lnSpc>
            </a:pPr>
            <a:r>
              <a:rPr sz="1500" b="0" i="1">
                <a:solidFill>
                  <a:srgbClr val="F0CC8B"/>
                </a:solidFill>
                <a:latin typeface="Georgia"/>
              </a:rPr>
              <a:t>?  </a:t>
            </a:r>
            <a:r>
              <a:rPr sz="1450" b="0" i="1">
                <a:solidFill>
                  <a:srgbClr val="F2ECDD"/>
                </a:solidFill>
                <a:latin typeface="Georgia"/>
              </a:rPr>
              <a:t>Are they part of my community?</a:t>
            </a:r>
          </a:p>
        </p:txBody>
      </p:sp>
      <p:sp>
        <p:nvSpPr>
          <p:cNvPr id="6" name="TextBox 5"/>
          <p:cNvSpPr txBox="1"/>
          <p:nvPr/>
        </p:nvSpPr>
        <p:spPr>
          <a:xfrm>
            <a:off x="548640" y="2633472"/>
            <a:ext cx="5486400" cy="457200"/>
          </a:xfrm>
          <a:prstGeom prst="rect">
            <a:avLst/>
          </a:prstGeom>
          <a:noFill/>
        </p:spPr>
        <p:txBody>
          <a:bodyPr wrap="square" lIns="0" rIns="0" tIns="0" bIns="0">
            <a:spAutoFit/>
          </a:bodyPr>
          <a:lstStyle/>
          <a:p>
            <a:pPr algn="l">
              <a:lnSpc>
                <a:spcPct val="115000"/>
              </a:lnSpc>
            </a:pPr>
            <a:r>
              <a:rPr sz="1500" b="0" i="1">
                <a:solidFill>
                  <a:srgbClr val="F0CC8B"/>
                </a:solidFill>
                <a:latin typeface="Georgia"/>
              </a:rPr>
              <a:t>?  </a:t>
            </a:r>
            <a:r>
              <a:rPr sz="1450" b="0" i="1">
                <a:solidFill>
                  <a:srgbClr val="F2ECDD"/>
                </a:solidFill>
                <a:latin typeface="Georgia"/>
              </a:rPr>
              <a:t>What have they done?</a:t>
            </a:r>
          </a:p>
        </p:txBody>
      </p:sp>
      <p:sp>
        <p:nvSpPr>
          <p:cNvPr id="7" name="TextBox 6"/>
          <p:cNvSpPr txBox="1"/>
          <p:nvPr/>
        </p:nvSpPr>
        <p:spPr>
          <a:xfrm>
            <a:off x="6291072" y="2633472"/>
            <a:ext cx="5486400" cy="457200"/>
          </a:xfrm>
          <a:prstGeom prst="rect">
            <a:avLst/>
          </a:prstGeom>
          <a:noFill/>
        </p:spPr>
        <p:txBody>
          <a:bodyPr wrap="square" lIns="0" rIns="0" tIns="0" bIns="0">
            <a:spAutoFit/>
          </a:bodyPr>
          <a:lstStyle/>
          <a:p>
            <a:pPr algn="l">
              <a:lnSpc>
                <a:spcPct val="115000"/>
              </a:lnSpc>
            </a:pPr>
            <a:r>
              <a:rPr sz="1500" b="0" i="1">
                <a:solidFill>
                  <a:srgbClr val="F0CC8B"/>
                </a:solidFill>
                <a:latin typeface="Georgia"/>
              </a:rPr>
              <a:t>?  </a:t>
            </a:r>
            <a:r>
              <a:rPr sz="1450" b="0" i="1">
                <a:solidFill>
                  <a:srgbClr val="F2ECDD"/>
                </a:solidFill>
                <a:latin typeface="Georgia"/>
              </a:rPr>
              <a:t>Do they have the relevant skill?</a:t>
            </a:r>
          </a:p>
        </p:txBody>
      </p:sp>
      <p:sp>
        <p:nvSpPr>
          <p:cNvPr id="8" name="TextBox 7"/>
          <p:cNvSpPr txBox="1"/>
          <p:nvPr/>
        </p:nvSpPr>
        <p:spPr>
          <a:xfrm>
            <a:off x="548640" y="3346704"/>
            <a:ext cx="5486400" cy="457200"/>
          </a:xfrm>
          <a:prstGeom prst="rect">
            <a:avLst/>
          </a:prstGeom>
          <a:noFill/>
        </p:spPr>
        <p:txBody>
          <a:bodyPr wrap="square" lIns="0" rIns="0" tIns="0" bIns="0">
            <a:spAutoFit/>
          </a:bodyPr>
          <a:lstStyle/>
          <a:p>
            <a:pPr algn="l">
              <a:lnSpc>
                <a:spcPct val="115000"/>
              </a:lnSpc>
            </a:pPr>
            <a:r>
              <a:rPr sz="1500" b="0" i="1">
                <a:solidFill>
                  <a:srgbClr val="F0CC8B"/>
                </a:solidFill>
                <a:latin typeface="Georgia"/>
              </a:rPr>
              <a:t>?  </a:t>
            </a:r>
            <a:r>
              <a:rPr sz="1450" b="0" i="1">
                <a:solidFill>
                  <a:srgbClr val="F2ECDD"/>
                </a:solidFill>
                <a:latin typeface="Georgia"/>
              </a:rPr>
              <a:t>Do we share relationships?</a:t>
            </a:r>
          </a:p>
        </p:txBody>
      </p:sp>
      <p:sp>
        <p:nvSpPr>
          <p:cNvPr id="9" name="TextBox 8"/>
          <p:cNvSpPr txBox="1"/>
          <p:nvPr/>
        </p:nvSpPr>
        <p:spPr>
          <a:xfrm>
            <a:off x="6291072" y="3346704"/>
            <a:ext cx="5486400" cy="457200"/>
          </a:xfrm>
          <a:prstGeom prst="rect">
            <a:avLst/>
          </a:prstGeom>
          <a:noFill/>
        </p:spPr>
        <p:txBody>
          <a:bodyPr wrap="square" lIns="0" rIns="0" tIns="0" bIns="0">
            <a:spAutoFit/>
          </a:bodyPr>
          <a:lstStyle/>
          <a:p>
            <a:pPr algn="l">
              <a:lnSpc>
                <a:spcPct val="115000"/>
              </a:lnSpc>
            </a:pPr>
            <a:r>
              <a:rPr sz="1500" b="0" i="1">
                <a:solidFill>
                  <a:srgbClr val="F0CC8B"/>
                </a:solidFill>
                <a:latin typeface="Georgia"/>
              </a:rPr>
              <a:t>?  </a:t>
            </a:r>
            <a:r>
              <a:rPr sz="1450" b="0" i="1">
                <a:solidFill>
                  <a:srgbClr val="F2ECDD"/>
                </a:solidFill>
                <a:latin typeface="Georgia"/>
              </a:rPr>
              <a:t>Have they contributed before?</a:t>
            </a:r>
          </a:p>
        </p:txBody>
      </p:sp>
      <p:sp>
        <p:nvSpPr>
          <p:cNvPr id="10" name="Rounded Rectangle 9"/>
          <p:cNvSpPr/>
          <p:nvPr/>
        </p:nvSpPr>
        <p:spPr>
          <a:xfrm>
            <a:off x="548640" y="4288536"/>
            <a:ext cx="11109960" cy="868680"/>
          </a:xfrm>
          <a:prstGeom prst="roundRect">
            <a:avLst>
              <a:gd name="adj" fmla="val 6000"/>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453127"/>
            <a:ext cx="10607040" cy="548640"/>
          </a:xfrm>
          <a:prstGeom prst="rect">
            <a:avLst/>
          </a:prstGeom>
          <a:noFill/>
        </p:spPr>
        <p:txBody>
          <a:bodyPr wrap="square" lIns="0" rIns="0" tIns="0" bIns="0">
            <a:spAutoFit/>
          </a:bodyPr>
          <a:lstStyle/>
          <a:p>
            <a:pPr algn="ctr">
              <a:lnSpc>
                <a:spcPct val="115000"/>
              </a:lnSpc>
            </a:pPr>
            <a:r>
              <a:rPr sz="1400" b="1" i="0">
                <a:solidFill>
                  <a:srgbClr val="F4EAD8"/>
                </a:solidFill>
                <a:latin typeface="Inter"/>
              </a:rPr>
              <a:t>Finding the resource is not enough — we also need </a:t>
            </a:r>
            <a:r>
              <a:rPr sz="1500" b="0" i="1">
                <a:solidFill>
                  <a:srgbClr val="9FE8DC"/>
                </a:solidFill>
                <a:latin typeface="Georgia"/>
              </a:rPr>
              <a:t>enough context to act.</a:t>
            </a:r>
          </a:p>
        </p:txBody>
      </p:sp>
      <p:sp>
        <p:nvSpPr>
          <p:cNvPr id="12" name="TextBox 11"/>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300" b="0" i="0">
                <a:solidFill>
                  <a:srgbClr val="F2ECDD"/>
                </a:solidFill>
                <a:latin typeface="Inter"/>
              </a:rPr>
              <a:t>Trust can emerge from relationships, history, qualifications, references,</a:t>
            </a:r>
          </a:p>
          <a:p>
            <a:pPr algn="ctr">
              <a:lnSpc>
                <a:spcPct val="140000"/>
              </a:lnSpc>
            </a:pPr>
            <a:r>
              <a:rPr sz="1300" b="1" i="0">
                <a:solidFill>
                  <a:srgbClr val="EBCF9E"/>
                </a:solidFill>
                <a:latin typeface="Inter"/>
              </a:rPr>
              <a:t>reputation, verified claims, group membership, and contribution.</a:t>
            </a:r>
          </a:p>
        </p:txBody>
      </p:sp>
      <p:pic>
        <p:nvPicPr>
          <p:cNvPr id="13" name="Picture 12"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4" name="TextBox 13"/>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5" name="TextBox 14"/>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P R O D U C T   O V E R V I E W</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200" b="1" i="0">
                <a:solidFill>
                  <a:srgbClr val="F4EAD8"/>
                </a:solidFill>
                <a:latin typeface="Inter"/>
              </a:rPr>
              <a:t>Familiar on the surface. </a:t>
            </a:r>
            <a:r>
              <a:rPr sz="3500" b="0" i="1">
                <a:solidFill>
                  <a:srgbClr val="F0CC8B"/>
                </a:solidFill>
                <a:latin typeface="Georgia"/>
              </a:rPr>
              <a:t>Powerful underneath.</a:t>
            </a:r>
          </a:p>
        </p:txBody>
      </p:sp>
      <p:sp>
        <p:nvSpPr>
          <p:cNvPr id="4" name="Rounded Rectangle 3"/>
          <p:cNvSpPr/>
          <p:nvPr/>
        </p:nvSpPr>
        <p:spPr>
          <a:xfrm>
            <a:off x="548640" y="2286000"/>
            <a:ext cx="3569208" cy="233172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14600"/>
            <a:ext cx="3112008" cy="1874519"/>
          </a:xfrm>
          <a:prstGeom prst="rect">
            <a:avLst/>
          </a:prstGeom>
          <a:noFill/>
        </p:spPr>
        <p:txBody>
          <a:bodyPr wrap="square" lIns="0" rIns="0" tIns="0" bIns="0">
            <a:spAutoFit/>
          </a:bodyPr>
          <a:lstStyle/>
          <a:p>
            <a:pPr algn="l">
              <a:lnSpc>
                <a:spcPct val="135000"/>
              </a:lnSpc>
            </a:pPr>
            <a:r>
              <a:rPr sz="1000" b="1" i="0">
                <a:solidFill>
                  <a:srgbClr val="9FE8DC"/>
                </a:solidFill>
                <a:latin typeface="Inter"/>
              </a:rPr>
              <a:t>F O R   A   P E R S O N</a:t>
            </a:r>
          </a:p>
          <a:p>
            <a:pPr algn="l">
              <a:lnSpc>
                <a:spcPct val="135000"/>
              </a:lnSpc>
            </a:pPr>
            <a:r>
              <a:rPr sz="500" b="0" i="0">
                <a:solidFill>
                  <a:srgbClr val="AFC4C2"/>
                </a:solidFill>
                <a:latin typeface="Inter"/>
              </a:rPr>
              <a:t/>
            </a:r>
          </a:p>
          <a:p>
            <a:pPr algn="l">
              <a:lnSpc>
                <a:spcPct val="135000"/>
              </a:lnSpc>
            </a:pPr>
            <a:r>
              <a:rPr sz="1150" b="0" i="0">
                <a:solidFill>
                  <a:srgbClr val="F2ECDD"/>
                </a:solidFill>
                <a:latin typeface="Inter"/>
              </a:rPr>
              <a:t>A genuinely useful local social network — feeds, profiles, groups, events, markets, jobs, and local discovery.</a:t>
            </a:r>
          </a:p>
        </p:txBody>
      </p:sp>
      <p:sp>
        <p:nvSpPr>
          <p:cNvPr id="6" name="Rounded Rectangle 5"/>
          <p:cNvSpPr/>
          <p:nvPr/>
        </p:nvSpPr>
        <p:spPr>
          <a:xfrm>
            <a:off x="4319016" y="2286000"/>
            <a:ext cx="3569208" cy="2331720"/>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47616" y="2514600"/>
            <a:ext cx="3112008" cy="1874519"/>
          </a:xfrm>
          <a:prstGeom prst="rect">
            <a:avLst/>
          </a:prstGeom>
          <a:noFill/>
        </p:spPr>
        <p:txBody>
          <a:bodyPr wrap="square" lIns="0" rIns="0" tIns="0" bIns="0">
            <a:spAutoFit/>
          </a:bodyPr>
          <a:lstStyle/>
          <a:p>
            <a:pPr algn="l">
              <a:lnSpc>
                <a:spcPct val="135000"/>
              </a:lnSpc>
            </a:pPr>
            <a:r>
              <a:rPr sz="1000" b="1" i="0">
                <a:solidFill>
                  <a:srgbClr val="9FE8DC"/>
                </a:solidFill>
                <a:latin typeface="Inter"/>
              </a:rPr>
              <a:t>F O R   A N   O R G A N I Z A T I O N</a:t>
            </a:r>
          </a:p>
          <a:p>
            <a:pPr algn="l">
              <a:lnSpc>
                <a:spcPct val="135000"/>
              </a:lnSpc>
            </a:pPr>
            <a:r>
              <a:rPr sz="500" b="0" i="0">
                <a:solidFill>
                  <a:srgbClr val="AFC4C2"/>
                </a:solidFill>
                <a:latin typeface="Inter"/>
              </a:rPr>
              <a:t/>
            </a:r>
          </a:p>
          <a:p>
            <a:pPr algn="l">
              <a:lnSpc>
                <a:spcPct val="135000"/>
              </a:lnSpc>
            </a:pPr>
            <a:r>
              <a:rPr sz="1150" b="0" i="0">
                <a:solidFill>
                  <a:srgbClr val="F2ECDD"/>
                </a:solidFill>
                <a:latin typeface="Inter"/>
              </a:rPr>
              <a:t>Tools for coordinating people, work, resources, and exchange — projects, roles, tasks, scheduling, payments, documents, governance, inventory.</a:t>
            </a:r>
          </a:p>
        </p:txBody>
      </p:sp>
      <p:sp>
        <p:nvSpPr>
          <p:cNvPr id="8" name="Rounded Rectangle 7"/>
          <p:cNvSpPr/>
          <p:nvPr/>
        </p:nvSpPr>
        <p:spPr>
          <a:xfrm>
            <a:off x="8089392" y="2286000"/>
            <a:ext cx="3569208" cy="2331720"/>
          </a:xfrm>
          <a:prstGeom prst="roundRect">
            <a:avLst>
              <a:gd name="adj" fmla="val 6000"/>
            </a:avLst>
          </a:prstGeom>
          <a:solidFill>
            <a:srgbClr val="0D3E40"/>
          </a:solidFill>
          <a:ln w="14604">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17992" y="2514600"/>
            <a:ext cx="3112008" cy="1874519"/>
          </a:xfrm>
          <a:prstGeom prst="rect">
            <a:avLst/>
          </a:prstGeom>
          <a:noFill/>
        </p:spPr>
        <p:txBody>
          <a:bodyPr wrap="square" lIns="0" rIns="0" tIns="0" bIns="0">
            <a:spAutoFit/>
          </a:bodyPr>
          <a:lstStyle/>
          <a:p>
            <a:pPr algn="l">
              <a:lnSpc>
                <a:spcPct val="135000"/>
              </a:lnSpc>
            </a:pPr>
            <a:r>
              <a:rPr sz="1000" b="1" i="0">
                <a:solidFill>
                  <a:srgbClr val="EBCF9E"/>
                </a:solidFill>
                <a:latin typeface="Inter"/>
              </a:rPr>
              <a:t>F O R   A   C O M M U N I T Y</a:t>
            </a:r>
          </a:p>
          <a:p>
            <a:pPr algn="l">
              <a:lnSpc>
                <a:spcPct val="135000"/>
              </a:lnSpc>
            </a:pPr>
            <a:r>
              <a:rPr sz="500" b="0" i="0">
                <a:solidFill>
                  <a:srgbClr val="AFC4C2"/>
                </a:solidFill>
                <a:latin typeface="Inter"/>
              </a:rPr>
              <a:t/>
            </a:r>
          </a:p>
          <a:p>
            <a:pPr algn="l">
              <a:lnSpc>
                <a:spcPct val="135000"/>
              </a:lnSpc>
            </a:pPr>
            <a:r>
              <a:rPr sz="1150" b="0" i="0">
                <a:solidFill>
                  <a:srgbClr val="F2ECDD"/>
                </a:solidFill>
                <a:latin typeface="Inter"/>
              </a:rPr>
              <a:t>A living map of what that place has, needs, knows, makes, and can do.</a:t>
            </a:r>
          </a:p>
        </p:txBody>
      </p:sp>
      <p:sp>
        <p:nvSpPr>
          <p:cNvPr id="10" name="TextBox 9"/>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300" b="0" i="0">
                <a:solidFill>
                  <a:srgbClr val="F2ECDD"/>
                </a:solidFill>
                <a:latin typeface="Inter"/>
              </a:rPr>
              <a:t>Today these functions live across many disconnected products. </a:t>
            </a:r>
            <a:r>
              <a:rPr sz="1300" b="1" i="0">
                <a:solidFill>
                  <a:srgbClr val="F4EAD8"/>
                </a:solidFill>
                <a:latin typeface="Inter"/>
              </a:rPr>
              <a:t>Rivr brings them into one connected ecosystem.</a:t>
            </a:r>
          </a:p>
        </p:txBody>
      </p:sp>
      <p:pic>
        <p:nvPicPr>
          <p:cNvPr id="11" name="Picture 10"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2" name="TextBox 11"/>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3" name="TextBox 12"/>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sharing_d34.jpg"/>
          <p:cNvPicPr>
            <a:picLocks noChangeAspect="1"/>
          </p:cNvPicPr>
          <p:nvPr/>
        </p:nvPicPr>
        <p:blipFill>
          <a:blip r:embed="rId2"/>
          <a:stretch>
            <a:fillRect/>
          </a:stretch>
        </p:blipFill>
        <p:spPr>
          <a:xfrm>
            <a:off x="953376" y="0"/>
            <a:ext cx="10284943" cy="6858000"/>
          </a:xfrm>
          <a:prstGeom prst="rect">
            <a:avLst/>
          </a:prstGeom>
        </p:spPr>
      </p:pic>
      <p:sp>
        <p:nvSpPr>
          <p:cNvPr id="3" name="TextBox 2"/>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E V E R Y D A Y   L I F E</a:t>
            </a:r>
          </a:p>
        </p:txBody>
      </p:sp>
      <p:sp>
        <p:nvSpPr>
          <p:cNvPr id="4" name="TextBox 3"/>
          <p:cNvSpPr txBox="1"/>
          <p:nvPr/>
        </p:nvSpPr>
        <p:spPr>
          <a:xfrm>
            <a:off x="822960" y="2286000"/>
            <a:ext cx="10515600" cy="2011680"/>
          </a:xfrm>
          <a:prstGeom prst="rect">
            <a:avLst/>
          </a:prstGeom>
          <a:noFill/>
        </p:spPr>
        <p:txBody>
          <a:bodyPr wrap="square" lIns="0" rIns="0" tIns="0" bIns="0">
            <a:spAutoFit/>
          </a:bodyPr>
          <a:lstStyle/>
          <a:p>
            <a:pPr algn="ctr">
              <a:lnSpc>
                <a:spcPct val="145000"/>
              </a:lnSpc>
            </a:pPr>
            <a:r>
              <a:rPr sz="2800" b="0" i="1">
                <a:solidFill>
                  <a:srgbClr val="F4EAD8"/>
                </a:solidFill>
                <a:latin typeface="Georgia"/>
              </a:rPr>
              <a:t>Resilience is built partly through</a:t>
            </a:r>
          </a:p>
          <a:p>
            <a:pPr algn="ctr">
              <a:lnSpc>
                <a:spcPct val="145000"/>
              </a:lnSpc>
            </a:pPr>
            <a:r>
              <a:rPr sz="3000" b="0" i="1">
                <a:solidFill>
                  <a:srgbClr val="EBCF9E"/>
                </a:solidFill>
                <a:latin typeface="Georgia"/>
              </a:rPr>
              <a:t>ordinary life.</a:t>
            </a:r>
          </a:p>
        </p:txBody>
      </p:sp>
      <p:sp>
        <p:nvSpPr>
          <p:cNvPr id="5" name="TextBox 4"/>
          <p:cNvSpPr txBox="1"/>
          <p:nvPr/>
        </p:nvSpPr>
        <p:spPr>
          <a:xfrm>
            <a:off x="822960" y="5120640"/>
            <a:ext cx="10515600" cy="914400"/>
          </a:xfrm>
          <a:prstGeom prst="rect">
            <a:avLst/>
          </a:prstGeom>
          <a:noFill/>
        </p:spPr>
        <p:txBody>
          <a:bodyPr wrap="square" lIns="0" rIns="0" tIns="0" bIns="0">
            <a:spAutoFit/>
          </a:bodyPr>
          <a:lstStyle/>
          <a:p>
            <a:pPr algn="ctr">
              <a:lnSpc>
                <a:spcPct val="155000"/>
              </a:lnSpc>
            </a:pPr>
            <a:r>
              <a:rPr sz="1400" b="0" i="0">
                <a:solidFill>
                  <a:srgbClr val="F2ECDD"/>
                </a:solidFill>
                <a:latin typeface="Inter"/>
              </a:rPr>
              <a:t>Neighbors see who has extra food. Someone finds the ladder. Someone finds childcare.</a:t>
            </a:r>
          </a:p>
          <a:p>
            <a:pPr algn="ctr">
              <a:lnSpc>
                <a:spcPct val="155000"/>
              </a:lnSpc>
            </a:pPr>
            <a:r>
              <a:rPr sz="1400" b="0" i="0">
                <a:solidFill>
                  <a:srgbClr val="F2ECDD"/>
                </a:solidFill>
                <a:latin typeface="Inter"/>
              </a:rPr>
              <a:t>A neighborhood organizes a work party. A household tracks shared purchases.</a:t>
            </a:r>
          </a:p>
          <a:p>
            <a:pPr algn="ctr">
              <a:lnSpc>
                <a:spcPct val="155000"/>
              </a:lnSpc>
            </a:pPr>
            <a:r>
              <a:rPr sz="1500" b="0" i="1">
                <a:solidFill>
                  <a:srgbClr val="9FE8DC"/>
                </a:solidFill>
                <a:latin typeface="Georgia"/>
              </a:rPr>
              <a:t>Rivr is not only for formal organizations.</a:t>
            </a:r>
          </a:p>
        </p:txBody>
      </p:sp>
      <p:pic>
        <p:nvPicPr>
          <p:cNvPr id="6" name="Picture 5"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7" name="TextBox 6"/>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8" name="TextBox 7"/>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O R G A N I Z A T I O N S   N E E D   M O R E   T H A N   A   F E E D</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2800" b="1" i="0">
                <a:solidFill>
                  <a:srgbClr val="F4EAD8"/>
                </a:solidFill>
                <a:latin typeface="Inter"/>
              </a:rPr>
              <a:t>A place where the organization can </a:t>
            </a:r>
            <a:r>
              <a:rPr sz="3100" b="0" i="1">
                <a:solidFill>
                  <a:srgbClr val="99E6D9"/>
                </a:solidFill>
                <a:latin typeface="Georgia"/>
              </a:rPr>
              <a:t>actually operate.</a:t>
            </a:r>
          </a:p>
        </p:txBody>
      </p:sp>
      <p:sp>
        <p:nvSpPr>
          <p:cNvPr id="4" name="TextBox 3"/>
          <p:cNvSpPr txBox="1"/>
          <p:nvPr/>
        </p:nvSpPr>
        <p:spPr>
          <a:xfrm>
            <a:off x="548640" y="2103120"/>
            <a:ext cx="8229600" cy="292608"/>
          </a:xfrm>
          <a:prstGeom prst="rect">
            <a:avLst/>
          </a:prstGeom>
          <a:noFill/>
        </p:spPr>
        <p:txBody>
          <a:bodyPr wrap="square" lIns="0" rIns="0" tIns="0" bIns="0">
            <a:spAutoFit/>
          </a:bodyPr>
          <a:lstStyle/>
          <a:p>
            <a:pPr algn="l">
              <a:lnSpc>
                <a:spcPct val="115000"/>
              </a:lnSpc>
            </a:pPr>
            <a:r>
              <a:rPr sz="1000" b="1" i="0">
                <a:solidFill>
                  <a:srgbClr val="9FE8DC"/>
                </a:solidFill>
                <a:latin typeface="Inter"/>
              </a:rPr>
              <a:t>N O T   A N O T H E R   G R O U P   C H A T   A B O U T   T H E   O R G A N I Z A T I O N   —</a:t>
            </a:r>
          </a:p>
        </p:txBody>
      </p:sp>
      <p:sp>
        <p:nvSpPr>
          <p:cNvPr id="5" name="Rounded Rectangle 4"/>
          <p:cNvSpPr/>
          <p:nvPr/>
        </p:nvSpPr>
        <p:spPr>
          <a:xfrm>
            <a:off x="548640" y="25146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64718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documents</a:t>
            </a:r>
          </a:p>
        </p:txBody>
      </p:sp>
      <p:sp>
        <p:nvSpPr>
          <p:cNvPr id="7" name="Rounded Rectangle 6"/>
          <p:cNvSpPr/>
          <p:nvPr/>
        </p:nvSpPr>
        <p:spPr>
          <a:xfrm>
            <a:off x="2804922" y="25146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04922" y="264718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projects</a:t>
            </a:r>
          </a:p>
        </p:txBody>
      </p:sp>
      <p:sp>
        <p:nvSpPr>
          <p:cNvPr id="9" name="Rounded Rectangle 8"/>
          <p:cNvSpPr/>
          <p:nvPr/>
        </p:nvSpPr>
        <p:spPr>
          <a:xfrm>
            <a:off x="5061204" y="25146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61204" y="264718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jobs</a:t>
            </a:r>
          </a:p>
        </p:txBody>
      </p:sp>
      <p:sp>
        <p:nvSpPr>
          <p:cNvPr id="11" name="Rounded Rectangle 10"/>
          <p:cNvSpPr/>
          <p:nvPr/>
        </p:nvSpPr>
        <p:spPr>
          <a:xfrm>
            <a:off x="7317486" y="25146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7486" y="264718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tasks</a:t>
            </a:r>
          </a:p>
        </p:txBody>
      </p:sp>
      <p:sp>
        <p:nvSpPr>
          <p:cNvPr id="13" name="Rounded Rectangle 12"/>
          <p:cNvSpPr/>
          <p:nvPr/>
        </p:nvSpPr>
        <p:spPr>
          <a:xfrm>
            <a:off x="9573768" y="25146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73768" y="264718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qualifications</a:t>
            </a:r>
          </a:p>
        </p:txBody>
      </p:sp>
      <p:sp>
        <p:nvSpPr>
          <p:cNvPr id="15" name="Rounded Rectangle 14"/>
          <p:cNvSpPr/>
          <p:nvPr/>
        </p:nvSpPr>
        <p:spPr>
          <a:xfrm>
            <a:off x="548640" y="32004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33298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roles</a:t>
            </a:r>
          </a:p>
        </p:txBody>
      </p:sp>
      <p:sp>
        <p:nvSpPr>
          <p:cNvPr id="17" name="Rounded Rectangle 16"/>
          <p:cNvSpPr/>
          <p:nvPr/>
        </p:nvSpPr>
        <p:spPr>
          <a:xfrm>
            <a:off x="2804922" y="32004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04922" y="333298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contribution records</a:t>
            </a:r>
          </a:p>
        </p:txBody>
      </p:sp>
      <p:sp>
        <p:nvSpPr>
          <p:cNvPr id="19" name="Rounded Rectangle 18"/>
          <p:cNvSpPr/>
          <p:nvPr/>
        </p:nvSpPr>
        <p:spPr>
          <a:xfrm>
            <a:off x="5061204" y="32004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61204" y="333298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governance</a:t>
            </a:r>
          </a:p>
        </p:txBody>
      </p:sp>
      <p:sp>
        <p:nvSpPr>
          <p:cNvPr id="21" name="Rounded Rectangle 20"/>
          <p:cNvSpPr/>
          <p:nvPr/>
        </p:nvSpPr>
        <p:spPr>
          <a:xfrm>
            <a:off x="7317486" y="32004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7486" y="333298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permissions</a:t>
            </a:r>
          </a:p>
        </p:txBody>
      </p:sp>
      <p:sp>
        <p:nvSpPr>
          <p:cNvPr id="23" name="Rounded Rectangle 22"/>
          <p:cNvSpPr/>
          <p:nvPr/>
        </p:nvSpPr>
        <p:spPr>
          <a:xfrm>
            <a:off x="9573768" y="32004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73768" y="333298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treasury</a:t>
            </a:r>
          </a:p>
        </p:txBody>
      </p:sp>
      <p:sp>
        <p:nvSpPr>
          <p:cNvPr id="25" name="Rounded Rectangle 24"/>
          <p:cNvSpPr/>
          <p:nvPr/>
        </p:nvSpPr>
        <p:spPr>
          <a:xfrm>
            <a:off x="548640" y="38862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01878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payments</a:t>
            </a:r>
          </a:p>
        </p:txBody>
      </p:sp>
      <p:sp>
        <p:nvSpPr>
          <p:cNvPr id="27" name="Rounded Rectangle 26"/>
          <p:cNvSpPr/>
          <p:nvPr/>
        </p:nvSpPr>
        <p:spPr>
          <a:xfrm>
            <a:off x="2804922" y="38862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04922" y="401878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membership</a:t>
            </a:r>
          </a:p>
        </p:txBody>
      </p:sp>
      <p:sp>
        <p:nvSpPr>
          <p:cNvPr id="29" name="Rounded Rectangle 28"/>
          <p:cNvSpPr/>
          <p:nvPr/>
        </p:nvSpPr>
        <p:spPr>
          <a:xfrm>
            <a:off x="5061204" y="38862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61204" y="401878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events</a:t>
            </a:r>
          </a:p>
        </p:txBody>
      </p:sp>
      <p:sp>
        <p:nvSpPr>
          <p:cNvPr id="31" name="Rounded Rectangle 30"/>
          <p:cNvSpPr/>
          <p:nvPr/>
        </p:nvSpPr>
        <p:spPr>
          <a:xfrm>
            <a:off x="7317486" y="38862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7486" y="4018788"/>
            <a:ext cx="2084831"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communications</a:t>
            </a:r>
          </a:p>
        </p:txBody>
      </p:sp>
      <p:sp>
        <p:nvSpPr>
          <p:cNvPr id="33" name="TextBox 32"/>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300" b="0" i="0">
                <a:solidFill>
                  <a:srgbClr val="F2ECDD"/>
                </a:solidFill>
                <a:latin typeface="Inter"/>
              </a:rPr>
              <a:t>Today those functions live across many different products.</a:t>
            </a:r>
          </a:p>
          <a:p>
            <a:pPr algn="ctr">
              <a:lnSpc>
                <a:spcPct val="140000"/>
              </a:lnSpc>
            </a:pPr>
            <a:r>
              <a:rPr sz="1400" b="1" i="0">
                <a:solidFill>
                  <a:srgbClr val="EBCF9E"/>
                </a:solidFill>
                <a:latin typeface="Inter"/>
              </a:rPr>
              <a:t>Rivr brings them into one shared relational environment.</a:t>
            </a:r>
          </a:p>
        </p:txBody>
      </p:sp>
      <p:pic>
        <p:nvPicPr>
          <p:cNvPr id="34" name="Picture 33"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35" name="TextBox 34"/>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36" name="TextBox 35"/>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S H A R E D   R E C O R D S</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2900" b="1" i="0">
                <a:solidFill>
                  <a:srgbClr val="F4EAD8"/>
                </a:solidFill>
                <a:latin typeface="Inter"/>
              </a:rPr>
              <a:t>Shared records make cooperation </a:t>
            </a:r>
            <a:r>
              <a:rPr sz="3200" b="0" i="1">
                <a:solidFill>
                  <a:srgbClr val="EBCF9E"/>
                </a:solidFill>
                <a:latin typeface="Georgia"/>
              </a:rPr>
              <a:t>less messy.</a:t>
            </a:r>
          </a:p>
        </p:txBody>
      </p:sp>
      <p:sp>
        <p:nvSpPr>
          <p:cNvPr id="4" name="TextBox 3"/>
          <p:cNvSpPr txBox="1"/>
          <p:nvPr/>
        </p:nvSpPr>
        <p:spPr>
          <a:xfrm>
            <a:off x="685800" y="2103120"/>
            <a:ext cx="5394960" cy="365760"/>
          </a:xfrm>
          <a:prstGeom prst="rect">
            <a:avLst/>
          </a:prstGeom>
          <a:noFill/>
        </p:spPr>
        <p:txBody>
          <a:bodyPr wrap="square" lIns="0" rIns="0" tIns="0" bIns="0">
            <a:spAutoFit/>
          </a:bodyPr>
          <a:lstStyle/>
          <a:p>
            <a:pPr algn="l">
              <a:lnSpc>
                <a:spcPct val="115000"/>
              </a:lnSpc>
            </a:pPr>
            <a:r>
              <a:rPr sz="1400" b="0" i="1">
                <a:solidFill>
                  <a:srgbClr val="F0CC8B"/>
                </a:solidFill>
                <a:latin typeface="Georgia"/>
              </a:rPr>
              <a:t>?  </a:t>
            </a:r>
            <a:r>
              <a:rPr sz="1350" b="0" i="1">
                <a:solidFill>
                  <a:srgbClr val="F2ECDD"/>
                </a:solidFill>
                <a:latin typeface="Georgia"/>
              </a:rPr>
              <a:t>Who agreed to do this?</a:t>
            </a:r>
          </a:p>
        </p:txBody>
      </p:sp>
      <p:sp>
        <p:nvSpPr>
          <p:cNvPr id="5" name="TextBox 4"/>
          <p:cNvSpPr txBox="1"/>
          <p:nvPr/>
        </p:nvSpPr>
        <p:spPr>
          <a:xfrm>
            <a:off x="685800" y="2633472"/>
            <a:ext cx="5394960" cy="365760"/>
          </a:xfrm>
          <a:prstGeom prst="rect">
            <a:avLst/>
          </a:prstGeom>
          <a:noFill/>
        </p:spPr>
        <p:txBody>
          <a:bodyPr wrap="square" lIns="0" rIns="0" tIns="0" bIns="0">
            <a:spAutoFit/>
          </a:bodyPr>
          <a:lstStyle/>
          <a:p>
            <a:pPr algn="l">
              <a:lnSpc>
                <a:spcPct val="115000"/>
              </a:lnSpc>
            </a:pPr>
            <a:r>
              <a:rPr sz="1400" b="0" i="1">
                <a:solidFill>
                  <a:srgbClr val="F0CC8B"/>
                </a:solidFill>
                <a:latin typeface="Georgia"/>
              </a:rPr>
              <a:t>?  </a:t>
            </a:r>
            <a:r>
              <a:rPr sz="1350" b="0" i="1">
                <a:solidFill>
                  <a:srgbClr val="F2ECDD"/>
                </a:solidFill>
                <a:latin typeface="Georgia"/>
              </a:rPr>
              <a:t>Did it happen?</a:t>
            </a:r>
          </a:p>
        </p:txBody>
      </p:sp>
      <p:sp>
        <p:nvSpPr>
          <p:cNvPr id="6" name="TextBox 5"/>
          <p:cNvSpPr txBox="1"/>
          <p:nvPr/>
        </p:nvSpPr>
        <p:spPr>
          <a:xfrm>
            <a:off x="685800" y="3163824"/>
            <a:ext cx="5394960" cy="365760"/>
          </a:xfrm>
          <a:prstGeom prst="rect">
            <a:avLst/>
          </a:prstGeom>
          <a:noFill/>
        </p:spPr>
        <p:txBody>
          <a:bodyPr wrap="square" lIns="0" rIns="0" tIns="0" bIns="0">
            <a:spAutoFit/>
          </a:bodyPr>
          <a:lstStyle/>
          <a:p>
            <a:pPr algn="l">
              <a:lnSpc>
                <a:spcPct val="115000"/>
              </a:lnSpc>
            </a:pPr>
            <a:r>
              <a:rPr sz="1400" b="0" i="1">
                <a:solidFill>
                  <a:srgbClr val="F0CC8B"/>
                </a:solidFill>
                <a:latin typeface="Georgia"/>
              </a:rPr>
              <a:t>?  </a:t>
            </a:r>
            <a:r>
              <a:rPr sz="1350" b="0" i="1">
                <a:solidFill>
                  <a:srgbClr val="F2ECDD"/>
                </a:solidFill>
                <a:latin typeface="Georgia"/>
              </a:rPr>
              <a:t>Who contributed?</a:t>
            </a:r>
          </a:p>
        </p:txBody>
      </p:sp>
      <p:sp>
        <p:nvSpPr>
          <p:cNvPr id="7" name="TextBox 6"/>
          <p:cNvSpPr txBox="1"/>
          <p:nvPr/>
        </p:nvSpPr>
        <p:spPr>
          <a:xfrm>
            <a:off x="685800" y="3694175"/>
            <a:ext cx="5394960" cy="365760"/>
          </a:xfrm>
          <a:prstGeom prst="rect">
            <a:avLst/>
          </a:prstGeom>
          <a:noFill/>
        </p:spPr>
        <p:txBody>
          <a:bodyPr wrap="square" lIns="0" rIns="0" tIns="0" bIns="0">
            <a:spAutoFit/>
          </a:bodyPr>
          <a:lstStyle/>
          <a:p>
            <a:pPr algn="l">
              <a:lnSpc>
                <a:spcPct val="115000"/>
              </a:lnSpc>
            </a:pPr>
            <a:r>
              <a:rPr sz="1400" b="0" i="1">
                <a:solidFill>
                  <a:srgbClr val="F0CC8B"/>
                </a:solidFill>
                <a:latin typeface="Georgia"/>
              </a:rPr>
              <a:t>?  </a:t>
            </a:r>
            <a:r>
              <a:rPr sz="1350" b="0" i="1">
                <a:solidFill>
                  <a:srgbClr val="F2ECDD"/>
                </a:solidFill>
                <a:latin typeface="Georgia"/>
              </a:rPr>
              <a:t>Who approved it?</a:t>
            </a:r>
          </a:p>
        </p:txBody>
      </p:sp>
      <p:sp>
        <p:nvSpPr>
          <p:cNvPr id="8" name="TextBox 7"/>
          <p:cNvSpPr txBox="1"/>
          <p:nvPr/>
        </p:nvSpPr>
        <p:spPr>
          <a:xfrm>
            <a:off x="685800" y="4224527"/>
            <a:ext cx="5394960" cy="365760"/>
          </a:xfrm>
          <a:prstGeom prst="rect">
            <a:avLst/>
          </a:prstGeom>
          <a:noFill/>
        </p:spPr>
        <p:txBody>
          <a:bodyPr wrap="square" lIns="0" rIns="0" tIns="0" bIns="0">
            <a:spAutoFit/>
          </a:bodyPr>
          <a:lstStyle/>
          <a:p>
            <a:pPr algn="l">
              <a:lnSpc>
                <a:spcPct val="115000"/>
              </a:lnSpc>
            </a:pPr>
            <a:r>
              <a:rPr sz="1400" b="0" i="1">
                <a:solidFill>
                  <a:srgbClr val="F0CC8B"/>
                </a:solidFill>
                <a:latin typeface="Georgia"/>
              </a:rPr>
              <a:t>?  </a:t>
            </a:r>
            <a:r>
              <a:rPr sz="1350" b="0" i="1">
                <a:solidFill>
                  <a:srgbClr val="F2ECDD"/>
                </a:solidFill>
                <a:latin typeface="Georgia"/>
              </a:rPr>
              <a:t>What did we agree to?</a:t>
            </a:r>
          </a:p>
        </p:txBody>
      </p:sp>
      <p:sp>
        <p:nvSpPr>
          <p:cNvPr id="9" name="TextBox 8"/>
          <p:cNvSpPr txBox="1"/>
          <p:nvPr/>
        </p:nvSpPr>
        <p:spPr>
          <a:xfrm>
            <a:off x="685800" y="4754879"/>
            <a:ext cx="5394960" cy="365760"/>
          </a:xfrm>
          <a:prstGeom prst="rect">
            <a:avLst/>
          </a:prstGeom>
          <a:noFill/>
        </p:spPr>
        <p:txBody>
          <a:bodyPr wrap="square" lIns="0" rIns="0" tIns="0" bIns="0">
            <a:spAutoFit/>
          </a:bodyPr>
          <a:lstStyle/>
          <a:p>
            <a:pPr algn="l">
              <a:lnSpc>
                <a:spcPct val="115000"/>
              </a:lnSpc>
            </a:pPr>
            <a:r>
              <a:rPr sz="1400" b="0" i="1">
                <a:solidFill>
                  <a:srgbClr val="F0CC8B"/>
                </a:solidFill>
                <a:latin typeface="Georgia"/>
              </a:rPr>
              <a:t>?  </a:t>
            </a:r>
            <a:r>
              <a:rPr sz="1350" b="0" i="1">
                <a:solidFill>
                  <a:srgbClr val="F2ECDD"/>
                </a:solidFill>
                <a:latin typeface="Georgia"/>
              </a:rPr>
              <a:t>How much does somebody get paid?</a:t>
            </a:r>
          </a:p>
        </p:txBody>
      </p:sp>
      <p:sp>
        <p:nvSpPr>
          <p:cNvPr id="10" name="Rounded Rectangle 9"/>
          <p:cNvSpPr/>
          <p:nvPr/>
        </p:nvSpPr>
        <p:spPr>
          <a:xfrm>
            <a:off x="6400800" y="2103120"/>
            <a:ext cx="5257800" cy="3017520"/>
          </a:xfrm>
          <a:prstGeom prst="roundRect">
            <a:avLst>
              <a:gd name="adj" fmla="val 6000"/>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2377440"/>
            <a:ext cx="4754880" cy="2560320"/>
          </a:xfrm>
          <a:prstGeom prst="rect">
            <a:avLst/>
          </a:prstGeom>
          <a:noFill/>
        </p:spPr>
        <p:txBody>
          <a:bodyPr wrap="square" lIns="0" rIns="0" tIns="0" bIns="0">
            <a:spAutoFit/>
          </a:bodyPr>
          <a:lstStyle/>
          <a:p>
            <a:pPr algn="l">
              <a:lnSpc>
                <a:spcPct val="150000"/>
              </a:lnSpc>
            </a:pPr>
            <a:r>
              <a:rPr sz="1000" b="1" i="0">
                <a:solidFill>
                  <a:srgbClr val="9FE8DC"/>
                </a:solidFill>
                <a:latin typeface="Inter"/>
              </a:rPr>
              <a:t>L E S S   D E P E N D E N T   O N</a:t>
            </a:r>
          </a:p>
          <a:p>
            <a:pPr algn="l">
              <a:lnSpc>
                <a:spcPct val="150000"/>
              </a:lnSpc>
            </a:pPr>
            <a:r>
              <a:rPr sz="500" b="0" i="0">
                <a:solidFill>
                  <a:srgbClr val="AFC4C2"/>
                </a:solidFill>
                <a:latin typeface="Inter"/>
              </a:rPr>
              <a:t/>
            </a:r>
          </a:p>
          <a:p>
            <a:pPr algn="l">
              <a:lnSpc>
                <a:spcPct val="150000"/>
              </a:lnSpc>
            </a:pPr>
            <a:r>
              <a:rPr sz="1250" b="0" i="0">
                <a:solidFill>
                  <a:srgbClr val="F2ECDD"/>
                </a:solidFill>
                <a:latin typeface="Inter"/>
              </a:rPr>
              <a:t>·  memory</a:t>
            </a:r>
          </a:p>
          <a:p>
            <a:pPr algn="l">
              <a:lnSpc>
                <a:spcPct val="150000"/>
              </a:lnSpc>
            </a:pPr>
            <a:r>
              <a:rPr sz="1250" b="0" i="0">
                <a:solidFill>
                  <a:srgbClr val="F2ECDD"/>
                </a:solidFill>
                <a:latin typeface="Inter"/>
              </a:rPr>
              <a:t>·  chasing people</a:t>
            </a:r>
          </a:p>
          <a:p>
            <a:pPr algn="l">
              <a:lnSpc>
                <a:spcPct val="150000"/>
              </a:lnSpc>
            </a:pPr>
            <a:r>
              <a:rPr sz="1250" b="0" i="0">
                <a:solidFill>
                  <a:srgbClr val="F2ECDD"/>
                </a:solidFill>
                <a:latin typeface="Inter"/>
              </a:rPr>
              <a:t>·  repeated coordination</a:t>
            </a:r>
          </a:p>
          <a:p>
            <a:pPr algn="l">
              <a:lnSpc>
                <a:spcPct val="150000"/>
              </a:lnSpc>
            </a:pPr>
            <a:r>
              <a:rPr sz="1250" b="0" i="0">
                <a:solidFill>
                  <a:srgbClr val="F2ECDD"/>
                </a:solidFill>
                <a:latin typeface="Inter"/>
              </a:rPr>
              <a:t>·  interpersonal conflict</a:t>
            </a:r>
          </a:p>
          <a:p>
            <a:pPr algn="l">
              <a:lnSpc>
                <a:spcPct val="150000"/>
              </a:lnSpc>
            </a:pPr>
            <a:r>
              <a:rPr sz="600" b="0" i="0">
                <a:solidFill>
                  <a:srgbClr val="AFC4C2"/>
                </a:solidFill>
                <a:latin typeface="Inter"/>
              </a:rPr>
              <a:t/>
            </a:r>
          </a:p>
          <a:p>
            <a:pPr algn="l">
              <a:lnSpc>
                <a:spcPct val="150000"/>
              </a:lnSpc>
            </a:pPr>
            <a:r>
              <a:rPr sz="1350" b="0" i="1">
                <a:solidFill>
                  <a:srgbClr val="EBCF9E"/>
                </a:solidFill>
                <a:latin typeface="Georgia"/>
              </a:rPr>
              <a:t>Clear commitments and visible history</a:t>
            </a:r>
          </a:p>
          <a:p>
            <a:pPr algn="l">
              <a:lnSpc>
                <a:spcPct val="150000"/>
              </a:lnSpc>
            </a:pPr>
            <a:r>
              <a:rPr sz="1350" b="0" i="1">
                <a:solidFill>
                  <a:srgbClr val="EBCF9E"/>
                </a:solidFill>
                <a:latin typeface="Georgia"/>
              </a:rPr>
              <a:t>make trust easier.</a:t>
            </a:r>
          </a:p>
        </p:txBody>
      </p:sp>
      <p:sp>
        <p:nvSpPr>
          <p:cNvPr id="12" name="TextBox 11"/>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500" b="0" i="1">
                <a:solidFill>
                  <a:srgbClr val="9FE8DC"/>
                </a:solidFill>
                <a:latin typeface="Georgia"/>
              </a:rPr>
              <a:t>The ledger is social infrastructure as well as financial infrastructure.</a:t>
            </a:r>
          </a:p>
        </p:txBody>
      </p:sp>
      <p:pic>
        <p:nvPicPr>
          <p:cNvPr id="13" name="Picture 12"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4" name="TextBox 13"/>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5" name="TextBox 14"/>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O R G A N I Z A T I O N A L   K N O W - H O W</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2700" b="1" i="0">
                <a:solidFill>
                  <a:srgbClr val="F4EAD8"/>
                </a:solidFill>
                <a:latin typeface="Inter"/>
              </a:rPr>
              <a:t>Nobody should have to reinvent cooperation </a:t>
            </a:r>
            <a:r>
              <a:rPr sz="3000" b="0" i="1">
                <a:solidFill>
                  <a:srgbClr val="99E6D9"/>
                </a:solidFill>
                <a:latin typeface="Georgia"/>
              </a:rPr>
              <a:t>every time.</a:t>
            </a:r>
          </a:p>
        </p:txBody>
      </p:sp>
      <p:sp>
        <p:nvSpPr>
          <p:cNvPr id="4" name="Rounded Rectangle 3"/>
          <p:cNvSpPr/>
          <p:nvPr/>
        </p:nvSpPr>
        <p:spPr>
          <a:xfrm>
            <a:off x="548640" y="2194560"/>
            <a:ext cx="3569208" cy="210312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423160"/>
            <a:ext cx="3112008" cy="1645919"/>
          </a:xfrm>
          <a:prstGeom prst="rect">
            <a:avLst/>
          </a:prstGeom>
          <a:noFill/>
        </p:spPr>
        <p:txBody>
          <a:bodyPr wrap="square" lIns="0" rIns="0" tIns="0" bIns="0">
            <a:spAutoFit/>
          </a:bodyPr>
          <a:lstStyle/>
          <a:p>
            <a:pPr algn="l">
              <a:lnSpc>
                <a:spcPct val="135000"/>
              </a:lnSpc>
            </a:pPr>
            <a:r>
              <a:rPr sz="1000" b="1" i="0">
                <a:solidFill>
                  <a:srgbClr val="9FE8DC"/>
                </a:solidFill>
                <a:latin typeface="Inter"/>
              </a:rPr>
              <a:t>T E M P L A T E S</a:t>
            </a:r>
          </a:p>
          <a:p>
            <a:pPr algn="l">
              <a:lnSpc>
                <a:spcPct val="135000"/>
              </a:lnSpc>
            </a:pPr>
            <a:r>
              <a:rPr sz="500" b="0" i="0">
                <a:solidFill>
                  <a:srgbClr val="AFC4C2"/>
                </a:solidFill>
                <a:latin typeface="Inter"/>
              </a:rPr>
              <a:t/>
            </a:r>
          </a:p>
          <a:p>
            <a:pPr algn="l">
              <a:lnSpc>
                <a:spcPct val="135000"/>
              </a:lnSpc>
            </a:pPr>
            <a:r>
              <a:rPr sz="1150" b="0" i="0">
                <a:solidFill>
                  <a:srgbClr val="F2ECDD"/>
                </a:solidFill>
                <a:latin typeface="Inter"/>
              </a:rPr>
              <a:t>Recurring structures — roles, workflows, approvals, governance patterns, resource flows — captured once and reused.</a:t>
            </a:r>
          </a:p>
        </p:txBody>
      </p:sp>
      <p:sp>
        <p:nvSpPr>
          <p:cNvPr id="6" name="Rounded Rectangle 5"/>
          <p:cNvSpPr/>
          <p:nvPr/>
        </p:nvSpPr>
        <p:spPr>
          <a:xfrm>
            <a:off x="4319016" y="2194560"/>
            <a:ext cx="3569208" cy="2103120"/>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47616" y="2423160"/>
            <a:ext cx="3112008" cy="1645919"/>
          </a:xfrm>
          <a:prstGeom prst="rect">
            <a:avLst/>
          </a:prstGeom>
          <a:noFill/>
        </p:spPr>
        <p:txBody>
          <a:bodyPr wrap="square" lIns="0" rIns="0" tIns="0" bIns="0">
            <a:spAutoFit/>
          </a:bodyPr>
          <a:lstStyle/>
          <a:p>
            <a:pPr algn="l">
              <a:lnSpc>
                <a:spcPct val="135000"/>
              </a:lnSpc>
            </a:pPr>
            <a:r>
              <a:rPr sz="1000" b="1" i="0">
                <a:solidFill>
                  <a:srgbClr val="9FE8DC"/>
                </a:solidFill>
                <a:latin typeface="Inter"/>
              </a:rPr>
              <a:t>S H A R E D   T O O L S</a:t>
            </a:r>
          </a:p>
          <a:p>
            <a:pPr algn="l">
              <a:lnSpc>
                <a:spcPct val="135000"/>
              </a:lnSpc>
            </a:pPr>
            <a:r>
              <a:rPr sz="500" b="0" i="0">
                <a:solidFill>
                  <a:srgbClr val="AFC4C2"/>
                </a:solidFill>
                <a:latin typeface="Inter"/>
              </a:rPr>
              <a:t/>
            </a:r>
          </a:p>
          <a:p>
            <a:pPr algn="l">
              <a:lnSpc>
                <a:spcPct val="135000"/>
              </a:lnSpc>
            </a:pPr>
            <a:r>
              <a:rPr sz="1150" b="0" i="0">
                <a:solidFill>
                  <a:srgbClr val="F2ECDD"/>
                </a:solidFill>
                <a:latin typeface="Inter"/>
              </a:rPr>
              <a:t>The patterns organizations rely on, encoded into workflows any group can pick up on day one.</a:t>
            </a:r>
          </a:p>
        </p:txBody>
      </p:sp>
      <p:sp>
        <p:nvSpPr>
          <p:cNvPr id="8" name="Rounded Rectangle 7"/>
          <p:cNvSpPr/>
          <p:nvPr/>
        </p:nvSpPr>
        <p:spPr>
          <a:xfrm>
            <a:off x="8089392" y="2194560"/>
            <a:ext cx="3569208" cy="210312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17992" y="2423160"/>
            <a:ext cx="3112008" cy="1645919"/>
          </a:xfrm>
          <a:prstGeom prst="rect">
            <a:avLst/>
          </a:prstGeom>
          <a:noFill/>
        </p:spPr>
        <p:txBody>
          <a:bodyPr wrap="square" lIns="0" rIns="0" tIns="0" bIns="0">
            <a:spAutoFit/>
          </a:bodyPr>
          <a:lstStyle/>
          <a:p>
            <a:pPr algn="l">
              <a:lnSpc>
                <a:spcPct val="135000"/>
              </a:lnSpc>
            </a:pPr>
            <a:r>
              <a:rPr sz="1000" b="1" i="0">
                <a:solidFill>
                  <a:srgbClr val="9FE8DC"/>
                </a:solidFill>
                <a:latin typeface="Inter"/>
              </a:rPr>
              <a:t>L O W E R   A C T I V A T I O N   E N E R G Y</a:t>
            </a:r>
          </a:p>
          <a:p>
            <a:pPr algn="l">
              <a:lnSpc>
                <a:spcPct val="135000"/>
              </a:lnSpc>
            </a:pPr>
            <a:r>
              <a:rPr sz="500" b="0" i="0">
                <a:solidFill>
                  <a:srgbClr val="AFC4C2"/>
                </a:solidFill>
                <a:latin typeface="Inter"/>
              </a:rPr>
              <a:t/>
            </a:r>
          </a:p>
          <a:p>
            <a:pPr algn="l">
              <a:lnSpc>
                <a:spcPct val="135000"/>
              </a:lnSpc>
            </a:pPr>
            <a:r>
              <a:rPr sz="1150" b="0" i="0">
                <a:solidFill>
                  <a:srgbClr val="F2ECDD"/>
                </a:solidFill>
                <a:latin typeface="Inter"/>
              </a:rPr>
              <a:t>Starting something new stops requiring an operations expert before it requires anything else.</a:t>
            </a:r>
          </a:p>
        </p:txBody>
      </p:sp>
      <p:sp>
        <p:nvSpPr>
          <p:cNvPr id="10" name="TextBox 9"/>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300" b="0" i="0">
                <a:solidFill>
                  <a:srgbClr val="F2ECDD"/>
                </a:solidFill>
                <a:latin typeface="Inter"/>
              </a:rPr>
              <a:t>Easier organization → more projects → more businesses → more organizations →</a:t>
            </a:r>
          </a:p>
          <a:p>
            <a:pPr algn="ctr">
              <a:lnSpc>
                <a:spcPct val="140000"/>
              </a:lnSpc>
            </a:pPr>
            <a:r>
              <a:rPr sz="1350" b="1" i="0">
                <a:solidFill>
                  <a:srgbClr val="EBCF9E"/>
                </a:solidFill>
                <a:latin typeface="Inter"/>
              </a:rPr>
              <a:t>more economic activity → more local capacity.</a:t>
            </a:r>
          </a:p>
        </p:txBody>
      </p:sp>
      <p:pic>
        <p:nvPicPr>
          <p:cNvPr id="11" name="Picture 10"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2" name="TextBox 11"/>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3" name="TextBox 12"/>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P L U R A L   E X C H A N G E</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2800" b="1" i="0">
                <a:solidFill>
                  <a:srgbClr val="F4EAD8"/>
                </a:solidFill>
                <a:latin typeface="Inter"/>
              </a:rPr>
              <a:t>Not every exchange begins and ends </a:t>
            </a:r>
            <a:r>
              <a:rPr sz="3100" b="0" i="1">
                <a:solidFill>
                  <a:srgbClr val="F0CC8B"/>
                </a:solidFill>
                <a:latin typeface="Georgia"/>
              </a:rPr>
              <a:t>with money.</a:t>
            </a:r>
          </a:p>
        </p:txBody>
      </p:sp>
      <p:sp>
        <p:nvSpPr>
          <p:cNvPr id="4" name="Rounded Rectangle 3"/>
          <p:cNvSpPr/>
          <p:nvPr/>
        </p:nvSpPr>
        <p:spPr>
          <a:xfrm>
            <a:off x="548640" y="2148840"/>
            <a:ext cx="5440680" cy="3063240"/>
          </a:xfrm>
          <a:prstGeom prst="roundRect">
            <a:avLst>
              <a:gd name="adj" fmla="val 6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377440"/>
            <a:ext cx="4937760" cy="2651760"/>
          </a:xfrm>
          <a:prstGeom prst="rect">
            <a:avLst/>
          </a:prstGeom>
          <a:noFill/>
        </p:spPr>
        <p:txBody>
          <a:bodyPr wrap="square" lIns="0" rIns="0" tIns="0" bIns="0">
            <a:spAutoFit/>
          </a:bodyPr>
          <a:lstStyle/>
          <a:p>
            <a:pPr algn="l">
              <a:lnSpc>
                <a:spcPct val="155000"/>
              </a:lnSpc>
            </a:pPr>
            <a:r>
              <a:rPr sz="1000" b="1" i="0">
                <a:solidFill>
                  <a:srgbClr val="9FE8DC"/>
                </a:solidFill>
                <a:latin typeface="Inter"/>
              </a:rPr>
              <a:t>W H A T   P E O P L E   A C T U A L L Y   H A V E</a:t>
            </a:r>
          </a:p>
          <a:p>
            <a:pPr algn="l">
              <a:lnSpc>
                <a:spcPct val="155000"/>
              </a:lnSpc>
            </a:pPr>
            <a:r>
              <a:rPr sz="500" b="0" i="0">
                <a:solidFill>
                  <a:srgbClr val="AFC4C2"/>
                </a:solidFill>
                <a:latin typeface="Inter"/>
              </a:rPr>
              <a:t/>
            </a:r>
          </a:p>
          <a:p>
            <a:pPr algn="l">
              <a:lnSpc>
                <a:spcPct val="155000"/>
              </a:lnSpc>
            </a:pPr>
            <a:r>
              <a:rPr sz="1300" b="0" i="0">
                <a:solidFill>
                  <a:srgbClr val="F2ECDD"/>
                </a:solidFill>
                <a:latin typeface="Inter"/>
              </a:rPr>
              <a:t>time · skills · tools · food · space · knowledge</a:t>
            </a:r>
          </a:p>
          <a:p>
            <a:pPr algn="l">
              <a:lnSpc>
                <a:spcPct val="155000"/>
              </a:lnSpc>
            </a:pPr>
            <a:r>
              <a:rPr sz="1300" b="0" i="0">
                <a:solidFill>
                  <a:srgbClr val="F2ECDD"/>
                </a:solidFill>
                <a:latin typeface="Inter"/>
              </a:rPr>
              <a:t>USD · Bitcoin · vouchers · professional services</a:t>
            </a:r>
          </a:p>
          <a:p>
            <a:pPr algn="l">
              <a:lnSpc>
                <a:spcPct val="155000"/>
              </a:lnSpc>
            </a:pPr>
            <a:r>
              <a:rPr sz="1300" b="0" i="0">
                <a:solidFill>
                  <a:srgbClr val="F2ECDD"/>
                </a:solidFill>
                <a:latin typeface="Inter"/>
              </a:rPr>
              <a:t>something to lend · something no longer needed</a:t>
            </a:r>
          </a:p>
          <a:p>
            <a:pPr algn="l">
              <a:lnSpc>
                <a:spcPct val="155000"/>
              </a:lnSpc>
            </a:pPr>
            <a:r>
              <a:rPr sz="700" b="0" i="0">
                <a:solidFill>
                  <a:srgbClr val="AFC4C2"/>
                </a:solidFill>
                <a:latin typeface="Inter"/>
              </a:rPr>
              <a:t/>
            </a:r>
          </a:p>
          <a:p>
            <a:pPr algn="l">
              <a:lnSpc>
                <a:spcPct val="155000"/>
              </a:lnSpc>
            </a:pPr>
            <a:r>
              <a:rPr sz="1350" b="0" i="1">
                <a:solidFill>
                  <a:srgbClr val="EBCF9E"/>
                </a:solidFill>
                <a:latin typeface="Georgia"/>
              </a:rPr>
              <a:t>A community contains far more value than</a:t>
            </a:r>
          </a:p>
          <a:p>
            <a:pPr algn="l">
              <a:lnSpc>
                <a:spcPct val="155000"/>
              </a:lnSpc>
            </a:pPr>
            <a:r>
              <a:rPr sz="1350" b="0" i="1">
                <a:solidFill>
                  <a:srgbClr val="EBCF9E"/>
                </a:solidFill>
                <a:latin typeface="Georgia"/>
              </a:rPr>
              <a:t>the dollars currently circulating through it.</a:t>
            </a:r>
          </a:p>
        </p:txBody>
      </p:sp>
      <p:sp>
        <p:nvSpPr>
          <p:cNvPr id="6" name="Rounded Rectangle 5"/>
          <p:cNvSpPr/>
          <p:nvPr/>
        </p:nvSpPr>
        <p:spPr>
          <a:xfrm>
            <a:off x="6217920" y="2148840"/>
            <a:ext cx="5440680" cy="3063240"/>
          </a:xfrm>
          <a:prstGeom prst="roundRect">
            <a:avLst>
              <a:gd name="adj" fmla="val 6000"/>
            </a:avLst>
          </a:prstGeom>
          <a:solidFill>
            <a:srgbClr val="084B4D"/>
          </a:solidFill>
          <a:ln w="1397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377440"/>
            <a:ext cx="4937760" cy="2651760"/>
          </a:xfrm>
          <a:prstGeom prst="rect">
            <a:avLst/>
          </a:prstGeom>
          <a:noFill/>
        </p:spPr>
        <p:txBody>
          <a:bodyPr wrap="square" lIns="0" rIns="0" tIns="0" bIns="0">
            <a:spAutoFit/>
          </a:bodyPr>
          <a:lstStyle/>
          <a:p>
            <a:pPr algn="l">
              <a:lnSpc>
                <a:spcPct val="155000"/>
              </a:lnSpc>
            </a:pPr>
            <a:r>
              <a:rPr sz="1000" b="1" i="0">
                <a:solidFill>
                  <a:srgbClr val="EBCF9E"/>
                </a:solidFill>
                <a:latin typeface="Inter"/>
              </a:rPr>
              <a:t>H O W   A   R E S O U R C E   C A N   M O V E</a:t>
            </a:r>
          </a:p>
          <a:p>
            <a:pPr algn="l">
              <a:lnSpc>
                <a:spcPct val="155000"/>
              </a:lnSpc>
            </a:pPr>
            <a:r>
              <a:rPr sz="500" b="0" i="0">
                <a:solidFill>
                  <a:srgbClr val="AFC4C2"/>
                </a:solidFill>
                <a:latin typeface="Inter"/>
              </a:rPr>
              <a:t/>
            </a:r>
          </a:p>
          <a:p>
            <a:pPr algn="l">
              <a:lnSpc>
                <a:spcPct val="155000"/>
              </a:lnSpc>
            </a:pPr>
            <a:r>
              <a:rPr sz="1300" b="0" i="0">
                <a:solidFill>
                  <a:srgbClr val="F2ECDD"/>
                </a:solidFill>
                <a:latin typeface="Inter"/>
              </a:rPr>
              <a:t>sold · rented · traded · lent · shared</a:t>
            </a:r>
          </a:p>
          <a:p>
            <a:pPr algn="l">
              <a:lnSpc>
                <a:spcPct val="155000"/>
              </a:lnSpc>
            </a:pPr>
            <a:r>
              <a:rPr sz="1300" b="0" i="0">
                <a:solidFill>
                  <a:srgbClr val="F2ECDD"/>
                </a:solidFill>
                <a:latin typeface="Inter"/>
              </a:rPr>
              <a:t>gifted · contributed · mutual credit</a:t>
            </a:r>
          </a:p>
          <a:p>
            <a:pPr algn="l">
              <a:lnSpc>
                <a:spcPct val="155000"/>
              </a:lnSpc>
            </a:pPr>
            <a:r>
              <a:rPr sz="1300" b="0" i="0">
                <a:solidFill>
                  <a:srgbClr val="F2ECDD"/>
                </a:solidFill>
                <a:latin typeface="Inter"/>
              </a:rPr>
              <a:t>part cash + part service · barter · voucher · grant</a:t>
            </a:r>
          </a:p>
          <a:p>
            <a:pPr algn="l">
              <a:lnSpc>
                <a:spcPct val="155000"/>
              </a:lnSpc>
            </a:pPr>
            <a:r>
              <a:rPr sz="700" b="0" i="0">
                <a:solidFill>
                  <a:srgbClr val="AFC4C2"/>
                </a:solidFill>
                <a:latin typeface="Inter"/>
              </a:rPr>
              <a:t/>
            </a:r>
          </a:p>
          <a:p>
            <a:pPr algn="l">
              <a:lnSpc>
                <a:spcPct val="155000"/>
              </a:lnSpc>
            </a:pPr>
            <a:r>
              <a:rPr sz="1350" b="0" i="1">
                <a:solidFill>
                  <a:srgbClr val="9FE8DC"/>
                </a:solidFill>
                <a:latin typeface="Georgia"/>
              </a:rPr>
              <a:t>Use what people actually have to move</a:t>
            </a:r>
          </a:p>
          <a:p>
            <a:pPr algn="l">
              <a:lnSpc>
                <a:spcPct val="155000"/>
              </a:lnSpc>
            </a:pPr>
            <a:r>
              <a:rPr sz="1350" b="0" i="1">
                <a:solidFill>
                  <a:srgbClr val="9FE8DC"/>
                </a:solidFill>
                <a:latin typeface="Georgia"/>
              </a:rPr>
              <a:t>resources where they are useful.</a:t>
            </a:r>
          </a:p>
        </p:txBody>
      </p:sp>
      <p:sp>
        <p:nvSpPr>
          <p:cNvPr id="8" name="TextBox 7"/>
          <p:cNvSpPr txBox="1"/>
          <p:nvPr/>
        </p:nvSpPr>
        <p:spPr>
          <a:xfrm>
            <a:off x="548640" y="5623560"/>
            <a:ext cx="11064240" cy="731520"/>
          </a:xfrm>
          <a:prstGeom prst="rect">
            <a:avLst/>
          </a:prstGeom>
          <a:noFill/>
        </p:spPr>
        <p:txBody>
          <a:bodyPr wrap="square" lIns="0" rIns="0" tIns="0" bIns="0">
            <a:spAutoFit/>
          </a:bodyPr>
          <a:lstStyle/>
          <a:p>
            <a:pPr algn="ctr">
              <a:lnSpc>
                <a:spcPct val="140000"/>
              </a:lnSpc>
            </a:pPr>
            <a:r>
              <a:rPr sz="1500" b="1" i="0">
                <a:solidFill>
                  <a:srgbClr val="F4EAD8"/>
                </a:solidFill>
                <a:latin typeface="Inter"/>
              </a:rPr>
              <a:t>The aim is useful resource flow.</a:t>
            </a:r>
          </a:p>
        </p:txBody>
      </p:sp>
      <p:pic>
        <p:nvPicPr>
          <p:cNvPr id="9" name="Picture 8"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0" name="TextBox 9"/>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1" name="TextBox 10"/>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E C O N O M I C   S O V E R E I G N T Y</a:t>
            </a:r>
          </a:p>
        </p:txBody>
      </p:sp>
      <p:sp>
        <p:nvSpPr>
          <p:cNvPr id="3" name="TextBox 2"/>
          <p:cNvSpPr txBox="1"/>
          <p:nvPr/>
        </p:nvSpPr>
        <p:spPr>
          <a:xfrm>
            <a:off x="548640" y="1554480"/>
            <a:ext cx="11064240" cy="1645920"/>
          </a:xfrm>
          <a:prstGeom prst="rect">
            <a:avLst/>
          </a:prstGeom>
          <a:noFill/>
        </p:spPr>
        <p:txBody>
          <a:bodyPr wrap="square" lIns="0" rIns="0" tIns="0" bIns="0">
            <a:spAutoFit/>
          </a:bodyPr>
          <a:lstStyle/>
          <a:p>
            <a:pPr algn="l">
              <a:lnSpc>
                <a:spcPct val="130000"/>
              </a:lnSpc>
            </a:pPr>
            <a:r>
              <a:rPr sz="3300" b="1" i="0">
                <a:solidFill>
                  <a:srgbClr val="F4EAD8"/>
                </a:solidFill>
                <a:latin typeface="Inter"/>
              </a:rPr>
              <a:t>A lack of cash should not automatically</a:t>
            </a:r>
          </a:p>
          <a:p>
            <a:pPr algn="l">
              <a:lnSpc>
                <a:spcPct val="130000"/>
              </a:lnSpc>
            </a:pPr>
            <a:r>
              <a:rPr sz="3300" b="1" i="0">
                <a:solidFill>
                  <a:srgbClr val="F4EAD8"/>
                </a:solidFill>
                <a:latin typeface="Inter"/>
              </a:rPr>
              <a:t>mean a lack of </a:t>
            </a:r>
            <a:r>
              <a:rPr sz="3700" b="0" i="1">
                <a:solidFill>
                  <a:srgbClr val="99E6D9"/>
                </a:solidFill>
                <a:latin typeface="Georgia"/>
              </a:rPr>
              <a:t>capacity.</a:t>
            </a:r>
          </a:p>
        </p:txBody>
      </p:sp>
      <p:sp>
        <p:nvSpPr>
          <p:cNvPr id="4" name="TextBox 3"/>
          <p:cNvSpPr txBox="1"/>
          <p:nvPr/>
        </p:nvSpPr>
        <p:spPr>
          <a:xfrm>
            <a:off x="548640" y="3383280"/>
            <a:ext cx="11064240" cy="1280160"/>
          </a:xfrm>
          <a:prstGeom prst="rect">
            <a:avLst/>
          </a:prstGeom>
          <a:noFill/>
        </p:spPr>
        <p:txBody>
          <a:bodyPr wrap="square" lIns="0" rIns="0" tIns="0" bIns="0">
            <a:spAutoFit/>
          </a:bodyPr>
          <a:lstStyle/>
          <a:p>
            <a:pPr algn="l">
              <a:lnSpc>
                <a:spcPct val="170000"/>
              </a:lnSpc>
            </a:pPr>
            <a:r>
              <a:rPr sz="1500" b="0" i="0">
                <a:solidFill>
                  <a:srgbClr val="F2ECDD"/>
                </a:solidFill>
                <a:latin typeface="Inter"/>
              </a:rPr>
              <a:t>Economic sovereignty does not mean abandoning existing money.</a:t>
            </a:r>
          </a:p>
          <a:p>
            <a:pPr algn="l">
              <a:lnSpc>
                <a:spcPct val="170000"/>
              </a:lnSpc>
            </a:pPr>
            <a:r>
              <a:rPr sz="1500" b="0" i="0">
                <a:solidFill>
                  <a:srgbClr val="F2ECDD"/>
                </a:solidFill>
                <a:latin typeface="Inter"/>
              </a:rPr>
              <a:t>It means having </a:t>
            </a:r>
            <a:r>
              <a:rPr sz="1500" b="1" i="0">
                <a:solidFill>
                  <a:srgbClr val="EBCF9E"/>
                </a:solidFill>
                <a:latin typeface="Inter"/>
              </a:rPr>
              <a:t>more than one way to participate.</a:t>
            </a:r>
          </a:p>
          <a:p>
            <a:pPr algn="l">
              <a:lnSpc>
                <a:spcPct val="170000"/>
              </a:lnSpc>
            </a:pPr>
            <a:r>
              <a:rPr sz="1500" b="0" i="0">
                <a:solidFill>
                  <a:srgbClr val="F2ECDD"/>
                </a:solidFill>
                <a:latin typeface="Inter"/>
              </a:rPr>
              <a:t>If someone lacks dollars but has time, skill, knowledge, or labor — useful activity does not have to stop.</a:t>
            </a:r>
          </a:p>
        </p:txBody>
      </p:sp>
      <p:sp>
        <p:nvSpPr>
          <p:cNvPr id="5" name="TextBox 4"/>
          <p:cNvSpPr txBox="1"/>
          <p:nvPr/>
        </p:nvSpPr>
        <p:spPr>
          <a:xfrm>
            <a:off x="548640" y="5212080"/>
            <a:ext cx="11064240" cy="731520"/>
          </a:xfrm>
          <a:prstGeom prst="rect">
            <a:avLst/>
          </a:prstGeom>
          <a:noFill/>
        </p:spPr>
        <p:txBody>
          <a:bodyPr wrap="square" lIns="0" rIns="0" tIns="0" bIns="0">
            <a:spAutoFit/>
          </a:bodyPr>
          <a:lstStyle/>
          <a:p>
            <a:pPr algn="ctr">
              <a:lnSpc>
                <a:spcPct val="140000"/>
              </a:lnSpc>
            </a:pPr>
            <a:r>
              <a:rPr sz="1500" b="0" i="1">
                <a:solidFill>
                  <a:srgbClr val="9FE8DC"/>
                </a:solidFill>
                <a:latin typeface="Georgia"/>
              </a:rPr>
              <a:t>A community becomes more resilient when useful exchange can continue</a:t>
            </a:r>
          </a:p>
          <a:p>
            <a:pPr algn="ctr">
              <a:lnSpc>
                <a:spcPct val="140000"/>
              </a:lnSpc>
            </a:pPr>
            <a:r>
              <a:rPr sz="1500" b="0" i="1">
                <a:solidFill>
                  <a:srgbClr val="9FE8DC"/>
                </a:solidFill>
                <a:latin typeface="Georgia"/>
              </a:rPr>
              <a:t>through multiple mutually agreed forms.</a:t>
            </a:r>
          </a:p>
        </p:txBody>
      </p:sp>
      <p:pic>
        <p:nvPicPr>
          <p:cNvPr id="6" name="Picture 5"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7" name="TextBox 6"/>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8" name="TextBox 7"/>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L O C A L   C A P A C I T Y   L O O P</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000" b="1" i="0">
                <a:solidFill>
                  <a:srgbClr val="F4EAD8"/>
                </a:solidFill>
                <a:latin typeface="Inter"/>
              </a:rPr>
              <a:t>Better resource flow creates </a:t>
            </a:r>
            <a:r>
              <a:rPr sz="3300" b="0" i="1">
                <a:solidFill>
                  <a:srgbClr val="F0CC8B"/>
                </a:solidFill>
                <a:latin typeface="Georgia"/>
              </a:rPr>
              <a:t>new productive capacity.</a:t>
            </a:r>
          </a:p>
        </p:txBody>
      </p:sp>
      <p:sp>
        <p:nvSpPr>
          <p:cNvPr id="4" name="TextBox 3"/>
          <p:cNvSpPr txBox="1"/>
          <p:nvPr/>
        </p:nvSpPr>
        <p:spPr>
          <a:xfrm>
            <a:off x="548640" y="2011680"/>
            <a:ext cx="7315200" cy="274320"/>
          </a:xfrm>
          <a:prstGeom prst="rect">
            <a:avLst/>
          </a:prstGeom>
          <a:noFill/>
        </p:spPr>
        <p:txBody>
          <a:bodyPr wrap="square" lIns="0" rIns="0" tIns="0" bIns="0">
            <a:spAutoFit/>
          </a:bodyPr>
          <a:lstStyle/>
          <a:p>
            <a:pPr algn="l">
              <a:lnSpc>
                <a:spcPct val="115000"/>
              </a:lnSpc>
            </a:pPr>
            <a:r>
              <a:rPr sz="950" b="1" i="0">
                <a:solidFill>
                  <a:srgbClr val="9FE8DC"/>
                </a:solidFill>
                <a:latin typeface="Inter"/>
              </a:rPr>
              <a:t>T H E   L O O P</a:t>
            </a:r>
          </a:p>
        </p:txBody>
      </p:sp>
      <p:sp>
        <p:nvSpPr>
          <p:cNvPr id="5" name="Rounded Rectangle 4"/>
          <p:cNvSpPr/>
          <p:nvPr/>
        </p:nvSpPr>
        <p:spPr>
          <a:xfrm>
            <a:off x="548640" y="2377440"/>
            <a:ext cx="11109960" cy="1179576"/>
          </a:xfrm>
          <a:prstGeom prst="roundRect">
            <a:avLst>
              <a:gd name="adj" fmla="val 6000"/>
            </a:avLst>
          </a:prstGeom>
          <a:solidFill>
            <a:srgbClr val="0D3E40"/>
          </a:solidFill>
          <a:ln w="1397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578608"/>
            <a:ext cx="10515600" cy="768096"/>
          </a:xfrm>
          <a:prstGeom prst="rect">
            <a:avLst/>
          </a:prstGeom>
          <a:noFill/>
        </p:spPr>
        <p:txBody>
          <a:bodyPr wrap="square" lIns="0" rIns="0" tIns="0" bIns="0">
            <a:spAutoFit/>
          </a:bodyPr>
          <a:lstStyle/>
          <a:p>
            <a:pPr algn="ctr">
              <a:lnSpc>
                <a:spcPct val="140000"/>
              </a:lnSpc>
            </a:pPr>
            <a:r>
              <a:rPr sz="1650" b="0" i="1">
                <a:solidFill>
                  <a:srgbClr val="F4EAD8"/>
                </a:solidFill>
                <a:latin typeface="Georgia"/>
              </a:rPr>
              <a:t>visibility → coordination → exchange → relationships →</a:t>
            </a:r>
          </a:p>
          <a:p>
            <a:pPr algn="ctr">
              <a:lnSpc>
                <a:spcPct val="140000"/>
              </a:lnSpc>
            </a:pPr>
            <a:r>
              <a:rPr sz="1650" b="0" i="1">
                <a:solidFill>
                  <a:srgbClr val="EBCF9E"/>
                </a:solidFill>
                <a:latin typeface="Georgia"/>
              </a:rPr>
              <a:t>intelligence → demand → productive capacity → resilience</a:t>
            </a:r>
          </a:p>
        </p:txBody>
      </p:sp>
      <p:sp>
        <p:nvSpPr>
          <p:cNvPr id="7" name="TextBox 6"/>
          <p:cNvSpPr txBox="1"/>
          <p:nvPr/>
        </p:nvSpPr>
        <p:spPr>
          <a:xfrm>
            <a:off x="548640" y="3831336"/>
            <a:ext cx="11064240" cy="1280160"/>
          </a:xfrm>
          <a:prstGeom prst="rect">
            <a:avLst/>
          </a:prstGeom>
          <a:noFill/>
        </p:spPr>
        <p:txBody>
          <a:bodyPr wrap="square" lIns="0" rIns="0" tIns="0" bIns="0">
            <a:spAutoFit/>
          </a:bodyPr>
          <a:lstStyle/>
          <a:p>
            <a:pPr algn="ctr">
              <a:lnSpc>
                <a:spcPct val="150000"/>
              </a:lnSpc>
            </a:pPr>
            <a:r>
              <a:rPr sz="1300" b="0" i="0">
                <a:solidFill>
                  <a:srgbClr val="F2ECDD"/>
                </a:solidFill>
                <a:latin typeface="Inter"/>
              </a:rPr>
              <a:t>Greater visibility creates more exchange. More exchange creates more relationships.</a:t>
            </a:r>
          </a:p>
          <a:p>
            <a:pPr algn="ctr">
              <a:lnSpc>
                <a:spcPct val="150000"/>
              </a:lnSpc>
            </a:pPr>
            <a:r>
              <a:rPr sz="1300" b="0" i="0">
                <a:solidFill>
                  <a:srgbClr val="F2ECDD"/>
                </a:solidFill>
                <a:latin typeface="Inter"/>
              </a:rPr>
              <a:t>More activity creates better information about what a place actually needs — and visible demand</a:t>
            </a:r>
          </a:p>
          <a:p>
            <a:pPr algn="ctr">
              <a:lnSpc>
                <a:spcPct val="150000"/>
              </a:lnSpc>
            </a:pPr>
            <a:r>
              <a:rPr sz="1300" b="0" i="0">
                <a:solidFill>
                  <a:srgbClr val="F2ECDD"/>
                </a:solidFill>
                <a:latin typeface="Inter"/>
              </a:rPr>
              <a:t>makes new local businesses, services, production, care networks, and infrastructure viable.</a:t>
            </a:r>
          </a:p>
        </p:txBody>
      </p:sp>
      <p:sp>
        <p:nvSpPr>
          <p:cNvPr id="8" name="TextBox 7"/>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450" b="0" i="1">
                <a:solidFill>
                  <a:srgbClr val="9FE8DC"/>
                </a:solidFill>
                <a:latin typeface="Georgia"/>
              </a:rPr>
              <a:t>The goal is not simply to circulate what already exists.</a:t>
            </a:r>
          </a:p>
        </p:txBody>
      </p:sp>
      <p:pic>
        <p:nvPicPr>
          <p:cNvPr id="9" name="Picture 8"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0" name="TextBox 9"/>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1" name="TextBox 10"/>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L O C A L   E C O N O M I C   I N T E L L I G E N C E</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200" b="1" i="0">
                <a:solidFill>
                  <a:srgbClr val="F4EAD8"/>
                </a:solidFill>
                <a:latin typeface="Inter"/>
              </a:rPr>
              <a:t>Better visibility helps a place </a:t>
            </a:r>
            <a:r>
              <a:rPr sz="3600" b="0" i="1">
                <a:solidFill>
                  <a:srgbClr val="EBCF9E"/>
                </a:solidFill>
                <a:latin typeface="Georgia"/>
              </a:rPr>
              <a:t>learn.</a:t>
            </a:r>
          </a:p>
        </p:txBody>
      </p:sp>
      <p:sp>
        <p:nvSpPr>
          <p:cNvPr id="4" name="TextBox 3"/>
          <p:cNvSpPr txBox="1"/>
          <p:nvPr/>
        </p:nvSpPr>
        <p:spPr>
          <a:xfrm>
            <a:off x="548640" y="1920240"/>
            <a:ext cx="5486400" cy="457200"/>
          </a:xfrm>
          <a:prstGeom prst="rect">
            <a:avLst/>
          </a:prstGeom>
          <a:noFill/>
        </p:spPr>
        <p:txBody>
          <a:bodyPr wrap="square" lIns="0" rIns="0" tIns="0" bIns="0">
            <a:spAutoFit/>
          </a:bodyPr>
          <a:lstStyle/>
          <a:p>
            <a:pPr algn="l">
              <a:lnSpc>
                <a:spcPct val="115000"/>
              </a:lnSpc>
            </a:pPr>
            <a:r>
              <a:rPr sz="1500" b="0" i="1">
                <a:solidFill>
                  <a:srgbClr val="F0CC8B"/>
                </a:solidFill>
                <a:latin typeface="Georgia"/>
              </a:rPr>
              <a:t>?  </a:t>
            </a:r>
            <a:r>
              <a:rPr sz="1450" b="0" i="1">
                <a:solidFill>
                  <a:srgbClr val="F2ECDD"/>
                </a:solidFill>
                <a:latin typeface="Georgia"/>
              </a:rPr>
              <a:t>Where are the shortages?</a:t>
            </a:r>
          </a:p>
        </p:txBody>
      </p:sp>
      <p:sp>
        <p:nvSpPr>
          <p:cNvPr id="5" name="TextBox 4"/>
          <p:cNvSpPr txBox="1"/>
          <p:nvPr/>
        </p:nvSpPr>
        <p:spPr>
          <a:xfrm>
            <a:off x="6291072" y="1920240"/>
            <a:ext cx="5486400" cy="457200"/>
          </a:xfrm>
          <a:prstGeom prst="rect">
            <a:avLst/>
          </a:prstGeom>
          <a:noFill/>
        </p:spPr>
        <p:txBody>
          <a:bodyPr wrap="square" lIns="0" rIns="0" tIns="0" bIns="0">
            <a:spAutoFit/>
          </a:bodyPr>
          <a:lstStyle/>
          <a:p>
            <a:pPr algn="l">
              <a:lnSpc>
                <a:spcPct val="115000"/>
              </a:lnSpc>
            </a:pPr>
            <a:r>
              <a:rPr sz="1500" b="0" i="1">
                <a:solidFill>
                  <a:srgbClr val="F0CC8B"/>
                </a:solidFill>
                <a:latin typeface="Georgia"/>
              </a:rPr>
              <a:t>?  </a:t>
            </a:r>
            <a:r>
              <a:rPr sz="1450" b="0" i="1">
                <a:solidFill>
                  <a:srgbClr val="F2ECDD"/>
                </a:solidFill>
                <a:latin typeface="Georgia"/>
              </a:rPr>
              <a:t>What sits unused?</a:t>
            </a:r>
          </a:p>
        </p:txBody>
      </p:sp>
      <p:sp>
        <p:nvSpPr>
          <p:cNvPr id="6" name="TextBox 5"/>
          <p:cNvSpPr txBox="1"/>
          <p:nvPr/>
        </p:nvSpPr>
        <p:spPr>
          <a:xfrm>
            <a:off x="548640" y="2633472"/>
            <a:ext cx="5486400" cy="457200"/>
          </a:xfrm>
          <a:prstGeom prst="rect">
            <a:avLst/>
          </a:prstGeom>
          <a:noFill/>
        </p:spPr>
        <p:txBody>
          <a:bodyPr wrap="square" lIns="0" rIns="0" tIns="0" bIns="0">
            <a:spAutoFit/>
          </a:bodyPr>
          <a:lstStyle/>
          <a:p>
            <a:pPr algn="l">
              <a:lnSpc>
                <a:spcPct val="115000"/>
              </a:lnSpc>
            </a:pPr>
            <a:r>
              <a:rPr sz="1500" b="0" i="1">
                <a:solidFill>
                  <a:srgbClr val="F0CC8B"/>
                </a:solidFill>
                <a:latin typeface="Georgia"/>
              </a:rPr>
              <a:t>?  </a:t>
            </a:r>
            <a:r>
              <a:rPr sz="1450" b="0" i="1">
                <a:solidFill>
                  <a:srgbClr val="F2ECDD"/>
                </a:solidFill>
                <a:latin typeface="Georgia"/>
              </a:rPr>
              <a:t>What are people repeatedly trying to find?</a:t>
            </a:r>
          </a:p>
        </p:txBody>
      </p:sp>
      <p:sp>
        <p:nvSpPr>
          <p:cNvPr id="7" name="TextBox 6"/>
          <p:cNvSpPr txBox="1"/>
          <p:nvPr/>
        </p:nvSpPr>
        <p:spPr>
          <a:xfrm>
            <a:off x="6291072" y="2633472"/>
            <a:ext cx="5486400" cy="457200"/>
          </a:xfrm>
          <a:prstGeom prst="rect">
            <a:avLst/>
          </a:prstGeom>
          <a:noFill/>
        </p:spPr>
        <p:txBody>
          <a:bodyPr wrap="square" lIns="0" rIns="0" tIns="0" bIns="0">
            <a:spAutoFit/>
          </a:bodyPr>
          <a:lstStyle/>
          <a:p>
            <a:pPr algn="l">
              <a:lnSpc>
                <a:spcPct val="115000"/>
              </a:lnSpc>
            </a:pPr>
            <a:r>
              <a:rPr sz="1500" b="0" i="1">
                <a:solidFill>
                  <a:srgbClr val="F0CC8B"/>
                </a:solidFill>
                <a:latin typeface="Georgia"/>
              </a:rPr>
              <a:t>?  </a:t>
            </a:r>
            <a:r>
              <a:rPr sz="1450" b="0" i="1">
                <a:solidFill>
                  <a:srgbClr val="F2ECDD"/>
                </a:solidFill>
                <a:latin typeface="Georgia"/>
              </a:rPr>
              <a:t>What do we constantly source from elsewhere?</a:t>
            </a:r>
          </a:p>
        </p:txBody>
      </p:sp>
      <p:sp>
        <p:nvSpPr>
          <p:cNvPr id="8" name="TextBox 7"/>
          <p:cNvSpPr txBox="1"/>
          <p:nvPr/>
        </p:nvSpPr>
        <p:spPr>
          <a:xfrm>
            <a:off x="548640" y="3346704"/>
            <a:ext cx="5486400" cy="457200"/>
          </a:xfrm>
          <a:prstGeom prst="rect">
            <a:avLst/>
          </a:prstGeom>
          <a:noFill/>
        </p:spPr>
        <p:txBody>
          <a:bodyPr wrap="square" lIns="0" rIns="0" tIns="0" bIns="0">
            <a:spAutoFit/>
          </a:bodyPr>
          <a:lstStyle/>
          <a:p>
            <a:pPr algn="l">
              <a:lnSpc>
                <a:spcPct val="115000"/>
              </a:lnSpc>
            </a:pPr>
            <a:r>
              <a:rPr sz="1500" b="0" i="1">
                <a:solidFill>
                  <a:srgbClr val="F0CC8B"/>
                </a:solidFill>
                <a:latin typeface="Georgia"/>
              </a:rPr>
              <a:t>?  </a:t>
            </a:r>
            <a:r>
              <a:rPr sz="1450" b="0" i="1">
                <a:solidFill>
                  <a:srgbClr val="F2ECDD"/>
                </a:solidFill>
                <a:latin typeface="Georgia"/>
              </a:rPr>
              <a:t>What new business could become viable?</a:t>
            </a:r>
          </a:p>
        </p:txBody>
      </p:sp>
      <p:sp>
        <p:nvSpPr>
          <p:cNvPr id="9" name="TextBox 8"/>
          <p:cNvSpPr txBox="1"/>
          <p:nvPr/>
        </p:nvSpPr>
        <p:spPr>
          <a:xfrm>
            <a:off x="6291072" y="3346704"/>
            <a:ext cx="5486400" cy="457200"/>
          </a:xfrm>
          <a:prstGeom prst="rect">
            <a:avLst/>
          </a:prstGeom>
          <a:noFill/>
        </p:spPr>
        <p:txBody>
          <a:bodyPr wrap="square" lIns="0" rIns="0" tIns="0" bIns="0">
            <a:spAutoFit/>
          </a:bodyPr>
          <a:lstStyle/>
          <a:p>
            <a:pPr algn="l">
              <a:lnSpc>
                <a:spcPct val="115000"/>
              </a:lnSpc>
            </a:pPr>
            <a:r>
              <a:rPr sz="1500" b="0" i="1">
                <a:solidFill>
                  <a:srgbClr val="F0CC8B"/>
                </a:solidFill>
                <a:latin typeface="Georgia"/>
              </a:rPr>
              <a:t>?  </a:t>
            </a:r>
            <a:r>
              <a:rPr sz="1450" b="0" i="1">
                <a:solidFill>
                  <a:srgbClr val="F2ECDD"/>
                </a:solidFill>
                <a:latin typeface="Georgia"/>
              </a:rPr>
              <a:t>What could people build together?</a:t>
            </a:r>
          </a:p>
        </p:txBody>
      </p:sp>
      <p:sp>
        <p:nvSpPr>
          <p:cNvPr id="10" name="Rounded Rectangle 9"/>
          <p:cNvSpPr/>
          <p:nvPr/>
        </p:nvSpPr>
        <p:spPr>
          <a:xfrm>
            <a:off x="548640" y="4288536"/>
            <a:ext cx="11109960" cy="868680"/>
          </a:xfrm>
          <a:prstGeom prst="roundRect">
            <a:avLst>
              <a:gd name="adj" fmla="val 6000"/>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453127"/>
            <a:ext cx="10607040" cy="548640"/>
          </a:xfrm>
          <a:prstGeom prst="rect">
            <a:avLst/>
          </a:prstGeom>
          <a:noFill/>
        </p:spPr>
        <p:txBody>
          <a:bodyPr wrap="square" lIns="0" rIns="0" tIns="0" bIns="0">
            <a:spAutoFit/>
          </a:bodyPr>
          <a:lstStyle/>
          <a:p>
            <a:pPr algn="ctr">
              <a:lnSpc>
                <a:spcPct val="115000"/>
              </a:lnSpc>
            </a:pPr>
            <a:r>
              <a:rPr sz="1400" b="1" i="0">
                <a:solidFill>
                  <a:srgbClr val="F4EAD8"/>
                </a:solidFill>
                <a:latin typeface="Inter"/>
              </a:rPr>
              <a:t>A feedback system for developing local capacity — </a:t>
            </a:r>
            <a:r>
              <a:rPr sz="1450" b="0" i="1">
                <a:solidFill>
                  <a:srgbClr val="9FE8DC"/>
                </a:solidFill>
                <a:latin typeface="Georgia"/>
              </a:rPr>
              <a:t>not merely a marketplace for what already exists.</a:t>
            </a:r>
          </a:p>
        </p:txBody>
      </p:sp>
      <p:pic>
        <p:nvPicPr>
          <p:cNvPr id="12" name="Picture 11"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3" name="TextBox 12"/>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4" name="TextBox 13"/>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C O L L A B O R A T I O N ,   N O T   O N L Y   T R A N S A C T I O N</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500" b="0" i="1">
                <a:solidFill>
                  <a:srgbClr val="99E6D9"/>
                </a:solidFill>
                <a:latin typeface="Georgia"/>
              </a:rPr>
              <a:t>Coalitions</a:t>
            </a:r>
            <a:r>
              <a:rPr sz="3200" b="1" i="0">
                <a:solidFill>
                  <a:srgbClr val="F4EAD8"/>
                </a:solidFill>
                <a:latin typeface="Inter"/>
              </a:rPr>
              <a:t> — not only transactions.</a:t>
            </a:r>
          </a:p>
        </p:txBody>
      </p:sp>
      <p:sp>
        <p:nvSpPr>
          <p:cNvPr id="4" name="TextBox 3"/>
          <p:cNvSpPr txBox="1"/>
          <p:nvPr/>
        </p:nvSpPr>
        <p:spPr>
          <a:xfrm>
            <a:off x="548640" y="2148840"/>
            <a:ext cx="5486400" cy="274320"/>
          </a:xfrm>
          <a:prstGeom prst="rect">
            <a:avLst/>
          </a:prstGeom>
          <a:noFill/>
        </p:spPr>
        <p:txBody>
          <a:bodyPr wrap="square" lIns="0" rIns="0" tIns="0" bIns="0">
            <a:spAutoFit/>
          </a:bodyPr>
          <a:lstStyle/>
          <a:p>
            <a:pPr algn="l">
              <a:lnSpc>
                <a:spcPct val="115000"/>
              </a:lnSpc>
            </a:pPr>
            <a:r>
              <a:rPr sz="950" b="1" i="0">
                <a:solidFill>
                  <a:srgbClr val="AFC4C2"/>
                </a:solidFill>
                <a:latin typeface="Inter"/>
              </a:rPr>
              <a:t>T H E   F A M I L I A R   P A T T E R N</a:t>
            </a:r>
          </a:p>
        </p:txBody>
      </p:sp>
      <p:sp>
        <p:nvSpPr>
          <p:cNvPr id="5" name="Rounded Rectangle 4"/>
          <p:cNvSpPr/>
          <p:nvPr/>
        </p:nvSpPr>
        <p:spPr>
          <a:xfrm>
            <a:off x="548640" y="2514600"/>
            <a:ext cx="11109960" cy="777240"/>
          </a:xfrm>
          <a:prstGeom prst="roundRect">
            <a:avLst>
              <a:gd name="adj" fmla="val 6000"/>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724912"/>
            <a:ext cx="10515600" cy="365760"/>
          </a:xfrm>
          <a:prstGeom prst="rect">
            <a:avLst/>
          </a:prstGeom>
          <a:noFill/>
        </p:spPr>
        <p:txBody>
          <a:bodyPr wrap="square" lIns="0" rIns="0" tIns="0" bIns="0">
            <a:spAutoFit/>
          </a:bodyPr>
          <a:lstStyle/>
          <a:p>
            <a:pPr algn="ctr">
              <a:lnSpc>
                <a:spcPct val="115000"/>
              </a:lnSpc>
            </a:pPr>
            <a:r>
              <a:rPr sz="1600" b="0" i="1">
                <a:solidFill>
                  <a:srgbClr val="F2ECDD"/>
                </a:solidFill>
                <a:latin typeface="Georgia"/>
              </a:rPr>
              <a:t>need  →  provider  →  transaction</a:t>
            </a:r>
          </a:p>
        </p:txBody>
      </p:sp>
      <p:sp>
        <p:nvSpPr>
          <p:cNvPr id="7" name="TextBox 6"/>
          <p:cNvSpPr txBox="1"/>
          <p:nvPr/>
        </p:nvSpPr>
        <p:spPr>
          <a:xfrm>
            <a:off x="548640" y="3611880"/>
            <a:ext cx="5486400" cy="274320"/>
          </a:xfrm>
          <a:prstGeom prst="rect">
            <a:avLst/>
          </a:prstGeom>
          <a:noFill/>
        </p:spPr>
        <p:txBody>
          <a:bodyPr wrap="square" lIns="0" rIns="0" tIns="0" bIns="0">
            <a:spAutoFit/>
          </a:bodyPr>
          <a:lstStyle/>
          <a:p>
            <a:pPr algn="l">
              <a:lnSpc>
                <a:spcPct val="115000"/>
              </a:lnSpc>
            </a:pPr>
            <a:r>
              <a:rPr sz="950" b="1" i="0">
                <a:solidFill>
                  <a:srgbClr val="EBCF9E"/>
                </a:solidFill>
                <a:latin typeface="Inter"/>
              </a:rPr>
              <a:t>T H E   L A R G E R   P A T T E R N</a:t>
            </a:r>
          </a:p>
        </p:txBody>
      </p:sp>
      <p:sp>
        <p:nvSpPr>
          <p:cNvPr id="8" name="Rounded Rectangle 7"/>
          <p:cNvSpPr/>
          <p:nvPr/>
        </p:nvSpPr>
        <p:spPr>
          <a:xfrm>
            <a:off x="548640" y="3977639"/>
            <a:ext cx="11109960" cy="777240"/>
          </a:xfrm>
          <a:prstGeom prst="roundRect">
            <a:avLst>
              <a:gd name="adj" fmla="val 6000"/>
            </a:avLst>
          </a:prstGeom>
          <a:solidFill>
            <a:srgbClr val="0D3E40"/>
          </a:solidFill>
          <a:ln w="1397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187952"/>
            <a:ext cx="10515600" cy="365760"/>
          </a:xfrm>
          <a:prstGeom prst="rect">
            <a:avLst/>
          </a:prstGeom>
          <a:noFill/>
        </p:spPr>
        <p:txBody>
          <a:bodyPr wrap="square" lIns="0" rIns="0" tIns="0" bIns="0">
            <a:spAutoFit/>
          </a:bodyPr>
          <a:lstStyle/>
          <a:p>
            <a:pPr algn="ctr">
              <a:lnSpc>
                <a:spcPct val="115000"/>
              </a:lnSpc>
            </a:pPr>
            <a:r>
              <a:rPr sz="1600" b="0" i="1">
                <a:solidFill>
                  <a:srgbClr val="EBCF9E"/>
                </a:solidFill>
                <a:latin typeface="Georgia"/>
              </a:rPr>
              <a:t>visibility  →  coordination  →  coalition  →  collective capacity</a:t>
            </a:r>
          </a:p>
        </p:txBody>
      </p:sp>
      <p:sp>
        <p:nvSpPr>
          <p:cNvPr id="10" name="TextBox 9"/>
          <p:cNvSpPr txBox="1"/>
          <p:nvPr/>
        </p:nvSpPr>
        <p:spPr>
          <a:xfrm>
            <a:off x="548640" y="5257800"/>
            <a:ext cx="11064240" cy="731520"/>
          </a:xfrm>
          <a:prstGeom prst="rect">
            <a:avLst/>
          </a:prstGeom>
          <a:noFill/>
        </p:spPr>
        <p:txBody>
          <a:bodyPr wrap="square" lIns="0" rIns="0" tIns="0" bIns="0">
            <a:spAutoFit/>
          </a:bodyPr>
          <a:lstStyle/>
          <a:p>
            <a:pPr algn="ctr">
              <a:lnSpc>
                <a:spcPct val="140000"/>
              </a:lnSpc>
            </a:pPr>
            <a:r>
              <a:rPr sz="1250" b="0" i="0">
                <a:solidFill>
                  <a:srgbClr val="F2ECDD"/>
                </a:solidFill>
                <a:latin typeface="Inter"/>
              </a:rPr>
              <a:t>Two organizations may be working separately on the same problem. Several projects may hold complementary resources.</a:t>
            </a:r>
          </a:p>
          <a:p>
            <a:pPr algn="ctr">
              <a:lnSpc>
                <a:spcPct val="140000"/>
              </a:lnSpc>
            </a:pPr>
            <a:r>
              <a:rPr sz="1300" b="1" i="0">
                <a:solidFill>
                  <a:srgbClr val="F4EAD8"/>
                </a:solidFill>
                <a:latin typeface="Inter"/>
              </a:rPr>
              <a:t>A mission too large for one organization becomes possible through a coalition.</a:t>
            </a:r>
          </a:p>
        </p:txBody>
      </p:sp>
      <p:pic>
        <p:nvPicPr>
          <p:cNvPr id="11" name="Picture 10"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2" name="TextBox 11"/>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3" name="TextBox 12"/>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culture_d32.jpg"/>
          <p:cNvPicPr>
            <a:picLocks noChangeAspect="1"/>
          </p:cNvPicPr>
          <p:nvPr/>
        </p:nvPicPr>
        <p:blipFill>
          <a:blip r:embed="rId2"/>
          <a:stretch>
            <a:fillRect/>
          </a:stretch>
        </p:blipFill>
        <p:spPr>
          <a:xfrm>
            <a:off x="953376" y="0"/>
            <a:ext cx="10284943" cy="6858000"/>
          </a:xfrm>
          <a:prstGeom prst="rect">
            <a:avLst/>
          </a:prstGeom>
        </p:spPr>
      </p:pic>
      <p:sp>
        <p:nvSpPr>
          <p:cNvPr id="3" name="TextBox 2"/>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F U N C T I O N A L   I N T E R D E P E N D E N C E</a:t>
            </a:r>
          </a:p>
        </p:txBody>
      </p:sp>
      <p:sp>
        <p:nvSpPr>
          <p:cNvPr id="4" name="TextBox 3"/>
          <p:cNvSpPr txBox="1"/>
          <p:nvPr/>
        </p:nvSpPr>
        <p:spPr>
          <a:xfrm>
            <a:off x="822960" y="2286000"/>
            <a:ext cx="10515600" cy="2011680"/>
          </a:xfrm>
          <a:prstGeom prst="rect">
            <a:avLst/>
          </a:prstGeom>
          <a:noFill/>
        </p:spPr>
        <p:txBody>
          <a:bodyPr wrap="square" lIns="0" rIns="0" tIns="0" bIns="0">
            <a:spAutoFit/>
          </a:bodyPr>
          <a:lstStyle/>
          <a:p>
            <a:pPr algn="ctr">
              <a:lnSpc>
                <a:spcPct val="145000"/>
              </a:lnSpc>
            </a:pPr>
            <a:r>
              <a:rPr sz="3200" b="0" i="1">
                <a:solidFill>
                  <a:srgbClr val="F4EAD8"/>
                </a:solidFill>
                <a:latin typeface="Georgia"/>
              </a:rPr>
              <a:t>Strong individuals</a:t>
            </a:r>
          </a:p>
          <a:p>
            <a:pPr algn="ctr">
              <a:lnSpc>
                <a:spcPct val="145000"/>
              </a:lnSpc>
            </a:pPr>
            <a:r>
              <a:rPr sz="3200" b="0" i="1">
                <a:solidFill>
                  <a:srgbClr val="F4EAD8"/>
                </a:solidFill>
                <a:latin typeface="Georgia"/>
              </a:rPr>
              <a:t>inside </a:t>
            </a:r>
            <a:r>
              <a:rPr sz="3200" b="0" i="1">
                <a:solidFill>
                  <a:srgbClr val="EBCF9E"/>
                </a:solidFill>
                <a:latin typeface="Georgia"/>
              </a:rPr>
              <a:t>strong networks.</a:t>
            </a:r>
          </a:p>
        </p:txBody>
      </p:sp>
      <p:sp>
        <p:nvSpPr>
          <p:cNvPr id="5" name="TextBox 4"/>
          <p:cNvSpPr txBox="1"/>
          <p:nvPr/>
        </p:nvSpPr>
        <p:spPr>
          <a:xfrm>
            <a:off x="822960" y="5120640"/>
            <a:ext cx="10515600" cy="914400"/>
          </a:xfrm>
          <a:prstGeom prst="rect">
            <a:avLst/>
          </a:prstGeom>
          <a:noFill/>
        </p:spPr>
        <p:txBody>
          <a:bodyPr wrap="square" lIns="0" rIns="0" tIns="0" bIns="0">
            <a:spAutoFit/>
          </a:bodyPr>
          <a:lstStyle/>
          <a:p>
            <a:pPr algn="ctr">
              <a:lnSpc>
                <a:spcPct val="155000"/>
              </a:lnSpc>
            </a:pPr>
            <a:r>
              <a:rPr sz="1400" b="0" i="0">
                <a:solidFill>
                  <a:srgbClr val="F2ECDD"/>
                </a:solidFill>
                <a:latin typeface="Inter"/>
              </a:rPr>
              <a:t>Healthy communities are not made of people who can each do everything themselves —</a:t>
            </a:r>
          </a:p>
          <a:p>
            <a:pPr algn="ctr">
              <a:lnSpc>
                <a:spcPct val="155000"/>
              </a:lnSpc>
            </a:pPr>
            <a:r>
              <a:rPr sz="1400" b="0" i="0">
                <a:solidFill>
                  <a:srgbClr val="F2ECDD"/>
                </a:solidFill>
                <a:latin typeface="Inter"/>
              </a:rPr>
              <a:t>they are made of people with different abilities who can find, trust, and cooperate with one another.</a:t>
            </a:r>
          </a:p>
          <a:p>
            <a:pPr algn="ctr">
              <a:lnSpc>
                <a:spcPct val="155000"/>
              </a:lnSpc>
            </a:pPr>
            <a:r>
              <a:rPr sz="1500" b="0" i="1">
                <a:solidFill>
                  <a:srgbClr val="9FE8DC"/>
                </a:solidFill>
                <a:latin typeface="Georgia"/>
              </a:rPr>
              <a:t>The goal is greater autonomy, supported by stronger interdependence.</a:t>
            </a:r>
          </a:p>
        </p:txBody>
      </p:sp>
      <p:pic>
        <p:nvPicPr>
          <p:cNvPr id="6" name="Picture 5"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7" name="TextBox 6"/>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8" name="TextBox 7"/>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I N F R A S T R U C T U R E</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2700" b="1" i="0">
                <a:solidFill>
                  <a:srgbClr val="F4EAD8"/>
                </a:solidFill>
                <a:latin typeface="Inter"/>
              </a:rPr>
              <a:t>The social network is the doorway — </a:t>
            </a:r>
          </a:p>
          <a:p>
            <a:pPr algn="l">
              <a:lnSpc>
                <a:spcPct val="120000"/>
              </a:lnSpc>
            </a:pPr>
            <a:r>
              <a:rPr sz="2700" b="1" i="0">
                <a:solidFill>
                  <a:srgbClr val="F4EAD8"/>
                </a:solidFill>
                <a:latin typeface="Inter"/>
              </a:rPr>
              <a:t>coordination infrastructure is the </a:t>
            </a:r>
            <a:r>
              <a:rPr sz="3000" b="0" i="1">
                <a:solidFill>
                  <a:srgbClr val="F0CC8B"/>
                </a:solidFill>
                <a:latin typeface="Georgia"/>
              </a:rPr>
              <a:t>larger opportunity.</a:t>
            </a:r>
          </a:p>
        </p:txBody>
      </p:sp>
      <p:sp>
        <p:nvSpPr>
          <p:cNvPr id="4" name="Rounded Rectangle 3"/>
          <p:cNvSpPr/>
          <p:nvPr/>
        </p:nvSpPr>
        <p:spPr>
          <a:xfrm>
            <a:off x="548640" y="2743200"/>
            <a:ext cx="1828800" cy="50292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871216"/>
            <a:ext cx="1828800" cy="274320"/>
          </a:xfrm>
          <a:prstGeom prst="rect">
            <a:avLst/>
          </a:prstGeom>
          <a:noFill/>
        </p:spPr>
        <p:txBody>
          <a:bodyPr wrap="square" lIns="0" rIns="0" tIns="0" bIns="0">
            <a:spAutoFit/>
          </a:bodyPr>
          <a:lstStyle/>
          <a:p>
            <a:pPr algn="ctr">
              <a:lnSpc>
                <a:spcPct val="115000"/>
              </a:lnSpc>
            </a:pPr>
            <a:r>
              <a:rPr sz="1050" b="0" i="0">
                <a:solidFill>
                  <a:srgbClr val="AFC4C2"/>
                </a:solidFill>
                <a:latin typeface="Inter"/>
              </a:rPr>
              <a:t>communication</a:t>
            </a:r>
          </a:p>
        </p:txBody>
      </p:sp>
      <p:sp>
        <p:nvSpPr>
          <p:cNvPr id="6" name="Rounded Rectangle 5"/>
          <p:cNvSpPr/>
          <p:nvPr/>
        </p:nvSpPr>
        <p:spPr>
          <a:xfrm>
            <a:off x="2514600" y="2743200"/>
            <a:ext cx="1828800" cy="50292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4600" y="2871216"/>
            <a:ext cx="1828800" cy="274320"/>
          </a:xfrm>
          <a:prstGeom prst="rect">
            <a:avLst/>
          </a:prstGeom>
          <a:noFill/>
        </p:spPr>
        <p:txBody>
          <a:bodyPr wrap="square" lIns="0" rIns="0" tIns="0" bIns="0">
            <a:spAutoFit/>
          </a:bodyPr>
          <a:lstStyle/>
          <a:p>
            <a:pPr algn="ctr">
              <a:lnSpc>
                <a:spcPct val="115000"/>
              </a:lnSpc>
            </a:pPr>
            <a:r>
              <a:rPr sz="1050" b="0" i="0">
                <a:solidFill>
                  <a:srgbClr val="AFC4C2"/>
                </a:solidFill>
                <a:latin typeface="Inter"/>
              </a:rPr>
              <a:t>commerce</a:t>
            </a:r>
          </a:p>
        </p:txBody>
      </p:sp>
      <p:sp>
        <p:nvSpPr>
          <p:cNvPr id="8" name="Rounded Rectangle 7"/>
          <p:cNvSpPr/>
          <p:nvPr/>
        </p:nvSpPr>
        <p:spPr>
          <a:xfrm>
            <a:off x="4480560" y="2743200"/>
            <a:ext cx="1828800" cy="50292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2871216"/>
            <a:ext cx="1828800" cy="274320"/>
          </a:xfrm>
          <a:prstGeom prst="rect">
            <a:avLst/>
          </a:prstGeom>
          <a:noFill/>
        </p:spPr>
        <p:txBody>
          <a:bodyPr wrap="square" lIns="0" rIns="0" tIns="0" bIns="0">
            <a:spAutoFit/>
          </a:bodyPr>
          <a:lstStyle/>
          <a:p>
            <a:pPr algn="ctr">
              <a:lnSpc>
                <a:spcPct val="115000"/>
              </a:lnSpc>
            </a:pPr>
            <a:r>
              <a:rPr sz="1050" b="0" i="0">
                <a:solidFill>
                  <a:srgbClr val="AFC4C2"/>
                </a:solidFill>
                <a:latin typeface="Inter"/>
              </a:rPr>
              <a:t>projects</a:t>
            </a:r>
          </a:p>
        </p:txBody>
      </p:sp>
      <p:sp>
        <p:nvSpPr>
          <p:cNvPr id="10" name="Rounded Rectangle 9"/>
          <p:cNvSpPr/>
          <p:nvPr/>
        </p:nvSpPr>
        <p:spPr>
          <a:xfrm>
            <a:off x="548640" y="3401568"/>
            <a:ext cx="1828800" cy="50292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529584"/>
            <a:ext cx="1828800" cy="274320"/>
          </a:xfrm>
          <a:prstGeom prst="rect">
            <a:avLst/>
          </a:prstGeom>
          <a:noFill/>
        </p:spPr>
        <p:txBody>
          <a:bodyPr wrap="square" lIns="0" rIns="0" tIns="0" bIns="0">
            <a:spAutoFit/>
          </a:bodyPr>
          <a:lstStyle/>
          <a:p>
            <a:pPr algn="ctr">
              <a:lnSpc>
                <a:spcPct val="115000"/>
              </a:lnSpc>
            </a:pPr>
            <a:r>
              <a:rPr sz="1050" b="0" i="0">
                <a:solidFill>
                  <a:srgbClr val="AFC4C2"/>
                </a:solidFill>
                <a:latin typeface="Inter"/>
              </a:rPr>
              <a:t>events</a:t>
            </a:r>
          </a:p>
        </p:txBody>
      </p:sp>
      <p:sp>
        <p:nvSpPr>
          <p:cNvPr id="12" name="Rounded Rectangle 11"/>
          <p:cNvSpPr/>
          <p:nvPr/>
        </p:nvSpPr>
        <p:spPr>
          <a:xfrm>
            <a:off x="2514600" y="3401568"/>
            <a:ext cx="1828800" cy="50292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4600" y="3529584"/>
            <a:ext cx="1828800" cy="274320"/>
          </a:xfrm>
          <a:prstGeom prst="rect">
            <a:avLst/>
          </a:prstGeom>
          <a:noFill/>
        </p:spPr>
        <p:txBody>
          <a:bodyPr wrap="square" lIns="0" rIns="0" tIns="0" bIns="0">
            <a:spAutoFit/>
          </a:bodyPr>
          <a:lstStyle/>
          <a:p>
            <a:pPr algn="ctr">
              <a:lnSpc>
                <a:spcPct val="115000"/>
              </a:lnSpc>
            </a:pPr>
            <a:r>
              <a:rPr sz="1050" b="0" i="0">
                <a:solidFill>
                  <a:srgbClr val="AFC4C2"/>
                </a:solidFill>
                <a:latin typeface="Inter"/>
              </a:rPr>
              <a:t>payments</a:t>
            </a:r>
          </a:p>
        </p:txBody>
      </p:sp>
      <p:sp>
        <p:nvSpPr>
          <p:cNvPr id="14" name="Rounded Rectangle 13"/>
          <p:cNvSpPr/>
          <p:nvPr/>
        </p:nvSpPr>
        <p:spPr>
          <a:xfrm>
            <a:off x="4480560" y="3401568"/>
            <a:ext cx="1828800" cy="50292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3529584"/>
            <a:ext cx="1828800" cy="274320"/>
          </a:xfrm>
          <a:prstGeom prst="rect">
            <a:avLst/>
          </a:prstGeom>
          <a:noFill/>
        </p:spPr>
        <p:txBody>
          <a:bodyPr wrap="square" lIns="0" rIns="0" tIns="0" bIns="0">
            <a:spAutoFit/>
          </a:bodyPr>
          <a:lstStyle/>
          <a:p>
            <a:pPr algn="ctr">
              <a:lnSpc>
                <a:spcPct val="115000"/>
              </a:lnSpc>
            </a:pPr>
            <a:r>
              <a:rPr sz="1050" b="0" i="0">
                <a:solidFill>
                  <a:srgbClr val="AFC4C2"/>
                </a:solidFill>
                <a:latin typeface="Inter"/>
              </a:rPr>
              <a:t>scheduling</a:t>
            </a:r>
          </a:p>
        </p:txBody>
      </p:sp>
      <p:sp>
        <p:nvSpPr>
          <p:cNvPr id="16" name="Rounded Rectangle 15"/>
          <p:cNvSpPr/>
          <p:nvPr/>
        </p:nvSpPr>
        <p:spPr>
          <a:xfrm>
            <a:off x="548640" y="4059936"/>
            <a:ext cx="1828800" cy="50292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187952"/>
            <a:ext cx="1828800" cy="274320"/>
          </a:xfrm>
          <a:prstGeom prst="rect">
            <a:avLst/>
          </a:prstGeom>
          <a:noFill/>
        </p:spPr>
        <p:txBody>
          <a:bodyPr wrap="square" lIns="0" rIns="0" tIns="0" bIns="0">
            <a:spAutoFit/>
          </a:bodyPr>
          <a:lstStyle/>
          <a:p>
            <a:pPr algn="ctr">
              <a:lnSpc>
                <a:spcPct val="115000"/>
              </a:lnSpc>
            </a:pPr>
            <a:r>
              <a:rPr sz="1050" b="0" i="0">
                <a:solidFill>
                  <a:srgbClr val="AFC4C2"/>
                </a:solidFill>
                <a:latin typeface="Inter"/>
              </a:rPr>
              <a:t>governance</a:t>
            </a:r>
          </a:p>
        </p:txBody>
      </p:sp>
      <p:sp>
        <p:nvSpPr>
          <p:cNvPr id="18" name="Rounded Rectangle 17"/>
          <p:cNvSpPr/>
          <p:nvPr/>
        </p:nvSpPr>
        <p:spPr>
          <a:xfrm>
            <a:off x="2514600" y="4059936"/>
            <a:ext cx="1828800" cy="50292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4600" y="4187952"/>
            <a:ext cx="1828800" cy="274320"/>
          </a:xfrm>
          <a:prstGeom prst="rect">
            <a:avLst/>
          </a:prstGeom>
          <a:noFill/>
        </p:spPr>
        <p:txBody>
          <a:bodyPr wrap="square" lIns="0" rIns="0" tIns="0" bIns="0">
            <a:spAutoFit/>
          </a:bodyPr>
          <a:lstStyle/>
          <a:p>
            <a:pPr algn="ctr">
              <a:lnSpc>
                <a:spcPct val="115000"/>
              </a:lnSpc>
            </a:pPr>
            <a:r>
              <a:rPr sz="1050" b="0" i="0">
                <a:solidFill>
                  <a:srgbClr val="AFC4C2"/>
                </a:solidFill>
                <a:latin typeface="Inter"/>
              </a:rPr>
              <a:t>documents</a:t>
            </a:r>
          </a:p>
        </p:txBody>
      </p:sp>
      <p:sp>
        <p:nvSpPr>
          <p:cNvPr id="20" name="Rounded Rectangle 19"/>
          <p:cNvSpPr/>
          <p:nvPr/>
        </p:nvSpPr>
        <p:spPr>
          <a:xfrm>
            <a:off x="4480560" y="4059936"/>
            <a:ext cx="1828800" cy="50292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0560" y="4187952"/>
            <a:ext cx="1828800" cy="274320"/>
          </a:xfrm>
          <a:prstGeom prst="rect">
            <a:avLst/>
          </a:prstGeom>
          <a:noFill/>
        </p:spPr>
        <p:txBody>
          <a:bodyPr wrap="square" lIns="0" rIns="0" tIns="0" bIns="0">
            <a:spAutoFit/>
          </a:bodyPr>
          <a:lstStyle/>
          <a:p>
            <a:pPr algn="ctr">
              <a:lnSpc>
                <a:spcPct val="115000"/>
              </a:lnSpc>
            </a:pPr>
            <a:r>
              <a:rPr sz="1050" b="0" i="0">
                <a:solidFill>
                  <a:srgbClr val="AFC4C2"/>
                </a:solidFill>
                <a:latin typeface="Inter"/>
              </a:rPr>
              <a:t>AI</a:t>
            </a:r>
          </a:p>
        </p:txBody>
      </p:sp>
      <p:sp>
        <p:nvSpPr>
          <p:cNvPr id="22" name="TextBox 21"/>
          <p:cNvSpPr txBox="1"/>
          <p:nvPr/>
        </p:nvSpPr>
        <p:spPr>
          <a:xfrm>
            <a:off x="6263640" y="3520440"/>
            <a:ext cx="640080" cy="548640"/>
          </a:xfrm>
          <a:prstGeom prst="rect">
            <a:avLst/>
          </a:prstGeom>
          <a:noFill/>
        </p:spPr>
        <p:txBody>
          <a:bodyPr wrap="square" lIns="0" rIns="0" tIns="0" bIns="0">
            <a:spAutoFit/>
          </a:bodyPr>
          <a:lstStyle/>
          <a:p>
            <a:pPr algn="ctr">
              <a:lnSpc>
                <a:spcPct val="115000"/>
              </a:lnSpc>
            </a:pPr>
            <a:r>
              <a:rPr sz="3000" b="1" i="0">
                <a:solidFill>
                  <a:srgbClr val="F0CC8B"/>
                </a:solidFill>
                <a:latin typeface="Inter"/>
              </a:rPr>
              <a:t>→</a:t>
            </a:r>
          </a:p>
        </p:txBody>
      </p:sp>
      <p:sp>
        <p:nvSpPr>
          <p:cNvPr id="23" name="Rounded Rectangle 22"/>
          <p:cNvSpPr/>
          <p:nvPr/>
        </p:nvSpPr>
        <p:spPr>
          <a:xfrm>
            <a:off x="7040880" y="2743200"/>
            <a:ext cx="4617720" cy="2468880"/>
          </a:xfrm>
          <a:prstGeom prst="roundRect">
            <a:avLst>
              <a:gd name="adj" fmla="val 6000"/>
            </a:avLst>
          </a:prstGeom>
          <a:solidFill>
            <a:srgbClr val="0D3E40"/>
          </a:solidFill>
          <a:ln w="1524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0" y="2999232"/>
            <a:ext cx="4114800" cy="2011680"/>
          </a:xfrm>
          <a:prstGeom prst="rect">
            <a:avLst/>
          </a:prstGeom>
          <a:noFill/>
        </p:spPr>
        <p:txBody>
          <a:bodyPr wrap="square" lIns="0" rIns="0" tIns="0" bIns="0">
            <a:spAutoFit/>
          </a:bodyPr>
          <a:lstStyle/>
          <a:p>
            <a:pPr algn="l">
              <a:lnSpc>
                <a:spcPct val="150000"/>
              </a:lnSpc>
            </a:pPr>
            <a:r>
              <a:rPr sz="1000" b="1" i="0">
                <a:solidFill>
                  <a:srgbClr val="EBCF9E"/>
                </a:solidFill>
                <a:latin typeface="Inter"/>
              </a:rPr>
              <a:t>O N E   R E L A T I O N A L   S Y S T E M</a:t>
            </a:r>
          </a:p>
          <a:p>
            <a:pPr algn="l">
              <a:lnSpc>
                <a:spcPct val="150000"/>
              </a:lnSpc>
            </a:pPr>
            <a:r>
              <a:rPr sz="600" b="0" i="0">
                <a:solidFill>
                  <a:srgbClr val="AFC4C2"/>
                </a:solidFill>
                <a:latin typeface="Inter"/>
              </a:rPr>
              <a:t/>
            </a:r>
          </a:p>
          <a:p>
            <a:pPr algn="l">
              <a:lnSpc>
                <a:spcPct val="150000"/>
              </a:lnSpc>
            </a:pPr>
            <a:r>
              <a:rPr sz="1250" b="0" i="0">
                <a:solidFill>
                  <a:srgbClr val="F2ECDD"/>
                </a:solidFill>
                <a:latin typeface="Inter"/>
              </a:rPr>
              <a:t>Different parts of the </a:t>
            </a:r>
            <a:r>
              <a:rPr sz="1250" b="1" i="0">
                <a:solidFill>
                  <a:srgbClr val="9FE8DC"/>
                </a:solidFill>
                <a:latin typeface="Inter"/>
              </a:rPr>
              <a:t>same relationships</a:t>
            </a:r>
          </a:p>
          <a:p>
            <a:pPr algn="l">
              <a:lnSpc>
                <a:spcPct val="150000"/>
              </a:lnSpc>
            </a:pPr>
            <a:r>
              <a:rPr sz="1250" b="0" i="0">
                <a:solidFill>
                  <a:srgbClr val="F2ECDD"/>
                </a:solidFill>
                <a:latin typeface="Inter"/>
              </a:rPr>
              <a:t>between people, organizations, resources,</a:t>
            </a:r>
          </a:p>
          <a:p>
            <a:pPr algn="l">
              <a:lnSpc>
                <a:spcPct val="150000"/>
              </a:lnSpc>
            </a:pPr>
            <a:r>
              <a:rPr sz="1250" b="0" i="0">
                <a:solidFill>
                  <a:srgbClr val="F2ECDD"/>
                </a:solidFill>
                <a:latin typeface="Inter"/>
              </a:rPr>
              <a:t>needs, agreements, and actions.</a:t>
            </a:r>
          </a:p>
        </p:txBody>
      </p:sp>
      <p:sp>
        <p:nvSpPr>
          <p:cNvPr id="25" name="TextBox 24"/>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400" b="0" i="1">
                <a:solidFill>
                  <a:srgbClr val="9FE8DC"/>
                </a:solidFill>
                <a:latin typeface="Georgia"/>
              </a:rPr>
              <a:t>Instead of stitching disconnected platforms together, these functions share an underlying relational system.</a:t>
            </a:r>
          </a:p>
        </p:txBody>
      </p:sp>
      <p:pic>
        <p:nvPicPr>
          <p:cNvPr id="26" name="Picture 25"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27" name="TextBox 26"/>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28" name="TextBox 27"/>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C O M P L E X   U N D E R N E A T H ,   H U M A N   O N   T O P</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400" b="1" i="0">
                <a:solidFill>
                  <a:srgbClr val="F4EAD8"/>
                </a:solidFill>
                <a:latin typeface="Inter"/>
              </a:rPr>
              <a:t>The complexity belongs </a:t>
            </a:r>
            <a:r>
              <a:rPr sz="3700" b="0" i="1">
                <a:solidFill>
                  <a:srgbClr val="99E6D9"/>
                </a:solidFill>
                <a:latin typeface="Georgia"/>
              </a:rPr>
              <a:t>underneath.</a:t>
            </a:r>
          </a:p>
        </p:txBody>
      </p:sp>
      <p:sp>
        <p:nvSpPr>
          <p:cNvPr id="4" name="Rounded Rectangle 3"/>
          <p:cNvSpPr/>
          <p:nvPr/>
        </p:nvSpPr>
        <p:spPr>
          <a:xfrm>
            <a:off x="548640" y="2103120"/>
            <a:ext cx="11109960" cy="1325880"/>
          </a:xfrm>
          <a:prstGeom prst="roundRect">
            <a:avLst>
              <a:gd name="adj" fmla="val 6000"/>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607040" cy="960120"/>
          </a:xfrm>
          <a:prstGeom prst="rect">
            <a:avLst/>
          </a:prstGeom>
          <a:noFill/>
        </p:spPr>
        <p:txBody>
          <a:bodyPr wrap="square" lIns="0" rIns="0" tIns="0" bIns="0">
            <a:spAutoFit/>
          </a:bodyPr>
          <a:lstStyle/>
          <a:p>
            <a:pPr algn="l">
              <a:lnSpc>
                <a:spcPct val="170000"/>
              </a:lnSpc>
            </a:pPr>
            <a:r>
              <a:rPr sz="950" b="1" i="0">
                <a:solidFill>
                  <a:srgbClr val="AFC4C2"/>
                </a:solidFill>
                <a:latin typeface="Inter"/>
              </a:rPr>
              <a:t>W H A T   N O B O D Y   S H O U L D   N E E D   T O   U N D E R S T A N D</a:t>
            </a:r>
          </a:p>
          <a:p>
            <a:pPr algn="l">
              <a:lnSpc>
                <a:spcPct val="170000"/>
              </a:lnSpc>
            </a:pPr>
            <a:r>
              <a:rPr sz="1250" b="0" i="0">
                <a:solidFill>
                  <a:srgbClr val="F2ECDD"/>
                </a:solidFill>
                <a:latin typeface="Inter"/>
              </a:rPr>
              <a:t>federation · REA data models · mutual credit · cooperative law · containers · distributed computing · interoperability protocols</a:t>
            </a:r>
          </a:p>
        </p:txBody>
      </p:sp>
      <p:sp>
        <p:nvSpPr>
          <p:cNvPr id="6" name="Rounded Rectangle 5"/>
          <p:cNvSpPr/>
          <p:nvPr/>
        </p:nvSpPr>
        <p:spPr>
          <a:xfrm>
            <a:off x="548640" y="3657600"/>
            <a:ext cx="11109960" cy="1325880"/>
          </a:xfrm>
          <a:prstGeom prst="roundRect">
            <a:avLst>
              <a:gd name="adj" fmla="val 6000"/>
            </a:avLst>
          </a:prstGeom>
          <a:solidFill>
            <a:srgbClr val="0D3E40"/>
          </a:solidFill>
          <a:ln w="1397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840480"/>
            <a:ext cx="10607040" cy="960120"/>
          </a:xfrm>
          <a:prstGeom prst="rect">
            <a:avLst/>
          </a:prstGeom>
          <a:noFill/>
        </p:spPr>
        <p:txBody>
          <a:bodyPr wrap="square" lIns="0" rIns="0" tIns="0" bIns="0">
            <a:spAutoFit/>
          </a:bodyPr>
          <a:lstStyle/>
          <a:p>
            <a:pPr algn="l">
              <a:lnSpc>
                <a:spcPct val="170000"/>
              </a:lnSpc>
            </a:pPr>
            <a:r>
              <a:rPr sz="950" b="1" i="0">
                <a:solidFill>
                  <a:srgbClr val="EBCF9E"/>
                </a:solidFill>
                <a:latin typeface="Inter"/>
              </a:rPr>
              <a:t>W H A T   P E O P L E   A C T U A L L Y   D O</a:t>
            </a:r>
          </a:p>
          <a:p>
            <a:pPr algn="l">
              <a:lnSpc>
                <a:spcPct val="170000"/>
              </a:lnSpc>
            </a:pPr>
            <a:r>
              <a:rPr sz="1500" b="0" i="1">
                <a:solidFill>
                  <a:srgbClr val="F4EAD8"/>
                </a:solidFill>
                <a:latin typeface="Georgia"/>
              </a:rPr>
              <a:t>find a bike · join an event · find a babysitter · take a job · start a project</a:t>
            </a:r>
          </a:p>
        </p:txBody>
      </p:sp>
      <p:sp>
        <p:nvSpPr>
          <p:cNvPr id="8" name="TextBox 7"/>
          <p:cNvSpPr txBox="1"/>
          <p:nvPr/>
        </p:nvSpPr>
        <p:spPr>
          <a:xfrm>
            <a:off x="548640" y="5486400"/>
            <a:ext cx="11064240" cy="731520"/>
          </a:xfrm>
          <a:prstGeom prst="rect">
            <a:avLst/>
          </a:prstGeom>
          <a:noFill/>
        </p:spPr>
        <p:txBody>
          <a:bodyPr wrap="square" lIns="0" rIns="0" tIns="0" bIns="0">
            <a:spAutoFit/>
          </a:bodyPr>
          <a:lstStyle/>
          <a:p>
            <a:pPr algn="ctr">
              <a:lnSpc>
                <a:spcPct val="140000"/>
              </a:lnSpc>
            </a:pPr>
            <a:r>
              <a:rPr sz="1700" b="1" i="0">
                <a:solidFill>
                  <a:srgbClr val="F4EAD8"/>
                </a:solidFill>
                <a:latin typeface="Inter"/>
              </a:rPr>
              <a:t>Complex infrastructure. </a:t>
            </a:r>
            <a:r>
              <a:rPr sz="1800" b="0" i="1">
                <a:solidFill>
                  <a:srgbClr val="EBCF9E"/>
                </a:solidFill>
                <a:latin typeface="Georgia"/>
              </a:rPr>
              <a:t>Simple participation.</a:t>
            </a:r>
          </a:p>
        </p:txBody>
      </p:sp>
      <p:pic>
        <p:nvPicPr>
          <p:cNvPr id="9" name="Picture 8"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0" name="TextBox 9"/>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1" name="TextBox 10"/>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T H E   R E A   A C T I V I T Y   M O D E L</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200" b="1" i="0">
                <a:solidFill>
                  <a:srgbClr val="F4EAD8"/>
                </a:solidFill>
                <a:latin typeface="Inter"/>
              </a:rPr>
              <a:t>Model the real activity </a:t>
            </a:r>
            <a:r>
              <a:rPr sz="3500" b="0" i="1">
                <a:solidFill>
                  <a:srgbClr val="F0CC8B"/>
                </a:solidFill>
                <a:latin typeface="Georgia"/>
              </a:rPr>
              <a:t>underneath the feed.</a:t>
            </a:r>
          </a:p>
        </p:txBody>
      </p:sp>
      <p:sp>
        <p:nvSpPr>
          <p:cNvPr id="4" name="Rounded Rectangle 3"/>
          <p:cNvSpPr/>
          <p:nvPr/>
        </p:nvSpPr>
        <p:spPr>
          <a:xfrm>
            <a:off x="548640" y="2240280"/>
            <a:ext cx="3566160" cy="256032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2395728"/>
            <a:ext cx="3063240" cy="822960"/>
          </a:xfrm>
          <a:prstGeom prst="rect">
            <a:avLst/>
          </a:prstGeom>
          <a:noFill/>
        </p:spPr>
        <p:txBody>
          <a:bodyPr wrap="square" lIns="0" rIns="0" tIns="0" bIns="0">
            <a:spAutoFit/>
          </a:bodyPr>
          <a:lstStyle/>
          <a:p>
            <a:pPr algn="l">
              <a:lnSpc>
                <a:spcPct val="115000"/>
              </a:lnSpc>
            </a:pPr>
            <a:r>
              <a:rPr sz="4400" b="0" i="1">
                <a:solidFill>
                  <a:srgbClr val="EBCF9E"/>
                </a:solidFill>
                <a:latin typeface="Georgia"/>
              </a:rPr>
              <a:t>R</a:t>
            </a:r>
          </a:p>
        </p:txBody>
      </p:sp>
      <p:sp>
        <p:nvSpPr>
          <p:cNvPr id="6" name="TextBox 5"/>
          <p:cNvSpPr txBox="1"/>
          <p:nvPr/>
        </p:nvSpPr>
        <p:spPr>
          <a:xfrm>
            <a:off x="804672" y="3291840"/>
            <a:ext cx="3063240" cy="1371600"/>
          </a:xfrm>
          <a:prstGeom prst="rect">
            <a:avLst/>
          </a:prstGeom>
          <a:noFill/>
        </p:spPr>
        <p:txBody>
          <a:bodyPr wrap="square" lIns="0" rIns="0" tIns="0" bIns="0">
            <a:spAutoFit/>
          </a:bodyPr>
          <a:lstStyle/>
          <a:p>
            <a:pPr algn="l">
              <a:lnSpc>
                <a:spcPct val="135000"/>
              </a:lnSpc>
            </a:pPr>
            <a:r>
              <a:rPr sz="1050" b="1" i="0">
                <a:solidFill>
                  <a:srgbClr val="9FE8DC"/>
                </a:solidFill>
                <a:latin typeface="Inter"/>
              </a:rPr>
              <a:t>R E S O U R C E</a:t>
            </a:r>
          </a:p>
          <a:p>
            <a:pPr algn="l">
              <a:lnSpc>
                <a:spcPct val="135000"/>
              </a:lnSpc>
            </a:pPr>
            <a:r>
              <a:rPr sz="400" b="0" i="0">
                <a:solidFill>
                  <a:srgbClr val="AFC4C2"/>
                </a:solidFill>
                <a:latin typeface="Inter"/>
              </a:rPr>
              <a:t/>
            </a:r>
          </a:p>
          <a:p>
            <a:pPr algn="l">
              <a:lnSpc>
                <a:spcPct val="135000"/>
              </a:lnSpc>
            </a:pPr>
            <a:r>
              <a:rPr sz="1150" b="0" i="0">
                <a:solidFill>
                  <a:srgbClr val="F2ECDD"/>
                </a:solidFill>
                <a:latin typeface="Inter"/>
              </a:rPr>
              <a:t>Tools, food, space, money, skills, work products — anything that can change hands or change state.</a:t>
            </a:r>
          </a:p>
        </p:txBody>
      </p:sp>
      <p:sp>
        <p:nvSpPr>
          <p:cNvPr id="7" name="Rounded Rectangle 6"/>
          <p:cNvSpPr/>
          <p:nvPr/>
        </p:nvSpPr>
        <p:spPr>
          <a:xfrm>
            <a:off x="4315968" y="2240280"/>
            <a:ext cx="3566160" cy="2560320"/>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2395728"/>
            <a:ext cx="3063240" cy="822960"/>
          </a:xfrm>
          <a:prstGeom prst="rect">
            <a:avLst/>
          </a:prstGeom>
          <a:noFill/>
        </p:spPr>
        <p:txBody>
          <a:bodyPr wrap="square" lIns="0" rIns="0" tIns="0" bIns="0">
            <a:spAutoFit/>
          </a:bodyPr>
          <a:lstStyle/>
          <a:p>
            <a:pPr algn="l">
              <a:lnSpc>
                <a:spcPct val="115000"/>
              </a:lnSpc>
            </a:pPr>
            <a:r>
              <a:rPr sz="4400" b="0" i="1">
                <a:solidFill>
                  <a:srgbClr val="EBCF9E"/>
                </a:solidFill>
                <a:latin typeface="Georgia"/>
              </a:rPr>
              <a:t>E</a:t>
            </a:r>
          </a:p>
        </p:txBody>
      </p:sp>
      <p:sp>
        <p:nvSpPr>
          <p:cNvPr id="9" name="TextBox 8"/>
          <p:cNvSpPr txBox="1"/>
          <p:nvPr/>
        </p:nvSpPr>
        <p:spPr>
          <a:xfrm>
            <a:off x="4572000" y="3291840"/>
            <a:ext cx="3063240" cy="1371600"/>
          </a:xfrm>
          <a:prstGeom prst="rect">
            <a:avLst/>
          </a:prstGeom>
          <a:noFill/>
        </p:spPr>
        <p:txBody>
          <a:bodyPr wrap="square" lIns="0" rIns="0" tIns="0" bIns="0">
            <a:spAutoFit/>
          </a:bodyPr>
          <a:lstStyle/>
          <a:p>
            <a:pPr algn="l">
              <a:lnSpc>
                <a:spcPct val="135000"/>
              </a:lnSpc>
            </a:pPr>
            <a:r>
              <a:rPr sz="1050" b="1" i="0">
                <a:solidFill>
                  <a:srgbClr val="9FE8DC"/>
                </a:solidFill>
                <a:latin typeface="Inter"/>
              </a:rPr>
              <a:t>E V E N T</a:t>
            </a:r>
          </a:p>
          <a:p>
            <a:pPr algn="l">
              <a:lnSpc>
                <a:spcPct val="135000"/>
              </a:lnSpc>
            </a:pPr>
            <a:r>
              <a:rPr sz="400" b="0" i="0">
                <a:solidFill>
                  <a:srgbClr val="AFC4C2"/>
                </a:solidFill>
                <a:latin typeface="Inter"/>
              </a:rPr>
              <a:t/>
            </a:r>
          </a:p>
          <a:p>
            <a:pPr algn="l">
              <a:lnSpc>
                <a:spcPct val="135000"/>
              </a:lnSpc>
            </a:pPr>
            <a:r>
              <a:rPr sz="1150" b="0" i="0">
                <a:solidFill>
                  <a:srgbClr val="F2ECDD"/>
                </a:solidFill>
                <a:latin typeface="Inter"/>
              </a:rPr>
              <a:t>Something happens: an exchange, a contribution, a decision, a delivery. It becomes part of the record.</a:t>
            </a:r>
          </a:p>
        </p:txBody>
      </p:sp>
      <p:sp>
        <p:nvSpPr>
          <p:cNvPr id="10" name="Rounded Rectangle 9"/>
          <p:cNvSpPr/>
          <p:nvPr/>
        </p:nvSpPr>
        <p:spPr>
          <a:xfrm>
            <a:off x="8083296" y="2240280"/>
            <a:ext cx="3566160" cy="256032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39328" y="2395728"/>
            <a:ext cx="3063240" cy="822960"/>
          </a:xfrm>
          <a:prstGeom prst="rect">
            <a:avLst/>
          </a:prstGeom>
          <a:noFill/>
        </p:spPr>
        <p:txBody>
          <a:bodyPr wrap="square" lIns="0" rIns="0" tIns="0" bIns="0">
            <a:spAutoFit/>
          </a:bodyPr>
          <a:lstStyle/>
          <a:p>
            <a:pPr algn="l">
              <a:lnSpc>
                <a:spcPct val="115000"/>
              </a:lnSpc>
            </a:pPr>
            <a:r>
              <a:rPr sz="4400" b="0" i="1">
                <a:solidFill>
                  <a:srgbClr val="EBCF9E"/>
                </a:solidFill>
                <a:latin typeface="Georgia"/>
              </a:rPr>
              <a:t>A</a:t>
            </a:r>
          </a:p>
        </p:txBody>
      </p:sp>
      <p:sp>
        <p:nvSpPr>
          <p:cNvPr id="12" name="TextBox 11"/>
          <p:cNvSpPr txBox="1"/>
          <p:nvPr/>
        </p:nvSpPr>
        <p:spPr>
          <a:xfrm>
            <a:off x="8339328" y="3291840"/>
            <a:ext cx="3063240" cy="1371600"/>
          </a:xfrm>
          <a:prstGeom prst="rect">
            <a:avLst/>
          </a:prstGeom>
          <a:noFill/>
        </p:spPr>
        <p:txBody>
          <a:bodyPr wrap="square" lIns="0" rIns="0" tIns="0" bIns="0">
            <a:spAutoFit/>
          </a:bodyPr>
          <a:lstStyle/>
          <a:p>
            <a:pPr algn="l">
              <a:lnSpc>
                <a:spcPct val="135000"/>
              </a:lnSpc>
            </a:pPr>
            <a:r>
              <a:rPr sz="1050" b="1" i="0">
                <a:solidFill>
                  <a:srgbClr val="9FE8DC"/>
                </a:solidFill>
                <a:latin typeface="Inter"/>
              </a:rPr>
              <a:t>A G E N T</a:t>
            </a:r>
          </a:p>
          <a:p>
            <a:pPr algn="l">
              <a:lnSpc>
                <a:spcPct val="135000"/>
              </a:lnSpc>
            </a:pPr>
            <a:r>
              <a:rPr sz="400" b="0" i="0">
                <a:solidFill>
                  <a:srgbClr val="AFC4C2"/>
                </a:solidFill>
                <a:latin typeface="Inter"/>
              </a:rPr>
              <a:t/>
            </a:r>
          </a:p>
          <a:p>
            <a:pPr algn="l">
              <a:lnSpc>
                <a:spcPct val="135000"/>
              </a:lnSpc>
            </a:pPr>
            <a:r>
              <a:rPr sz="1150" b="0" i="0">
                <a:solidFill>
                  <a:srgbClr val="F2ECDD"/>
                </a:solidFill>
                <a:latin typeface="Inter"/>
              </a:rPr>
              <a:t>People and groups act. Individuals, organizations, cooperatives — each with history and relationships.</a:t>
            </a:r>
          </a:p>
        </p:txBody>
      </p:sp>
      <p:sp>
        <p:nvSpPr>
          <p:cNvPr id="13" name="TextBox 12"/>
          <p:cNvSpPr txBox="1"/>
          <p:nvPr/>
        </p:nvSpPr>
        <p:spPr>
          <a:xfrm>
            <a:off x="548640" y="5212080"/>
            <a:ext cx="11064240" cy="731520"/>
          </a:xfrm>
          <a:prstGeom prst="rect">
            <a:avLst/>
          </a:prstGeom>
          <a:noFill/>
        </p:spPr>
        <p:txBody>
          <a:bodyPr wrap="square" lIns="0" rIns="0" tIns="0" bIns="0">
            <a:spAutoFit/>
          </a:bodyPr>
          <a:lstStyle/>
          <a:p>
            <a:pPr algn="ctr">
              <a:lnSpc>
                <a:spcPct val="140000"/>
              </a:lnSpc>
            </a:pPr>
            <a:r>
              <a:rPr sz="1400" b="0" i="0">
                <a:solidFill>
                  <a:srgbClr val="F2ECDD"/>
                </a:solidFill>
                <a:latin typeface="Inter"/>
              </a:rPr>
              <a:t>The basic unit is not “someone posted something.”</a:t>
            </a:r>
          </a:p>
          <a:p>
            <a:pPr algn="ctr">
              <a:lnSpc>
                <a:spcPct val="140000"/>
              </a:lnSpc>
            </a:pPr>
            <a:r>
              <a:rPr sz="1500" b="0" i="1">
                <a:solidFill>
                  <a:srgbClr val="9FE8DC"/>
                </a:solidFill>
                <a:latin typeface="Georgia"/>
              </a:rPr>
              <a:t>It is people and organizations doing things with resources.</a:t>
            </a:r>
          </a:p>
        </p:txBody>
      </p:sp>
      <p:pic>
        <p:nvPicPr>
          <p:cNvPr id="14" name="Picture 13"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5" name="TextBox 14"/>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6" name="TextBox 15"/>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I N T E R O P E R A B I L I T Y</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200" b="1" i="0">
                <a:solidFill>
                  <a:srgbClr val="F4EAD8"/>
                </a:solidFill>
                <a:latin typeface="Inter"/>
              </a:rPr>
              <a:t>Build the connective tissue — </a:t>
            </a:r>
            <a:r>
              <a:rPr sz="3500" b="0" i="1">
                <a:solidFill>
                  <a:srgbClr val="99E6D9"/>
                </a:solidFill>
                <a:latin typeface="Georgia"/>
              </a:rPr>
              <a:t>not every organ.</a:t>
            </a:r>
          </a:p>
        </p:txBody>
      </p:sp>
      <p:sp>
        <p:nvSpPr>
          <p:cNvPr id="4" name="TextBox 3"/>
          <p:cNvSpPr txBox="1"/>
          <p:nvPr/>
        </p:nvSpPr>
        <p:spPr>
          <a:xfrm>
            <a:off x="548640" y="2194560"/>
            <a:ext cx="8229600" cy="292608"/>
          </a:xfrm>
          <a:prstGeom prst="rect">
            <a:avLst/>
          </a:prstGeom>
          <a:noFill/>
        </p:spPr>
        <p:txBody>
          <a:bodyPr wrap="square" lIns="0" rIns="0" tIns="0" bIns="0">
            <a:spAutoFit/>
          </a:bodyPr>
          <a:lstStyle/>
          <a:p>
            <a:pPr algn="l">
              <a:lnSpc>
                <a:spcPct val="115000"/>
              </a:lnSpc>
            </a:pPr>
            <a:r>
              <a:rPr sz="1000" b="1" i="0">
                <a:solidFill>
                  <a:srgbClr val="9FE8DC"/>
                </a:solidFill>
                <a:latin typeface="Inter"/>
              </a:rPr>
              <a:t>O T H E R   D E V E L O P E R S   B U I L D   S P E C I A L I Z E D   T O O L S   —   A N D   P L U G   I N</a:t>
            </a:r>
          </a:p>
        </p:txBody>
      </p:sp>
      <p:sp>
        <p:nvSpPr>
          <p:cNvPr id="5" name="Rounded Rectangle 4"/>
          <p:cNvSpPr/>
          <p:nvPr/>
        </p:nvSpPr>
        <p:spPr>
          <a:xfrm>
            <a:off x="548640" y="2606040"/>
            <a:ext cx="3566160" cy="603504"/>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88920"/>
            <a:ext cx="35661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a course platform</a:t>
            </a:r>
          </a:p>
        </p:txBody>
      </p:sp>
      <p:sp>
        <p:nvSpPr>
          <p:cNvPr id="7" name="Rounded Rectangle 6"/>
          <p:cNvSpPr/>
          <p:nvPr/>
        </p:nvSpPr>
        <p:spPr>
          <a:xfrm>
            <a:off x="4320540" y="2606040"/>
            <a:ext cx="3566160" cy="603504"/>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20540" y="2788920"/>
            <a:ext cx="35661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a health tool</a:t>
            </a:r>
          </a:p>
        </p:txBody>
      </p:sp>
      <p:sp>
        <p:nvSpPr>
          <p:cNvPr id="9" name="Rounded Rectangle 8"/>
          <p:cNvSpPr/>
          <p:nvPr/>
        </p:nvSpPr>
        <p:spPr>
          <a:xfrm>
            <a:off x="8092440" y="2606040"/>
            <a:ext cx="3566160" cy="603504"/>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2788920"/>
            <a:ext cx="35661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a farm-management system</a:t>
            </a:r>
          </a:p>
        </p:txBody>
      </p:sp>
      <p:sp>
        <p:nvSpPr>
          <p:cNvPr id="11" name="Rounded Rectangle 10"/>
          <p:cNvSpPr/>
          <p:nvPr/>
        </p:nvSpPr>
        <p:spPr>
          <a:xfrm>
            <a:off x="548640" y="3392424"/>
            <a:ext cx="3566160" cy="603504"/>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575304"/>
            <a:ext cx="35661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an astrology app</a:t>
            </a:r>
          </a:p>
        </p:txBody>
      </p:sp>
      <p:sp>
        <p:nvSpPr>
          <p:cNvPr id="13" name="Rounded Rectangle 12"/>
          <p:cNvSpPr/>
          <p:nvPr/>
        </p:nvSpPr>
        <p:spPr>
          <a:xfrm>
            <a:off x="4320540" y="3392424"/>
            <a:ext cx="3566160" cy="603504"/>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0540" y="3575304"/>
            <a:ext cx="35661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a specialized co-op tool</a:t>
            </a:r>
          </a:p>
        </p:txBody>
      </p:sp>
      <p:sp>
        <p:nvSpPr>
          <p:cNvPr id="15" name="Rounded Rectangle 14"/>
          <p:cNvSpPr/>
          <p:nvPr/>
        </p:nvSpPr>
        <p:spPr>
          <a:xfrm>
            <a:off x="8092440" y="3392424"/>
            <a:ext cx="3566160" cy="603504"/>
          </a:xfrm>
          <a:prstGeom prst="roundRect">
            <a:avLst>
              <a:gd name="adj" fmla="val 6000"/>
            </a:avLst>
          </a:prstGeom>
          <a:solidFill>
            <a:srgbClr val="0D3E40"/>
          </a:solidFill>
          <a:ln w="1270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2440" y="3575304"/>
            <a:ext cx="3566160" cy="274320"/>
          </a:xfrm>
          <a:prstGeom prst="rect">
            <a:avLst/>
          </a:prstGeom>
          <a:noFill/>
        </p:spPr>
        <p:txBody>
          <a:bodyPr wrap="square" lIns="0" rIns="0" tIns="0" bIns="0">
            <a:spAutoFit/>
          </a:bodyPr>
          <a:lstStyle/>
          <a:p>
            <a:pPr algn="ctr">
              <a:lnSpc>
                <a:spcPct val="115000"/>
              </a:lnSpc>
            </a:pPr>
            <a:r>
              <a:rPr sz="1150" b="1" i="0">
                <a:solidFill>
                  <a:srgbClr val="EBCF9E"/>
                </a:solidFill>
                <a:latin typeface="Inter"/>
              </a:rPr>
              <a:t>your app here</a:t>
            </a:r>
          </a:p>
        </p:txBody>
      </p:sp>
      <p:sp>
        <p:nvSpPr>
          <p:cNvPr id="17" name="TextBox 16"/>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400" b="1" i="0">
                <a:solidFill>
                  <a:srgbClr val="F4EAD8"/>
                </a:solidFill>
                <a:latin typeface="Inter"/>
              </a:rPr>
              <a:t>Rivr becomes the connective environment they share.</a:t>
            </a:r>
          </a:p>
          <a:p>
            <a:pPr algn="ctr">
              <a:lnSpc>
                <a:spcPct val="140000"/>
              </a:lnSpc>
            </a:pPr>
            <a:r>
              <a:rPr sz="1500" b="0" i="1">
                <a:solidFill>
                  <a:srgbClr val="EBCF9E"/>
                </a:solidFill>
                <a:latin typeface="Georgia"/>
              </a:rPr>
              <a:t>Ecosystem coherence, not total software ownership.</a:t>
            </a:r>
          </a:p>
        </p:txBody>
      </p:sp>
      <p:pic>
        <p:nvPicPr>
          <p:cNvPr id="18" name="Picture 17"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9" name="TextBox 18"/>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20" name="TextBox 19"/>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B U I L D   T H E   C A R</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2800" b="1" i="0">
                <a:solidFill>
                  <a:srgbClr val="F4EAD8"/>
                </a:solidFill>
                <a:latin typeface="Inter"/>
              </a:rPr>
              <a:t>We don't just need an engine spec — </a:t>
            </a:r>
            <a:r>
              <a:rPr sz="3100" b="0" i="1">
                <a:solidFill>
                  <a:srgbClr val="F0CC8B"/>
                </a:solidFill>
                <a:latin typeface="Georgia"/>
              </a:rPr>
              <a:t>we need the car.</a:t>
            </a:r>
          </a:p>
        </p:txBody>
      </p:sp>
      <p:sp>
        <p:nvSpPr>
          <p:cNvPr id="4" name="Rounded Rectangle 3"/>
          <p:cNvSpPr/>
          <p:nvPr/>
        </p:nvSpPr>
        <p:spPr>
          <a:xfrm>
            <a:off x="548640" y="2606040"/>
            <a:ext cx="5486400" cy="2514600"/>
          </a:xfrm>
          <a:prstGeom prst="roundRect">
            <a:avLst>
              <a:gd name="adj" fmla="val 6000"/>
            </a:avLst>
          </a:prstGeom>
          <a:solidFill>
            <a:srgbClr val="084B4D"/>
          </a:solidFill>
          <a:ln w="1270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834640"/>
            <a:ext cx="4983480" cy="2057400"/>
          </a:xfrm>
          <a:prstGeom prst="rect">
            <a:avLst/>
          </a:prstGeom>
          <a:noFill/>
        </p:spPr>
        <p:txBody>
          <a:bodyPr wrap="square" lIns="0" rIns="0" tIns="0" bIns="0">
            <a:spAutoFit/>
          </a:bodyPr>
          <a:lstStyle/>
          <a:p>
            <a:pPr algn="l">
              <a:lnSpc>
                <a:spcPct val="140000"/>
              </a:lnSpc>
            </a:pPr>
            <a:r>
              <a:rPr sz="1000" b="1" i="0">
                <a:solidFill>
                  <a:srgbClr val="D3B7A5"/>
                </a:solidFill>
                <a:latin typeface="Inter"/>
              </a:rPr>
              <a:t>P R O T O C O L S   A L O N E</a:t>
            </a:r>
          </a:p>
          <a:p>
            <a:pPr algn="l">
              <a:lnSpc>
                <a:spcPct val="140000"/>
              </a:lnSpc>
            </a:pPr>
            <a:r>
              <a:rPr sz="500" b="0" i="0">
                <a:solidFill>
                  <a:srgbClr val="AFC4C2"/>
                </a:solidFill>
                <a:latin typeface="Inter"/>
              </a:rPr>
              <a:t/>
            </a:r>
          </a:p>
          <a:p>
            <a:pPr algn="l">
              <a:lnSpc>
                <a:spcPct val="140000"/>
              </a:lnSpc>
            </a:pPr>
            <a:r>
              <a:rPr sz="1200" b="0" i="0">
                <a:solidFill>
                  <a:srgbClr val="F2ECDD"/>
                </a:solidFill>
                <a:latin typeface="Inter"/>
              </a:rPr>
              <a:t>Shared schemas matter. Open-source</a:t>
            </a:r>
          </a:p>
          <a:p>
            <a:pPr algn="l">
              <a:lnSpc>
                <a:spcPct val="140000"/>
              </a:lnSpc>
            </a:pPr>
            <a:r>
              <a:rPr sz="1200" b="0" i="0">
                <a:solidFill>
                  <a:srgbClr val="F2ECDD"/>
                </a:solidFill>
                <a:latin typeface="Inter"/>
              </a:rPr>
              <a:t>infrastructure matters. Interoperability matters.</a:t>
            </a:r>
          </a:p>
          <a:p>
            <a:pPr algn="l">
              <a:lnSpc>
                <a:spcPct val="140000"/>
              </a:lnSpc>
            </a:pPr>
            <a:r>
              <a:rPr sz="1200" b="0" i="0">
                <a:solidFill>
                  <a:srgbClr val="F2ECDD"/>
                </a:solidFill>
                <a:latin typeface="Inter"/>
              </a:rPr>
              <a:t/>
            </a:r>
          </a:p>
          <a:p>
            <a:pPr algn="l">
              <a:lnSpc>
                <a:spcPct val="140000"/>
              </a:lnSpc>
            </a:pPr>
            <a:r>
              <a:rPr sz="1200" b="0" i="0">
                <a:solidFill>
                  <a:srgbClr val="F2ECDD"/>
                </a:solidFill>
                <a:latin typeface="Inter"/>
              </a:rPr>
              <a:t>But specifications alone do not produce</a:t>
            </a:r>
          </a:p>
          <a:p>
            <a:pPr algn="l">
              <a:lnSpc>
                <a:spcPct val="140000"/>
              </a:lnSpc>
            </a:pPr>
            <a:r>
              <a:rPr sz="1200" b="0" i="0">
                <a:solidFill>
                  <a:srgbClr val="F2ECDD"/>
                </a:solidFill>
                <a:latin typeface="Inter"/>
              </a:rPr>
              <a:t>an ecosystem people can actually use.</a:t>
            </a:r>
          </a:p>
        </p:txBody>
      </p:sp>
      <p:sp>
        <p:nvSpPr>
          <p:cNvPr id="6" name="Rounded Rectangle 5"/>
          <p:cNvSpPr/>
          <p:nvPr/>
        </p:nvSpPr>
        <p:spPr>
          <a:xfrm>
            <a:off x="6263640" y="2606040"/>
            <a:ext cx="5394960" cy="2514600"/>
          </a:xfrm>
          <a:prstGeom prst="roundRect">
            <a:avLst>
              <a:gd name="adj" fmla="val 6000"/>
            </a:avLst>
          </a:prstGeom>
          <a:solidFill>
            <a:srgbClr val="0D3E40"/>
          </a:solidFill>
          <a:ln w="1524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37960" y="2834640"/>
            <a:ext cx="4892040" cy="2057400"/>
          </a:xfrm>
          <a:prstGeom prst="rect">
            <a:avLst/>
          </a:prstGeom>
          <a:noFill/>
        </p:spPr>
        <p:txBody>
          <a:bodyPr wrap="square" lIns="0" rIns="0" tIns="0" bIns="0">
            <a:spAutoFit/>
          </a:bodyPr>
          <a:lstStyle/>
          <a:p>
            <a:pPr algn="l">
              <a:lnSpc>
                <a:spcPct val="140000"/>
              </a:lnSpc>
            </a:pPr>
            <a:r>
              <a:rPr sz="1000" b="1" i="0">
                <a:solidFill>
                  <a:srgbClr val="EBCF9E"/>
                </a:solidFill>
                <a:latin typeface="Inter"/>
              </a:rPr>
              <a:t>S O M E B O D Y   S T I L L   H A S   T O</a:t>
            </a:r>
          </a:p>
          <a:p>
            <a:pPr algn="l">
              <a:lnSpc>
                <a:spcPct val="140000"/>
              </a:lnSpc>
            </a:pPr>
            <a:r>
              <a:rPr sz="500" b="0" i="0">
                <a:solidFill>
                  <a:srgbClr val="AFC4C2"/>
                </a:solidFill>
                <a:latin typeface="Inter"/>
              </a:rPr>
              <a:t/>
            </a:r>
          </a:p>
          <a:p>
            <a:pPr algn="l">
              <a:lnSpc>
                <a:spcPct val="140000"/>
              </a:lnSpc>
            </a:pPr>
            <a:r>
              <a:rPr sz="1200" b="0" i="0">
                <a:solidFill>
                  <a:srgbClr val="F2ECDD"/>
                </a:solidFill>
                <a:latin typeface="Inter"/>
              </a:rPr>
              <a:t>Integrate it. Design it. Maintain it.</a:t>
            </a:r>
          </a:p>
          <a:p>
            <a:pPr algn="l">
              <a:lnSpc>
                <a:spcPct val="140000"/>
              </a:lnSpc>
            </a:pPr>
            <a:r>
              <a:rPr sz="1200" b="0" i="0">
                <a:solidFill>
                  <a:srgbClr val="F2ECDD"/>
                </a:solidFill>
                <a:latin typeface="Inter"/>
              </a:rPr>
              <a:t>Support people. Market it.</a:t>
            </a:r>
          </a:p>
          <a:p>
            <a:pPr algn="l">
              <a:lnSpc>
                <a:spcPct val="140000"/>
              </a:lnSpc>
            </a:pPr>
            <a:r>
              <a:rPr sz="1200" b="0" i="0">
                <a:solidFill>
                  <a:srgbClr val="F2ECDD"/>
                </a:solidFill>
                <a:latin typeface="Inter"/>
              </a:rPr>
              <a:t/>
            </a:r>
          </a:p>
          <a:p>
            <a:pPr algn="l">
              <a:lnSpc>
                <a:spcPct val="140000"/>
              </a:lnSpc>
            </a:pPr>
            <a:r>
              <a:rPr sz="1200" b="0" i="0">
                <a:solidFill>
                  <a:srgbClr val="F2ECDD"/>
                </a:solidFill>
                <a:latin typeface="Inter"/>
              </a:rPr>
              <a:t>Make product decisions, keep listening,</a:t>
            </a:r>
          </a:p>
          <a:p>
            <a:pPr algn="l">
              <a:lnSpc>
                <a:spcPct val="140000"/>
              </a:lnSpc>
            </a:pPr>
            <a:r>
              <a:rPr sz="1200" b="0" i="0">
                <a:solidFill>
                  <a:srgbClr val="F2ECDD"/>
                </a:solidFill>
                <a:latin typeface="Inter"/>
              </a:rPr>
              <a:t>and respond to changing needs.</a:t>
            </a:r>
          </a:p>
        </p:txBody>
      </p:sp>
      <p:sp>
        <p:nvSpPr>
          <p:cNvPr id="8" name="TextBox 7"/>
          <p:cNvSpPr txBox="1"/>
          <p:nvPr/>
        </p:nvSpPr>
        <p:spPr>
          <a:xfrm>
            <a:off x="548640" y="5440679"/>
            <a:ext cx="11064240" cy="731520"/>
          </a:xfrm>
          <a:prstGeom prst="rect">
            <a:avLst/>
          </a:prstGeom>
          <a:noFill/>
        </p:spPr>
        <p:txBody>
          <a:bodyPr wrap="square" lIns="0" rIns="0" tIns="0" bIns="0">
            <a:spAutoFit/>
          </a:bodyPr>
          <a:lstStyle/>
          <a:p>
            <a:pPr algn="ctr">
              <a:lnSpc>
                <a:spcPct val="140000"/>
              </a:lnSpc>
            </a:pPr>
            <a:r>
              <a:rPr sz="1500" b="0" i="1">
                <a:solidFill>
                  <a:srgbClr val="9FE8DC"/>
                </a:solidFill>
                <a:latin typeface="Georgia"/>
              </a:rPr>
              <a:t>Somebody still has to build the ecosystem people can actually use.</a:t>
            </a:r>
          </a:p>
        </p:txBody>
      </p:sp>
      <p:pic>
        <p:nvPicPr>
          <p:cNvPr id="9" name="Picture 8"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0" name="TextBox 9"/>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1" name="TextBox 10"/>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B U I L D ,   U S E ,   L E A R N ,   S T A N D A R D I Z E</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200" b="1" i="0">
                <a:solidFill>
                  <a:srgbClr val="F4EAD8"/>
                </a:solidFill>
                <a:latin typeface="Inter"/>
              </a:rPr>
              <a:t>Maybe we learn the standards </a:t>
            </a:r>
            <a:r>
              <a:rPr sz="3500" b="0" i="1">
                <a:solidFill>
                  <a:srgbClr val="99E6D9"/>
                </a:solidFill>
                <a:latin typeface="Georgia"/>
              </a:rPr>
              <a:t>by driving.</a:t>
            </a:r>
          </a:p>
        </p:txBody>
      </p:sp>
      <p:sp>
        <p:nvSpPr>
          <p:cNvPr id="4" name="TextBox 3"/>
          <p:cNvSpPr txBox="1"/>
          <p:nvPr/>
        </p:nvSpPr>
        <p:spPr>
          <a:xfrm>
            <a:off x="731520" y="2057400"/>
            <a:ext cx="731520" cy="457200"/>
          </a:xfrm>
          <a:prstGeom prst="rect">
            <a:avLst/>
          </a:prstGeom>
          <a:noFill/>
        </p:spPr>
        <p:txBody>
          <a:bodyPr wrap="square" lIns="0" rIns="0" tIns="0" bIns="0">
            <a:spAutoFit/>
          </a:bodyPr>
          <a:lstStyle/>
          <a:p>
            <a:pPr algn="l">
              <a:lnSpc>
                <a:spcPct val="115000"/>
              </a:lnSpc>
            </a:pPr>
            <a:r>
              <a:rPr sz="2200" b="0" i="1">
                <a:solidFill>
                  <a:srgbClr val="F0CC8B"/>
                </a:solidFill>
                <a:latin typeface="Georgia"/>
              </a:rPr>
              <a:t>01</a:t>
            </a:r>
          </a:p>
        </p:txBody>
      </p:sp>
      <p:sp>
        <p:nvSpPr>
          <p:cNvPr id="5" name="TextBox 4"/>
          <p:cNvSpPr txBox="1"/>
          <p:nvPr/>
        </p:nvSpPr>
        <p:spPr>
          <a:xfrm>
            <a:off x="1600200" y="2121408"/>
            <a:ext cx="9966960" cy="457200"/>
          </a:xfrm>
          <a:prstGeom prst="rect">
            <a:avLst/>
          </a:prstGeom>
          <a:noFill/>
        </p:spPr>
        <p:txBody>
          <a:bodyPr wrap="square" lIns="0" rIns="0" tIns="0" bIns="0">
            <a:spAutoFit/>
          </a:bodyPr>
          <a:lstStyle/>
          <a:p>
            <a:pPr algn="l">
              <a:lnSpc>
                <a:spcPct val="115000"/>
              </a:lnSpc>
            </a:pPr>
            <a:r>
              <a:rPr sz="1500" b="0" i="0">
                <a:solidFill>
                  <a:srgbClr val="F2ECDD"/>
                </a:solidFill>
                <a:latin typeface="Inter"/>
              </a:rPr>
              <a:t>Build the thing real communities need</a:t>
            </a:r>
          </a:p>
        </p:txBody>
      </p:sp>
      <p:sp>
        <p:nvSpPr>
          <p:cNvPr id="6" name="Rectangle 5"/>
          <p:cNvSpPr/>
          <p:nvPr/>
        </p:nvSpPr>
        <p:spPr>
          <a:xfrm>
            <a:off x="731520" y="2624327"/>
            <a:ext cx="10881360" cy="9525"/>
          </a:xfrm>
          <a:prstGeom prst="rect">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807208"/>
            <a:ext cx="731520" cy="457200"/>
          </a:xfrm>
          <a:prstGeom prst="rect">
            <a:avLst/>
          </a:prstGeom>
          <a:noFill/>
        </p:spPr>
        <p:txBody>
          <a:bodyPr wrap="square" lIns="0" rIns="0" tIns="0" bIns="0">
            <a:spAutoFit/>
          </a:bodyPr>
          <a:lstStyle/>
          <a:p>
            <a:pPr algn="l">
              <a:lnSpc>
                <a:spcPct val="115000"/>
              </a:lnSpc>
            </a:pPr>
            <a:r>
              <a:rPr sz="2200" b="0" i="1">
                <a:solidFill>
                  <a:srgbClr val="F0CC8B"/>
                </a:solidFill>
                <a:latin typeface="Georgia"/>
              </a:rPr>
              <a:t>02</a:t>
            </a:r>
          </a:p>
        </p:txBody>
      </p:sp>
      <p:sp>
        <p:nvSpPr>
          <p:cNvPr id="8" name="TextBox 7"/>
          <p:cNvSpPr txBox="1"/>
          <p:nvPr/>
        </p:nvSpPr>
        <p:spPr>
          <a:xfrm>
            <a:off x="1600200" y="2871215"/>
            <a:ext cx="9966960" cy="457200"/>
          </a:xfrm>
          <a:prstGeom prst="rect">
            <a:avLst/>
          </a:prstGeom>
          <a:noFill/>
        </p:spPr>
        <p:txBody>
          <a:bodyPr wrap="square" lIns="0" rIns="0" tIns="0" bIns="0">
            <a:spAutoFit/>
          </a:bodyPr>
          <a:lstStyle/>
          <a:p>
            <a:pPr algn="l">
              <a:lnSpc>
                <a:spcPct val="115000"/>
              </a:lnSpc>
            </a:pPr>
            <a:r>
              <a:rPr sz="1500" b="0" i="0">
                <a:solidFill>
                  <a:srgbClr val="F2ECDD"/>
                </a:solidFill>
                <a:latin typeface="Inter"/>
              </a:rPr>
              <a:t>Use it — real coordination, real exchange, real governance</a:t>
            </a:r>
          </a:p>
        </p:txBody>
      </p:sp>
      <p:sp>
        <p:nvSpPr>
          <p:cNvPr id="9" name="Rectangle 8"/>
          <p:cNvSpPr/>
          <p:nvPr/>
        </p:nvSpPr>
        <p:spPr>
          <a:xfrm>
            <a:off x="731520" y="3374135"/>
            <a:ext cx="10881360" cy="9525"/>
          </a:xfrm>
          <a:prstGeom prst="rect">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557015"/>
            <a:ext cx="731520" cy="457200"/>
          </a:xfrm>
          <a:prstGeom prst="rect">
            <a:avLst/>
          </a:prstGeom>
          <a:noFill/>
        </p:spPr>
        <p:txBody>
          <a:bodyPr wrap="square" lIns="0" rIns="0" tIns="0" bIns="0">
            <a:spAutoFit/>
          </a:bodyPr>
          <a:lstStyle/>
          <a:p>
            <a:pPr algn="l">
              <a:lnSpc>
                <a:spcPct val="115000"/>
              </a:lnSpc>
            </a:pPr>
            <a:r>
              <a:rPr sz="2200" b="0" i="1">
                <a:solidFill>
                  <a:srgbClr val="F0CC8B"/>
                </a:solidFill>
                <a:latin typeface="Georgia"/>
              </a:rPr>
              <a:t>03</a:t>
            </a:r>
          </a:p>
        </p:txBody>
      </p:sp>
      <p:sp>
        <p:nvSpPr>
          <p:cNvPr id="11" name="TextBox 10"/>
          <p:cNvSpPr txBox="1"/>
          <p:nvPr/>
        </p:nvSpPr>
        <p:spPr>
          <a:xfrm>
            <a:off x="1600200" y="3621023"/>
            <a:ext cx="9966960" cy="457200"/>
          </a:xfrm>
          <a:prstGeom prst="rect">
            <a:avLst/>
          </a:prstGeom>
          <a:noFill/>
        </p:spPr>
        <p:txBody>
          <a:bodyPr wrap="square" lIns="0" rIns="0" tIns="0" bIns="0">
            <a:spAutoFit/>
          </a:bodyPr>
          <a:lstStyle/>
          <a:p>
            <a:pPr algn="l">
              <a:lnSpc>
                <a:spcPct val="115000"/>
              </a:lnSpc>
            </a:pPr>
            <a:r>
              <a:rPr sz="1500" b="0" i="0">
                <a:solidFill>
                  <a:srgbClr val="F2ECDD"/>
                </a:solidFill>
                <a:latin typeface="Inter"/>
              </a:rPr>
              <a:t>Learn what actually needs to work together</a:t>
            </a:r>
          </a:p>
        </p:txBody>
      </p:sp>
      <p:sp>
        <p:nvSpPr>
          <p:cNvPr id="12" name="Rectangle 11"/>
          <p:cNvSpPr/>
          <p:nvPr/>
        </p:nvSpPr>
        <p:spPr>
          <a:xfrm>
            <a:off x="731520" y="4123944"/>
            <a:ext cx="10881360" cy="9525"/>
          </a:xfrm>
          <a:prstGeom prst="rect">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306824"/>
            <a:ext cx="731520" cy="457200"/>
          </a:xfrm>
          <a:prstGeom prst="rect">
            <a:avLst/>
          </a:prstGeom>
          <a:noFill/>
        </p:spPr>
        <p:txBody>
          <a:bodyPr wrap="square" lIns="0" rIns="0" tIns="0" bIns="0">
            <a:spAutoFit/>
          </a:bodyPr>
          <a:lstStyle/>
          <a:p>
            <a:pPr algn="l">
              <a:lnSpc>
                <a:spcPct val="115000"/>
              </a:lnSpc>
            </a:pPr>
            <a:r>
              <a:rPr sz="2200" b="0" i="1">
                <a:solidFill>
                  <a:srgbClr val="F0CC8B"/>
                </a:solidFill>
                <a:latin typeface="Georgia"/>
              </a:rPr>
              <a:t>04</a:t>
            </a:r>
          </a:p>
        </p:txBody>
      </p:sp>
      <p:sp>
        <p:nvSpPr>
          <p:cNvPr id="14" name="TextBox 13"/>
          <p:cNvSpPr txBox="1"/>
          <p:nvPr/>
        </p:nvSpPr>
        <p:spPr>
          <a:xfrm>
            <a:off x="1600200" y="4370832"/>
            <a:ext cx="9966960" cy="457200"/>
          </a:xfrm>
          <a:prstGeom prst="rect">
            <a:avLst/>
          </a:prstGeom>
          <a:noFill/>
        </p:spPr>
        <p:txBody>
          <a:bodyPr wrap="square" lIns="0" rIns="0" tIns="0" bIns="0">
            <a:spAutoFit/>
          </a:bodyPr>
          <a:lstStyle/>
          <a:p>
            <a:pPr algn="l">
              <a:lnSpc>
                <a:spcPct val="115000"/>
              </a:lnSpc>
            </a:pPr>
            <a:r>
              <a:rPr sz="1500" b="0" i="0">
                <a:solidFill>
                  <a:srgbClr val="F2ECDD"/>
                </a:solidFill>
                <a:latin typeface="Inter"/>
              </a:rPr>
              <a:t>Refine — practice informs architecture</a:t>
            </a:r>
          </a:p>
        </p:txBody>
      </p:sp>
      <p:sp>
        <p:nvSpPr>
          <p:cNvPr id="15" name="Rectangle 14"/>
          <p:cNvSpPr/>
          <p:nvPr/>
        </p:nvSpPr>
        <p:spPr>
          <a:xfrm>
            <a:off x="731520" y="4873752"/>
            <a:ext cx="10881360" cy="9525"/>
          </a:xfrm>
          <a:prstGeom prst="rect">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056632"/>
            <a:ext cx="731520" cy="457200"/>
          </a:xfrm>
          <a:prstGeom prst="rect">
            <a:avLst/>
          </a:prstGeom>
          <a:noFill/>
        </p:spPr>
        <p:txBody>
          <a:bodyPr wrap="square" lIns="0" rIns="0" tIns="0" bIns="0">
            <a:spAutoFit/>
          </a:bodyPr>
          <a:lstStyle/>
          <a:p>
            <a:pPr algn="l">
              <a:lnSpc>
                <a:spcPct val="115000"/>
              </a:lnSpc>
            </a:pPr>
            <a:r>
              <a:rPr sz="2200" b="0" i="1">
                <a:solidFill>
                  <a:srgbClr val="F0CC8B"/>
                </a:solidFill>
                <a:latin typeface="Georgia"/>
              </a:rPr>
              <a:t>05</a:t>
            </a:r>
          </a:p>
        </p:txBody>
      </p:sp>
      <p:sp>
        <p:nvSpPr>
          <p:cNvPr id="17" name="TextBox 16"/>
          <p:cNvSpPr txBox="1"/>
          <p:nvPr/>
        </p:nvSpPr>
        <p:spPr>
          <a:xfrm>
            <a:off x="1600200" y="5120640"/>
            <a:ext cx="9966960" cy="457200"/>
          </a:xfrm>
          <a:prstGeom prst="rect">
            <a:avLst/>
          </a:prstGeom>
          <a:noFill/>
        </p:spPr>
        <p:txBody>
          <a:bodyPr wrap="square" lIns="0" rIns="0" tIns="0" bIns="0">
            <a:spAutoFit/>
          </a:bodyPr>
          <a:lstStyle/>
          <a:p>
            <a:pPr algn="l">
              <a:lnSpc>
                <a:spcPct val="115000"/>
              </a:lnSpc>
            </a:pPr>
            <a:r>
              <a:rPr sz="1500" b="0" i="0">
                <a:solidFill>
                  <a:srgbClr val="F2ECDD"/>
                </a:solidFill>
                <a:latin typeface="Inter"/>
              </a:rPr>
              <a:t>Standardize what works, then federate</a:t>
            </a:r>
          </a:p>
        </p:txBody>
      </p:sp>
      <p:sp>
        <p:nvSpPr>
          <p:cNvPr id="18" name="TextBox 17"/>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300" b="0" i="0">
                <a:solidFill>
                  <a:srgbClr val="F2ECDD"/>
                </a:solidFill>
                <a:latin typeface="Inter"/>
              </a:rPr>
              <a:t>Purely theoretical protocols optimize for imagined needs.</a:t>
            </a:r>
          </a:p>
          <a:p>
            <a:pPr algn="ctr">
              <a:lnSpc>
                <a:spcPct val="140000"/>
              </a:lnSpc>
            </a:pPr>
            <a:r>
              <a:rPr sz="1450" b="0" i="1">
                <a:solidFill>
                  <a:srgbClr val="EBCF9E"/>
                </a:solidFill>
                <a:latin typeface="Georgia"/>
              </a:rPr>
              <a:t>Real implementations reveal actual interoperability needs.</a:t>
            </a:r>
          </a:p>
        </p:txBody>
      </p:sp>
      <p:pic>
        <p:nvPicPr>
          <p:cNvPr id="19" name="Picture 18"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20" name="TextBox 19"/>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21" name="TextBox 20"/>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D A T A   S O V E R E I G N T Y</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000" b="1" i="0">
                <a:solidFill>
                  <a:srgbClr val="F4EAD8"/>
                </a:solidFill>
                <a:latin typeface="Inter"/>
              </a:rPr>
              <a:t>Connected does not have to mean </a:t>
            </a:r>
            <a:r>
              <a:rPr sz="3300" b="0" i="1">
                <a:solidFill>
                  <a:srgbClr val="99E6D9"/>
                </a:solidFill>
                <a:latin typeface="Georgia"/>
              </a:rPr>
              <a:t>surrendered.</a:t>
            </a:r>
          </a:p>
        </p:txBody>
      </p:sp>
      <p:sp>
        <p:nvSpPr>
          <p:cNvPr id="4" name="Rounded Rectangle 3"/>
          <p:cNvSpPr/>
          <p:nvPr/>
        </p:nvSpPr>
        <p:spPr>
          <a:xfrm>
            <a:off x="548640" y="2286000"/>
            <a:ext cx="3569208" cy="192024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14600"/>
            <a:ext cx="3112008" cy="1463040"/>
          </a:xfrm>
          <a:prstGeom prst="rect">
            <a:avLst/>
          </a:prstGeom>
          <a:noFill/>
        </p:spPr>
        <p:txBody>
          <a:bodyPr wrap="square" lIns="0" rIns="0" tIns="0" bIns="0">
            <a:spAutoFit/>
          </a:bodyPr>
          <a:lstStyle/>
          <a:p>
            <a:pPr algn="l">
              <a:lnSpc>
                <a:spcPct val="135000"/>
              </a:lnSpc>
            </a:pPr>
            <a:r>
              <a:rPr sz="1000" b="1" i="0">
                <a:solidFill>
                  <a:srgbClr val="9FE8DC"/>
                </a:solidFill>
                <a:latin typeface="Inter"/>
              </a:rPr>
              <a:t>A   P E R S O N</a:t>
            </a:r>
          </a:p>
          <a:p>
            <a:pPr algn="l">
              <a:lnSpc>
                <a:spcPct val="135000"/>
              </a:lnSpc>
            </a:pPr>
            <a:r>
              <a:rPr sz="500" b="0" i="0">
                <a:solidFill>
                  <a:srgbClr val="AFC4C2"/>
                </a:solidFill>
                <a:latin typeface="Inter"/>
              </a:rPr>
              <a:t/>
            </a:r>
          </a:p>
          <a:p>
            <a:pPr algn="l">
              <a:lnSpc>
                <a:spcPct val="135000"/>
              </a:lnSpc>
            </a:pPr>
            <a:r>
              <a:rPr sz="1150" b="0" i="0">
                <a:solidFill>
                  <a:srgbClr val="F2ECDD"/>
                </a:solidFill>
                <a:latin typeface="Inter"/>
              </a:rPr>
              <a:t>Controls where their information lives — and what, if anything, moves outward.</a:t>
            </a:r>
          </a:p>
        </p:txBody>
      </p:sp>
      <p:sp>
        <p:nvSpPr>
          <p:cNvPr id="6" name="Rounded Rectangle 5"/>
          <p:cNvSpPr/>
          <p:nvPr/>
        </p:nvSpPr>
        <p:spPr>
          <a:xfrm>
            <a:off x="4319016" y="2286000"/>
            <a:ext cx="3569208" cy="1920240"/>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47616" y="2514600"/>
            <a:ext cx="3112008" cy="1463040"/>
          </a:xfrm>
          <a:prstGeom prst="rect">
            <a:avLst/>
          </a:prstGeom>
          <a:noFill/>
        </p:spPr>
        <p:txBody>
          <a:bodyPr wrap="square" lIns="0" rIns="0" tIns="0" bIns="0">
            <a:spAutoFit/>
          </a:bodyPr>
          <a:lstStyle/>
          <a:p>
            <a:pPr algn="l">
              <a:lnSpc>
                <a:spcPct val="135000"/>
              </a:lnSpc>
            </a:pPr>
            <a:r>
              <a:rPr sz="1000" b="1" i="0">
                <a:solidFill>
                  <a:srgbClr val="9FE8DC"/>
                </a:solidFill>
                <a:latin typeface="Inter"/>
              </a:rPr>
              <a:t>A   G R O U P</a:t>
            </a:r>
          </a:p>
          <a:p>
            <a:pPr algn="l">
              <a:lnSpc>
                <a:spcPct val="135000"/>
              </a:lnSpc>
            </a:pPr>
            <a:r>
              <a:rPr sz="500" b="0" i="0">
                <a:solidFill>
                  <a:srgbClr val="AFC4C2"/>
                </a:solidFill>
                <a:latin typeface="Inter"/>
              </a:rPr>
              <a:t/>
            </a:r>
          </a:p>
          <a:p>
            <a:pPr algn="l">
              <a:lnSpc>
                <a:spcPct val="135000"/>
              </a:lnSpc>
            </a:pPr>
            <a:r>
              <a:rPr sz="1150" b="0" i="0">
                <a:solidFill>
                  <a:srgbClr val="F2ECDD"/>
                </a:solidFill>
                <a:latin typeface="Inter"/>
              </a:rPr>
              <a:t>Can operate its own instance, with its own rules, memory, and data.</a:t>
            </a:r>
          </a:p>
        </p:txBody>
      </p:sp>
      <p:sp>
        <p:nvSpPr>
          <p:cNvPr id="8" name="Rounded Rectangle 7"/>
          <p:cNvSpPr/>
          <p:nvPr/>
        </p:nvSpPr>
        <p:spPr>
          <a:xfrm>
            <a:off x="8089392" y="2286000"/>
            <a:ext cx="3569208" cy="192024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17992" y="2514600"/>
            <a:ext cx="3112008" cy="1463040"/>
          </a:xfrm>
          <a:prstGeom prst="rect">
            <a:avLst/>
          </a:prstGeom>
          <a:noFill/>
        </p:spPr>
        <p:txBody>
          <a:bodyPr wrap="square" lIns="0" rIns="0" tIns="0" bIns="0">
            <a:spAutoFit/>
          </a:bodyPr>
          <a:lstStyle/>
          <a:p>
            <a:pPr algn="l">
              <a:lnSpc>
                <a:spcPct val="135000"/>
              </a:lnSpc>
            </a:pPr>
            <a:r>
              <a:rPr sz="1000" b="1" i="0">
                <a:solidFill>
                  <a:srgbClr val="9FE8DC"/>
                </a:solidFill>
                <a:latin typeface="Inter"/>
              </a:rPr>
              <a:t>A   C O M M U N I T Y</a:t>
            </a:r>
          </a:p>
          <a:p>
            <a:pPr algn="l">
              <a:lnSpc>
                <a:spcPct val="135000"/>
              </a:lnSpc>
            </a:pPr>
            <a:r>
              <a:rPr sz="500" b="0" i="0">
                <a:solidFill>
                  <a:srgbClr val="AFC4C2"/>
                </a:solidFill>
                <a:latin typeface="Inter"/>
              </a:rPr>
              <a:t/>
            </a:r>
          </a:p>
          <a:p>
            <a:pPr algn="l">
              <a:lnSpc>
                <a:spcPct val="135000"/>
              </a:lnSpc>
            </a:pPr>
            <a:r>
              <a:rPr sz="1150" b="0" i="0">
                <a:solidFill>
                  <a:srgbClr val="F2ECDD"/>
                </a:solidFill>
                <a:latin typeface="Inter"/>
              </a:rPr>
              <a:t>Can share local infrastructure — still connected to the wider network.</a:t>
            </a:r>
          </a:p>
        </p:txBody>
      </p:sp>
      <p:sp>
        <p:nvSpPr>
          <p:cNvPr id="10" name="TextBox 9"/>
          <p:cNvSpPr txBox="1"/>
          <p:nvPr/>
        </p:nvSpPr>
        <p:spPr>
          <a:xfrm>
            <a:off x="548640" y="5029200"/>
            <a:ext cx="11064240" cy="731520"/>
          </a:xfrm>
          <a:prstGeom prst="rect">
            <a:avLst/>
          </a:prstGeom>
          <a:noFill/>
        </p:spPr>
        <p:txBody>
          <a:bodyPr wrap="square" lIns="0" rIns="0" tIns="0" bIns="0">
            <a:spAutoFit/>
          </a:bodyPr>
          <a:lstStyle/>
          <a:p>
            <a:pPr algn="ctr">
              <a:lnSpc>
                <a:spcPct val="140000"/>
              </a:lnSpc>
            </a:pPr>
            <a:r>
              <a:rPr sz="1300" b="0" i="0">
                <a:solidFill>
                  <a:srgbClr val="F2ECDD"/>
                </a:solidFill>
                <a:latin typeface="Inter"/>
              </a:rPr>
              <a:t>Those systems still communicate with the wider network — </a:t>
            </a:r>
            <a:r>
              <a:rPr sz="1300" b="1" i="0">
                <a:solidFill>
                  <a:srgbClr val="EBCF9E"/>
                </a:solidFill>
                <a:latin typeface="Inter"/>
              </a:rPr>
              <a:t>only what people choose or permit moves outward.</a:t>
            </a:r>
          </a:p>
          <a:p>
            <a:pPr algn="ctr">
              <a:lnSpc>
                <a:spcPct val="140000"/>
              </a:lnSpc>
            </a:pPr>
            <a:r>
              <a:rPr sz="1350" b="0" i="1">
                <a:solidFill>
                  <a:srgbClr val="9FE8DC"/>
                </a:solidFill>
                <a:latin typeface="Georgia"/>
              </a:rPr>
              <a:t>Participating in the network does not mean surrendering ownership of your data to the network.</a:t>
            </a:r>
          </a:p>
        </p:txBody>
      </p:sp>
      <p:pic>
        <p:nvPicPr>
          <p:cNvPr id="11" name="Picture 10"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2" name="TextBox 11"/>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3" name="TextBox 12"/>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C O N T E X T U A L   P R I V A C Y</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100" b="1" i="0">
                <a:solidFill>
                  <a:srgbClr val="F4EAD8"/>
                </a:solidFill>
                <a:latin typeface="Inter"/>
              </a:rPr>
              <a:t>Connection shouldn't require </a:t>
            </a:r>
            <a:r>
              <a:rPr sz="3400" b="0" i="1">
                <a:solidFill>
                  <a:srgbClr val="99E6D9"/>
                </a:solidFill>
                <a:latin typeface="Georgia"/>
              </a:rPr>
              <a:t>total exposure.</a:t>
            </a:r>
          </a:p>
        </p:txBody>
      </p:sp>
      <p:sp>
        <p:nvSpPr>
          <p:cNvPr id="4" name="Rounded Rectangle 3"/>
          <p:cNvSpPr/>
          <p:nvPr/>
        </p:nvSpPr>
        <p:spPr>
          <a:xfrm>
            <a:off x="548640" y="2286000"/>
            <a:ext cx="3569208" cy="233172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14600"/>
            <a:ext cx="3112008" cy="1874519"/>
          </a:xfrm>
          <a:prstGeom prst="rect">
            <a:avLst/>
          </a:prstGeom>
          <a:noFill/>
        </p:spPr>
        <p:txBody>
          <a:bodyPr wrap="square" lIns="0" rIns="0" tIns="0" bIns="0">
            <a:spAutoFit/>
          </a:bodyPr>
          <a:lstStyle/>
          <a:p>
            <a:pPr algn="l">
              <a:lnSpc>
                <a:spcPct val="135000"/>
              </a:lnSpc>
            </a:pPr>
            <a:r>
              <a:rPr sz="1000" b="1" i="0">
                <a:solidFill>
                  <a:srgbClr val="9FE8DC"/>
                </a:solidFill>
                <a:latin typeface="Inter"/>
              </a:rPr>
              <a:t>C O N T E X T U A L ,   N O T   B I N A R Y</a:t>
            </a:r>
          </a:p>
          <a:p>
            <a:pPr algn="l">
              <a:lnSpc>
                <a:spcPct val="135000"/>
              </a:lnSpc>
            </a:pPr>
            <a:r>
              <a:rPr sz="500" b="0" i="0">
                <a:solidFill>
                  <a:srgbClr val="AFC4C2"/>
                </a:solidFill>
                <a:latin typeface="Inter"/>
              </a:rPr>
              <a:t/>
            </a:r>
          </a:p>
          <a:p>
            <a:pPr algn="l">
              <a:lnSpc>
                <a:spcPct val="135000"/>
              </a:lnSpc>
            </a:pPr>
            <a:r>
              <a:rPr sz="1150" b="0" i="0">
                <a:solidFill>
                  <a:srgbClr val="F2ECDD"/>
                </a:solidFill>
                <a:latin typeface="Inter"/>
              </a:rPr>
              <a:t>Privacy is not simply public or private. Different people see different things, for different purposes, under different conditions.</a:t>
            </a:r>
          </a:p>
        </p:txBody>
      </p:sp>
      <p:sp>
        <p:nvSpPr>
          <p:cNvPr id="6" name="Rounded Rectangle 5"/>
          <p:cNvSpPr/>
          <p:nvPr/>
        </p:nvSpPr>
        <p:spPr>
          <a:xfrm>
            <a:off x="4319016" y="2286000"/>
            <a:ext cx="3569208" cy="2331720"/>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47616" y="2514600"/>
            <a:ext cx="3112008" cy="1874519"/>
          </a:xfrm>
          <a:prstGeom prst="rect">
            <a:avLst/>
          </a:prstGeom>
          <a:noFill/>
        </p:spPr>
        <p:txBody>
          <a:bodyPr wrap="square" lIns="0" rIns="0" tIns="0" bIns="0">
            <a:spAutoFit/>
          </a:bodyPr>
          <a:lstStyle/>
          <a:p>
            <a:pPr algn="l">
              <a:lnSpc>
                <a:spcPct val="135000"/>
              </a:lnSpc>
            </a:pPr>
            <a:r>
              <a:rPr sz="1000" b="1" i="0">
                <a:solidFill>
                  <a:srgbClr val="9FE8DC"/>
                </a:solidFill>
                <a:latin typeface="Inter"/>
              </a:rPr>
              <a:t>O N   Y O U R   T E R M S</a:t>
            </a:r>
          </a:p>
          <a:p>
            <a:pPr algn="l">
              <a:lnSpc>
                <a:spcPct val="135000"/>
              </a:lnSpc>
            </a:pPr>
            <a:r>
              <a:rPr sz="500" b="0" i="0">
                <a:solidFill>
                  <a:srgbClr val="AFC4C2"/>
                </a:solidFill>
                <a:latin typeface="Inter"/>
              </a:rPr>
              <a:t/>
            </a:r>
          </a:p>
          <a:p>
            <a:pPr algn="l">
              <a:lnSpc>
                <a:spcPct val="135000"/>
              </a:lnSpc>
            </a:pPr>
            <a:r>
              <a:rPr sz="1150" b="0" i="0">
                <a:solidFill>
                  <a:srgbClr val="F2ECDD"/>
                </a:solidFill>
                <a:latin typeface="Inter"/>
              </a:rPr>
              <a:t>Findable for a job without publishing everything. An organization shows one face to members, another to neighbors and the wider world.</a:t>
            </a:r>
          </a:p>
        </p:txBody>
      </p:sp>
      <p:sp>
        <p:nvSpPr>
          <p:cNvPr id="8" name="Rounded Rectangle 7"/>
          <p:cNvSpPr/>
          <p:nvPr/>
        </p:nvSpPr>
        <p:spPr>
          <a:xfrm>
            <a:off x="8089392" y="2286000"/>
            <a:ext cx="3569208" cy="233172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17992" y="2514600"/>
            <a:ext cx="3112008" cy="1874519"/>
          </a:xfrm>
          <a:prstGeom prst="rect">
            <a:avLst/>
          </a:prstGeom>
          <a:noFill/>
        </p:spPr>
        <p:txBody>
          <a:bodyPr wrap="square" lIns="0" rIns="0" tIns="0" bIns="0">
            <a:spAutoFit/>
          </a:bodyPr>
          <a:lstStyle/>
          <a:p>
            <a:pPr algn="l">
              <a:lnSpc>
                <a:spcPct val="135000"/>
              </a:lnSpc>
            </a:pPr>
            <a:r>
              <a:rPr sz="1000" b="1" i="0">
                <a:solidFill>
                  <a:srgbClr val="9FE8DC"/>
                </a:solidFill>
                <a:latin typeface="Inter"/>
              </a:rPr>
              <a:t>P R O V E ,   W I T H O U T   R E V E A L I N G</a:t>
            </a:r>
          </a:p>
          <a:p>
            <a:pPr algn="l">
              <a:lnSpc>
                <a:spcPct val="135000"/>
              </a:lnSpc>
            </a:pPr>
            <a:r>
              <a:rPr sz="500" b="0" i="0">
                <a:solidFill>
                  <a:srgbClr val="AFC4C2"/>
                </a:solidFill>
                <a:latin typeface="Inter"/>
              </a:rPr>
              <a:t/>
            </a:r>
          </a:p>
          <a:p>
            <a:pPr algn="l">
              <a:lnSpc>
                <a:spcPct val="135000"/>
              </a:lnSpc>
            </a:pPr>
            <a:r>
              <a:rPr sz="1150" b="0" i="0">
                <a:solidFill>
                  <a:srgbClr val="F2ECDD"/>
                </a:solidFill>
                <a:latin typeface="Inter"/>
              </a:rPr>
              <a:t>Qualified? In the area? Eligible? The system can simply confirm yes or no — without exposing what's underneath.</a:t>
            </a:r>
          </a:p>
        </p:txBody>
      </p:sp>
      <p:sp>
        <p:nvSpPr>
          <p:cNvPr id="10" name="TextBox 9"/>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500" b="1" i="0">
                <a:solidFill>
                  <a:srgbClr val="F4EAD8"/>
                </a:solidFill>
                <a:latin typeface="Inter"/>
              </a:rPr>
              <a:t>The goal is not secrecy. It's </a:t>
            </a:r>
            <a:r>
              <a:rPr sz="1600" b="0" i="1">
                <a:solidFill>
                  <a:srgbClr val="EBCF9E"/>
                </a:solidFill>
                <a:latin typeface="Georgia"/>
              </a:rPr>
              <a:t>appropriate visibility.</a:t>
            </a:r>
          </a:p>
        </p:txBody>
      </p:sp>
      <p:pic>
        <p:nvPicPr>
          <p:cNvPr id="11" name="Picture 10"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2" name="TextBox 11"/>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3" name="TextBox 12"/>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A T T E N T I O N   S O V E R E I G N T Y</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200" b="1" i="0">
                <a:solidFill>
                  <a:srgbClr val="F4EAD8"/>
                </a:solidFill>
                <a:latin typeface="Inter"/>
              </a:rPr>
              <a:t>Sovereignty over your </a:t>
            </a:r>
            <a:r>
              <a:rPr sz="3500" b="0" i="1">
                <a:solidFill>
                  <a:srgbClr val="EBCF9E"/>
                </a:solidFill>
                <a:latin typeface="Georgia"/>
              </a:rPr>
              <a:t>attention, too.</a:t>
            </a:r>
          </a:p>
        </p:txBody>
      </p:sp>
      <p:sp>
        <p:nvSpPr>
          <p:cNvPr id="4" name="Rounded Rectangle 3"/>
          <p:cNvSpPr/>
          <p:nvPr/>
        </p:nvSpPr>
        <p:spPr>
          <a:xfrm>
            <a:off x="548640" y="2148840"/>
            <a:ext cx="5394960" cy="1600200"/>
          </a:xfrm>
          <a:prstGeom prst="roundRect">
            <a:avLst>
              <a:gd name="adj" fmla="val 6000"/>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377440"/>
            <a:ext cx="4846320" cy="1188720"/>
          </a:xfrm>
          <a:prstGeom prst="rect">
            <a:avLst/>
          </a:prstGeom>
          <a:noFill/>
        </p:spPr>
        <p:txBody>
          <a:bodyPr wrap="square" lIns="0" rIns="0" tIns="0" bIns="0">
            <a:spAutoFit/>
          </a:bodyPr>
          <a:lstStyle/>
          <a:p>
            <a:pPr algn="l">
              <a:lnSpc>
                <a:spcPct val="140000"/>
              </a:lnSpc>
            </a:pPr>
            <a:r>
              <a:rPr sz="950" b="1" i="0">
                <a:solidFill>
                  <a:srgbClr val="9FE8DC"/>
                </a:solidFill>
                <a:latin typeface="Inter"/>
              </a:rPr>
              <a:t>S E L E C T I V E   D I S C L O S U R E   —   O U T W A R D</a:t>
            </a:r>
          </a:p>
          <a:p>
            <a:pPr algn="l">
              <a:lnSpc>
                <a:spcPct val="140000"/>
              </a:lnSpc>
            </a:pPr>
            <a:r>
              <a:rPr sz="500" b="0" i="0">
                <a:solidFill>
                  <a:srgbClr val="AFC4C2"/>
                </a:solidFill>
                <a:latin typeface="Inter"/>
              </a:rPr>
              <a:t/>
            </a:r>
          </a:p>
          <a:p>
            <a:pPr algn="l">
              <a:lnSpc>
                <a:spcPct val="140000"/>
              </a:lnSpc>
            </a:pPr>
            <a:r>
              <a:rPr sz="1200" b="0" i="0">
                <a:solidFill>
                  <a:srgbClr val="F2ECDD"/>
                </a:solidFill>
                <a:latin typeface="Inter"/>
              </a:rPr>
              <a:t>You decide what the world can see of you, and in which contexts.</a:t>
            </a:r>
          </a:p>
        </p:txBody>
      </p:sp>
      <p:sp>
        <p:nvSpPr>
          <p:cNvPr id="6" name="Rounded Rectangle 5"/>
          <p:cNvSpPr/>
          <p:nvPr/>
        </p:nvSpPr>
        <p:spPr>
          <a:xfrm>
            <a:off x="6263640" y="2148840"/>
            <a:ext cx="5394960" cy="1600200"/>
          </a:xfrm>
          <a:prstGeom prst="roundRect">
            <a:avLst>
              <a:gd name="adj" fmla="val 6000"/>
            </a:avLst>
          </a:prstGeom>
          <a:solidFill>
            <a:srgbClr val="084B4D"/>
          </a:solidFill>
          <a:ln w="1397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37960" y="2377440"/>
            <a:ext cx="4846320" cy="1188720"/>
          </a:xfrm>
          <a:prstGeom prst="rect">
            <a:avLst/>
          </a:prstGeom>
          <a:noFill/>
        </p:spPr>
        <p:txBody>
          <a:bodyPr wrap="square" lIns="0" rIns="0" tIns="0" bIns="0">
            <a:spAutoFit/>
          </a:bodyPr>
          <a:lstStyle/>
          <a:p>
            <a:pPr algn="l">
              <a:lnSpc>
                <a:spcPct val="140000"/>
              </a:lnSpc>
            </a:pPr>
            <a:r>
              <a:rPr sz="950" b="1" i="0">
                <a:solidFill>
                  <a:srgbClr val="EBCF9E"/>
                </a:solidFill>
                <a:latin typeface="Inter"/>
              </a:rPr>
              <a:t>S E L E C T I V E   A T T E N T I O N   —   I N W A R D</a:t>
            </a:r>
          </a:p>
          <a:p>
            <a:pPr algn="l">
              <a:lnSpc>
                <a:spcPct val="140000"/>
              </a:lnSpc>
            </a:pPr>
            <a:r>
              <a:rPr sz="500" b="0" i="0">
                <a:solidFill>
                  <a:srgbClr val="AFC4C2"/>
                </a:solidFill>
                <a:latin typeface="Inter"/>
              </a:rPr>
              <a:t/>
            </a:r>
          </a:p>
          <a:p>
            <a:pPr algn="l">
              <a:lnSpc>
                <a:spcPct val="140000"/>
              </a:lnSpc>
            </a:pPr>
            <a:r>
              <a:rPr sz="1200" b="0" i="0">
                <a:solidFill>
                  <a:srgbClr val="F2ECDD"/>
                </a:solidFill>
                <a:latin typeface="Inter"/>
              </a:rPr>
              <a:t>You decide what gets to enter your field of view. What reaches me? Why? According to whose priorities?</a:t>
            </a:r>
          </a:p>
        </p:txBody>
      </p:sp>
      <p:sp>
        <p:nvSpPr>
          <p:cNvPr id="8" name="TextBox 7"/>
          <p:cNvSpPr txBox="1"/>
          <p:nvPr/>
        </p:nvSpPr>
        <p:spPr>
          <a:xfrm>
            <a:off x="548640" y="4114800"/>
            <a:ext cx="8229600" cy="292608"/>
          </a:xfrm>
          <a:prstGeom prst="rect">
            <a:avLst/>
          </a:prstGeom>
          <a:noFill/>
        </p:spPr>
        <p:txBody>
          <a:bodyPr wrap="square" lIns="0" rIns="0" tIns="0" bIns="0">
            <a:spAutoFit/>
          </a:bodyPr>
          <a:lstStyle/>
          <a:p>
            <a:pPr algn="l">
              <a:lnSpc>
                <a:spcPct val="115000"/>
              </a:lnSpc>
            </a:pPr>
            <a:r>
              <a:rPr sz="1000" b="1" i="0">
                <a:solidFill>
                  <a:srgbClr val="9FE8DC"/>
                </a:solidFill>
                <a:latin typeface="Inter"/>
              </a:rPr>
              <a:t>R E L E V A N C E   S H A P E D   B Y</a:t>
            </a:r>
          </a:p>
        </p:txBody>
      </p:sp>
      <p:sp>
        <p:nvSpPr>
          <p:cNvPr id="9" name="Rounded Rectangle 8"/>
          <p:cNvSpPr/>
          <p:nvPr/>
        </p:nvSpPr>
        <p:spPr>
          <a:xfrm>
            <a:off x="548640" y="4526280"/>
            <a:ext cx="1463040" cy="502920"/>
          </a:xfrm>
          <a:prstGeom prst="roundRect">
            <a:avLst>
              <a:gd name="adj" fmla="val 6000"/>
            </a:avLst>
          </a:prstGeom>
          <a:solidFill>
            <a:srgbClr val="0D3E40"/>
          </a:solidFill>
          <a:ln w="1016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4654296"/>
            <a:ext cx="1463040" cy="274320"/>
          </a:xfrm>
          <a:prstGeom prst="rect">
            <a:avLst/>
          </a:prstGeom>
          <a:noFill/>
        </p:spPr>
        <p:txBody>
          <a:bodyPr wrap="square" lIns="0" rIns="0" tIns="0" bIns="0">
            <a:spAutoFit/>
          </a:bodyPr>
          <a:lstStyle/>
          <a:p>
            <a:pPr algn="ctr">
              <a:lnSpc>
                <a:spcPct val="115000"/>
              </a:lnSpc>
            </a:pPr>
            <a:r>
              <a:rPr sz="1050" b="0" i="0">
                <a:solidFill>
                  <a:srgbClr val="F4EAD8"/>
                </a:solidFill>
                <a:latin typeface="Inter"/>
              </a:rPr>
              <a:t>place</a:t>
            </a:r>
          </a:p>
        </p:txBody>
      </p:sp>
      <p:sp>
        <p:nvSpPr>
          <p:cNvPr id="11" name="Rounded Rectangle 10"/>
          <p:cNvSpPr/>
          <p:nvPr/>
        </p:nvSpPr>
        <p:spPr>
          <a:xfrm>
            <a:off x="2148840" y="4526280"/>
            <a:ext cx="1463040" cy="502920"/>
          </a:xfrm>
          <a:prstGeom prst="roundRect">
            <a:avLst>
              <a:gd name="adj" fmla="val 6000"/>
            </a:avLst>
          </a:prstGeom>
          <a:solidFill>
            <a:srgbClr val="084B4D"/>
          </a:solidFill>
          <a:ln w="1016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48840" y="4654296"/>
            <a:ext cx="1463040" cy="274320"/>
          </a:xfrm>
          <a:prstGeom prst="rect">
            <a:avLst/>
          </a:prstGeom>
          <a:noFill/>
        </p:spPr>
        <p:txBody>
          <a:bodyPr wrap="square" lIns="0" rIns="0" tIns="0" bIns="0">
            <a:spAutoFit/>
          </a:bodyPr>
          <a:lstStyle/>
          <a:p>
            <a:pPr algn="ctr">
              <a:lnSpc>
                <a:spcPct val="115000"/>
              </a:lnSpc>
            </a:pPr>
            <a:r>
              <a:rPr sz="1050" b="0" i="0">
                <a:solidFill>
                  <a:srgbClr val="F4EAD8"/>
                </a:solidFill>
                <a:latin typeface="Inter"/>
              </a:rPr>
              <a:t>relationships</a:t>
            </a:r>
          </a:p>
        </p:txBody>
      </p:sp>
      <p:sp>
        <p:nvSpPr>
          <p:cNvPr id="13" name="Rounded Rectangle 12"/>
          <p:cNvSpPr/>
          <p:nvPr/>
        </p:nvSpPr>
        <p:spPr>
          <a:xfrm>
            <a:off x="3749040" y="4526280"/>
            <a:ext cx="1463040" cy="502920"/>
          </a:xfrm>
          <a:prstGeom prst="roundRect">
            <a:avLst>
              <a:gd name="adj" fmla="val 6000"/>
            </a:avLst>
          </a:prstGeom>
          <a:solidFill>
            <a:srgbClr val="0D3E40"/>
          </a:solidFill>
          <a:ln w="1016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0" y="4654296"/>
            <a:ext cx="1463040" cy="274320"/>
          </a:xfrm>
          <a:prstGeom prst="rect">
            <a:avLst/>
          </a:prstGeom>
          <a:noFill/>
        </p:spPr>
        <p:txBody>
          <a:bodyPr wrap="square" lIns="0" rIns="0" tIns="0" bIns="0">
            <a:spAutoFit/>
          </a:bodyPr>
          <a:lstStyle/>
          <a:p>
            <a:pPr algn="ctr">
              <a:lnSpc>
                <a:spcPct val="115000"/>
              </a:lnSpc>
            </a:pPr>
            <a:r>
              <a:rPr sz="1050" b="0" i="0">
                <a:solidFill>
                  <a:srgbClr val="F4EAD8"/>
                </a:solidFill>
                <a:latin typeface="Inter"/>
              </a:rPr>
              <a:t>interests</a:t>
            </a:r>
          </a:p>
        </p:txBody>
      </p:sp>
      <p:sp>
        <p:nvSpPr>
          <p:cNvPr id="15" name="Rounded Rectangle 14"/>
          <p:cNvSpPr/>
          <p:nvPr/>
        </p:nvSpPr>
        <p:spPr>
          <a:xfrm>
            <a:off x="5349240" y="4526280"/>
            <a:ext cx="1463040" cy="502920"/>
          </a:xfrm>
          <a:prstGeom prst="roundRect">
            <a:avLst>
              <a:gd name="adj" fmla="val 6000"/>
            </a:avLst>
          </a:prstGeom>
          <a:solidFill>
            <a:srgbClr val="084B4D"/>
          </a:solidFill>
          <a:ln w="1016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49240" y="4654296"/>
            <a:ext cx="1463040" cy="274320"/>
          </a:xfrm>
          <a:prstGeom prst="rect">
            <a:avLst/>
          </a:prstGeom>
          <a:noFill/>
        </p:spPr>
        <p:txBody>
          <a:bodyPr wrap="square" lIns="0" rIns="0" tIns="0" bIns="0">
            <a:spAutoFit/>
          </a:bodyPr>
          <a:lstStyle/>
          <a:p>
            <a:pPr algn="ctr">
              <a:lnSpc>
                <a:spcPct val="115000"/>
              </a:lnSpc>
            </a:pPr>
            <a:r>
              <a:rPr sz="1050" b="0" i="0">
                <a:solidFill>
                  <a:srgbClr val="F4EAD8"/>
                </a:solidFill>
                <a:latin typeface="Inter"/>
              </a:rPr>
              <a:t>urgency</a:t>
            </a:r>
          </a:p>
        </p:txBody>
      </p:sp>
      <p:sp>
        <p:nvSpPr>
          <p:cNvPr id="17" name="Rounded Rectangle 16"/>
          <p:cNvSpPr/>
          <p:nvPr/>
        </p:nvSpPr>
        <p:spPr>
          <a:xfrm>
            <a:off x="6949440" y="4526280"/>
            <a:ext cx="1463040" cy="502920"/>
          </a:xfrm>
          <a:prstGeom prst="roundRect">
            <a:avLst>
              <a:gd name="adj" fmla="val 6000"/>
            </a:avLst>
          </a:prstGeom>
          <a:solidFill>
            <a:srgbClr val="0D3E40"/>
          </a:solidFill>
          <a:ln w="1016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0" y="4654296"/>
            <a:ext cx="1463040" cy="274320"/>
          </a:xfrm>
          <a:prstGeom prst="rect">
            <a:avLst/>
          </a:prstGeom>
          <a:noFill/>
        </p:spPr>
        <p:txBody>
          <a:bodyPr wrap="square" lIns="0" rIns="0" tIns="0" bIns="0">
            <a:spAutoFit/>
          </a:bodyPr>
          <a:lstStyle/>
          <a:p>
            <a:pPr algn="ctr">
              <a:lnSpc>
                <a:spcPct val="115000"/>
              </a:lnSpc>
            </a:pPr>
            <a:r>
              <a:rPr sz="1050" b="0" i="0">
                <a:solidFill>
                  <a:srgbClr val="F4EAD8"/>
                </a:solidFill>
                <a:latin typeface="Inter"/>
              </a:rPr>
              <a:t>communities</a:t>
            </a:r>
          </a:p>
        </p:txBody>
      </p:sp>
      <p:sp>
        <p:nvSpPr>
          <p:cNvPr id="19" name="Rounded Rectangle 18"/>
          <p:cNvSpPr/>
          <p:nvPr/>
        </p:nvSpPr>
        <p:spPr>
          <a:xfrm>
            <a:off x="8549640" y="4526280"/>
            <a:ext cx="1463040" cy="502920"/>
          </a:xfrm>
          <a:prstGeom prst="roundRect">
            <a:avLst>
              <a:gd name="adj" fmla="val 6000"/>
            </a:avLst>
          </a:prstGeom>
          <a:solidFill>
            <a:srgbClr val="084B4D"/>
          </a:solidFill>
          <a:ln w="1016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49640" y="4654296"/>
            <a:ext cx="1463040" cy="274320"/>
          </a:xfrm>
          <a:prstGeom prst="rect">
            <a:avLst/>
          </a:prstGeom>
          <a:noFill/>
        </p:spPr>
        <p:txBody>
          <a:bodyPr wrap="square" lIns="0" rIns="0" tIns="0" bIns="0">
            <a:spAutoFit/>
          </a:bodyPr>
          <a:lstStyle/>
          <a:p>
            <a:pPr algn="ctr">
              <a:lnSpc>
                <a:spcPct val="115000"/>
              </a:lnSpc>
            </a:pPr>
            <a:r>
              <a:rPr sz="1050" b="0" i="0">
                <a:solidFill>
                  <a:srgbClr val="F4EAD8"/>
                </a:solidFill>
                <a:latin typeface="Inter"/>
              </a:rPr>
              <a:t>time</a:t>
            </a:r>
          </a:p>
        </p:txBody>
      </p:sp>
      <p:sp>
        <p:nvSpPr>
          <p:cNvPr id="21" name="Rounded Rectangle 20"/>
          <p:cNvSpPr/>
          <p:nvPr/>
        </p:nvSpPr>
        <p:spPr>
          <a:xfrm>
            <a:off x="10149840" y="4526280"/>
            <a:ext cx="1463040" cy="502920"/>
          </a:xfrm>
          <a:prstGeom prst="roundRect">
            <a:avLst>
              <a:gd name="adj" fmla="val 6000"/>
            </a:avLst>
          </a:prstGeom>
          <a:solidFill>
            <a:srgbClr val="0D3E40"/>
          </a:solidFill>
          <a:ln w="1016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49840" y="4654296"/>
            <a:ext cx="1463040" cy="274320"/>
          </a:xfrm>
          <a:prstGeom prst="rect">
            <a:avLst/>
          </a:prstGeom>
          <a:noFill/>
        </p:spPr>
        <p:txBody>
          <a:bodyPr wrap="square" lIns="0" rIns="0" tIns="0" bIns="0">
            <a:spAutoFit/>
          </a:bodyPr>
          <a:lstStyle/>
          <a:p>
            <a:pPr algn="ctr">
              <a:lnSpc>
                <a:spcPct val="115000"/>
              </a:lnSpc>
            </a:pPr>
            <a:r>
              <a:rPr sz="1050" b="0" i="0">
                <a:solidFill>
                  <a:srgbClr val="F4EAD8"/>
                </a:solidFill>
                <a:latin typeface="Inter"/>
              </a:rPr>
              <a:t>chosen context</a:t>
            </a:r>
          </a:p>
        </p:txBody>
      </p:sp>
      <p:sp>
        <p:nvSpPr>
          <p:cNvPr id="23" name="TextBox 22"/>
          <p:cNvSpPr txBox="1"/>
          <p:nvPr/>
        </p:nvSpPr>
        <p:spPr>
          <a:xfrm>
            <a:off x="548640" y="5577840"/>
            <a:ext cx="11064240" cy="731520"/>
          </a:xfrm>
          <a:prstGeom prst="rect">
            <a:avLst/>
          </a:prstGeom>
          <a:noFill/>
        </p:spPr>
        <p:txBody>
          <a:bodyPr wrap="square" lIns="0" rIns="0" tIns="0" bIns="0">
            <a:spAutoFit/>
          </a:bodyPr>
          <a:lstStyle/>
          <a:p>
            <a:pPr algn="ctr">
              <a:lnSpc>
                <a:spcPct val="140000"/>
              </a:lnSpc>
            </a:pPr>
            <a:r>
              <a:rPr sz="1600" b="0" i="1">
                <a:solidFill>
                  <a:srgbClr val="9FE8DC"/>
                </a:solidFill>
                <a:latin typeface="Georgia"/>
              </a:rPr>
              <a:t>Useful relevance instead of attention capture.</a:t>
            </a:r>
          </a:p>
        </p:txBody>
      </p:sp>
      <p:pic>
        <p:nvPicPr>
          <p:cNvPr id="24" name="Picture 23"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25" name="TextBox 24"/>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26" name="TextBox 25"/>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A I   S O V E R E I G N T Y</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200" b="1" i="0">
                <a:solidFill>
                  <a:srgbClr val="F4EAD8"/>
                </a:solidFill>
                <a:latin typeface="Inter"/>
              </a:rPr>
              <a:t>AI makes all of this </a:t>
            </a:r>
            <a:r>
              <a:rPr sz="3500" b="0" i="1">
                <a:solidFill>
                  <a:srgbClr val="F0CC8B"/>
                </a:solidFill>
                <a:latin typeface="Georgia"/>
              </a:rPr>
              <a:t>more important.</a:t>
            </a:r>
          </a:p>
        </p:txBody>
      </p:sp>
      <p:sp>
        <p:nvSpPr>
          <p:cNvPr id="4" name="Rounded Rectangle 3"/>
          <p:cNvSpPr/>
          <p:nvPr/>
        </p:nvSpPr>
        <p:spPr>
          <a:xfrm>
            <a:off x="548640" y="2606040"/>
            <a:ext cx="5486400" cy="2514600"/>
          </a:xfrm>
          <a:prstGeom prst="roundRect">
            <a:avLst>
              <a:gd name="adj" fmla="val 6000"/>
            </a:avLst>
          </a:prstGeom>
          <a:solidFill>
            <a:srgbClr val="084B4D"/>
          </a:solidFill>
          <a:ln w="1270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834640"/>
            <a:ext cx="4983480" cy="2057400"/>
          </a:xfrm>
          <a:prstGeom prst="rect">
            <a:avLst/>
          </a:prstGeom>
          <a:noFill/>
        </p:spPr>
        <p:txBody>
          <a:bodyPr wrap="square" lIns="0" rIns="0" tIns="0" bIns="0">
            <a:spAutoFit/>
          </a:bodyPr>
          <a:lstStyle/>
          <a:p>
            <a:pPr algn="l">
              <a:lnSpc>
                <a:spcPct val="140000"/>
              </a:lnSpc>
            </a:pPr>
            <a:r>
              <a:rPr sz="1000" b="1" i="0">
                <a:solidFill>
                  <a:srgbClr val="D3B7A5"/>
                </a:solidFill>
                <a:latin typeface="Inter"/>
              </a:rPr>
              <a:t>A I   C O U L D   B E C O M E</a:t>
            </a:r>
          </a:p>
          <a:p>
            <a:pPr algn="l">
              <a:lnSpc>
                <a:spcPct val="140000"/>
              </a:lnSpc>
            </a:pPr>
            <a:r>
              <a:rPr sz="500" b="0" i="0">
                <a:solidFill>
                  <a:srgbClr val="AFC4C2"/>
                </a:solidFill>
                <a:latin typeface="Inter"/>
              </a:rPr>
              <a:t/>
            </a:r>
          </a:p>
          <a:p>
            <a:pPr algn="l">
              <a:lnSpc>
                <a:spcPct val="140000"/>
              </a:lnSpc>
            </a:pPr>
            <a:r>
              <a:rPr sz="1200" b="0" i="0">
                <a:solidFill>
                  <a:srgbClr val="F2ECDD"/>
                </a:solidFill>
                <a:latin typeface="Inter"/>
              </a:rPr>
              <a:t>Another centralized layer.</a:t>
            </a:r>
          </a:p>
          <a:p>
            <a:pPr algn="l">
              <a:lnSpc>
                <a:spcPct val="140000"/>
              </a:lnSpc>
            </a:pPr>
            <a:r>
              <a:rPr sz="1200" b="0" i="0">
                <a:solidFill>
                  <a:srgbClr val="F2ECDD"/>
                </a:solidFill>
                <a:latin typeface="Inter"/>
              </a:rPr>
              <a:t>Another source of dependence.</a:t>
            </a:r>
          </a:p>
          <a:p>
            <a:pPr algn="l">
              <a:lnSpc>
                <a:spcPct val="140000"/>
              </a:lnSpc>
            </a:pPr>
            <a:r>
              <a:rPr sz="1200" b="0" i="0">
                <a:solidFill>
                  <a:srgbClr val="F2ECDD"/>
                </a:solidFill>
                <a:latin typeface="Inter"/>
              </a:rPr>
              <a:t>Another surveillance infrastructure.</a:t>
            </a:r>
          </a:p>
          <a:p>
            <a:pPr algn="l">
              <a:lnSpc>
                <a:spcPct val="140000"/>
              </a:lnSpc>
            </a:pPr>
            <a:r>
              <a:rPr sz="1200" b="0" i="0">
                <a:solidFill>
                  <a:srgbClr val="F2ECDD"/>
                </a:solidFill>
                <a:latin typeface="Inter"/>
              </a:rPr>
              <a:t/>
            </a:r>
          </a:p>
          <a:p>
            <a:pPr algn="l">
              <a:lnSpc>
                <a:spcPct val="140000"/>
              </a:lnSpc>
            </a:pPr>
            <a:r>
              <a:rPr sz="1200" b="0" i="0">
                <a:solidFill>
                  <a:srgbClr val="F2ECDD"/>
                </a:solidFill>
                <a:latin typeface="Inter"/>
              </a:rPr>
              <a:t>It is already capable of searching, scheduling,</a:t>
            </a:r>
          </a:p>
          <a:p>
            <a:pPr algn="l">
              <a:lnSpc>
                <a:spcPct val="140000"/>
              </a:lnSpc>
            </a:pPr>
            <a:r>
              <a:rPr sz="1200" b="0" i="0">
                <a:solidFill>
                  <a:srgbClr val="F2ECDD"/>
                </a:solidFill>
                <a:latin typeface="Inter"/>
              </a:rPr>
              <a:t>purchasing, organizing — acting.</a:t>
            </a:r>
          </a:p>
        </p:txBody>
      </p:sp>
      <p:sp>
        <p:nvSpPr>
          <p:cNvPr id="6" name="Rounded Rectangle 5"/>
          <p:cNvSpPr/>
          <p:nvPr/>
        </p:nvSpPr>
        <p:spPr>
          <a:xfrm>
            <a:off x="6263640" y="2606040"/>
            <a:ext cx="5394960" cy="2514600"/>
          </a:xfrm>
          <a:prstGeom prst="roundRect">
            <a:avLst>
              <a:gd name="adj" fmla="val 6000"/>
            </a:avLst>
          </a:prstGeom>
          <a:solidFill>
            <a:srgbClr val="0D3E40"/>
          </a:solidFill>
          <a:ln w="1524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37960" y="2834640"/>
            <a:ext cx="4892040" cy="2057400"/>
          </a:xfrm>
          <a:prstGeom prst="rect">
            <a:avLst/>
          </a:prstGeom>
          <a:noFill/>
        </p:spPr>
        <p:txBody>
          <a:bodyPr wrap="square" lIns="0" rIns="0" tIns="0" bIns="0">
            <a:spAutoFit/>
          </a:bodyPr>
          <a:lstStyle/>
          <a:p>
            <a:pPr algn="l">
              <a:lnSpc>
                <a:spcPct val="140000"/>
              </a:lnSpc>
            </a:pPr>
            <a:r>
              <a:rPr sz="1000" b="1" i="0">
                <a:solidFill>
                  <a:srgbClr val="EBCF9E"/>
                </a:solidFill>
                <a:latin typeface="Inter"/>
              </a:rPr>
              <a:t>O R   I T   C O U L D   H E L P   C O M M U N I T I E S</a:t>
            </a:r>
          </a:p>
          <a:p>
            <a:pPr algn="l">
              <a:lnSpc>
                <a:spcPct val="140000"/>
              </a:lnSpc>
            </a:pPr>
            <a:r>
              <a:rPr sz="500" b="0" i="0">
                <a:solidFill>
                  <a:srgbClr val="AFC4C2"/>
                </a:solidFill>
                <a:latin typeface="Inter"/>
              </a:rPr>
              <a:t/>
            </a:r>
          </a:p>
          <a:p>
            <a:pPr algn="l">
              <a:lnSpc>
                <a:spcPct val="140000"/>
              </a:lnSpc>
            </a:pPr>
            <a:r>
              <a:rPr sz="1200" b="0" i="0">
                <a:solidFill>
                  <a:srgbClr val="F2ECDD"/>
                </a:solidFill>
                <a:latin typeface="Inter"/>
              </a:rPr>
              <a:t>Find resources. Coordinate work.</a:t>
            </a:r>
          </a:p>
          <a:p>
            <a:pPr algn="l">
              <a:lnSpc>
                <a:spcPct val="140000"/>
              </a:lnSpc>
            </a:pPr>
            <a:r>
              <a:rPr sz="1200" b="0" i="0">
                <a:solidFill>
                  <a:srgbClr val="F2ECDD"/>
                </a:solidFill>
                <a:latin typeface="Inter"/>
              </a:rPr>
              <a:t>Understand needs. Surface unused capacity.</a:t>
            </a:r>
          </a:p>
          <a:p>
            <a:pPr algn="l">
              <a:lnSpc>
                <a:spcPct val="140000"/>
              </a:lnSpc>
            </a:pPr>
            <a:r>
              <a:rPr sz="1200" b="0" i="0">
                <a:solidFill>
                  <a:srgbClr val="F2ECDD"/>
                </a:solidFill>
                <a:latin typeface="Inter"/>
              </a:rPr>
              <a:t/>
            </a:r>
          </a:p>
          <a:p>
            <a:pPr algn="l">
              <a:lnSpc>
                <a:spcPct val="140000"/>
              </a:lnSpc>
            </a:pPr>
            <a:r>
              <a:rPr sz="1200" b="0" i="0">
                <a:solidFill>
                  <a:srgbClr val="F2ECDD"/>
                </a:solidFill>
                <a:latin typeface="Inter"/>
              </a:rPr>
              <a:t>Care for place — and steward</a:t>
            </a:r>
          </a:p>
          <a:p>
            <a:pPr algn="l">
              <a:lnSpc>
                <a:spcPct val="140000"/>
              </a:lnSpc>
            </a:pPr>
            <a:r>
              <a:rPr sz="1200" b="0" i="0">
                <a:solidFill>
                  <a:srgbClr val="F2ECDD"/>
                </a:solidFill>
                <a:latin typeface="Inter"/>
              </a:rPr>
              <a:t>the ecological systems that sustain it.</a:t>
            </a:r>
          </a:p>
        </p:txBody>
      </p:sp>
      <p:sp>
        <p:nvSpPr>
          <p:cNvPr id="8" name="TextBox 7"/>
          <p:cNvSpPr txBox="1"/>
          <p:nvPr/>
        </p:nvSpPr>
        <p:spPr>
          <a:xfrm>
            <a:off x="548640" y="5440679"/>
            <a:ext cx="11064240" cy="731520"/>
          </a:xfrm>
          <a:prstGeom prst="rect">
            <a:avLst/>
          </a:prstGeom>
          <a:noFill/>
        </p:spPr>
        <p:txBody>
          <a:bodyPr wrap="square" lIns="0" rIns="0" tIns="0" bIns="0">
            <a:spAutoFit/>
          </a:bodyPr>
          <a:lstStyle/>
          <a:p>
            <a:pPr algn="ctr">
              <a:lnSpc>
                <a:spcPct val="140000"/>
              </a:lnSpc>
            </a:pPr>
            <a:r>
              <a:rPr sz="1350" b="0" i="0">
                <a:solidFill>
                  <a:srgbClr val="F2ECDD"/>
                </a:solidFill>
                <a:latin typeface="Inter"/>
              </a:rPr>
              <a:t>Does AI make us more dependent on distant infrastructure — </a:t>
            </a:r>
            <a:r>
              <a:rPr sz="1500" b="0" i="1">
                <a:solidFill>
                  <a:srgbClr val="9FE8DC"/>
                </a:solidFill>
                <a:latin typeface="Georgia"/>
              </a:rPr>
              <a:t>or more capable where we are?</a:t>
            </a:r>
          </a:p>
        </p:txBody>
      </p:sp>
      <p:pic>
        <p:nvPicPr>
          <p:cNvPr id="9" name="Picture 8"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0" name="TextBox 9"/>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1" name="TextBox 10"/>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O W N E R S H I P</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300" b="1" i="0">
                <a:solidFill>
                  <a:srgbClr val="F4EAD8"/>
                </a:solidFill>
                <a:latin typeface="Inter"/>
              </a:rPr>
              <a:t>Ownership changes </a:t>
            </a:r>
            <a:r>
              <a:rPr sz="3600" b="0" i="1">
                <a:solidFill>
                  <a:srgbClr val="F0CC8B"/>
                </a:solidFill>
                <a:latin typeface="Georgia"/>
              </a:rPr>
              <a:t>the incentives.</a:t>
            </a:r>
          </a:p>
        </p:txBody>
      </p:sp>
      <p:sp>
        <p:nvSpPr>
          <p:cNvPr id="4" name="Rounded Rectangle 3"/>
          <p:cNvSpPr/>
          <p:nvPr/>
        </p:nvSpPr>
        <p:spPr>
          <a:xfrm>
            <a:off x="548640" y="2606040"/>
            <a:ext cx="5486400" cy="2514600"/>
          </a:xfrm>
          <a:prstGeom prst="roundRect">
            <a:avLst>
              <a:gd name="adj" fmla="val 6000"/>
            </a:avLst>
          </a:prstGeom>
          <a:solidFill>
            <a:srgbClr val="084B4D"/>
          </a:solidFill>
          <a:ln w="1270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834640"/>
            <a:ext cx="4983480" cy="2057400"/>
          </a:xfrm>
          <a:prstGeom prst="rect">
            <a:avLst/>
          </a:prstGeom>
          <a:noFill/>
        </p:spPr>
        <p:txBody>
          <a:bodyPr wrap="square" lIns="0" rIns="0" tIns="0" bIns="0">
            <a:spAutoFit/>
          </a:bodyPr>
          <a:lstStyle/>
          <a:p>
            <a:pPr algn="l">
              <a:lnSpc>
                <a:spcPct val="140000"/>
              </a:lnSpc>
            </a:pPr>
            <a:r>
              <a:rPr sz="1000" b="1" i="0">
                <a:solidFill>
                  <a:srgbClr val="D3B7A5"/>
                </a:solidFill>
                <a:latin typeface="Inter"/>
              </a:rPr>
              <a:t>M O S T   E X I S T I N G   P L A T F O R M S</a:t>
            </a:r>
          </a:p>
          <a:p>
            <a:pPr algn="l">
              <a:lnSpc>
                <a:spcPct val="140000"/>
              </a:lnSpc>
            </a:pPr>
            <a:r>
              <a:rPr sz="500" b="0" i="0">
                <a:solidFill>
                  <a:srgbClr val="AFC4C2"/>
                </a:solidFill>
                <a:latin typeface="Inter"/>
              </a:rPr>
              <a:t/>
            </a:r>
          </a:p>
          <a:p>
            <a:pPr algn="l">
              <a:lnSpc>
                <a:spcPct val="140000"/>
              </a:lnSpc>
            </a:pPr>
            <a:r>
              <a:rPr sz="1200" b="0" i="0">
                <a:solidFill>
                  <a:srgbClr val="F2ECDD"/>
                </a:solidFill>
                <a:latin typeface="Inter"/>
              </a:rPr>
              <a:t>Capture attention.</a:t>
            </a:r>
          </a:p>
          <a:p>
            <a:pPr algn="l">
              <a:lnSpc>
                <a:spcPct val="140000"/>
              </a:lnSpc>
            </a:pPr>
            <a:r>
              <a:rPr sz="1200" b="0" i="0">
                <a:solidFill>
                  <a:srgbClr val="F2ECDD"/>
                </a:solidFill>
                <a:latin typeface="Inter"/>
              </a:rPr>
              <a:t>Capture data.</a:t>
            </a:r>
          </a:p>
          <a:p>
            <a:pPr algn="l">
              <a:lnSpc>
                <a:spcPct val="140000"/>
              </a:lnSpc>
            </a:pPr>
            <a:r>
              <a:rPr sz="1200" b="0" i="0">
                <a:solidFill>
                  <a:srgbClr val="F2ECDD"/>
                </a:solidFill>
                <a:latin typeface="Inter"/>
              </a:rPr>
              <a:t>Capture transactions.</a:t>
            </a:r>
          </a:p>
          <a:p>
            <a:pPr algn="l">
              <a:lnSpc>
                <a:spcPct val="140000"/>
              </a:lnSpc>
            </a:pPr>
            <a:r>
              <a:rPr sz="1200" b="0" i="0">
                <a:solidFill>
                  <a:srgbClr val="F2ECDD"/>
                </a:solidFill>
                <a:latin typeface="Inter"/>
              </a:rPr>
              <a:t/>
            </a:r>
          </a:p>
          <a:p>
            <a:pPr algn="l">
              <a:lnSpc>
                <a:spcPct val="140000"/>
              </a:lnSpc>
            </a:pPr>
            <a:r>
              <a:rPr sz="1200" b="0" i="0">
                <a:solidFill>
                  <a:srgbClr val="F2ECDD"/>
                </a:solidFill>
                <a:latin typeface="Inter"/>
              </a:rPr>
              <a:t>Network value concentrates upward.</a:t>
            </a:r>
          </a:p>
        </p:txBody>
      </p:sp>
      <p:sp>
        <p:nvSpPr>
          <p:cNvPr id="6" name="Rounded Rectangle 5"/>
          <p:cNvSpPr/>
          <p:nvPr/>
        </p:nvSpPr>
        <p:spPr>
          <a:xfrm>
            <a:off x="6263640" y="2606040"/>
            <a:ext cx="5394960" cy="2514600"/>
          </a:xfrm>
          <a:prstGeom prst="roundRect">
            <a:avLst>
              <a:gd name="adj" fmla="val 6000"/>
            </a:avLst>
          </a:prstGeom>
          <a:solidFill>
            <a:srgbClr val="0D3E40"/>
          </a:solidFill>
          <a:ln w="1524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37960" y="2834640"/>
            <a:ext cx="4892040" cy="2057400"/>
          </a:xfrm>
          <a:prstGeom prst="rect">
            <a:avLst/>
          </a:prstGeom>
          <a:noFill/>
        </p:spPr>
        <p:txBody>
          <a:bodyPr wrap="square" lIns="0" rIns="0" tIns="0" bIns="0">
            <a:spAutoFit/>
          </a:bodyPr>
          <a:lstStyle/>
          <a:p>
            <a:pPr algn="l">
              <a:lnSpc>
                <a:spcPct val="140000"/>
              </a:lnSpc>
            </a:pPr>
            <a:r>
              <a:rPr sz="1000" b="1" i="0">
                <a:solidFill>
                  <a:srgbClr val="EBCF9E"/>
                </a:solidFill>
                <a:latin typeface="Inter"/>
              </a:rPr>
              <a:t>R I V R ' S   L O O P</a:t>
            </a:r>
          </a:p>
          <a:p>
            <a:pPr algn="l">
              <a:lnSpc>
                <a:spcPct val="140000"/>
              </a:lnSpc>
            </a:pPr>
            <a:r>
              <a:rPr sz="500" b="0" i="0">
                <a:solidFill>
                  <a:srgbClr val="AFC4C2"/>
                </a:solidFill>
                <a:latin typeface="Inter"/>
              </a:rPr>
              <a:t/>
            </a:r>
          </a:p>
          <a:p>
            <a:pPr algn="l">
              <a:lnSpc>
                <a:spcPct val="140000"/>
              </a:lnSpc>
            </a:pPr>
            <a:r>
              <a:rPr sz="1200" b="0" i="0">
                <a:solidFill>
                  <a:srgbClr val="F2ECDD"/>
                </a:solidFill>
                <a:latin typeface="Inter"/>
              </a:rPr>
              <a:t>The people using the network create its value —</a:t>
            </a:r>
          </a:p>
          <a:p>
            <a:pPr algn="l">
              <a:lnSpc>
                <a:spcPct val="140000"/>
              </a:lnSpc>
            </a:pPr>
            <a:r>
              <a:rPr sz="1200" b="0" i="0">
                <a:solidFill>
                  <a:srgbClr val="F2ECDD"/>
                </a:solidFill>
                <a:latin typeface="Inter"/>
              </a:rPr>
              <a:t>so they participate in its success.</a:t>
            </a:r>
          </a:p>
          <a:p>
            <a:pPr algn="l">
              <a:lnSpc>
                <a:spcPct val="140000"/>
              </a:lnSpc>
            </a:pPr>
            <a:r>
              <a:rPr sz="1200" b="0" i="0">
                <a:solidFill>
                  <a:srgbClr val="F2ECDD"/>
                </a:solidFill>
                <a:latin typeface="Inter"/>
              </a:rPr>
              <a:t/>
            </a:r>
          </a:p>
          <a:p>
            <a:pPr algn="l">
              <a:lnSpc>
                <a:spcPct val="140000"/>
              </a:lnSpc>
            </a:pPr>
            <a:r>
              <a:rPr sz="1200" b="0" i="0">
                <a:solidFill>
                  <a:srgbClr val="F2ECDD"/>
                </a:solidFill>
                <a:latin typeface="Inter"/>
              </a:rPr>
              <a:t>Revenue supports operations, patrons, workers,</a:t>
            </a:r>
          </a:p>
          <a:p>
            <a:pPr algn="l">
              <a:lnSpc>
                <a:spcPct val="140000"/>
              </a:lnSpc>
            </a:pPr>
            <a:r>
              <a:rPr sz="1200" b="0" i="0">
                <a:solidFill>
                  <a:srgbClr val="F2ECDD"/>
                </a:solidFill>
                <a:latin typeface="Inter"/>
              </a:rPr>
              <a:t>stewards, reserves, and continued development.</a:t>
            </a:r>
          </a:p>
        </p:txBody>
      </p:sp>
      <p:sp>
        <p:nvSpPr>
          <p:cNvPr id="8" name="TextBox 7"/>
          <p:cNvSpPr txBox="1"/>
          <p:nvPr/>
        </p:nvSpPr>
        <p:spPr>
          <a:xfrm>
            <a:off x="548640" y="5440679"/>
            <a:ext cx="11064240" cy="731520"/>
          </a:xfrm>
          <a:prstGeom prst="rect">
            <a:avLst/>
          </a:prstGeom>
          <a:noFill/>
        </p:spPr>
        <p:txBody>
          <a:bodyPr wrap="square" lIns="0" rIns="0" tIns="0" bIns="0">
            <a:spAutoFit/>
          </a:bodyPr>
          <a:lstStyle/>
          <a:p>
            <a:pPr algn="ctr">
              <a:lnSpc>
                <a:spcPct val="140000"/>
              </a:lnSpc>
            </a:pPr>
            <a:r>
              <a:rPr sz="1400" b="1" i="0">
                <a:solidFill>
                  <a:srgbClr val="F4EAD8"/>
                </a:solidFill>
                <a:latin typeface="Inter"/>
              </a:rPr>
              <a:t>Serving the community is how Rivr succeeds — </a:t>
            </a:r>
            <a:r>
              <a:rPr sz="1500" b="0" i="1">
                <a:solidFill>
                  <a:srgbClr val="9FE8DC"/>
                </a:solidFill>
                <a:latin typeface="Georgia"/>
              </a:rPr>
              <a:t>not something added after it succeeds.</a:t>
            </a:r>
          </a:p>
        </p:txBody>
      </p:sp>
      <p:pic>
        <p:nvPicPr>
          <p:cNvPr id="9" name="Picture 8"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0" name="TextBox 9"/>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1" name="TextBox 10"/>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U S E   R I V R   T O   R U N   R I V R</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300" b="1" i="0">
                <a:solidFill>
                  <a:srgbClr val="F4EAD8"/>
                </a:solidFill>
                <a:latin typeface="Inter"/>
              </a:rPr>
              <a:t>The co-op lives </a:t>
            </a:r>
            <a:r>
              <a:rPr sz="3600" b="0" i="1">
                <a:solidFill>
                  <a:srgbClr val="99E6D9"/>
                </a:solidFill>
                <a:latin typeface="Georgia"/>
              </a:rPr>
              <a:t>inside the product.</a:t>
            </a:r>
          </a:p>
        </p:txBody>
      </p:sp>
      <p:sp>
        <p:nvSpPr>
          <p:cNvPr id="4" name="TextBox 3"/>
          <p:cNvSpPr txBox="1"/>
          <p:nvPr/>
        </p:nvSpPr>
        <p:spPr>
          <a:xfrm>
            <a:off x="548640" y="2148839"/>
            <a:ext cx="8229600" cy="292608"/>
          </a:xfrm>
          <a:prstGeom prst="rect">
            <a:avLst/>
          </a:prstGeom>
          <a:noFill/>
        </p:spPr>
        <p:txBody>
          <a:bodyPr wrap="square" lIns="0" rIns="0" tIns="0" bIns="0">
            <a:spAutoFit/>
          </a:bodyPr>
          <a:lstStyle/>
          <a:p>
            <a:pPr algn="l">
              <a:lnSpc>
                <a:spcPct val="115000"/>
              </a:lnSpc>
            </a:pPr>
            <a:r>
              <a:rPr sz="1000" b="1" i="0">
                <a:solidFill>
                  <a:srgbClr val="9FE8DC"/>
                </a:solidFill>
                <a:latin typeface="Inter"/>
              </a:rPr>
              <a:t>V I S I B L E   R E L A T I O N S H I P S ,   I N   T H E   S Y S T E M   I T S E L F</a:t>
            </a:r>
          </a:p>
        </p:txBody>
      </p:sp>
      <p:sp>
        <p:nvSpPr>
          <p:cNvPr id="5" name="Rounded Rectangle 4"/>
          <p:cNvSpPr/>
          <p:nvPr/>
        </p:nvSpPr>
        <p:spPr>
          <a:xfrm>
            <a:off x="548640" y="2560320"/>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24912"/>
            <a:ext cx="26517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membership</a:t>
            </a:r>
          </a:p>
        </p:txBody>
      </p:sp>
      <p:sp>
        <p:nvSpPr>
          <p:cNvPr id="7" name="Rounded Rectangle 6"/>
          <p:cNvSpPr/>
          <p:nvPr/>
        </p:nvSpPr>
        <p:spPr>
          <a:xfrm>
            <a:off x="3368040" y="2560320"/>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68040" y="2724912"/>
            <a:ext cx="26517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stake</a:t>
            </a:r>
          </a:p>
        </p:txBody>
      </p:sp>
      <p:sp>
        <p:nvSpPr>
          <p:cNvPr id="9" name="Rounded Rectangle 8"/>
          <p:cNvSpPr/>
          <p:nvPr/>
        </p:nvSpPr>
        <p:spPr>
          <a:xfrm>
            <a:off x="6187440" y="2560320"/>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87440" y="2724912"/>
            <a:ext cx="26517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participation</a:t>
            </a:r>
          </a:p>
        </p:txBody>
      </p:sp>
      <p:sp>
        <p:nvSpPr>
          <p:cNvPr id="11" name="Rounded Rectangle 10"/>
          <p:cNvSpPr/>
          <p:nvPr/>
        </p:nvSpPr>
        <p:spPr>
          <a:xfrm>
            <a:off x="9006840" y="2560320"/>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06840" y="2724912"/>
            <a:ext cx="26517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contribution</a:t>
            </a:r>
          </a:p>
        </p:txBody>
      </p:sp>
      <p:sp>
        <p:nvSpPr>
          <p:cNvPr id="13" name="Rounded Rectangle 12"/>
          <p:cNvSpPr/>
          <p:nvPr/>
        </p:nvSpPr>
        <p:spPr>
          <a:xfrm>
            <a:off x="548640" y="3310128"/>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474720"/>
            <a:ext cx="26517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revenue</a:t>
            </a:r>
          </a:p>
        </p:txBody>
      </p:sp>
      <p:sp>
        <p:nvSpPr>
          <p:cNvPr id="15" name="Rounded Rectangle 14"/>
          <p:cNvSpPr/>
          <p:nvPr/>
        </p:nvSpPr>
        <p:spPr>
          <a:xfrm>
            <a:off x="3368040" y="3310128"/>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68040" y="3474720"/>
            <a:ext cx="26517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surplus</a:t>
            </a:r>
          </a:p>
        </p:txBody>
      </p:sp>
      <p:sp>
        <p:nvSpPr>
          <p:cNvPr id="17" name="Rounded Rectangle 16"/>
          <p:cNvSpPr/>
          <p:nvPr/>
        </p:nvSpPr>
        <p:spPr>
          <a:xfrm>
            <a:off x="6187440" y="3310128"/>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87440" y="3474720"/>
            <a:ext cx="26517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patronage</a:t>
            </a:r>
          </a:p>
        </p:txBody>
      </p:sp>
      <p:sp>
        <p:nvSpPr>
          <p:cNvPr id="19" name="Rounded Rectangle 18"/>
          <p:cNvSpPr/>
          <p:nvPr/>
        </p:nvSpPr>
        <p:spPr>
          <a:xfrm>
            <a:off x="9006840" y="3310128"/>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06840" y="3474720"/>
            <a:ext cx="2651760" cy="27432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governance</a:t>
            </a:r>
          </a:p>
        </p:txBody>
      </p:sp>
      <p:sp>
        <p:nvSpPr>
          <p:cNvPr id="21" name="TextBox 20"/>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350" b="0" i="0">
                <a:solidFill>
                  <a:srgbClr val="F2ECDD"/>
                </a:solidFill>
                <a:latin typeface="Inter"/>
              </a:rPr>
              <a:t>The cooperative is not a statement on the About page.</a:t>
            </a:r>
          </a:p>
          <a:p>
            <a:pPr algn="ctr">
              <a:lnSpc>
                <a:spcPct val="140000"/>
              </a:lnSpc>
            </a:pPr>
            <a:r>
              <a:rPr sz="1450" b="0" i="1">
                <a:solidFill>
                  <a:srgbClr val="EBCF9E"/>
                </a:solidFill>
                <a:latin typeface="Georgia"/>
              </a:rPr>
              <a:t>The institution demonstrates the coordination architecture it is building for others.</a:t>
            </a:r>
          </a:p>
        </p:txBody>
      </p:sp>
      <p:pic>
        <p:nvPicPr>
          <p:cNvPr id="22" name="Picture 21"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23" name="TextBox 22"/>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24" name="TextBox 23"/>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C O H E R E N C E   W I T H O U T   C A P T U R E</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2900" b="1" i="0">
                <a:solidFill>
                  <a:srgbClr val="F4EAD8"/>
                </a:solidFill>
                <a:latin typeface="Inter"/>
              </a:rPr>
              <a:t>Coordination and control are </a:t>
            </a:r>
            <a:r>
              <a:rPr sz="3200" b="0" i="1">
                <a:solidFill>
                  <a:srgbClr val="99E6D9"/>
                </a:solidFill>
                <a:latin typeface="Georgia"/>
              </a:rPr>
              <a:t>not the same thing.</a:t>
            </a:r>
          </a:p>
        </p:txBody>
      </p:sp>
      <p:sp>
        <p:nvSpPr>
          <p:cNvPr id="4" name="Rounded Rectangle 3"/>
          <p:cNvSpPr/>
          <p:nvPr/>
        </p:nvSpPr>
        <p:spPr>
          <a:xfrm>
            <a:off x="548640" y="2606040"/>
            <a:ext cx="5486400" cy="2331720"/>
          </a:xfrm>
          <a:prstGeom prst="roundRect">
            <a:avLst>
              <a:gd name="adj" fmla="val 6000"/>
            </a:avLst>
          </a:prstGeom>
          <a:solidFill>
            <a:srgbClr val="084B4D"/>
          </a:solidFill>
          <a:ln w="1270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834640"/>
            <a:ext cx="4983480" cy="1874519"/>
          </a:xfrm>
          <a:prstGeom prst="rect">
            <a:avLst/>
          </a:prstGeom>
          <a:noFill/>
        </p:spPr>
        <p:txBody>
          <a:bodyPr wrap="square" lIns="0" rIns="0" tIns="0" bIns="0">
            <a:spAutoFit/>
          </a:bodyPr>
          <a:lstStyle/>
          <a:p>
            <a:pPr algn="l">
              <a:lnSpc>
                <a:spcPct val="140000"/>
              </a:lnSpc>
            </a:pPr>
            <a:r>
              <a:rPr sz="1000" b="1" i="0">
                <a:solidFill>
                  <a:srgbClr val="D3B7A5"/>
                </a:solidFill>
                <a:latin typeface="Inter"/>
              </a:rPr>
              <a:t>R I V R   N E E D S</a:t>
            </a:r>
          </a:p>
          <a:p>
            <a:pPr algn="l">
              <a:lnSpc>
                <a:spcPct val="140000"/>
              </a:lnSpc>
            </a:pPr>
            <a:r>
              <a:rPr sz="500" b="0" i="0">
                <a:solidFill>
                  <a:srgbClr val="AFC4C2"/>
                </a:solidFill>
                <a:latin typeface="Inter"/>
              </a:rPr>
              <a:t/>
            </a:r>
          </a:p>
          <a:p>
            <a:pPr algn="l">
              <a:lnSpc>
                <a:spcPct val="140000"/>
              </a:lnSpc>
            </a:pPr>
            <a:r>
              <a:rPr sz="1200" b="0" i="0">
                <a:solidFill>
                  <a:srgbClr val="F2ECDD"/>
                </a:solidFill>
                <a:latin typeface="Inter"/>
              </a:rPr>
              <a:t>One strong brand. A coordinated company.</a:t>
            </a:r>
          </a:p>
          <a:p>
            <a:pPr algn="l">
              <a:lnSpc>
                <a:spcPct val="140000"/>
              </a:lnSpc>
            </a:pPr>
            <a:r>
              <a:rPr sz="1200" b="0" i="0">
                <a:solidFill>
                  <a:srgbClr val="F2ECDD"/>
                </a:solidFill>
                <a:latin typeface="Inter"/>
              </a:rPr>
              <a:t>Capital. A development team. Marketing.</a:t>
            </a:r>
          </a:p>
          <a:p>
            <a:pPr algn="l">
              <a:lnSpc>
                <a:spcPct val="140000"/>
              </a:lnSpc>
            </a:pPr>
            <a:r>
              <a:rPr sz="1200" b="0" i="0">
                <a:solidFill>
                  <a:srgbClr val="F2ECDD"/>
                </a:solidFill>
                <a:latin typeface="Inter"/>
              </a:rPr>
              <a:t>Product leadership. A shared UX.</a:t>
            </a:r>
          </a:p>
          <a:p>
            <a:pPr algn="l">
              <a:lnSpc>
                <a:spcPct val="140000"/>
              </a:lnSpc>
            </a:pPr>
            <a:r>
              <a:rPr sz="1200" b="0" i="0">
                <a:solidFill>
                  <a:srgbClr val="F2ECDD"/>
                </a:solidFill>
                <a:latin typeface="Inter"/>
              </a:rPr>
              <a:t>Common standards.</a:t>
            </a:r>
          </a:p>
        </p:txBody>
      </p:sp>
      <p:sp>
        <p:nvSpPr>
          <p:cNvPr id="6" name="Rounded Rectangle 5"/>
          <p:cNvSpPr/>
          <p:nvPr/>
        </p:nvSpPr>
        <p:spPr>
          <a:xfrm>
            <a:off x="6263640" y="2606040"/>
            <a:ext cx="5394960" cy="2331720"/>
          </a:xfrm>
          <a:prstGeom prst="roundRect">
            <a:avLst>
              <a:gd name="adj" fmla="val 6000"/>
            </a:avLst>
          </a:prstGeom>
          <a:solidFill>
            <a:srgbClr val="0D3E40"/>
          </a:solidFill>
          <a:ln w="1524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37960" y="2834640"/>
            <a:ext cx="4892040" cy="1874519"/>
          </a:xfrm>
          <a:prstGeom prst="rect">
            <a:avLst/>
          </a:prstGeom>
          <a:noFill/>
        </p:spPr>
        <p:txBody>
          <a:bodyPr wrap="square" lIns="0" rIns="0" tIns="0" bIns="0">
            <a:spAutoFit/>
          </a:bodyPr>
          <a:lstStyle/>
          <a:p>
            <a:pPr algn="l">
              <a:lnSpc>
                <a:spcPct val="140000"/>
              </a:lnSpc>
            </a:pPr>
            <a:r>
              <a:rPr sz="1000" b="1" i="0">
                <a:solidFill>
                  <a:srgbClr val="EBCF9E"/>
                </a:solidFill>
                <a:latin typeface="Inter"/>
              </a:rPr>
              <a:t>T H A T   D O E S   N O T   R E Q U I R E</a:t>
            </a:r>
          </a:p>
          <a:p>
            <a:pPr algn="l">
              <a:lnSpc>
                <a:spcPct val="140000"/>
              </a:lnSpc>
            </a:pPr>
            <a:r>
              <a:rPr sz="500" b="0" i="0">
                <a:solidFill>
                  <a:srgbClr val="AFC4C2"/>
                </a:solidFill>
                <a:latin typeface="Inter"/>
              </a:rPr>
              <a:t/>
            </a:r>
          </a:p>
          <a:p>
            <a:pPr algn="l">
              <a:lnSpc>
                <a:spcPct val="140000"/>
              </a:lnSpc>
            </a:pPr>
            <a:r>
              <a:rPr sz="1200" b="0" i="0">
                <a:solidFill>
                  <a:srgbClr val="F2ECDD"/>
                </a:solidFill>
                <a:latin typeface="Inter"/>
              </a:rPr>
              <a:t>One company owning everyone's data.</a:t>
            </a:r>
          </a:p>
          <a:p>
            <a:pPr algn="l">
              <a:lnSpc>
                <a:spcPct val="140000"/>
              </a:lnSpc>
            </a:pPr>
            <a:r>
              <a:rPr sz="1200" b="0" i="0">
                <a:solidFill>
                  <a:srgbClr val="F2ECDD"/>
                </a:solidFill>
                <a:latin typeface="Inter"/>
              </a:rPr>
              <a:t>One authority controlling every community.</a:t>
            </a:r>
          </a:p>
          <a:p>
            <a:pPr algn="l">
              <a:lnSpc>
                <a:spcPct val="140000"/>
              </a:lnSpc>
            </a:pPr>
            <a:r>
              <a:rPr sz="1200" b="0" i="0">
                <a:solidFill>
                  <a:srgbClr val="F2ECDD"/>
                </a:solidFill>
                <a:latin typeface="Inter"/>
              </a:rPr>
              <a:t>One governance body over every instance.</a:t>
            </a:r>
          </a:p>
          <a:p>
            <a:pPr algn="l">
              <a:lnSpc>
                <a:spcPct val="140000"/>
              </a:lnSpc>
            </a:pPr>
            <a:r>
              <a:rPr sz="1200" b="0" i="0">
                <a:solidFill>
                  <a:srgbClr val="F2ECDD"/>
                </a:solidFill>
                <a:latin typeface="Inter"/>
              </a:rPr>
              <a:t>One permanent corporate center.</a:t>
            </a:r>
          </a:p>
        </p:txBody>
      </p:sp>
      <p:sp>
        <p:nvSpPr>
          <p:cNvPr id="8" name="TextBox 7"/>
          <p:cNvSpPr txBox="1"/>
          <p:nvPr/>
        </p:nvSpPr>
        <p:spPr>
          <a:xfrm>
            <a:off x="548640" y="5257800"/>
            <a:ext cx="11064240" cy="731520"/>
          </a:xfrm>
          <a:prstGeom prst="rect">
            <a:avLst/>
          </a:prstGeom>
          <a:noFill/>
        </p:spPr>
        <p:txBody>
          <a:bodyPr wrap="square" lIns="0" rIns="0" tIns="0" bIns="0">
            <a:spAutoFit/>
          </a:bodyPr>
          <a:lstStyle/>
          <a:p>
            <a:pPr algn="ctr">
              <a:lnSpc>
                <a:spcPct val="140000"/>
              </a:lnSpc>
            </a:pPr>
            <a:r>
              <a:rPr sz="1300" b="0" i="0">
                <a:solidFill>
                  <a:srgbClr val="F2ECDD"/>
                </a:solidFill>
                <a:latin typeface="Inter"/>
              </a:rPr>
              <a:t>A coherent product can coexist with distributed ownership, local governance,</a:t>
            </a:r>
          </a:p>
          <a:p>
            <a:pPr algn="ctr">
              <a:lnSpc>
                <a:spcPct val="140000"/>
              </a:lnSpc>
            </a:pPr>
            <a:r>
              <a:rPr sz="1350" b="1" i="0">
                <a:solidFill>
                  <a:srgbClr val="EBCF9E"/>
                </a:solidFill>
                <a:latin typeface="Inter"/>
              </a:rPr>
              <a:t>sovereign data, federation, and interoperability.</a:t>
            </a:r>
          </a:p>
        </p:txBody>
      </p:sp>
      <p:pic>
        <p:nvPicPr>
          <p:cNvPr id="9" name="Picture 8"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0" name="TextBox 9"/>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1" name="TextBox 10"/>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A N T I - C A P T U R E</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100" b="1" i="0">
                <a:solidFill>
                  <a:srgbClr val="F4EAD8"/>
                </a:solidFill>
                <a:latin typeface="Inter"/>
              </a:rPr>
              <a:t>Don't rely on future leaders </a:t>
            </a:r>
            <a:r>
              <a:rPr sz="3400" b="0" i="1">
                <a:solidFill>
                  <a:srgbClr val="F0CC8B"/>
                </a:solidFill>
                <a:latin typeface="Georgia"/>
              </a:rPr>
              <a:t>staying nice.</a:t>
            </a:r>
          </a:p>
        </p:txBody>
      </p:sp>
      <p:sp>
        <p:nvSpPr>
          <p:cNvPr id="4" name="Rounded Rectangle 3"/>
          <p:cNvSpPr/>
          <p:nvPr/>
        </p:nvSpPr>
        <p:spPr>
          <a:xfrm>
            <a:off x="548640" y="2194560"/>
            <a:ext cx="3569208" cy="1481328"/>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423160"/>
            <a:ext cx="3112008" cy="1024128"/>
          </a:xfrm>
          <a:prstGeom prst="rect">
            <a:avLst/>
          </a:prstGeom>
          <a:noFill/>
        </p:spPr>
        <p:txBody>
          <a:bodyPr wrap="square" lIns="0" rIns="0" tIns="0" bIns="0">
            <a:spAutoFit/>
          </a:bodyPr>
          <a:lstStyle/>
          <a:p>
            <a:pPr algn="l">
              <a:lnSpc>
                <a:spcPct val="135000"/>
              </a:lnSpc>
            </a:pPr>
            <a:r>
              <a:rPr sz="1000" b="1" i="0">
                <a:solidFill>
                  <a:srgbClr val="9FE8DC"/>
                </a:solidFill>
                <a:latin typeface="Inter"/>
              </a:rPr>
              <a:t>C O O P E R A T I V E   O W N E R S H I P</a:t>
            </a:r>
          </a:p>
          <a:p>
            <a:pPr algn="l">
              <a:lnSpc>
                <a:spcPct val="135000"/>
              </a:lnSpc>
            </a:pPr>
            <a:r>
              <a:rPr sz="500" b="0" i="0">
                <a:solidFill>
                  <a:srgbClr val="AFC4C2"/>
                </a:solidFill>
                <a:latin typeface="Inter"/>
              </a:rPr>
              <a:t/>
            </a:r>
          </a:p>
          <a:p>
            <a:pPr algn="l">
              <a:lnSpc>
                <a:spcPct val="135000"/>
              </a:lnSpc>
            </a:pPr>
            <a:r>
              <a:rPr sz="1050" b="0" i="0">
                <a:solidFill>
                  <a:srgbClr val="F2ECDD"/>
                </a:solidFill>
                <a:latin typeface="Inter"/>
              </a:rPr>
              <a:t>The users own the institution — capture has no cheap entry point.</a:t>
            </a:r>
          </a:p>
        </p:txBody>
      </p:sp>
      <p:sp>
        <p:nvSpPr>
          <p:cNvPr id="6" name="Rounded Rectangle 5"/>
          <p:cNvSpPr/>
          <p:nvPr/>
        </p:nvSpPr>
        <p:spPr>
          <a:xfrm>
            <a:off x="4319016" y="2194560"/>
            <a:ext cx="3569208" cy="1481328"/>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47616" y="2423160"/>
            <a:ext cx="3112008" cy="1024128"/>
          </a:xfrm>
          <a:prstGeom prst="rect">
            <a:avLst/>
          </a:prstGeom>
          <a:noFill/>
        </p:spPr>
        <p:txBody>
          <a:bodyPr wrap="square" lIns="0" rIns="0" tIns="0" bIns="0">
            <a:spAutoFit/>
          </a:bodyPr>
          <a:lstStyle/>
          <a:p>
            <a:pPr algn="l">
              <a:lnSpc>
                <a:spcPct val="135000"/>
              </a:lnSpc>
            </a:pPr>
            <a:r>
              <a:rPr sz="1000" b="1" i="0">
                <a:solidFill>
                  <a:srgbClr val="9FE8DC"/>
                </a:solidFill>
                <a:latin typeface="Inter"/>
              </a:rPr>
              <a:t>P U B L I C - B E N E F I T   P U R P O S E</a:t>
            </a:r>
          </a:p>
          <a:p>
            <a:pPr algn="l">
              <a:lnSpc>
                <a:spcPct val="135000"/>
              </a:lnSpc>
            </a:pPr>
            <a:r>
              <a:rPr sz="500" b="0" i="0">
                <a:solidFill>
                  <a:srgbClr val="AFC4C2"/>
                </a:solidFill>
                <a:latin typeface="Inter"/>
              </a:rPr>
              <a:t/>
            </a:r>
          </a:p>
          <a:p>
            <a:pPr algn="l">
              <a:lnSpc>
                <a:spcPct val="135000"/>
              </a:lnSpc>
            </a:pPr>
            <a:r>
              <a:rPr sz="1050" b="0" i="0">
                <a:solidFill>
                  <a:srgbClr val="F2ECDD"/>
                </a:solidFill>
                <a:latin typeface="Inter"/>
              </a:rPr>
              <a:t>The outcomes are in the Articles: obligations, not marketing.</a:t>
            </a:r>
          </a:p>
        </p:txBody>
      </p:sp>
      <p:sp>
        <p:nvSpPr>
          <p:cNvPr id="8" name="Rounded Rectangle 7"/>
          <p:cNvSpPr/>
          <p:nvPr/>
        </p:nvSpPr>
        <p:spPr>
          <a:xfrm>
            <a:off x="8089392" y="2194560"/>
            <a:ext cx="3569208" cy="1481328"/>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17992" y="2423160"/>
            <a:ext cx="3112008" cy="1024128"/>
          </a:xfrm>
          <a:prstGeom prst="rect">
            <a:avLst/>
          </a:prstGeom>
          <a:noFill/>
        </p:spPr>
        <p:txBody>
          <a:bodyPr wrap="square" lIns="0" rIns="0" tIns="0" bIns="0">
            <a:spAutoFit/>
          </a:bodyPr>
          <a:lstStyle/>
          <a:p>
            <a:pPr algn="l">
              <a:lnSpc>
                <a:spcPct val="135000"/>
              </a:lnSpc>
            </a:pPr>
            <a:r>
              <a:rPr sz="1000" b="1" i="0">
                <a:solidFill>
                  <a:srgbClr val="9FE8DC"/>
                </a:solidFill>
                <a:latin typeface="Inter"/>
              </a:rPr>
              <a:t>F E D E R A T I O N</a:t>
            </a:r>
          </a:p>
          <a:p>
            <a:pPr algn="l">
              <a:lnSpc>
                <a:spcPct val="135000"/>
              </a:lnSpc>
            </a:pPr>
            <a:r>
              <a:rPr sz="500" b="0" i="0">
                <a:solidFill>
                  <a:srgbClr val="AFC4C2"/>
                </a:solidFill>
                <a:latin typeface="Inter"/>
              </a:rPr>
              <a:t/>
            </a:r>
          </a:p>
          <a:p>
            <a:pPr algn="l">
              <a:lnSpc>
                <a:spcPct val="135000"/>
              </a:lnSpc>
            </a:pPr>
            <a:r>
              <a:rPr sz="1050" b="0" i="0">
                <a:solidFill>
                  <a:srgbClr val="F2ECDD"/>
                </a:solidFill>
                <a:latin typeface="Inter"/>
              </a:rPr>
              <a:t>No single switch to seize — many instances, one network.</a:t>
            </a:r>
          </a:p>
        </p:txBody>
      </p:sp>
      <p:sp>
        <p:nvSpPr>
          <p:cNvPr id="10" name="Rounded Rectangle 9"/>
          <p:cNvSpPr/>
          <p:nvPr/>
        </p:nvSpPr>
        <p:spPr>
          <a:xfrm>
            <a:off x="548640" y="3877056"/>
            <a:ext cx="3569208" cy="1481328"/>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105656"/>
            <a:ext cx="3112008" cy="1024128"/>
          </a:xfrm>
          <a:prstGeom prst="rect">
            <a:avLst/>
          </a:prstGeom>
          <a:noFill/>
        </p:spPr>
        <p:txBody>
          <a:bodyPr wrap="square" lIns="0" rIns="0" tIns="0" bIns="0">
            <a:spAutoFit/>
          </a:bodyPr>
          <a:lstStyle/>
          <a:p>
            <a:pPr algn="l">
              <a:lnSpc>
                <a:spcPct val="135000"/>
              </a:lnSpc>
            </a:pPr>
            <a:r>
              <a:rPr sz="1000" b="1" i="0">
                <a:solidFill>
                  <a:srgbClr val="9FE8DC"/>
                </a:solidFill>
                <a:latin typeface="Inter"/>
              </a:rPr>
              <a:t>S O V E R E I G N   D A T A</a:t>
            </a:r>
          </a:p>
          <a:p>
            <a:pPr algn="l">
              <a:lnSpc>
                <a:spcPct val="135000"/>
              </a:lnSpc>
            </a:pPr>
            <a:r>
              <a:rPr sz="500" b="0" i="0">
                <a:solidFill>
                  <a:srgbClr val="AFC4C2"/>
                </a:solidFill>
                <a:latin typeface="Inter"/>
              </a:rPr>
              <a:t/>
            </a:r>
          </a:p>
          <a:p>
            <a:pPr algn="l">
              <a:lnSpc>
                <a:spcPct val="135000"/>
              </a:lnSpc>
            </a:pPr>
            <a:r>
              <a:rPr sz="1050" b="0" i="0">
                <a:solidFill>
                  <a:srgbClr val="F2ECDD"/>
                </a:solidFill>
                <a:latin typeface="Inter"/>
              </a:rPr>
              <a:t>Communities keep their data; leaving is always possible.</a:t>
            </a:r>
          </a:p>
        </p:txBody>
      </p:sp>
      <p:sp>
        <p:nvSpPr>
          <p:cNvPr id="12" name="Rounded Rectangle 11"/>
          <p:cNvSpPr/>
          <p:nvPr/>
        </p:nvSpPr>
        <p:spPr>
          <a:xfrm>
            <a:off x="4319016" y="3877056"/>
            <a:ext cx="3569208" cy="1481328"/>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7616" y="4105656"/>
            <a:ext cx="3112008" cy="1024128"/>
          </a:xfrm>
          <a:prstGeom prst="rect">
            <a:avLst/>
          </a:prstGeom>
          <a:noFill/>
        </p:spPr>
        <p:txBody>
          <a:bodyPr wrap="square" lIns="0" rIns="0" tIns="0" bIns="0">
            <a:spAutoFit/>
          </a:bodyPr>
          <a:lstStyle/>
          <a:p>
            <a:pPr algn="l">
              <a:lnSpc>
                <a:spcPct val="135000"/>
              </a:lnSpc>
            </a:pPr>
            <a:r>
              <a:rPr sz="1000" b="1" i="0">
                <a:solidFill>
                  <a:srgbClr val="9FE8DC"/>
                </a:solidFill>
                <a:latin typeface="Inter"/>
              </a:rPr>
              <a:t>I N T E R O P E R A B I L I T Y</a:t>
            </a:r>
          </a:p>
          <a:p>
            <a:pPr algn="l">
              <a:lnSpc>
                <a:spcPct val="135000"/>
              </a:lnSpc>
            </a:pPr>
            <a:r>
              <a:rPr sz="500" b="0" i="0">
                <a:solidFill>
                  <a:srgbClr val="AFC4C2"/>
                </a:solidFill>
                <a:latin typeface="Inter"/>
              </a:rPr>
              <a:t/>
            </a:r>
          </a:p>
          <a:p>
            <a:pPr algn="l">
              <a:lnSpc>
                <a:spcPct val="135000"/>
              </a:lnSpc>
            </a:pPr>
            <a:r>
              <a:rPr sz="1050" b="0" i="0">
                <a:solidFill>
                  <a:srgbClr val="F2ECDD"/>
                </a:solidFill>
                <a:latin typeface="Inter"/>
              </a:rPr>
              <a:t>Open standards mean no lock-in to defend badly.</a:t>
            </a:r>
          </a:p>
        </p:txBody>
      </p:sp>
      <p:sp>
        <p:nvSpPr>
          <p:cNvPr id="14" name="Rounded Rectangle 13"/>
          <p:cNvSpPr/>
          <p:nvPr/>
        </p:nvSpPr>
        <p:spPr>
          <a:xfrm>
            <a:off x="8089392" y="3877056"/>
            <a:ext cx="3569208" cy="1481328"/>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17992" y="4105656"/>
            <a:ext cx="3112008" cy="1024128"/>
          </a:xfrm>
          <a:prstGeom prst="rect">
            <a:avLst/>
          </a:prstGeom>
          <a:noFill/>
        </p:spPr>
        <p:txBody>
          <a:bodyPr wrap="square" lIns="0" rIns="0" tIns="0" bIns="0">
            <a:spAutoFit/>
          </a:bodyPr>
          <a:lstStyle/>
          <a:p>
            <a:pPr algn="l">
              <a:lnSpc>
                <a:spcPct val="135000"/>
              </a:lnSpc>
            </a:pPr>
            <a:r>
              <a:rPr sz="1000" b="1" i="0">
                <a:solidFill>
                  <a:srgbClr val="9FE8DC"/>
                </a:solidFill>
                <a:latin typeface="Inter"/>
              </a:rPr>
              <a:t>C O N T E X T U A L   P E R M I S S I O N S</a:t>
            </a:r>
          </a:p>
          <a:p>
            <a:pPr algn="l">
              <a:lnSpc>
                <a:spcPct val="135000"/>
              </a:lnSpc>
            </a:pPr>
            <a:r>
              <a:rPr sz="500" b="0" i="0">
                <a:solidFill>
                  <a:srgbClr val="AFC4C2"/>
                </a:solidFill>
                <a:latin typeface="Inter"/>
              </a:rPr>
              <a:t/>
            </a:r>
          </a:p>
          <a:p>
            <a:pPr algn="l">
              <a:lnSpc>
                <a:spcPct val="135000"/>
              </a:lnSpc>
            </a:pPr>
            <a:r>
              <a:rPr sz="1050" b="0" i="0">
                <a:solidFill>
                  <a:srgbClr val="F2ECDD"/>
                </a:solidFill>
                <a:latin typeface="Inter"/>
              </a:rPr>
              <a:t>Visibility and access stay under member control.</a:t>
            </a:r>
          </a:p>
        </p:txBody>
      </p:sp>
      <p:sp>
        <p:nvSpPr>
          <p:cNvPr id="16" name="TextBox 15"/>
          <p:cNvSpPr txBox="1"/>
          <p:nvPr/>
        </p:nvSpPr>
        <p:spPr>
          <a:xfrm>
            <a:off x="548640" y="5623560"/>
            <a:ext cx="11064240" cy="731520"/>
          </a:xfrm>
          <a:prstGeom prst="rect">
            <a:avLst/>
          </a:prstGeom>
          <a:noFill/>
        </p:spPr>
        <p:txBody>
          <a:bodyPr wrap="square" lIns="0" rIns="0" tIns="0" bIns="0">
            <a:spAutoFit/>
          </a:bodyPr>
          <a:lstStyle/>
          <a:p>
            <a:pPr algn="ctr">
              <a:lnSpc>
                <a:spcPct val="140000"/>
              </a:lnSpc>
            </a:pPr>
            <a:r>
              <a:rPr sz="1300" b="0" i="0">
                <a:solidFill>
                  <a:srgbClr val="F2ECDD"/>
                </a:solidFill>
                <a:latin typeface="Inter"/>
              </a:rPr>
              <a:t>If platforms became extractive because incentives changed, Rivr cannot just say “trust us.”</a:t>
            </a:r>
          </a:p>
          <a:p>
            <a:pPr algn="ctr">
              <a:lnSpc>
                <a:spcPct val="140000"/>
              </a:lnSpc>
            </a:pPr>
            <a:r>
              <a:rPr sz="1400" b="0" i="1">
                <a:solidFill>
                  <a:srgbClr val="9FE8DC"/>
                </a:solidFill>
                <a:latin typeface="Georgia"/>
              </a:rPr>
              <a:t>Build the system so capture is harder even if future incentives change.</a:t>
            </a:r>
          </a:p>
        </p:txBody>
      </p:sp>
      <p:pic>
        <p:nvPicPr>
          <p:cNvPr id="17" name="Picture 16"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8" name="TextBox 17"/>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9" name="TextBox 18"/>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C O M P E T I T I V E   L A N D S C A P E</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200" b="1" i="0">
                <a:solidFill>
                  <a:srgbClr val="F4EAD8"/>
                </a:solidFill>
                <a:latin typeface="Inter"/>
              </a:rPr>
              <a:t>The competition is </a:t>
            </a:r>
            <a:r>
              <a:rPr sz="3500" b="0" i="1">
                <a:solidFill>
                  <a:srgbClr val="F0CC8B"/>
                </a:solidFill>
                <a:latin typeface="Georgia"/>
              </a:rPr>
              <a:t>the fragmented stack.</a:t>
            </a:r>
          </a:p>
        </p:txBody>
      </p:sp>
      <p:sp>
        <p:nvSpPr>
          <p:cNvPr id="4" name="Rounded Rectangle 3"/>
          <p:cNvSpPr/>
          <p:nvPr/>
        </p:nvSpPr>
        <p:spPr>
          <a:xfrm>
            <a:off x="548640" y="2011680"/>
            <a:ext cx="1737360" cy="438912"/>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121408"/>
            <a:ext cx="1737360" cy="256032"/>
          </a:xfrm>
          <a:prstGeom prst="rect">
            <a:avLst/>
          </a:prstGeom>
          <a:noFill/>
        </p:spPr>
        <p:txBody>
          <a:bodyPr wrap="square" lIns="0" rIns="0" tIns="0" bIns="0">
            <a:spAutoFit/>
          </a:bodyPr>
          <a:lstStyle/>
          <a:p>
            <a:pPr algn="ctr">
              <a:lnSpc>
                <a:spcPct val="115000"/>
              </a:lnSpc>
            </a:pPr>
            <a:r>
              <a:rPr sz="1000" b="0" i="0">
                <a:solidFill>
                  <a:srgbClr val="AFC4C2"/>
                </a:solidFill>
                <a:latin typeface="Inter"/>
              </a:rPr>
              <a:t>Facebook</a:t>
            </a:r>
          </a:p>
        </p:txBody>
      </p:sp>
      <p:sp>
        <p:nvSpPr>
          <p:cNvPr id="6" name="Rounded Rectangle 5"/>
          <p:cNvSpPr/>
          <p:nvPr/>
        </p:nvSpPr>
        <p:spPr>
          <a:xfrm>
            <a:off x="2423159" y="2011680"/>
            <a:ext cx="1737360" cy="438912"/>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423159" y="2121408"/>
            <a:ext cx="1737360" cy="256032"/>
          </a:xfrm>
          <a:prstGeom prst="rect">
            <a:avLst/>
          </a:prstGeom>
          <a:noFill/>
        </p:spPr>
        <p:txBody>
          <a:bodyPr wrap="square" lIns="0" rIns="0" tIns="0" bIns="0">
            <a:spAutoFit/>
          </a:bodyPr>
          <a:lstStyle/>
          <a:p>
            <a:pPr algn="ctr">
              <a:lnSpc>
                <a:spcPct val="115000"/>
              </a:lnSpc>
            </a:pPr>
            <a:r>
              <a:rPr sz="1000" b="0" i="0">
                <a:solidFill>
                  <a:srgbClr val="AFC4C2"/>
                </a:solidFill>
                <a:latin typeface="Inter"/>
              </a:rPr>
              <a:t>Nextdoor</a:t>
            </a:r>
          </a:p>
        </p:txBody>
      </p:sp>
      <p:sp>
        <p:nvSpPr>
          <p:cNvPr id="8" name="Rounded Rectangle 7"/>
          <p:cNvSpPr/>
          <p:nvPr/>
        </p:nvSpPr>
        <p:spPr>
          <a:xfrm>
            <a:off x="4297678" y="2011680"/>
            <a:ext cx="1737360" cy="438912"/>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78" y="2121408"/>
            <a:ext cx="1737360" cy="256032"/>
          </a:xfrm>
          <a:prstGeom prst="rect">
            <a:avLst/>
          </a:prstGeom>
          <a:noFill/>
        </p:spPr>
        <p:txBody>
          <a:bodyPr wrap="square" lIns="0" rIns="0" tIns="0" bIns="0">
            <a:spAutoFit/>
          </a:bodyPr>
          <a:lstStyle/>
          <a:p>
            <a:pPr algn="ctr">
              <a:lnSpc>
                <a:spcPct val="115000"/>
              </a:lnSpc>
            </a:pPr>
            <a:r>
              <a:rPr sz="1000" b="0" i="0">
                <a:solidFill>
                  <a:srgbClr val="AFC4C2"/>
                </a:solidFill>
                <a:latin typeface="Inter"/>
              </a:rPr>
              <a:t>Meetup</a:t>
            </a:r>
          </a:p>
        </p:txBody>
      </p:sp>
      <p:sp>
        <p:nvSpPr>
          <p:cNvPr id="10" name="Rounded Rectangle 9"/>
          <p:cNvSpPr/>
          <p:nvPr/>
        </p:nvSpPr>
        <p:spPr>
          <a:xfrm>
            <a:off x="6172197" y="2011680"/>
            <a:ext cx="1737360" cy="438912"/>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197" y="2121408"/>
            <a:ext cx="1737360" cy="256032"/>
          </a:xfrm>
          <a:prstGeom prst="rect">
            <a:avLst/>
          </a:prstGeom>
          <a:noFill/>
        </p:spPr>
        <p:txBody>
          <a:bodyPr wrap="square" lIns="0" rIns="0" tIns="0" bIns="0">
            <a:spAutoFit/>
          </a:bodyPr>
          <a:lstStyle/>
          <a:p>
            <a:pPr algn="ctr">
              <a:lnSpc>
                <a:spcPct val="115000"/>
              </a:lnSpc>
            </a:pPr>
            <a:r>
              <a:rPr sz="1000" b="0" i="0">
                <a:solidFill>
                  <a:srgbClr val="AFC4C2"/>
                </a:solidFill>
                <a:latin typeface="Inter"/>
              </a:rPr>
              <a:t>Eventbrite</a:t>
            </a:r>
          </a:p>
        </p:txBody>
      </p:sp>
      <p:sp>
        <p:nvSpPr>
          <p:cNvPr id="12" name="Rounded Rectangle 11"/>
          <p:cNvSpPr/>
          <p:nvPr/>
        </p:nvSpPr>
        <p:spPr>
          <a:xfrm>
            <a:off x="8046716" y="2011680"/>
            <a:ext cx="1737360" cy="438912"/>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6" y="2121408"/>
            <a:ext cx="1737360" cy="256032"/>
          </a:xfrm>
          <a:prstGeom prst="rect">
            <a:avLst/>
          </a:prstGeom>
          <a:noFill/>
        </p:spPr>
        <p:txBody>
          <a:bodyPr wrap="square" lIns="0" rIns="0" tIns="0" bIns="0">
            <a:spAutoFit/>
          </a:bodyPr>
          <a:lstStyle/>
          <a:p>
            <a:pPr algn="ctr">
              <a:lnSpc>
                <a:spcPct val="115000"/>
              </a:lnSpc>
            </a:pPr>
            <a:r>
              <a:rPr sz="1000" b="0" i="0">
                <a:solidFill>
                  <a:srgbClr val="AFC4C2"/>
                </a:solidFill>
                <a:latin typeface="Inter"/>
              </a:rPr>
              <a:t>Asana</a:t>
            </a:r>
          </a:p>
        </p:txBody>
      </p:sp>
      <p:sp>
        <p:nvSpPr>
          <p:cNvPr id="14" name="Rounded Rectangle 13"/>
          <p:cNvSpPr/>
          <p:nvPr/>
        </p:nvSpPr>
        <p:spPr>
          <a:xfrm>
            <a:off x="9921235" y="2011680"/>
            <a:ext cx="1737360" cy="438912"/>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21235" y="2121408"/>
            <a:ext cx="1737360" cy="256032"/>
          </a:xfrm>
          <a:prstGeom prst="rect">
            <a:avLst/>
          </a:prstGeom>
          <a:noFill/>
        </p:spPr>
        <p:txBody>
          <a:bodyPr wrap="square" lIns="0" rIns="0" tIns="0" bIns="0">
            <a:spAutoFit/>
          </a:bodyPr>
          <a:lstStyle/>
          <a:p>
            <a:pPr algn="ctr">
              <a:lnSpc>
                <a:spcPct val="115000"/>
              </a:lnSpc>
            </a:pPr>
            <a:r>
              <a:rPr sz="1000" b="0" i="0">
                <a:solidFill>
                  <a:srgbClr val="AFC4C2"/>
                </a:solidFill>
                <a:latin typeface="Inter"/>
              </a:rPr>
              <a:t>Slack</a:t>
            </a:r>
          </a:p>
        </p:txBody>
      </p:sp>
      <p:sp>
        <p:nvSpPr>
          <p:cNvPr id="16" name="Rounded Rectangle 15"/>
          <p:cNvSpPr/>
          <p:nvPr/>
        </p:nvSpPr>
        <p:spPr>
          <a:xfrm>
            <a:off x="548640" y="2578608"/>
            <a:ext cx="1737360" cy="438912"/>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688336"/>
            <a:ext cx="1737360" cy="256032"/>
          </a:xfrm>
          <a:prstGeom prst="rect">
            <a:avLst/>
          </a:prstGeom>
          <a:noFill/>
        </p:spPr>
        <p:txBody>
          <a:bodyPr wrap="square" lIns="0" rIns="0" tIns="0" bIns="0">
            <a:spAutoFit/>
          </a:bodyPr>
          <a:lstStyle/>
          <a:p>
            <a:pPr algn="ctr">
              <a:lnSpc>
                <a:spcPct val="115000"/>
              </a:lnSpc>
            </a:pPr>
            <a:r>
              <a:rPr sz="1000" b="0" i="0">
                <a:solidFill>
                  <a:srgbClr val="AFC4C2"/>
                </a:solidFill>
                <a:latin typeface="Inter"/>
              </a:rPr>
              <a:t>Venmo</a:t>
            </a:r>
          </a:p>
        </p:txBody>
      </p:sp>
      <p:sp>
        <p:nvSpPr>
          <p:cNvPr id="18" name="Rounded Rectangle 17"/>
          <p:cNvSpPr/>
          <p:nvPr/>
        </p:nvSpPr>
        <p:spPr>
          <a:xfrm>
            <a:off x="2423159" y="2578608"/>
            <a:ext cx="1737360" cy="438912"/>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23159" y="2688336"/>
            <a:ext cx="1737360" cy="256032"/>
          </a:xfrm>
          <a:prstGeom prst="rect">
            <a:avLst/>
          </a:prstGeom>
          <a:noFill/>
        </p:spPr>
        <p:txBody>
          <a:bodyPr wrap="square" lIns="0" rIns="0" tIns="0" bIns="0">
            <a:spAutoFit/>
          </a:bodyPr>
          <a:lstStyle/>
          <a:p>
            <a:pPr algn="ctr">
              <a:lnSpc>
                <a:spcPct val="115000"/>
              </a:lnSpc>
            </a:pPr>
            <a:r>
              <a:rPr sz="1000" b="0" i="0">
                <a:solidFill>
                  <a:srgbClr val="AFC4C2"/>
                </a:solidFill>
                <a:latin typeface="Inter"/>
              </a:rPr>
              <a:t>Google Workspace</a:t>
            </a:r>
          </a:p>
        </p:txBody>
      </p:sp>
      <p:sp>
        <p:nvSpPr>
          <p:cNvPr id="20" name="Rounded Rectangle 19"/>
          <p:cNvSpPr/>
          <p:nvPr/>
        </p:nvSpPr>
        <p:spPr>
          <a:xfrm>
            <a:off x="4297678" y="2578608"/>
            <a:ext cx="1737360" cy="438912"/>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97678" y="2688336"/>
            <a:ext cx="1737360" cy="256032"/>
          </a:xfrm>
          <a:prstGeom prst="rect">
            <a:avLst/>
          </a:prstGeom>
          <a:noFill/>
        </p:spPr>
        <p:txBody>
          <a:bodyPr wrap="square" lIns="0" rIns="0" tIns="0" bIns="0">
            <a:spAutoFit/>
          </a:bodyPr>
          <a:lstStyle/>
          <a:p>
            <a:pPr algn="ctr">
              <a:lnSpc>
                <a:spcPct val="115000"/>
              </a:lnSpc>
            </a:pPr>
            <a:r>
              <a:rPr sz="1000" b="0" i="0">
                <a:solidFill>
                  <a:srgbClr val="AFC4C2"/>
                </a:solidFill>
                <a:latin typeface="Inter"/>
              </a:rPr>
              <a:t>Square</a:t>
            </a:r>
          </a:p>
        </p:txBody>
      </p:sp>
      <p:sp>
        <p:nvSpPr>
          <p:cNvPr id="22" name="Rounded Rectangle 21"/>
          <p:cNvSpPr/>
          <p:nvPr/>
        </p:nvSpPr>
        <p:spPr>
          <a:xfrm>
            <a:off x="6172197" y="2578608"/>
            <a:ext cx="1737360" cy="438912"/>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72197" y="2688336"/>
            <a:ext cx="1737360" cy="256032"/>
          </a:xfrm>
          <a:prstGeom prst="rect">
            <a:avLst/>
          </a:prstGeom>
          <a:noFill/>
        </p:spPr>
        <p:txBody>
          <a:bodyPr wrap="square" lIns="0" rIns="0" tIns="0" bIns="0">
            <a:spAutoFit/>
          </a:bodyPr>
          <a:lstStyle/>
          <a:p>
            <a:pPr algn="ctr">
              <a:lnSpc>
                <a:spcPct val="115000"/>
              </a:lnSpc>
            </a:pPr>
            <a:r>
              <a:rPr sz="1000" b="0" i="0">
                <a:solidFill>
                  <a:srgbClr val="AFC4C2"/>
                </a:solidFill>
                <a:latin typeface="Inter"/>
              </a:rPr>
              <a:t>Shopify</a:t>
            </a:r>
          </a:p>
        </p:txBody>
      </p:sp>
      <p:sp>
        <p:nvSpPr>
          <p:cNvPr id="24" name="Rounded Rectangle 23"/>
          <p:cNvSpPr/>
          <p:nvPr/>
        </p:nvSpPr>
        <p:spPr>
          <a:xfrm>
            <a:off x="8046716" y="2578608"/>
            <a:ext cx="1737360" cy="438912"/>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16" y="2688336"/>
            <a:ext cx="1737360" cy="256032"/>
          </a:xfrm>
          <a:prstGeom prst="rect">
            <a:avLst/>
          </a:prstGeom>
          <a:noFill/>
        </p:spPr>
        <p:txBody>
          <a:bodyPr wrap="square" lIns="0" rIns="0" tIns="0" bIns="0">
            <a:spAutoFit/>
          </a:bodyPr>
          <a:lstStyle/>
          <a:p>
            <a:pPr algn="ctr">
              <a:lnSpc>
                <a:spcPct val="115000"/>
              </a:lnSpc>
            </a:pPr>
            <a:r>
              <a:rPr sz="1000" b="0" i="0">
                <a:solidFill>
                  <a:srgbClr val="AFC4C2"/>
                </a:solidFill>
                <a:latin typeface="Inter"/>
              </a:rPr>
              <a:t>Luma</a:t>
            </a:r>
          </a:p>
        </p:txBody>
      </p:sp>
      <p:sp>
        <p:nvSpPr>
          <p:cNvPr id="26" name="Rounded Rectangle 25"/>
          <p:cNvSpPr/>
          <p:nvPr/>
        </p:nvSpPr>
        <p:spPr>
          <a:xfrm>
            <a:off x="9921235" y="2578608"/>
            <a:ext cx="1737360" cy="438912"/>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21235" y="2688336"/>
            <a:ext cx="1737360" cy="256032"/>
          </a:xfrm>
          <a:prstGeom prst="rect">
            <a:avLst/>
          </a:prstGeom>
          <a:noFill/>
        </p:spPr>
        <p:txBody>
          <a:bodyPr wrap="square" lIns="0" rIns="0" tIns="0" bIns="0">
            <a:spAutoFit/>
          </a:bodyPr>
          <a:lstStyle/>
          <a:p>
            <a:pPr algn="ctr">
              <a:lnSpc>
                <a:spcPct val="115000"/>
              </a:lnSpc>
            </a:pPr>
            <a:r>
              <a:rPr sz="1000" b="0" i="0">
                <a:solidFill>
                  <a:srgbClr val="AFC4C2"/>
                </a:solidFill>
                <a:latin typeface="Inter"/>
              </a:rPr>
              <a:t>centralized AI</a:t>
            </a:r>
          </a:p>
        </p:txBody>
      </p:sp>
      <p:sp>
        <p:nvSpPr>
          <p:cNvPr id="28" name="Rounded Rectangle 27"/>
          <p:cNvSpPr/>
          <p:nvPr/>
        </p:nvSpPr>
        <p:spPr>
          <a:xfrm>
            <a:off x="548640" y="3429000"/>
            <a:ext cx="3566160" cy="155448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3639312"/>
            <a:ext cx="3108960" cy="1143000"/>
          </a:xfrm>
          <a:prstGeom prst="rect">
            <a:avLst/>
          </a:prstGeom>
          <a:noFill/>
        </p:spPr>
        <p:txBody>
          <a:bodyPr wrap="square" lIns="0" rIns="0" tIns="0" bIns="0">
            <a:spAutoFit/>
          </a:bodyPr>
          <a:lstStyle/>
          <a:p>
            <a:pPr algn="l">
              <a:lnSpc>
                <a:spcPct val="125000"/>
              </a:lnSpc>
            </a:pPr>
            <a:r>
              <a:rPr sz="900" b="1" i="0">
                <a:solidFill>
                  <a:srgbClr val="AFC4C2"/>
                </a:solidFill>
                <a:latin typeface="Inter"/>
              </a:rPr>
              <a:t>R E C O G N I Z A B L E   A P P   S T A C K</a:t>
            </a:r>
          </a:p>
          <a:p>
            <a:pPr algn="l">
              <a:lnSpc>
                <a:spcPct val="125000"/>
              </a:lnSpc>
            </a:pPr>
            <a:r>
              <a:rPr sz="3000" b="1" i="0">
                <a:solidFill>
                  <a:srgbClr val="F4EAD8"/>
                </a:solidFill>
                <a:latin typeface="Inter"/>
              </a:rPr>
              <a:t>$328.20</a:t>
            </a:r>
          </a:p>
          <a:p>
            <a:pPr algn="l">
              <a:lnSpc>
                <a:spcPct val="125000"/>
              </a:lnSpc>
            </a:pPr>
            <a:r>
              <a:rPr sz="1000" b="0" i="0">
                <a:solidFill>
                  <a:srgbClr val="AFC4C2"/>
                </a:solidFill>
                <a:latin typeface="Inter"/>
              </a:rPr>
              <a:t>/ month, 5-seat organization</a:t>
            </a:r>
          </a:p>
        </p:txBody>
      </p:sp>
      <p:sp>
        <p:nvSpPr>
          <p:cNvPr id="30" name="Rounded Rectangle 29"/>
          <p:cNvSpPr/>
          <p:nvPr/>
        </p:nvSpPr>
        <p:spPr>
          <a:xfrm>
            <a:off x="4315968" y="3429000"/>
            <a:ext cx="3566160" cy="155448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44568" y="3639312"/>
            <a:ext cx="3108960" cy="1143000"/>
          </a:xfrm>
          <a:prstGeom prst="rect">
            <a:avLst/>
          </a:prstGeom>
          <a:noFill/>
        </p:spPr>
        <p:txBody>
          <a:bodyPr wrap="square" lIns="0" rIns="0" tIns="0" bIns="0">
            <a:spAutoFit/>
          </a:bodyPr>
          <a:lstStyle/>
          <a:p>
            <a:pPr algn="l">
              <a:lnSpc>
                <a:spcPct val="125000"/>
              </a:lnSpc>
            </a:pPr>
            <a:r>
              <a:rPr sz="900" b="1" i="0">
                <a:solidFill>
                  <a:srgbClr val="9FE8DC"/>
                </a:solidFill>
                <a:latin typeface="Inter"/>
              </a:rPr>
              <a:t>R I V R   O R G A N I Z A T I O N</a:t>
            </a:r>
          </a:p>
          <a:p>
            <a:pPr algn="l">
              <a:lnSpc>
                <a:spcPct val="125000"/>
              </a:lnSpc>
            </a:pPr>
            <a:r>
              <a:rPr sz="3000" b="1" i="0">
                <a:solidFill>
                  <a:srgbClr val="F4EAD8"/>
                </a:solidFill>
                <a:latin typeface="Inter"/>
              </a:rPr>
              <a:t>$46.06</a:t>
            </a:r>
          </a:p>
          <a:p>
            <a:pPr algn="l">
              <a:lnSpc>
                <a:spcPct val="125000"/>
              </a:lnSpc>
            </a:pPr>
            <a:r>
              <a:rPr sz="1000" b="0" i="0">
                <a:solidFill>
                  <a:srgbClr val="AFC4C2"/>
                </a:solidFill>
                <a:latin typeface="Inter"/>
              </a:rPr>
              <a:t>/ month — one relational ecosystem</a:t>
            </a:r>
          </a:p>
        </p:txBody>
      </p:sp>
      <p:sp>
        <p:nvSpPr>
          <p:cNvPr id="32" name="Rounded Rectangle 31"/>
          <p:cNvSpPr/>
          <p:nvPr/>
        </p:nvSpPr>
        <p:spPr>
          <a:xfrm>
            <a:off x="8083296" y="3429000"/>
            <a:ext cx="3566160" cy="1554480"/>
          </a:xfrm>
          <a:prstGeom prst="roundRect">
            <a:avLst>
              <a:gd name="adj" fmla="val 6000"/>
            </a:avLst>
          </a:prstGeom>
          <a:solidFill>
            <a:srgbClr val="062A2C"/>
          </a:solidFill>
          <a:ln w="1651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11896" y="3639312"/>
            <a:ext cx="3108960" cy="1143000"/>
          </a:xfrm>
          <a:prstGeom prst="rect">
            <a:avLst/>
          </a:prstGeom>
          <a:noFill/>
        </p:spPr>
        <p:txBody>
          <a:bodyPr wrap="square" lIns="0" rIns="0" tIns="0" bIns="0">
            <a:spAutoFit/>
          </a:bodyPr>
          <a:lstStyle/>
          <a:p>
            <a:pPr algn="l">
              <a:lnSpc>
                <a:spcPct val="125000"/>
              </a:lnSpc>
            </a:pPr>
            <a:r>
              <a:rPr sz="900" b="1" i="0">
                <a:solidFill>
                  <a:srgbClr val="EBCF9E"/>
                </a:solidFill>
                <a:latin typeface="Inter"/>
              </a:rPr>
              <a:t>S A V E D   E A C H   M O N T H</a:t>
            </a:r>
          </a:p>
          <a:p>
            <a:pPr algn="l">
              <a:lnSpc>
                <a:spcPct val="125000"/>
              </a:lnSpc>
            </a:pPr>
            <a:r>
              <a:rPr sz="3000" b="1" i="0">
                <a:solidFill>
                  <a:srgbClr val="EBCF9E"/>
                </a:solidFill>
                <a:latin typeface="Inter"/>
              </a:rPr>
              <a:t>$282.14</a:t>
            </a:r>
          </a:p>
          <a:p>
            <a:pPr algn="l">
              <a:lnSpc>
                <a:spcPct val="125000"/>
              </a:lnSpc>
            </a:pPr>
            <a:r>
              <a:rPr sz="1000" b="0" i="0">
                <a:solidFill>
                  <a:srgbClr val="AFC4C2"/>
                </a:solidFill>
                <a:latin typeface="Inter"/>
              </a:rPr>
              <a:t>≈ $3,546.68 per year</a:t>
            </a:r>
          </a:p>
        </p:txBody>
      </p:sp>
      <p:sp>
        <p:nvSpPr>
          <p:cNvPr id="34" name="TextBox 33"/>
          <p:cNvSpPr txBox="1"/>
          <p:nvPr/>
        </p:nvSpPr>
        <p:spPr>
          <a:xfrm>
            <a:off x="548640" y="5349240"/>
            <a:ext cx="11064240" cy="731520"/>
          </a:xfrm>
          <a:prstGeom prst="rect">
            <a:avLst/>
          </a:prstGeom>
          <a:noFill/>
        </p:spPr>
        <p:txBody>
          <a:bodyPr wrap="square" lIns="0" rIns="0" tIns="0" bIns="0">
            <a:spAutoFit/>
          </a:bodyPr>
          <a:lstStyle/>
          <a:p>
            <a:pPr algn="ctr">
              <a:lnSpc>
                <a:spcPct val="140000"/>
              </a:lnSpc>
            </a:pPr>
            <a:r>
              <a:rPr sz="1000" b="0" i="0">
                <a:solidFill>
                  <a:srgbClr val="AFC4C2"/>
                </a:solidFill>
                <a:latin typeface="Inter"/>
              </a:rPr>
              <a:t>Modeled on a 5-seat organization: Asana, Slack, Google Workspace, Square Payroll + Plus, Shopify, Luma Plus — before hiring fees.</a:t>
            </a:r>
          </a:p>
          <a:p>
            <a:pPr algn="ctr">
              <a:lnSpc>
                <a:spcPct val="140000"/>
              </a:lnSpc>
            </a:pPr>
            <a:r>
              <a:rPr sz="1450" b="0" i="1">
                <a:solidFill>
                  <a:srgbClr val="9FE8DC"/>
                </a:solidFill>
                <a:latin typeface="Georgia"/>
              </a:rPr>
              <a:t>The social network is the doorway. Rivr models real activity, not just content.</a:t>
            </a:r>
          </a:p>
        </p:txBody>
      </p:sp>
      <p:pic>
        <p:nvPicPr>
          <p:cNvPr id="35" name="Picture 34"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36" name="TextBox 35"/>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37" name="TextBox 36"/>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P R O D U C T   Q U A L I T Y</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2900" b="1" i="0">
                <a:solidFill>
                  <a:srgbClr val="F4EAD8"/>
                </a:solidFill>
                <a:latin typeface="Inter"/>
              </a:rPr>
              <a:t>Values aren't enough — Rivr has to be </a:t>
            </a:r>
            <a:r>
              <a:rPr sz="3300" b="0" i="1">
                <a:solidFill>
                  <a:srgbClr val="99E6D9"/>
                </a:solidFill>
                <a:latin typeface="Georgia"/>
              </a:rPr>
              <a:t>good.</a:t>
            </a:r>
          </a:p>
        </p:txBody>
      </p:sp>
      <p:sp>
        <p:nvSpPr>
          <p:cNvPr id="4" name="TextBox 3"/>
          <p:cNvSpPr txBox="1"/>
          <p:nvPr/>
        </p:nvSpPr>
        <p:spPr>
          <a:xfrm>
            <a:off x="548640" y="1965960"/>
            <a:ext cx="11064240" cy="365760"/>
          </a:xfrm>
          <a:prstGeom prst="rect">
            <a:avLst/>
          </a:prstGeom>
          <a:noFill/>
        </p:spPr>
        <p:txBody>
          <a:bodyPr wrap="square" lIns="0" rIns="0" tIns="0" bIns="0">
            <a:spAutoFit/>
          </a:bodyPr>
          <a:lstStyle/>
          <a:p>
            <a:pPr algn="l">
              <a:lnSpc>
                <a:spcPct val="115000"/>
              </a:lnSpc>
            </a:pPr>
            <a:r>
              <a:rPr sz="1400" b="0" i="0">
                <a:solidFill>
                  <a:srgbClr val="F2ECDD"/>
                </a:solidFill>
                <a:latin typeface="Inter"/>
              </a:rPr>
              <a:t>Rivr cannot succeed simply because people agree with the philosophy. It needs to:</a:t>
            </a:r>
          </a:p>
        </p:txBody>
      </p:sp>
      <p:sp>
        <p:nvSpPr>
          <p:cNvPr id="5" name="TextBox 4"/>
          <p:cNvSpPr txBox="1"/>
          <p:nvPr/>
        </p:nvSpPr>
        <p:spPr>
          <a:xfrm>
            <a:off x="685800" y="2560320"/>
            <a:ext cx="5486400" cy="365760"/>
          </a:xfrm>
          <a:prstGeom prst="rect">
            <a:avLst/>
          </a:prstGeom>
          <a:noFill/>
        </p:spPr>
        <p:txBody>
          <a:bodyPr wrap="square" lIns="0" rIns="0" tIns="0" bIns="0">
            <a:spAutoFit/>
          </a:bodyPr>
          <a:lstStyle/>
          <a:p>
            <a:pPr algn="l">
              <a:lnSpc>
                <a:spcPct val="115000"/>
              </a:lnSpc>
            </a:pPr>
            <a:r>
              <a:rPr sz="1500" b="1" i="0">
                <a:solidFill>
                  <a:srgbClr val="F0CC8B"/>
                </a:solidFill>
                <a:latin typeface="Inter"/>
              </a:rPr>
              <a:t>✓  </a:t>
            </a:r>
            <a:r>
              <a:rPr sz="1500" b="0" i="0">
                <a:solidFill>
                  <a:srgbClr val="F4EAD8"/>
                </a:solidFill>
                <a:latin typeface="Inter"/>
              </a:rPr>
              <a:t>save time</a:t>
            </a:r>
          </a:p>
        </p:txBody>
      </p:sp>
      <p:sp>
        <p:nvSpPr>
          <p:cNvPr id="6" name="TextBox 5"/>
          <p:cNvSpPr txBox="1"/>
          <p:nvPr/>
        </p:nvSpPr>
        <p:spPr>
          <a:xfrm>
            <a:off x="6355080" y="2560320"/>
            <a:ext cx="5486400" cy="365760"/>
          </a:xfrm>
          <a:prstGeom prst="rect">
            <a:avLst/>
          </a:prstGeom>
          <a:noFill/>
        </p:spPr>
        <p:txBody>
          <a:bodyPr wrap="square" lIns="0" rIns="0" tIns="0" bIns="0">
            <a:spAutoFit/>
          </a:bodyPr>
          <a:lstStyle/>
          <a:p>
            <a:pPr algn="l">
              <a:lnSpc>
                <a:spcPct val="115000"/>
              </a:lnSpc>
            </a:pPr>
            <a:r>
              <a:rPr sz="1500" b="1" i="0">
                <a:solidFill>
                  <a:srgbClr val="F0CC8B"/>
                </a:solidFill>
                <a:latin typeface="Inter"/>
              </a:rPr>
              <a:t>✓  </a:t>
            </a:r>
            <a:r>
              <a:rPr sz="1500" b="0" i="0">
                <a:solidFill>
                  <a:srgbClr val="F4EAD8"/>
                </a:solidFill>
                <a:latin typeface="Inter"/>
              </a:rPr>
              <a:t>save money</a:t>
            </a:r>
          </a:p>
        </p:txBody>
      </p:sp>
      <p:sp>
        <p:nvSpPr>
          <p:cNvPr id="7" name="TextBox 6"/>
          <p:cNvSpPr txBox="1"/>
          <p:nvPr/>
        </p:nvSpPr>
        <p:spPr>
          <a:xfrm>
            <a:off x="685800" y="3127248"/>
            <a:ext cx="5486400" cy="365760"/>
          </a:xfrm>
          <a:prstGeom prst="rect">
            <a:avLst/>
          </a:prstGeom>
          <a:noFill/>
        </p:spPr>
        <p:txBody>
          <a:bodyPr wrap="square" lIns="0" rIns="0" tIns="0" bIns="0">
            <a:spAutoFit/>
          </a:bodyPr>
          <a:lstStyle/>
          <a:p>
            <a:pPr algn="l">
              <a:lnSpc>
                <a:spcPct val="115000"/>
              </a:lnSpc>
            </a:pPr>
            <a:r>
              <a:rPr sz="1500" b="1" i="0">
                <a:solidFill>
                  <a:srgbClr val="F0CC8B"/>
                </a:solidFill>
                <a:latin typeface="Inter"/>
              </a:rPr>
              <a:t>✓  </a:t>
            </a:r>
            <a:r>
              <a:rPr sz="1500" b="0" i="0">
                <a:solidFill>
                  <a:srgbClr val="F4EAD8"/>
                </a:solidFill>
                <a:latin typeface="Inter"/>
              </a:rPr>
              <a:t>replace fragmented tools</a:t>
            </a:r>
          </a:p>
        </p:txBody>
      </p:sp>
      <p:sp>
        <p:nvSpPr>
          <p:cNvPr id="8" name="TextBox 7"/>
          <p:cNvSpPr txBox="1"/>
          <p:nvPr/>
        </p:nvSpPr>
        <p:spPr>
          <a:xfrm>
            <a:off x="6355080" y="3127248"/>
            <a:ext cx="5486400" cy="365760"/>
          </a:xfrm>
          <a:prstGeom prst="rect">
            <a:avLst/>
          </a:prstGeom>
          <a:noFill/>
        </p:spPr>
        <p:txBody>
          <a:bodyPr wrap="square" lIns="0" rIns="0" tIns="0" bIns="0">
            <a:spAutoFit/>
          </a:bodyPr>
          <a:lstStyle/>
          <a:p>
            <a:pPr algn="l">
              <a:lnSpc>
                <a:spcPct val="115000"/>
              </a:lnSpc>
            </a:pPr>
            <a:r>
              <a:rPr sz="1500" b="1" i="0">
                <a:solidFill>
                  <a:srgbClr val="F0CC8B"/>
                </a:solidFill>
                <a:latin typeface="Inter"/>
              </a:rPr>
              <a:t>✓  </a:t>
            </a:r>
            <a:r>
              <a:rPr sz="1500" b="0" i="0">
                <a:solidFill>
                  <a:srgbClr val="F4EAD8"/>
                </a:solidFill>
                <a:latin typeface="Inter"/>
              </a:rPr>
              <a:t>make work easier</a:t>
            </a:r>
          </a:p>
        </p:txBody>
      </p:sp>
      <p:sp>
        <p:nvSpPr>
          <p:cNvPr id="9" name="TextBox 8"/>
          <p:cNvSpPr txBox="1"/>
          <p:nvPr/>
        </p:nvSpPr>
        <p:spPr>
          <a:xfrm>
            <a:off x="685800" y="3694176"/>
            <a:ext cx="5486400" cy="365760"/>
          </a:xfrm>
          <a:prstGeom prst="rect">
            <a:avLst/>
          </a:prstGeom>
          <a:noFill/>
        </p:spPr>
        <p:txBody>
          <a:bodyPr wrap="square" lIns="0" rIns="0" tIns="0" bIns="0">
            <a:spAutoFit/>
          </a:bodyPr>
          <a:lstStyle/>
          <a:p>
            <a:pPr algn="l">
              <a:lnSpc>
                <a:spcPct val="115000"/>
              </a:lnSpc>
            </a:pPr>
            <a:r>
              <a:rPr sz="1500" b="1" i="0">
                <a:solidFill>
                  <a:srgbClr val="F0CC8B"/>
                </a:solidFill>
                <a:latin typeface="Inter"/>
              </a:rPr>
              <a:t>✓  </a:t>
            </a:r>
            <a:r>
              <a:rPr sz="1500" b="0" i="0">
                <a:solidFill>
                  <a:srgbClr val="F4EAD8"/>
                </a:solidFill>
                <a:latin typeface="Inter"/>
              </a:rPr>
              <a:t>make discovery more useful</a:t>
            </a:r>
          </a:p>
        </p:txBody>
      </p:sp>
      <p:sp>
        <p:nvSpPr>
          <p:cNvPr id="10" name="TextBox 9"/>
          <p:cNvSpPr txBox="1"/>
          <p:nvPr/>
        </p:nvSpPr>
        <p:spPr>
          <a:xfrm>
            <a:off x="6355080" y="3694176"/>
            <a:ext cx="5486400" cy="365760"/>
          </a:xfrm>
          <a:prstGeom prst="rect">
            <a:avLst/>
          </a:prstGeom>
          <a:noFill/>
        </p:spPr>
        <p:txBody>
          <a:bodyPr wrap="square" lIns="0" rIns="0" tIns="0" bIns="0">
            <a:spAutoFit/>
          </a:bodyPr>
          <a:lstStyle/>
          <a:p>
            <a:pPr algn="l">
              <a:lnSpc>
                <a:spcPct val="115000"/>
              </a:lnSpc>
            </a:pPr>
            <a:r>
              <a:rPr sz="1500" b="1" i="0">
                <a:solidFill>
                  <a:srgbClr val="F0CC8B"/>
                </a:solidFill>
                <a:latin typeface="Inter"/>
              </a:rPr>
              <a:t>✓  </a:t>
            </a:r>
            <a:r>
              <a:rPr sz="1500" b="0" i="0">
                <a:solidFill>
                  <a:srgbClr val="F4EAD8"/>
                </a:solidFill>
                <a:latin typeface="Inter"/>
              </a:rPr>
              <a:t>reduce coordination friction</a:t>
            </a:r>
          </a:p>
        </p:txBody>
      </p:sp>
      <p:sp>
        <p:nvSpPr>
          <p:cNvPr id="11" name="TextBox 10"/>
          <p:cNvSpPr txBox="1"/>
          <p:nvPr/>
        </p:nvSpPr>
        <p:spPr>
          <a:xfrm>
            <a:off x="685800" y="4261104"/>
            <a:ext cx="5486400" cy="365760"/>
          </a:xfrm>
          <a:prstGeom prst="rect">
            <a:avLst/>
          </a:prstGeom>
          <a:noFill/>
        </p:spPr>
        <p:txBody>
          <a:bodyPr wrap="square" lIns="0" rIns="0" tIns="0" bIns="0">
            <a:spAutoFit/>
          </a:bodyPr>
          <a:lstStyle/>
          <a:p>
            <a:pPr algn="l">
              <a:lnSpc>
                <a:spcPct val="115000"/>
              </a:lnSpc>
            </a:pPr>
            <a:r>
              <a:rPr sz="1500" b="1" i="0">
                <a:solidFill>
                  <a:srgbClr val="F0CC8B"/>
                </a:solidFill>
                <a:latin typeface="Inter"/>
              </a:rPr>
              <a:t>✓  </a:t>
            </a:r>
            <a:r>
              <a:rPr sz="1500" b="0" i="0">
                <a:solidFill>
                  <a:srgbClr val="F4EAD8"/>
                </a:solidFill>
                <a:latin typeface="Inter"/>
              </a:rPr>
              <a:t>feel good to use</a:t>
            </a:r>
          </a:p>
        </p:txBody>
      </p:sp>
      <p:sp>
        <p:nvSpPr>
          <p:cNvPr id="12" name="TextBox 11"/>
          <p:cNvSpPr txBox="1"/>
          <p:nvPr/>
        </p:nvSpPr>
        <p:spPr>
          <a:xfrm>
            <a:off x="548640" y="5394960"/>
            <a:ext cx="11064240" cy="731520"/>
          </a:xfrm>
          <a:prstGeom prst="rect">
            <a:avLst/>
          </a:prstGeom>
          <a:noFill/>
        </p:spPr>
        <p:txBody>
          <a:bodyPr wrap="square" lIns="0" rIns="0" tIns="0" bIns="0">
            <a:spAutoFit/>
          </a:bodyPr>
          <a:lstStyle/>
          <a:p>
            <a:pPr algn="ctr">
              <a:lnSpc>
                <a:spcPct val="140000"/>
              </a:lnSpc>
            </a:pPr>
            <a:r>
              <a:rPr sz="1600" b="1" i="0">
                <a:solidFill>
                  <a:srgbClr val="F4EAD8"/>
                </a:solidFill>
                <a:latin typeface="Inter"/>
              </a:rPr>
              <a:t>People should choose Rivr </a:t>
            </a:r>
            <a:r>
              <a:rPr sz="1700" b="0" i="1">
                <a:solidFill>
                  <a:srgbClr val="EBCF9E"/>
                </a:solidFill>
                <a:latin typeface="Georgia"/>
              </a:rPr>
              <a:t>because Rivr works.</a:t>
            </a:r>
          </a:p>
          <a:p>
            <a:pPr algn="ctr">
              <a:lnSpc>
                <a:spcPct val="140000"/>
              </a:lnSpc>
            </a:pPr>
            <a:r>
              <a:rPr sz="1300" b="0" i="0">
                <a:solidFill>
                  <a:srgbClr val="9FE8DC"/>
                </a:solidFill>
                <a:latin typeface="Inter"/>
              </a:rPr>
              <a:t>The deeper architecture determines who benefits when it works.</a:t>
            </a:r>
          </a:p>
        </p:txBody>
      </p:sp>
      <p:pic>
        <p:nvPicPr>
          <p:cNvPr id="13" name="Picture 12"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4" name="TextBox 13"/>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5" name="TextBox 14"/>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M A R K E T   +   T R A C T I O N   ·   T H I S   I S   N O T   A   M O C K U P</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200" b="1" i="0">
                <a:solidFill>
                  <a:srgbClr val="F4EAD8"/>
                </a:solidFill>
                <a:latin typeface="Inter"/>
              </a:rPr>
              <a:t>The platform is </a:t>
            </a:r>
            <a:r>
              <a:rPr sz="3500" b="0" i="1">
                <a:solidFill>
                  <a:srgbClr val="EBCF9E"/>
                </a:solidFill>
                <a:latin typeface="Georgia"/>
              </a:rPr>
              <a:t>built and running.</a:t>
            </a:r>
          </a:p>
        </p:txBody>
      </p:sp>
      <p:sp>
        <p:nvSpPr>
          <p:cNvPr id="4" name="Rounded Rectangle 3"/>
          <p:cNvSpPr/>
          <p:nvPr/>
        </p:nvSpPr>
        <p:spPr>
          <a:xfrm>
            <a:off x="548640" y="2148840"/>
            <a:ext cx="3569208" cy="1627632"/>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377440"/>
            <a:ext cx="3112008" cy="1170432"/>
          </a:xfrm>
          <a:prstGeom prst="rect">
            <a:avLst/>
          </a:prstGeom>
          <a:noFill/>
        </p:spPr>
        <p:txBody>
          <a:bodyPr wrap="square" lIns="0" rIns="0" tIns="0" bIns="0">
            <a:spAutoFit/>
          </a:bodyPr>
          <a:lstStyle/>
          <a:p>
            <a:pPr algn="l">
              <a:lnSpc>
                <a:spcPct val="135000"/>
              </a:lnSpc>
            </a:pPr>
            <a:r>
              <a:rPr sz="1000" b="1" i="0">
                <a:solidFill>
                  <a:srgbClr val="9FE8DC"/>
                </a:solidFill>
                <a:latin typeface="Inter"/>
              </a:rPr>
              <a:t>L I V E   N E T W O R K</a:t>
            </a:r>
          </a:p>
          <a:p>
            <a:pPr algn="l">
              <a:lnSpc>
                <a:spcPct val="135000"/>
              </a:lnSpc>
            </a:pPr>
            <a:r>
              <a:rPr sz="500" b="0" i="0">
                <a:solidFill>
                  <a:srgbClr val="AFC4C2"/>
                </a:solidFill>
                <a:latin typeface="Inter"/>
              </a:rPr>
              <a:t/>
            </a:r>
          </a:p>
          <a:p>
            <a:pPr algn="l">
              <a:lnSpc>
                <a:spcPct val="135000"/>
              </a:lnSpc>
            </a:pPr>
            <a:r>
              <a:rPr sz="1050" b="0" i="0">
                <a:solidFill>
                  <a:srgbClr val="F2ECDD"/>
                </a:solidFill>
                <a:latin typeface="Inter"/>
              </a:rPr>
              <a:t>app.rivr.social live — sovereign community instances (person, group, locale) federating into one network.</a:t>
            </a:r>
          </a:p>
        </p:txBody>
      </p:sp>
      <p:sp>
        <p:nvSpPr>
          <p:cNvPr id="6" name="Rounded Rectangle 5"/>
          <p:cNvSpPr/>
          <p:nvPr/>
        </p:nvSpPr>
        <p:spPr>
          <a:xfrm>
            <a:off x="4319016" y="2148840"/>
            <a:ext cx="3569208" cy="1627632"/>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47616" y="2377440"/>
            <a:ext cx="3112008" cy="1170432"/>
          </a:xfrm>
          <a:prstGeom prst="rect">
            <a:avLst/>
          </a:prstGeom>
          <a:noFill/>
        </p:spPr>
        <p:txBody>
          <a:bodyPr wrap="square" lIns="0" rIns="0" tIns="0" bIns="0">
            <a:spAutoFit/>
          </a:bodyPr>
          <a:lstStyle/>
          <a:p>
            <a:pPr algn="l">
              <a:lnSpc>
                <a:spcPct val="135000"/>
              </a:lnSpc>
            </a:pPr>
            <a:r>
              <a:rPr sz="1000" b="1" i="0">
                <a:solidFill>
                  <a:srgbClr val="9FE8DC"/>
                </a:solidFill>
                <a:latin typeface="Inter"/>
              </a:rPr>
              <a:t>F U L L   E C O N O M I C   L O O P</a:t>
            </a:r>
          </a:p>
          <a:p>
            <a:pPr algn="l">
              <a:lnSpc>
                <a:spcPct val="135000"/>
              </a:lnSpc>
            </a:pPr>
            <a:r>
              <a:rPr sz="500" b="0" i="0">
                <a:solidFill>
                  <a:srgbClr val="AFC4C2"/>
                </a:solidFill>
                <a:latin typeface="Inter"/>
              </a:rPr>
              <a:t/>
            </a:r>
          </a:p>
          <a:p>
            <a:pPr algn="l">
              <a:lnSpc>
                <a:spcPct val="135000"/>
              </a:lnSpc>
            </a:pPr>
            <a:r>
              <a:rPr sz="1050" b="0" i="0">
                <a:solidFill>
                  <a:srgbClr val="F2ECDD"/>
                </a:solidFill>
                <a:latin typeface="Inter"/>
              </a:rPr>
              <a:t>Marketplace, ticketing, jobs → attestation → payout, memberships, refunds — proven end-to-end on Stripe rails, cent-exact.</a:t>
            </a:r>
          </a:p>
        </p:txBody>
      </p:sp>
      <p:sp>
        <p:nvSpPr>
          <p:cNvPr id="8" name="Rounded Rectangle 7"/>
          <p:cNvSpPr/>
          <p:nvPr/>
        </p:nvSpPr>
        <p:spPr>
          <a:xfrm>
            <a:off x="8089392" y="2148840"/>
            <a:ext cx="3569208" cy="1627632"/>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17992" y="2377440"/>
            <a:ext cx="3112008" cy="1170432"/>
          </a:xfrm>
          <a:prstGeom prst="rect">
            <a:avLst/>
          </a:prstGeom>
          <a:noFill/>
        </p:spPr>
        <p:txBody>
          <a:bodyPr wrap="square" lIns="0" rIns="0" tIns="0" bIns="0">
            <a:spAutoFit/>
          </a:bodyPr>
          <a:lstStyle/>
          <a:p>
            <a:pPr algn="l">
              <a:lnSpc>
                <a:spcPct val="135000"/>
              </a:lnSpc>
            </a:pPr>
            <a:r>
              <a:rPr sz="1000" b="1" i="0">
                <a:solidFill>
                  <a:srgbClr val="9FE8DC"/>
                </a:solidFill>
                <a:latin typeface="Inter"/>
              </a:rPr>
              <a:t>R I V R   P A Y   L A N E S</a:t>
            </a:r>
          </a:p>
          <a:p>
            <a:pPr algn="l">
              <a:lnSpc>
                <a:spcPct val="135000"/>
              </a:lnSpc>
            </a:pPr>
            <a:r>
              <a:rPr sz="500" b="0" i="0">
                <a:solidFill>
                  <a:srgbClr val="AFC4C2"/>
                </a:solidFill>
                <a:latin typeface="Inter"/>
              </a:rPr>
              <a:t/>
            </a:r>
          </a:p>
          <a:p>
            <a:pPr algn="l">
              <a:lnSpc>
                <a:spcPct val="135000"/>
              </a:lnSpc>
            </a:pPr>
            <a:r>
              <a:rPr sz="1050" b="0" i="0">
                <a:solidFill>
                  <a:srgbClr val="F2ECDD"/>
                </a:solidFill>
                <a:latin typeface="Inter"/>
              </a:rPr>
              <a:t>Tap-to-pay checkout, connected payouts, withholding, subgroup treasuries + card issuing on Stripe Treasury/Issuing.</a:t>
            </a:r>
          </a:p>
        </p:txBody>
      </p:sp>
      <p:sp>
        <p:nvSpPr>
          <p:cNvPr id="10" name="Rounded Rectangle 9"/>
          <p:cNvSpPr/>
          <p:nvPr/>
        </p:nvSpPr>
        <p:spPr>
          <a:xfrm>
            <a:off x="548640" y="3977640"/>
            <a:ext cx="3569208" cy="1627632"/>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206240"/>
            <a:ext cx="3112008" cy="1170432"/>
          </a:xfrm>
          <a:prstGeom prst="rect">
            <a:avLst/>
          </a:prstGeom>
          <a:noFill/>
        </p:spPr>
        <p:txBody>
          <a:bodyPr wrap="square" lIns="0" rIns="0" tIns="0" bIns="0">
            <a:spAutoFit/>
          </a:bodyPr>
          <a:lstStyle/>
          <a:p>
            <a:pPr algn="l">
              <a:lnSpc>
                <a:spcPct val="135000"/>
              </a:lnSpc>
            </a:pPr>
            <a:r>
              <a:rPr sz="1000" b="1" i="0">
                <a:solidFill>
                  <a:srgbClr val="9FE8DC"/>
                </a:solidFill>
                <a:latin typeface="Inter"/>
              </a:rPr>
              <a:t>R E A L   G O V E R N A N C E</a:t>
            </a:r>
          </a:p>
          <a:p>
            <a:pPr algn="l">
              <a:lnSpc>
                <a:spcPct val="135000"/>
              </a:lnSpc>
            </a:pPr>
            <a:r>
              <a:rPr sz="500" b="0" i="0">
                <a:solidFill>
                  <a:srgbClr val="AFC4C2"/>
                </a:solidFill>
                <a:latin typeface="Inter"/>
              </a:rPr>
              <a:t/>
            </a:r>
          </a:p>
          <a:p>
            <a:pPr algn="l">
              <a:lnSpc>
                <a:spcPct val="135000"/>
              </a:lnSpc>
            </a:pPr>
            <a:r>
              <a:rPr sz="1050" b="0" i="0">
                <a:solidFill>
                  <a:srgbClr val="F2ECDD"/>
                </a:solidFill>
                <a:latin typeface="Inter"/>
              </a:rPr>
              <a:t>Six ballot styles, eligibility gates, weighted voting, boards — running in production groups today.</a:t>
            </a:r>
          </a:p>
        </p:txBody>
      </p:sp>
      <p:sp>
        <p:nvSpPr>
          <p:cNvPr id="12" name="Rounded Rectangle 11"/>
          <p:cNvSpPr/>
          <p:nvPr/>
        </p:nvSpPr>
        <p:spPr>
          <a:xfrm>
            <a:off x="4319016" y="3977640"/>
            <a:ext cx="3569208" cy="1627632"/>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7616" y="4206240"/>
            <a:ext cx="3112008" cy="1170432"/>
          </a:xfrm>
          <a:prstGeom prst="rect">
            <a:avLst/>
          </a:prstGeom>
          <a:noFill/>
        </p:spPr>
        <p:txBody>
          <a:bodyPr wrap="square" lIns="0" rIns="0" tIns="0" bIns="0">
            <a:spAutoFit/>
          </a:bodyPr>
          <a:lstStyle/>
          <a:p>
            <a:pPr algn="l">
              <a:lnSpc>
                <a:spcPct val="135000"/>
              </a:lnSpc>
            </a:pPr>
            <a:r>
              <a:rPr sz="1000" b="1" i="0">
                <a:solidFill>
                  <a:srgbClr val="9FE8DC"/>
                </a:solidFill>
                <a:latin typeface="Inter"/>
              </a:rPr>
              <a:t>S A L E S   T A X ,   D O N E   R I G H T</a:t>
            </a:r>
          </a:p>
          <a:p>
            <a:pPr algn="l">
              <a:lnSpc>
                <a:spcPct val="135000"/>
              </a:lnSpc>
            </a:pPr>
            <a:r>
              <a:rPr sz="500" b="0" i="0">
                <a:solidFill>
                  <a:srgbClr val="AFC4C2"/>
                </a:solidFill>
                <a:latin typeface="Inter"/>
              </a:rPr>
              <a:t/>
            </a:r>
          </a:p>
          <a:p>
            <a:pPr algn="l">
              <a:lnSpc>
                <a:spcPct val="135000"/>
              </a:lnSpc>
            </a:pPr>
            <a:r>
              <a:rPr sz="1050" b="0" i="0">
                <a:solidFill>
                  <a:srgbClr val="F2ECDD"/>
                </a:solidFill>
                <a:latin typeface="Inter"/>
              </a:rPr>
              <a:t>Stripe Tax registered computation, venue-sourced ticket tax, 1099-K seller gates.</a:t>
            </a:r>
          </a:p>
        </p:txBody>
      </p:sp>
      <p:sp>
        <p:nvSpPr>
          <p:cNvPr id="14" name="Rounded Rectangle 13"/>
          <p:cNvSpPr/>
          <p:nvPr/>
        </p:nvSpPr>
        <p:spPr>
          <a:xfrm>
            <a:off x="8089392" y="3977640"/>
            <a:ext cx="3569208" cy="1627632"/>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17992" y="4206240"/>
            <a:ext cx="3112008" cy="1170432"/>
          </a:xfrm>
          <a:prstGeom prst="rect">
            <a:avLst/>
          </a:prstGeom>
          <a:noFill/>
        </p:spPr>
        <p:txBody>
          <a:bodyPr wrap="square" lIns="0" rIns="0" tIns="0" bIns="0">
            <a:spAutoFit/>
          </a:bodyPr>
          <a:lstStyle/>
          <a:p>
            <a:pPr algn="l">
              <a:lnSpc>
                <a:spcPct val="135000"/>
              </a:lnSpc>
            </a:pPr>
            <a:r>
              <a:rPr sz="1000" b="1" i="0">
                <a:solidFill>
                  <a:srgbClr val="9FE8DC"/>
                </a:solidFill>
                <a:latin typeface="Inter"/>
              </a:rPr>
              <a:t>A I - N A T I V E</a:t>
            </a:r>
          </a:p>
          <a:p>
            <a:pPr algn="l">
              <a:lnSpc>
                <a:spcPct val="135000"/>
              </a:lnSpc>
            </a:pPr>
            <a:r>
              <a:rPr sz="500" b="0" i="0">
                <a:solidFill>
                  <a:srgbClr val="AFC4C2"/>
                </a:solidFill>
                <a:latin typeface="Inter"/>
              </a:rPr>
              <a:t/>
            </a:r>
          </a:p>
          <a:p>
            <a:pPr algn="l">
              <a:lnSpc>
                <a:spcPct val="135000"/>
              </a:lnSpc>
            </a:pPr>
            <a:r>
              <a:rPr sz="1050" b="0" i="0">
                <a:solidFill>
                  <a:srgbClr val="F2ECDD"/>
                </a:solidFill>
                <a:latin typeface="Inter"/>
              </a:rPr>
              <a:t>Org assistant on first-party credentials; an MCP surface of 118 tools; agents act only as the asking member.</a:t>
            </a:r>
          </a:p>
        </p:txBody>
      </p:sp>
      <p:sp>
        <p:nvSpPr>
          <p:cNvPr id="16" name="TextBox 15"/>
          <p:cNvSpPr txBox="1"/>
          <p:nvPr/>
        </p:nvSpPr>
        <p:spPr>
          <a:xfrm>
            <a:off x="548640" y="5669280"/>
            <a:ext cx="11064240" cy="731520"/>
          </a:xfrm>
          <a:prstGeom prst="rect">
            <a:avLst/>
          </a:prstGeom>
          <a:noFill/>
        </p:spPr>
        <p:txBody>
          <a:bodyPr wrap="square" lIns="0" rIns="0" tIns="0" bIns="0">
            <a:spAutoFit/>
          </a:bodyPr>
          <a:lstStyle/>
          <a:p>
            <a:pPr algn="ctr">
              <a:lnSpc>
                <a:spcPct val="140000"/>
              </a:lnSpc>
            </a:pPr>
            <a:r>
              <a:rPr sz="1350" b="0" i="0">
                <a:solidFill>
                  <a:srgbClr val="F2ECDD"/>
                </a:solidFill>
                <a:latin typeface="Inter"/>
              </a:rPr>
              <a:t>Boulder is the first proving ground. </a:t>
            </a:r>
            <a:r>
              <a:rPr sz="1350" b="1" i="0">
                <a:solidFill>
                  <a:srgbClr val="EBCF9E"/>
                </a:solidFill>
                <a:latin typeface="Inter"/>
              </a:rPr>
              <a:t>This seed round funds go-to-market — not a science project.</a:t>
            </a:r>
          </a:p>
        </p:txBody>
      </p:sp>
      <p:pic>
        <p:nvPicPr>
          <p:cNvPr id="17" name="Picture 16"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8" name="TextBox 17"/>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9" name="TextBox 18"/>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B U S I N E S S   M O D E L</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300" b="0" i="1">
                <a:solidFill>
                  <a:srgbClr val="EBCF9E"/>
                </a:solidFill>
                <a:latin typeface="Georgia"/>
              </a:rPr>
              <a:t>Membership velocity, </a:t>
            </a:r>
            <a:r>
              <a:rPr sz="3100" b="1" i="0">
                <a:solidFill>
                  <a:srgbClr val="F4EAD8"/>
                </a:solidFill>
                <a:latin typeface="Inter"/>
              </a:rPr>
              <a:t>not fee inflation.</a:t>
            </a:r>
          </a:p>
        </p:txBody>
      </p:sp>
      <p:sp>
        <p:nvSpPr>
          <p:cNvPr id="4" name="TextBox 3"/>
          <p:cNvSpPr txBox="1"/>
          <p:nvPr/>
        </p:nvSpPr>
        <p:spPr>
          <a:xfrm>
            <a:off x="685800" y="2011680"/>
            <a:ext cx="2377440" cy="274320"/>
          </a:xfrm>
          <a:prstGeom prst="rect">
            <a:avLst/>
          </a:prstGeom>
          <a:noFill/>
        </p:spPr>
        <p:txBody>
          <a:bodyPr wrap="square" lIns="0" rIns="0" tIns="0" bIns="0">
            <a:spAutoFit/>
          </a:bodyPr>
          <a:lstStyle/>
          <a:p>
            <a:pPr algn="l">
              <a:lnSpc>
                <a:spcPct val="115000"/>
              </a:lnSpc>
            </a:pPr>
            <a:r>
              <a:rPr sz="900" b="1" i="0">
                <a:solidFill>
                  <a:srgbClr val="9FE8DC"/>
                </a:solidFill>
                <a:latin typeface="Inter"/>
              </a:rPr>
              <a:t>T I E R</a:t>
            </a:r>
          </a:p>
        </p:txBody>
      </p:sp>
      <p:sp>
        <p:nvSpPr>
          <p:cNvPr id="5" name="TextBox 4"/>
          <p:cNvSpPr txBox="1"/>
          <p:nvPr/>
        </p:nvSpPr>
        <p:spPr>
          <a:xfrm>
            <a:off x="4023360" y="2011680"/>
            <a:ext cx="2377440" cy="274320"/>
          </a:xfrm>
          <a:prstGeom prst="rect">
            <a:avLst/>
          </a:prstGeom>
          <a:noFill/>
        </p:spPr>
        <p:txBody>
          <a:bodyPr wrap="square" lIns="0" rIns="0" tIns="0" bIns="0">
            <a:spAutoFit/>
          </a:bodyPr>
          <a:lstStyle/>
          <a:p>
            <a:pPr algn="l">
              <a:lnSpc>
                <a:spcPct val="115000"/>
              </a:lnSpc>
            </a:pPr>
            <a:r>
              <a:rPr sz="900" b="1" i="0">
                <a:solidFill>
                  <a:srgbClr val="9FE8DC"/>
                </a:solidFill>
                <a:latin typeface="Inter"/>
              </a:rPr>
              <a:t>%   O F   U S E R S</a:t>
            </a:r>
          </a:p>
        </p:txBody>
      </p:sp>
      <p:sp>
        <p:nvSpPr>
          <p:cNvPr id="6" name="TextBox 5"/>
          <p:cNvSpPr txBox="1"/>
          <p:nvPr/>
        </p:nvSpPr>
        <p:spPr>
          <a:xfrm>
            <a:off x="6035040" y="2011680"/>
            <a:ext cx="2377440" cy="274320"/>
          </a:xfrm>
          <a:prstGeom prst="rect">
            <a:avLst/>
          </a:prstGeom>
          <a:noFill/>
        </p:spPr>
        <p:txBody>
          <a:bodyPr wrap="square" lIns="0" rIns="0" tIns="0" bIns="0">
            <a:spAutoFit/>
          </a:bodyPr>
          <a:lstStyle/>
          <a:p>
            <a:pPr algn="l">
              <a:lnSpc>
                <a:spcPct val="115000"/>
              </a:lnSpc>
            </a:pPr>
            <a:r>
              <a:rPr sz="900" b="1" i="0">
                <a:solidFill>
                  <a:srgbClr val="9FE8DC"/>
                </a:solidFill>
                <a:latin typeface="Inter"/>
              </a:rPr>
              <a:t>F E E   /   M O</a:t>
            </a:r>
          </a:p>
        </p:txBody>
      </p:sp>
      <p:sp>
        <p:nvSpPr>
          <p:cNvPr id="7" name="Rectangle 6"/>
          <p:cNvSpPr/>
          <p:nvPr/>
        </p:nvSpPr>
        <p:spPr>
          <a:xfrm>
            <a:off x="685800" y="2350008"/>
            <a:ext cx="6675120" cy="12700"/>
          </a:xfrm>
          <a:prstGeom prst="rect">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514600"/>
            <a:ext cx="3200400" cy="320040"/>
          </a:xfrm>
          <a:prstGeom prst="rect">
            <a:avLst/>
          </a:prstGeom>
          <a:noFill/>
        </p:spPr>
        <p:txBody>
          <a:bodyPr wrap="square" lIns="0" rIns="0" tIns="0" bIns="0">
            <a:spAutoFit/>
          </a:bodyPr>
          <a:lstStyle/>
          <a:p>
            <a:pPr algn="l">
              <a:lnSpc>
                <a:spcPct val="115000"/>
              </a:lnSpc>
            </a:pPr>
            <a:r>
              <a:rPr sz="1350" b="1" i="0">
                <a:solidFill>
                  <a:srgbClr val="F4EAD8"/>
                </a:solidFill>
                <a:latin typeface="Inter"/>
              </a:rPr>
              <a:t>Collaborator</a:t>
            </a:r>
          </a:p>
        </p:txBody>
      </p:sp>
      <p:sp>
        <p:nvSpPr>
          <p:cNvPr id="9" name="TextBox 8"/>
          <p:cNvSpPr txBox="1"/>
          <p:nvPr/>
        </p:nvSpPr>
        <p:spPr>
          <a:xfrm>
            <a:off x="4023360" y="2514600"/>
            <a:ext cx="3200400" cy="320040"/>
          </a:xfrm>
          <a:prstGeom prst="rect">
            <a:avLst/>
          </a:prstGeom>
          <a:noFill/>
        </p:spPr>
        <p:txBody>
          <a:bodyPr wrap="square" lIns="0" rIns="0" tIns="0" bIns="0">
            <a:spAutoFit/>
          </a:bodyPr>
          <a:lstStyle/>
          <a:p>
            <a:pPr algn="l">
              <a:lnSpc>
                <a:spcPct val="115000"/>
              </a:lnSpc>
            </a:pPr>
            <a:r>
              <a:rPr sz="1350" b="0" i="0">
                <a:solidFill>
                  <a:srgbClr val="D3B7A5"/>
                </a:solidFill>
                <a:latin typeface="Inter"/>
              </a:rPr>
              <a:t>15%</a:t>
            </a:r>
          </a:p>
        </p:txBody>
      </p:sp>
      <p:sp>
        <p:nvSpPr>
          <p:cNvPr id="10" name="TextBox 9"/>
          <p:cNvSpPr txBox="1"/>
          <p:nvPr/>
        </p:nvSpPr>
        <p:spPr>
          <a:xfrm>
            <a:off x="6035040" y="2514600"/>
            <a:ext cx="3200400" cy="320040"/>
          </a:xfrm>
          <a:prstGeom prst="rect">
            <a:avLst/>
          </a:prstGeom>
          <a:noFill/>
        </p:spPr>
        <p:txBody>
          <a:bodyPr wrap="square" lIns="0" rIns="0" tIns="0" bIns="0">
            <a:spAutoFit/>
          </a:bodyPr>
          <a:lstStyle/>
          <a:p>
            <a:pPr algn="l">
              <a:lnSpc>
                <a:spcPct val="115000"/>
              </a:lnSpc>
            </a:pPr>
            <a:r>
              <a:rPr sz="1350" b="0" i="0">
                <a:solidFill>
                  <a:srgbClr val="9FE8DC"/>
                </a:solidFill>
                <a:latin typeface="Inter"/>
              </a:rPr>
              <a:t>$11</a:t>
            </a:r>
          </a:p>
        </p:txBody>
      </p:sp>
      <p:sp>
        <p:nvSpPr>
          <p:cNvPr id="11" name="TextBox 10"/>
          <p:cNvSpPr txBox="1"/>
          <p:nvPr/>
        </p:nvSpPr>
        <p:spPr>
          <a:xfrm>
            <a:off x="685800" y="3026664"/>
            <a:ext cx="3200400" cy="320040"/>
          </a:xfrm>
          <a:prstGeom prst="rect">
            <a:avLst/>
          </a:prstGeom>
          <a:noFill/>
        </p:spPr>
        <p:txBody>
          <a:bodyPr wrap="square" lIns="0" rIns="0" tIns="0" bIns="0">
            <a:spAutoFit/>
          </a:bodyPr>
          <a:lstStyle/>
          <a:p>
            <a:pPr algn="l">
              <a:lnSpc>
                <a:spcPct val="115000"/>
              </a:lnSpc>
            </a:pPr>
            <a:r>
              <a:rPr sz="1350" b="1" i="0">
                <a:solidFill>
                  <a:srgbClr val="F4EAD8"/>
                </a:solidFill>
                <a:latin typeface="Inter"/>
              </a:rPr>
              <a:t>Seller</a:t>
            </a:r>
          </a:p>
        </p:txBody>
      </p:sp>
      <p:sp>
        <p:nvSpPr>
          <p:cNvPr id="12" name="TextBox 11"/>
          <p:cNvSpPr txBox="1"/>
          <p:nvPr/>
        </p:nvSpPr>
        <p:spPr>
          <a:xfrm>
            <a:off x="4023360" y="3026664"/>
            <a:ext cx="3200400" cy="320040"/>
          </a:xfrm>
          <a:prstGeom prst="rect">
            <a:avLst/>
          </a:prstGeom>
          <a:noFill/>
        </p:spPr>
        <p:txBody>
          <a:bodyPr wrap="square" lIns="0" rIns="0" tIns="0" bIns="0">
            <a:spAutoFit/>
          </a:bodyPr>
          <a:lstStyle/>
          <a:p>
            <a:pPr algn="l">
              <a:lnSpc>
                <a:spcPct val="115000"/>
              </a:lnSpc>
            </a:pPr>
            <a:r>
              <a:rPr sz="1350" b="0" i="0">
                <a:solidFill>
                  <a:srgbClr val="D3B7A5"/>
                </a:solidFill>
                <a:latin typeface="Inter"/>
              </a:rPr>
              <a:t>10%</a:t>
            </a:r>
          </a:p>
        </p:txBody>
      </p:sp>
      <p:sp>
        <p:nvSpPr>
          <p:cNvPr id="13" name="TextBox 12"/>
          <p:cNvSpPr txBox="1"/>
          <p:nvPr/>
        </p:nvSpPr>
        <p:spPr>
          <a:xfrm>
            <a:off x="6035040" y="3026664"/>
            <a:ext cx="3200400" cy="320040"/>
          </a:xfrm>
          <a:prstGeom prst="rect">
            <a:avLst/>
          </a:prstGeom>
          <a:noFill/>
        </p:spPr>
        <p:txBody>
          <a:bodyPr wrap="square" lIns="0" rIns="0" tIns="0" bIns="0">
            <a:spAutoFit/>
          </a:bodyPr>
          <a:lstStyle/>
          <a:p>
            <a:pPr algn="l">
              <a:lnSpc>
                <a:spcPct val="115000"/>
              </a:lnSpc>
            </a:pPr>
            <a:r>
              <a:rPr sz="1350" b="0" i="0">
                <a:solidFill>
                  <a:srgbClr val="9FE8DC"/>
                </a:solidFill>
                <a:latin typeface="Inter"/>
              </a:rPr>
              <a:t>$22</a:t>
            </a:r>
          </a:p>
        </p:txBody>
      </p:sp>
      <p:sp>
        <p:nvSpPr>
          <p:cNvPr id="14" name="TextBox 13"/>
          <p:cNvSpPr txBox="1"/>
          <p:nvPr/>
        </p:nvSpPr>
        <p:spPr>
          <a:xfrm>
            <a:off x="685800" y="3538728"/>
            <a:ext cx="3200400" cy="320040"/>
          </a:xfrm>
          <a:prstGeom prst="rect">
            <a:avLst/>
          </a:prstGeom>
          <a:noFill/>
        </p:spPr>
        <p:txBody>
          <a:bodyPr wrap="square" lIns="0" rIns="0" tIns="0" bIns="0">
            <a:spAutoFit/>
          </a:bodyPr>
          <a:lstStyle/>
          <a:p>
            <a:pPr algn="l">
              <a:lnSpc>
                <a:spcPct val="115000"/>
              </a:lnSpc>
            </a:pPr>
            <a:r>
              <a:rPr sz="1350" b="1" i="0">
                <a:solidFill>
                  <a:srgbClr val="F4EAD8"/>
                </a:solidFill>
                <a:latin typeface="Inter"/>
              </a:rPr>
              <a:t>Host / Producer</a:t>
            </a:r>
          </a:p>
        </p:txBody>
      </p:sp>
      <p:sp>
        <p:nvSpPr>
          <p:cNvPr id="15" name="TextBox 14"/>
          <p:cNvSpPr txBox="1"/>
          <p:nvPr/>
        </p:nvSpPr>
        <p:spPr>
          <a:xfrm>
            <a:off x="4023360" y="3538728"/>
            <a:ext cx="3200400" cy="320040"/>
          </a:xfrm>
          <a:prstGeom prst="rect">
            <a:avLst/>
          </a:prstGeom>
          <a:noFill/>
        </p:spPr>
        <p:txBody>
          <a:bodyPr wrap="square" lIns="0" rIns="0" tIns="0" bIns="0">
            <a:spAutoFit/>
          </a:bodyPr>
          <a:lstStyle/>
          <a:p>
            <a:pPr algn="l">
              <a:lnSpc>
                <a:spcPct val="115000"/>
              </a:lnSpc>
            </a:pPr>
            <a:r>
              <a:rPr sz="1350" b="0" i="0">
                <a:solidFill>
                  <a:srgbClr val="D3B7A5"/>
                </a:solidFill>
                <a:latin typeface="Inter"/>
              </a:rPr>
              <a:t>7%</a:t>
            </a:r>
          </a:p>
        </p:txBody>
      </p:sp>
      <p:sp>
        <p:nvSpPr>
          <p:cNvPr id="16" name="TextBox 15"/>
          <p:cNvSpPr txBox="1"/>
          <p:nvPr/>
        </p:nvSpPr>
        <p:spPr>
          <a:xfrm>
            <a:off x="6035040" y="3538728"/>
            <a:ext cx="3200400" cy="320040"/>
          </a:xfrm>
          <a:prstGeom prst="rect">
            <a:avLst/>
          </a:prstGeom>
          <a:noFill/>
        </p:spPr>
        <p:txBody>
          <a:bodyPr wrap="square" lIns="0" rIns="0" tIns="0" bIns="0">
            <a:spAutoFit/>
          </a:bodyPr>
          <a:lstStyle/>
          <a:p>
            <a:pPr algn="l">
              <a:lnSpc>
                <a:spcPct val="115000"/>
              </a:lnSpc>
            </a:pPr>
            <a:r>
              <a:rPr sz="1350" b="0" i="0">
                <a:solidFill>
                  <a:srgbClr val="9FE8DC"/>
                </a:solidFill>
                <a:latin typeface="Inter"/>
              </a:rPr>
              <a:t>$22</a:t>
            </a:r>
          </a:p>
        </p:txBody>
      </p:sp>
      <p:sp>
        <p:nvSpPr>
          <p:cNvPr id="17" name="TextBox 16"/>
          <p:cNvSpPr txBox="1"/>
          <p:nvPr/>
        </p:nvSpPr>
        <p:spPr>
          <a:xfrm>
            <a:off x="685800" y="4050791"/>
            <a:ext cx="3200400" cy="320040"/>
          </a:xfrm>
          <a:prstGeom prst="rect">
            <a:avLst/>
          </a:prstGeom>
          <a:noFill/>
        </p:spPr>
        <p:txBody>
          <a:bodyPr wrap="square" lIns="0" rIns="0" tIns="0" bIns="0">
            <a:spAutoFit/>
          </a:bodyPr>
          <a:lstStyle/>
          <a:p>
            <a:pPr algn="l">
              <a:lnSpc>
                <a:spcPct val="115000"/>
              </a:lnSpc>
            </a:pPr>
            <a:r>
              <a:rPr sz="1350" b="1" i="0">
                <a:solidFill>
                  <a:srgbClr val="F4EAD8"/>
                </a:solidFill>
                <a:latin typeface="Inter"/>
              </a:rPr>
              <a:t>Organizer</a:t>
            </a:r>
          </a:p>
        </p:txBody>
      </p:sp>
      <p:sp>
        <p:nvSpPr>
          <p:cNvPr id="18" name="TextBox 17"/>
          <p:cNvSpPr txBox="1"/>
          <p:nvPr/>
        </p:nvSpPr>
        <p:spPr>
          <a:xfrm>
            <a:off x="4023360" y="4050791"/>
            <a:ext cx="3200400" cy="320040"/>
          </a:xfrm>
          <a:prstGeom prst="rect">
            <a:avLst/>
          </a:prstGeom>
          <a:noFill/>
        </p:spPr>
        <p:txBody>
          <a:bodyPr wrap="square" lIns="0" rIns="0" tIns="0" bIns="0">
            <a:spAutoFit/>
          </a:bodyPr>
          <a:lstStyle/>
          <a:p>
            <a:pPr algn="l">
              <a:lnSpc>
                <a:spcPct val="115000"/>
              </a:lnSpc>
            </a:pPr>
            <a:r>
              <a:rPr sz="1350" b="0" i="0">
                <a:solidFill>
                  <a:srgbClr val="D3B7A5"/>
                </a:solidFill>
                <a:latin typeface="Inter"/>
              </a:rPr>
              <a:t>10%</a:t>
            </a:r>
          </a:p>
        </p:txBody>
      </p:sp>
      <p:sp>
        <p:nvSpPr>
          <p:cNvPr id="19" name="TextBox 18"/>
          <p:cNvSpPr txBox="1"/>
          <p:nvPr/>
        </p:nvSpPr>
        <p:spPr>
          <a:xfrm>
            <a:off x="6035040" y="4050791"/>
            <a:ext cx="3200400" cy="320040"/>
          </a:xfrm>
          <a:prstGeom prst="rect">
            <a:avLst/>
          </a:prstGeom>
          <a:noFill/>
        </p:spPr>
        <p:txBody>
          <a:bodyPr wrap="square" lIns="0" rIns="0" tIns="0" bIns="0">
            <a:spAutoFit/>
          </a:bodyPr>
          <a:lstStyle/>
          <a:p>
            <a:pPr algn="l">
              <a:lnSpc>
                <a:spcPct val="115000"/>
              </a:lnSpc>
            </a:pPr>
            <a:r>
              <a:rPr sz="1350" b="0" i="0">
                <a:solidFill>
                  <a:srgbClr val="9FE8DC"/>
                </a:solidFill>
                <a:latin typeface="Inter"/>
              </a:rPr>
              <a:t>$44</a:t>
            </a:r>
          </a:p>
        </p:txBody>
      </p:sp>
      <p:sp>
        <p:nvSpPr>
          <p:cNvPr id="20" name="TextBox 19"/>
          <p:cNvSpPr txBox="1"/>
          <p:nvPr/>
        </p:nvSpPr>
        <p:spPr>
          <a:xfrm>
            <a:off x="685800" y="4562856"/>
            <a:ext cx="3200400" cy="320040"/>
          </a:xfrm>
          <a:prstGeom prst="rect">
            <a:avLst/>
          </a:prstGeom>
          <a:noFill/>
        </p:spPr>
        <p:txBody>
          <a:bodyPr wrap="square" lIns="0" rIns="0" tIns="0" bIns="0">
            <a:spAutoFit/>
          </a:bodyPr>
          <a:lstStyle/>
          <a:p>
            <a:pPr algn="l">
              <a:lnSpc>
                <a:spcPct val="115000"/>
              </a:lnSpc>
            </a:pPr>
            <a:r>
              <a:rPr sz="1350" b="1" i="0">
                <a:solidFill>
                  <a:srgbClr val="F4EAD8"/>
                </a:solidFill>
                <a:latin typeface="Inter"/>
              </a:rPr>
              <a:t>Free users (non-members)</a:t>
            </a:r>
          </a:p>
        </p:txBody>
      </p:sp>
      <p:sp>
        <p:nvSpPr>
          <p:cNvPr id="21" name="TextBox 20"/>
          <p:cNvSpPr txBox="1"/>
          <p:nvPr/>
        </p:nvSpPr>
        <p:spPr>
          <a:xfrm>
            <a:off x="4023360" y="4562856"/>
            <a:ext cx="3200400" cy="320040"/>
          </a:xfrm>
          <a:prstGeom prst="rect">
            <a:avLst/>
          </a:prstGeom>
          <a:noFill/>
        </p:spPr>
        <p:txBody>
          <a:bodyPr wrap="square" lIns="0" rIns="0" tIns="0" bIns="0">
            <a:spAutoFit/>
          </a:bodyPr>
          <a:lstStyle/>
          <a:p>
            <a:pPr algn="l">
              <a:lnSpc>
                <a:spcPct val="115000"/>
              </a:lnSpc>
            </a:pPr>
            <a:r>
              <a:rPr sz="1350" b="0" i="0">
                <a:solidFill>
                  <a:srgbClr val="D3B7A5"/>
                </a:solidFill>
                <a:latin typeface="Inter"/>
              </a:rPr>
              <a:t>58%</a:t>
            </a:r>
          </a:p>
        </p:txBody>
      </p:sp>
      <p:sp>
        <p:nvSpPr>
          <p:cNvPr id="22" name="TextBox 21"/>
          <p:cNvSpPr txBox="1"/>
          <p:nvPr/>
        </p:nvSpPr>
        <p:spPr>
          <a:xfrm>
            <a:off x="6035040" y="4562856"/>
            <a:ext cx="3200400" cy="320040"/>
          </a:xfrm>
          <a:prstGeom prst="rect">
            <a:avLst/>
          </a:prstGeom>
          <a:noFill/>
        </p:spPr>
        <p:txBody>
          <a:bodyPr wrap="square" lIns="0" rIns="0" tIns="0" bIns="0">
            <a:spAutoFit/>
          </a:bodyPr>
          <a:lstStyle/>
          <a:p>
            <a:pPr algn="l">
              <a:lnSpc>
                <a:spcPct val="115000"/>
              </a:lnSpc>
            </a:pPr>
            <a:r>
              <a:rPr sz="1350" b="0" i="0">
                <a:solidFill>
                  <a:srgbClr val="9FE8DC"/>
                </a:solidFill>
                <a:latin typeface="Inter"/>
              </a:rPr>
              <a:t>—</a:t>
            </a:r>
          </a:p>
        </p:txBody>
      </p:sp>
      <p:sp>
        <p:nvSpPr>
          <p:cNvPr id="23" name="TextBox 22"/>
          <p:cNvSpPr txBox="1"/>
          <p:nvPr/>
        </p:nvSpPr>
        <p:spPr>
          <a:xfrm>
            <a:off x="685800" y="5138928"/>
            <a:ext cx="7315200" cy="274320"/>
          </a:xfrm>
          <a:prstGeom prst="rect">
            <a:avLst/>
          </a:prstGeom>
          <a:noFill/>
        </p:spPr>
        <p:txBody>
          <a:bodyPr wrap="square" lIns="0" rIns="0" tIns="0" bIns="0">
            <a:spAutoFit/>
          </a:bodyPr>
          <a:lstStyle/>
          <a:p>
            <a:pPr algn="l">
              <a:lnSpc>
                <a:spcPct val="115000"/>
              </a:lnSpc>
            </a:pPr>
            <a:r>
              <a:rPr sz="1150" b="0" i="1">
                <a:solidFill>
                  <a:srgbClr val="AFC4C2"/>
                </a:solidFill>
                <a:latin typeface="Georgia"/>
              </a:rPr>
              <a:t>42% of active users convert to paid membership — calibrated on ONE Boulder.</a:t>
            </a:r>
          </a:p>
        </p:txBody>
      </p:sp>
      <p:sp>
        <p:nvSpPr>
          <p:cNvPr id="24" name="Rounded Rectangle 23"/>
          <p:cNvSpPr/>
          <p:nvPr/>
        </p:nvSpPr>
        <p:spPr>
          <a:xfrm>
            <a:off x="7863840" y="2011680"/>
            <a:ext cx="3794760" cy="3063240"/>
          </a:xfrm>
          <a:prstGeom prst="roundRect">
            <a:avLst>
              <a:gd name="adj" fmla="val 6000"/>
            </a:avLst>
          </a:prstGeom>
          <a:solidFill>
            <a:srgbClr val="0D3E40"/>
          </a:solidFill>
          <a:ln w="1397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38160" y="2240280"/>
            <a:ext cx="3291840" cy="2651760"/>
          </a:xfrm>
          <a:prstGeom prst="rect">
            <a:avLst/>
          </a:prstGeom>
          <a:noFill/>
        </p:spPr>
        <p:txBody>
          <a:bodyPr wrap="square" lIns="0" rIns="0" tIns="0" bIns="0">
            <a:spAutoFit/>
          </a:bodyPr>
          <a:lstStyle/>
          <a:p>
            <a:pPr algn="l">
              <a:lnSpc>
                <a:spcPct val="140000"/>
              </a:lnSpc>
            </a:pPr>
            <a:r>
              <a:rPr sz="950" b="1" i="0">
                <a:solidFill>
                  <a:srgbClr val="EBCF9E"/>
                </a:solidFill>
                <a:latin typeface="Inter"/>
              </a:rPr>
              <a:t>T R A N S A C T I O N   F E E</a:t>
            </a:r>
          </a:p>
          <a:p>
            <a:pPr algn="l">
              <a:lnSpc>
                <a:spcPct val="140000"/>
              </a:lnSpc>
            </a:pPr>
            <a:r>
              <a:rPr sz="2400" b="1" i="0">
                <a:solidFill>
                  <a:srgbClr val="F4EAD8"/>
                </a:solidFill>
                <a:latin typeface="Inter"/>
              </a:rPr>
              <a:t>3.3% + $1.49</a:t>
            </a:r>
          </a:p>
          <a:p>
            <a:pPr algn="l">
              <a:lnSpc>
                <a:spcPct val="140000"/>
              </a:lnSpc>
            </a:pPr>
            <a:r>
              <a:rPr sz="1050" b="0" i="0">
                <a:solidFill>
                  <a:srgbClr val="AFC4C2"/>
                </a:solidFill>
                <a:latin typeface="Inter"/>
              </a:rPr>
              <a:t>unified across all rails · patronage-eligible</a:t>
            </a:r>
          </a:p>
          <a:p>
            <a:pPr algn="l">
              <a:lnSpc>
                <a:spcPct val="140000"/>
              </a:lnSpc>
            </a:pPr>
            <a:r>
              <a:rPr sz="700" b="0" i="0">
                <a:solidFill>
                  <a:srgbClr val="AFC4C2"/>
                </a:solidFill>
                <a:latin typeface="Inter"/>
              </a:rPr>
              <a:t/>
            </a:r>
          </a:p>
          <a:p>
            <a:pPr algn="l">
              <a:lnSpc>
                <a:spcPct val="140000"/>
              </a:lnSpc>
            </a:pPr>
            <a:r>
              <a:rPr sz="950" b="1" i="0">
                <a:solidFill>
                  <a:srgbClr val="EBCF9E"/>
                </a:solidFill>
                <a:latin typeface="Inter"/>
              </a:rPr>
              <a:t>S T R E A M S</a:t>
            </a:r>
          </a:p>
          <a:p>
            <a:pPr algn="l">
              <a:lnSpc>
                <a:spcPct val="140000"/>
              </a:lnSpc>
            </a:pPr>
            <a:r>
              <a:rPr sz="1100" b="0" i="0">
                <a:solidFill>
                  <a:srgbClr val="F2ECDD"/>
                </a:solidFill>
                <a:latin typeface="Inter"/>
              </a:rPr>
              <a:t>memberships · platform + transaction</a:t>
            </a:r>
          </a:p>
          <a:p>
            <a:pPr algn="l">
              <a:lnSpc>
                <a:spcPct val="140000"/>
              </a:lnSpc>
            </a:pPr>
            <a:r>
              <a:rPr sz="1100" b="0" i="0">
                <a:solidFill>
                  <a:srgbClr val="F2ECDD"/>
                </a:solidFill>
                <a:latin typeface="Inter"/>
              </a:rPr>
              <a:t>fees · local advertising (from local</a:t>
            </a:r>
          </a:p>
          <a:p>
            <a:pPr algn="l">
              <a:lnSpc>
                <a:spcPct val="140000"/>
              </a:lnSpc>
            </a:pPr>
            <a:r>
              <a:rPr sz="1100" b="0" i="0">
                <a:solidFill>
                  <a:srgbClr val="F2ECDD"/>
                </a:solidFill>
                <a:latin typeface="Inter"/>
              </a:rPr>
              <a:t>businesses) · invested reserves</a:t>
            </a:r>
          </a:p>
        </p:txBody>
      </p:sp>
      <p:sp>
        <p:nvSpPr>
          <p:cNvPr id="26" name="TextBox 25"/>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350" b="0" i="1">
                <a:solidFill>
                  <a:srgbClr val="9FE8DC"/>
                </a:solidFill>
                <a:latin typeface="Georgia"/>
              </a:rPr>
              <a:t>The better Rivr helps people coordinate and exchange value, the more valuable the network becomes.</a:t>
            </a:r>
          </a:p>
        </p:txBody>
      </p:sp>
      <p:pic>
        <p:nvPicPr>
          <p:cNvPr id="27" name="Picture 26"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28" name="TextBox 27"/>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29" name="TextBox 28"/>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EBCF9E"/>
                </a:solidFill>
                <a:latin typeface="Inter"/>
              </a:rPr>
              <a:t>R E V E N U E   C A S C A D E   ·   C O O P E R A T I V E   E C O N O M I C S</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400" b="1" i="0">
                <a:solidFill>
                  <a:srgbClr val="F4EAD8"/>
                </a:solidFill>
                <a:latin typeface="Inter"/>
              </a:rPr>
              <a:t>Where </a:t>
            </a:r>
            <a:r>
              <a:rPr sz="3700" b="0" i="1">
                <a:solidFill>
                  <a:srgbClr val="99E6D9"/>
                </a:solidFill>
                <a:latin typeface="Georgia"/>
              </a:rPr>
              <a:t>every dollar</a:t>
            </a:r>
            <a:r>
              <a:rPr sz="3400" b="1" i="0">
                <a:solidFill>
                  <a:srgbClr val="F4EAD8"/>
                </a:solidFill>
                <a:latin typeface="Inter"/>
              </a:rPr>
              <a:t> goes.</a:t>
            </a:r>
          </a:p>
        </p:txBody>
      </p:sp>
      <p:sp>
        <p:nvSpPr>
          <p:cNvPr id="4" name="Rounded Rectangle 3"/>
          <p:cNvSpPr/>
          <p:nvPr/>
        </p:nvSpPr>
        <p:spPr>
          <a:xfrm>
            <a:off x="548640" y="1965960"/>
            <a:ext cx="3566160" cy="292608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194560"/>
            <a:ext cx="3108960" cy="2560320"/>
          </a:xfrm>
          <a:prstGeom prst="rect">
            <a:avLst/>
          </a:prstGeom>
          <a:noFill/>
        </p:spPr>
        <p:txBody>
          <a:bodyPr wrap="square" lIns="0" rIns="0" tIns="0" bIns="0">
            <a:spAutoFit/>
          </a:bodyPr>
          <a:lstStyle/>
          <a:p>
            <a:pPr algn="l">
              <a:lnSpc>
                <a:spcPct val="135000"/>
              </a:lnSpc>
            </a:pPr>
            <a:r>
              <a:rPr sz="1100" b="1" i="0">
                <a:solidFill>
                  <a:srgbClr val="9FE8DC"/>
                </a:solidFill>
                <a:latin typeface="Inter"/>
              </a:rPr>
              <a:t>F E E   S U R P L U S</a:t>
            </a:r>
          </a:p>
          <a:p>
            <a:pPr algn="l">
              <a:lnSpc>
                <a:spcPct val="135000"/>
              </a:lnSpc>
            </a:pPr>
            <a:r>
              <a:rPr sz="1000" b="0" i="0">
                <a:solidFill>
                  <a:srgbClr val="AFC4C2"/>
                </a:solidFill>
                <a:latin typeface="Inter"/>
              </a:rPr>
              <a:t>platform + transaction fees</a:t>
            </a:r>
          </a:p>
          <a:p>
            <a:pPr algn="l">
              <a:lnSpc>
                <a:spcPct val="135000"/>
              </a:lnSpc>
            </a:pPr>
            <a:r>
              <a:rPr sz="500" b="0" i="0">
                <a:solidFill>
                  <a:srgbClr val="AFC4C2"/>
                </a:solidFill>
                <a:latin typeface="Inter"/>
              </a:rPr>
              <a:t/>
            </a:r>
          </a:p>
          <a:p>
            <a:pPr algn="l">
              <a:lnSpc>
                <a:spcPct val="135000"/>
              </a:lnSpc>
            </a:pPr>
            <a:r>
              <a:rPr sz="1500" b="1" i="0">
                <a:solidFill>
                  <a:srgbClr val="EBCF9E"/>
                </a:solidFill>
                <a:latin typeface="Inter"/>
              </a:rPr>
              <a:t>50%  </a:t>
            </a:r>
            <a:r>
              <a:rPr sz="1250" b="0" i="0">
                <a:solidFill>
                  <a:srgbClr val="F4EAD8"/>
                </a:solidFill>
                <a:latin typeface="Inter"/>
              </a:rPr>
              <a:t>Association</a:t>
            </a:r>
          </a:p>
          <a:p>
            <a:pPr algn="l">
              <a:lnSpc>
                <a:spcPct val="135000"/>
              </a:lnSpc>
            </a:pPr>
            <a:r>
              <a:rPr sz="1500" b="1" i="0">
                <a:solidFill>
                  <a:srgbClr val="EBCF9E"/>
                </a:solidFill>
                <a:latin typeface="Inter"/>
              </a:rPr>
              <a:t>25%  </a:t>
            </a:r>
            <a:r>
              <a:rPr sz="1250" b="0" i="0">
                <a:solidFill>
                  <a:srgbClr val="F4EAD8"/>
                </a:solidFill>
                <a:latin typeface="Inter"/>
              </a:rPr>
              <a:t>Fee-paying member</a:t>
            </a:r>
          </a:p>
          <a:p>
            <a:pPr algn="l">
              <a:lnSpc>
                <a:spcPct val="135000"/>
              </a:lnSpc>
            </a:pPr>
            <a:r>
              <a:rPr sz="1500" b="1" i="0">
                <a:solidFill>
                  <a:srgbClr val="EBCF9E"/>
                </a:solidFill>
                <a:latin typeface="Inter"/>
              </a:rPr>
              <a:t>25%  </a:t>
            </a:r>
            <a:r>
              <a:rPr sz="1250" b="0" i="0">
                <a:solidFill>
                  <a:srgbClr val="F4EAD8"/>
                </a:solidFill>
                <a:latin typeface="Inter"/>
              </a:rPr>
              <a:t>Chapter</a:t>
            </a:r>
          </a:p>
          <a:p>
            <a:pPr algn="l">
              <a:lnSpc>
                <a:spcPct val="135000"/>
              </a:lnSpc>
            </a:pPr>
            <a:r>
              <a:rPr sz="500" b="0" i="0">
                <a:solidFill>
                  <a:srgbClr val="AFC4C2"/>
                </a:solidFill>
                <a:latin typeface="Inter"/>
              </a:rPr>
              <a:t/>
            </a:r>
          </a:p>
          <a:p>
            <a:pPr algn="l">
              <a:lnSpc>
                <a:spcPct val="135000"/>
              </a:lnSpc>
            </a:pPr>
            <a:r>
              <a:rPr sz="1050" b="0" i="1">
                <a:solidFill>
                  <a:srgbClr val="F2ECDD"/>
                </a:solidFill>
                <a:latin typeface="Georgia"/>
              </a:rPr>
              <a:t>Patronage goes only to the members who generated the fees.</a:t>
            </a:r>
          </a:p>
        </p:txBody>
      </p:sp>
      <p:sp>
        <p:nvSpPr>
          <p:cNvPr id="6" name="Rounded Rectangle 5"/>
          <p:cNvSpPr/>
          <p:nvPr/>
        </p:nvSpPr>
        <p:spPr>
          <a:xfrm>
            <a:off x="4315968" y="1965960"/>
            <a:ext cx="3566160" cy="292608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44568" y="2194560"/>
            <a:ext cx="3108960" cy="2560320"/>
          </a:xfrm>
          <a:prstGeom prst="rect">
            <a:avLst/>
          </a:prstGeom>
          <a:noFill/>
        </p:spPr>
        <p:txBody>
          <a:bodyPr wrap="square" lIns="0" rIns="0" tIns="0" bIns="0">
            <a:spAutoFit/>
          </a:bodyPr>
          <a:lstStyle/>
          <a:p>
            <a:pPr algn="l">
              <a:lnSpc>
                <a:spcPct val="135000"/>
              </a:lnSpc>
            </a:pPr>
            <a:r>
              <a:rPr sz="1100" b="1" i="0">
                <a:solidFill>
                  <a:srgbClr val="9FE8DC"/>
                </a:solidFill>
                <a:latin typeface="Inter"/>
              </a:rPr>
              <a:t>N O N - F E E   S U R P L U S</a:t>
            </a:r>
          </a:p>
          <a:p>
            <a:pPr algn="l">
              <a:lnSpc>
                <a:spcPct val="135000"/>
              </a:lnSpc>
            </a:pPr>
            <a:r>
              <a:rPr sz="1000" b="0" i="0">
                <a:solidFill>
                  <a:srgbClr val="AFC4C2"/>
                </a:solidFill>
                <a:latin typeface="Inter"/>
              </a:rPr>
              <a:t>dues · ads · invested reserves</a:t>
            </a:r>
          </a:p>
          <a:p>
            <a:pPr algn="l">
              <a:lnSpc>
                <a:spcPct val="135000"/>
              </a:lnSpc>
            </a:pPr>
            <a:r>
              <a:rPr sz="500" b="0" i="0">
                <a:solidFill>
                  <a:srgbClr val="AFC4C2"/>
                </a:solidFill>
                <a:latin typeface="Inter"/>
              </a:rPr>
              <a:t/>
            </a:r>
          </a:p>
          <a:p>
            <a:pPr algn="l">
              <a:lnSpc>
                <a:spcPct val="135000"/>
              </a:lnSpc>
            </a:pPr>
            <a:r>
              <a:rPr sz="1500" b="1" i="0">
                <a:solidFill>
                  <a:srgbClr val="EBCF9E"/>
                </a:solidFill>
                <a:latin typeface="Inter"/>
              </a:rPr>
              <a:t>100%  </a:t>
            </a:r>
            <a:r>
              <a:rPr sz="1250" b="0" i="0">
                <a:solidFill>
                  <a:srgbClr val="F4EAD8"/>
                </a:solidFill>
                <a:latin typeface="Inter"/>
              </a:rPr>
              <a:t>Association</a:t>
            </a:r>
          </a:p>
          <a:p>
            <a:pPr algn="l">
              <a:lnSpc>
                <a:spcPct val="135000"/>
              </a:lnSpc>
            </a:pPr>
            <a:r>
              <a:rPr sz="500" b="0" i="0">
                <a:solidFill>
                  <a:srgbClr val="AFC4C2"/>
                </a:solidFill>
                <a:latin typeface="Inter"/>
              </a:rPr>
              <a:t/>
            </a:r>
          </a:p>
          <a:p>
            <a:pPr algn="l">
              <a:lnSpc>
                <a:spcPct val="135000"/>
              </a:lnSpc>
            </a:pPr>
            <a:r>
              <a:rPr sz="1050" b="0" i="1">
                <a:solidFill>
                  <a:srgbClr val="F2ECDD"/>
                </a:solidFill>
                <a:latin typeface="Georgia"/>
              </a:rPr>
              <a:t>Retained by the Association to fund the mission.</a:t>
            </a:r>
          </a:p>
        </p:txBody>
      </p:sp>
      <p:sp>
        <p:nvSpPr>
          <p:cNvPr id="8" name="Rounded Rectangle 7"/>
          <p:cNvSpPr/>
          <p:nvPr/>
        </p:nvSpPr>
        <p:spPr>
          <a:xfrm>
            <a:off x="8083296" y="1965960"/>
            <a:ext cx="3566160" cy="292608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11896" y="2194560"/>
            <a:ext cx="3108960" cy="2560320"/>
          </a:xfrm>
          <a:prstGeom prst="rect">
            <a:avLst/>
          </a:prstGeom>
          <a:noFill/>
        </p:spPr>
        <p:txBody>
          <a:bodyPr wrap="square" lIns="0" rIns="0" tIns="0" bIns="0">
            <a:spAutoFit/>
          </a:bodyPr>
          <a:lstStyle/>
          <a:p>
            <a:pPr algn="l">
              <a:lnSpc>
                <a:spcPct val="135000"/>
              </a:lnSpc>
            </a:pPr>
            <a:r>
              <a:rPr sz="1100" b="1" i="0">
                <a:solidFill>
                  <a:srgbClr val="9FE8DC"/>
                </a:solidFill>
                <a:latin typeface="Inter"/>
              </a:rPr>
              <a:t>R E T A I N E D   P R O F I T</a:t>
            </a:r>
          </a:p>
          <a:p>
            <a:pPr algn="l">
              <a:lnSpc>
                <a:spcPct val="135000"/>
              </a:lnSpc>
            </a:pPr>
            <a:r>
              <a:rPr sz="1000" b="0" i="0">
                <a:solidFill>
                  <a:srgbClr val="AFC4C2"/>
                </a:solidFill>
                <a:latin typeface="Inter"/>
              </a:rPr>
              <a:t>after corporate tax</a:t>
            </a:r>
          </a:p>
          <a:p>
            <a:pPr algn="l">
              <a:lnSpc>
                <a:spcPct val="135000"/>
              </a:lnSpc>
            </a:pPr>
            <a:r>
              <a:rPr sz="500" b="0" i="0">
                <a:solidFill>
                  <a:srgbClr val="AFC4C2"/>
                </a:solidFill>
                <a:latin typeface="Inter"/>
              </a:rPr>
              <a:t/>
            </a:r>
          </a:p>
          <a:p>
            <a:pPr algn="l">
              <a:lnSpc>
                <a:spcPct val="135000"/>
              </a:lnSpc>
            </a:pPr>
            <a:r>
              <a:rPr sz="1500" b="1" i="0">
                <a:solidFill>
                  <a:srgbClr val="EBCF9E"/>
                </a:solidFill>
                <a:latin typeface="Inter"/>
              </a:rPr>
              <a:t>33%  </a:t>
            </a:r>
            <a:r>
              <a:rPr sz="1250" b="0" i="0">
                <a:solidFill>
                  <a:srgbClr val="F4EAD8"/>
                </a:solidFill>
                <a:latin typeface="Inter"/>
              </a:rPr>
              <a:t>Stewards</a:t>
            </a:r>
          </a:p>
          <a:p>
            <a:pPr algn="l">
              <a:lnSpc>
                <a:spcPct val="135000"/>
              </a:lnSpc>
            </a:pPr>
            <a:r>
              <a:rPr sz="1500" b="1" i="0">
                <a:solidFill>
                  <a:srgbClr val="EBCF9E"/>
                </a:solidFill>
                <a:latin typeface="Inter"/>
              </a:rPr>
              <a:t>33%  </a:t>
            </a:r>
            <a:r>
              <a:rPr sz="1250" b="0" i="0">
                <a:solidFill>
                  <a:srgbClr val="F4EAD8"/>
                </a:solidFill>
                <a:latin typeface="Inter"/>
              </a:rPr>
              <a:t>Workers</a:t>
            </a:r>
          </a:p>
          <a:p>
            <a:pPr algn="l">
              <a:lnSpc>
                <a:spcPct val="135000"/>
              </a:lnSpc>
            </a:pPr>
            <a:r>
              <a:rPr sz="1500" b="1" i="0">
                <a:solidFill>
                  <a:srgbClr val="EBCF9E"/>
                </a:solidFill>
                <a:latin typeface="Inter"/>
              </a:rPr>
              <a:t>33%  </a:t>
            </a:r>
            <a:r>
              <a:rPr sz="1250" b="0" i="0">
                <a:solidFill>
                  <a:srgbClr val="F4EAD8"/>
                </a:solidFill>
                <a:latin typeface="Inter"/>
              </a:rPr>
              <a:t>Reserves</a:t>
            </a:r>
          </a:p>
          <a:p>
            <a:pPr algn="l">
              <a:lnSpc>
                <a:spcPct val="135000"/>
              </a:lnSpc>
            </a:pPr>
            <a:r>
              <a:rPr sz="500" b="0" i="0">
                <a:solidFill>
                  <a:srgbClr val="AFC4C2"/>
                </a:solidFill>
                <a:latin typeface="Inter"/>
              </a:rPr>
              <a:t/>
            </a:r>
          </a:p>
          <a:p>
            <a:pPr algn="l">
              <a:lnSpc>
                <a:spcPct val="135000"/>
              </a:lnSpc>
            </a:pPr>
            <a:r>
              <a:rPr sz="1050" b="0" i="1">
                <a:solidFill>
                  <a:srgbClr val="F2ECDD"/>
                </a:solidFill>
                <a:latin typeface="Georgia"/>
              </a:rPr>
              <a:t>Investors, labor, and the commons share the upside evenly.</a:t>
            </a:r>
          </a:p>
        </p:txBody>
      </p:sp>
      <p:sp>
        <p:nvSpPr>
          <p:cNvPr id="10" name="Rounded Rectangle 9"/>
          <p:cNvSpPr/>
          <p:nvPr/>
        </p:nvSpPr>
        <p:spPr>
          <a:xfrm>
            <a:off x="548640" y="5120640"/>
            <a:ext cx="11109960" cy="640080"/>
          </a:xfrm>
          <a:prstGeom prst="roundRect">
            <a:avLst>
              <a:gd name="adj" fmla="val 6000"/>
            </a:avLst>
          </a:prstGeom>
          <a:solidFill>
            <a:srgbClr val="084B4D"/>
          </a:solidFill>
          <a:ln w="1270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285232"/>
            <a:ext cx="10607040" cy="365760"/>
          </a:xfrm>
          <a:prstGeom prst="rect">
            <a:avLst/>
          </a:prstGeom>
          <a:noFill/>
        </p:spPr>
        <p:txBody>
          <a:bodyPr wrap="square" lIns="0" rIns="0" tIns="0" bIns="0">
            <a:spAutoFit/>
          </a:bodyPr>
          <a:lstStyle/>
          <a:p>
            <a:pPr algn="l">
              <a:lnSpc>
                <a:spcPct val="115000"/>
              </a:lnSpc>
            </a:pPr>
            <a:r>
              <a:rPr sz="1200" b="0" i="0">
                <a:solidFill>
                  <a:srgbClr val="F2ECDD"/>
                </a:solidFill>
                <a:latin typeface="Inter"/>
              </a:rPr>
              <a:t>Every patronage refund arrives </a:t>
            </a:r>
            <a:r>
              <a:rPr sz="1200" b="1" i="0">
                <a:solidFill>
                  <a:srgbClr val="EBCF9E"/>
                </a:solidFill>
                <a:latin typeface="Inter"/>
              </a:rPr>
              <a:t>20% cash + 80% member capital</a:t>
            </a:r>
            <a:r>
              <a:rPr sz="1200" b="0" i="0">
                <a:solidFill>
                  <a:srgbClr val="F2ECDD"/>
                </a:solidFill>
                <a:latin typeface="Inter"/>
              </a:rPr>
              <a:t> — members build equity with every sale.</a:t>
            </a:r>
          </a:p>
        </p:txBody>
      </p:sp>
      <p:pic>
        <p:nvPicPr>
          <p:cNvPr id="12" name="Picture 11"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3" name="TextBox 12"/>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4" name="TextBox 13"/>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S C A L E</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200" b="1" i="0">
                <a:solidFill>
                  <a:srgbClr val="F4EAD8"/>
                </a:solidFill>
                <a:latin typeface="Inter"/>
              </a:rPr>
              <a:t>Market share becomes </a:t>
            </a:r>
            <a:r>
              <a:rPr sz="3500" b="0" i="1">
                <a:solidFill>
                  <a:srgbClr val="F0CC8B"/>
                </a:solidFill>
                <a:latin typeface="Georgia"/>
              </a:rPr>
              <a:t>coordination capacity.</a:t>
            </a:r>
          </a:p>
        </p:txBody>
      </p:sp>
      <p:sp>
        <p:nvSpPr>
          <p:cNvPr id="4" name="TextBox 3"/>
          <p:cNvSpPr txBox="1"/>
          <p:nvPr/>
        </p:nvSpPr>
        <p:spPr>
          <a:xfrm>
            <a:off x="548640" y="2011680"/>
            <a:ext cx="7315200" cy="274320"/>
          </a:xfrm>
          <a:prstGeom prst="rect">
            <a:avLst/>
          </a:prstGeom>
          <a:noFill/>
        </p:spPr>
        <p:txBody>
          <a:bodyPr wrap="square" lIns="0" rIns="0" tIns="0" bIns="0">
            <a:spAutoFit/>
          </a:bodyPr>
          <a:lstStyle/>
          <a:p>
            <a:pPr algn="l">
              <a:lnSpc>
                <a:spcPct val="115000"/>
              </a:lnSpc>
            </a:pPr>
            <a:r>
              <a:rPr sz="950" b="1" i="0">
                <a:solidFill>
                  <a:srgbClr val="9FE8DC"/>
                </a:solidFill>
                <a:latin typeface="Inter"/>
              </a:rPr>
              <a:t>S C A L E   H A S   A   P U R P O S E   B E Y O N D   C O M P A N Y   G R O W T H</a:t>
            </a:r>
          </a:p>
        </p:txBody>
      </p:sp>
      <p:sp>
        <p:nvSpPr>
          <p:cNvPr id="5" name="Rounded Rectangle 4"/>
          <p:cNvSpPr/>
          <p:nvPr/>
        </p:nvSpPr>
        <p:spPr>
          <a:xfrm>
            <a:off x="548640" y="2377440"/>
            <a:ext cx="11109960" cy="795528"/>
          </a:xfrm>
          <a:prstGeom prst="roundRect">
            <a:avLst>
              <a:gd name="adj" fmla="val 6000"/>
            </a:avLst>
          </a:prstGeom>
          <a:solidFill>
            <a:srgbClr val="0D3E40"/>
          </a:solidFill>
          <a:ln w="1397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578608"/>
            <a:ext cx="10515600" cy="384048"/>
          </a:xfrm>
          <a:prstGeom prst="rect">
            <a:avLst/>
          </a:prstGeom>
          <a:noFill/>
        </p:spPr>
        <p:txBody>
          <a:bodyPr wrap="square" lIns="0" rIns="0" tIns="0" bIns="0">
            <a:spAutoFit/>
          </a:bodyPr>
          <a:lstStyle/>
          <a:p>
            <a:pPr algn="ctr">
              <a:lnSpc>
                <a:spcPct val="140000"/>
              </a:lnSpc>
            </a:pPr>
            <a:r>
              <a:rPr sz="1700" b="0" i="1">
                <a:solidFill>
                  <a:srgbClr val="F4EAD8"/>
                </a:solidFill>
                <a:latin typeface="Georgia"/>
              </a:rPr>
              <a:t>participation → visibility → demand → capacity</a:t>
            </a:r>
          </a:p>
        </p:txBody>
      </p:sp>
      <p:sp>
        <p:nvSpPr>
          <p:cNvPr id="7" name="TextBox 6"/>
          <p:cNvSpPr txBox="1"/>
          <p:nvPr/>
        </p:nvSpPr>
        <p:spPr>
          <a:xfrm>
            <a:off x="548640" y="3447288"/>
            <a:ext cx="11064240" cy="1280160"/>
          </a:xfrm>
          <a:prstGeom prst="rect">
            <a:avLst/>
          </a:prstGeom>
          <a:noFill/>
        </p:spPr>
        <p:txBody>
          <a:bodyPr wrap="square" lIns="0" rIns="0" tIns="0" bIns="0">
            <a:spAutoFit/>
          </a:bodyPr>
          <a:lstStyle/>
          <a:p>
            <a:pPr algn="ctr">
              <a:lnSpc>
                <a:spcPct val="150000"/>
              </a:lnSpc>
            </a:pPr>
            <a:r>
              <a:rPr sz="1300" b="0" i="0">
                <a:solidFill>
                  <a:srgbClr val="F2ECDD"/>
                </a:solidFill>
                <a:latin typeface="Inter"/>
              </a:rPr>
              <a:t>A network with meaningful adoption can aggregate demand, direct attention toward local providers,</a:t>
            </a:r>
          </a:p>
          <a:p>
            <a:pPr algn="ctr">
              <a:lnSpc>
                <a:spcPct val="150000"/>
              </a:lnSpc>
            </a:pPr>
            <a:r>
              <a:rPr sz="1300" b="0" i="0">
                <a:solidFill>
                  <a:srgbClr val="F2ECDD"/>
                </a:solidFill>
                <a:latin typeface="Inter"/>
              </a:rPr>
              <a:t>coordinate purchasing, launch campaigns, reveal missing services, and bootstrap infrastructure.</a:t>
            </a:r>
          </a:p>
          <a:p>
            <a:pPr algn="ctr">
              <a:lnSpc>
                <a:spcPct val="150000"/>
              </a:lnSpc>
            </a:pPr>
            <a:r>
              <a:rPr sz="1300" b="1" i="0">
                <a:solidFill>
                  <a:srgbClr val="EBCF9E"/>
                </a:solidFill>
                <a:latin typeface="Inter"/>
              </a:rPr>
              <a:t>Demand that supports local businesses, services, jobs, cooperative purchasing, and new markets.</a:t>
            </a:r>
          </a:p>
        </p:txBody>
      </p:sp>
      <p:pic>
        <p:nvPicPr>
          <p:cNvPr id="8" name="Picture 7"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9" name="TextBox 8"/>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0" name="TextBox 9"/>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C O O P E R A T I V E   L E A D   F I R M</a:t>
            </a:r>
          </a:p>
        </p:txBody>
      </p:sp>
      <p:sp>
        <p:nvSpPr>
          <p:cNvPr id="3" name="TextBox 2"/>
          <p:cNvSpPr txBox="1"/>
          <p:nvPr/>
        </p:nvSpPr>
        <p:spPr>
          <a:xfrm>
            <a:off x="548640" y="1463040"/>
            <a:ext cx="11064240" cy="1737360"/>
          </a:xfrm>
          <a:prstGeom prst="rect">
            <a:avLst/>
          </a:prstGeom>
          <a:noFill/>
        </p:spPr>
        <p:txBody>
          <a:bodyPr wrap="square" lIns="0" rIns="0" tIns="0" bIns="0">
            <a:spAutoFit/>
          </a:bodyPr>
          <a:lstStyle/>
          <a:p>
            <a:pPr algn="l">
              <a:lnSpc>
                <a:spcPct val="135000"/>
              </a:lnSpc>
            </a:pPr>
            <a:r>
              <a:rPr sz="3600" b="1" i="0">
                <a:solidFill>
                  <a:srgbClr val="F4EAD8"/>
                </a:solidFill>
                <a:latin typeface="Inter"/>
              </a:rPr>
              <a:t>Take </a:t>
            </a:r>
            <a:r>
              <a:rPr sz="3900" b="0" i="1">
                <a:solidFill>
                  <a:srgbClr val="99E6D9"/>
                </a:solidFill>
                <a:latin typeface="Georgia"/>
              </a:rPr>
              <a:t>enough of the market</a:t>
            </a:r>
          </a:p>
          <a:p>
            <a:pPr algn="l">
              <a:lnSpc>
                <a:spcPct val="135000"/>
              </a:lnSpc>
            </a:pPr>
            <a:r>
              <a:rPr sz="3600" b="1" i="0">
                <a:solidFill>
                  <a:srgbClr val="F4EAD8"/>
                </a:solidFill>
                <a:latin typeface="Inter"/>
              </a:rPr>
              <a:t>to change what the market </a:t>
            </a:r>
            <a:r>
              <a:rPr sz="3900" b="0" i="1">
                <a:solidFill>
                  <a:srgbClr val="EBCF9E"/>
                </a:solidFill>
                <a:latin typeface="Georgia"/>
              </a:rPr>
              <a:t>rewards.</a:t>
            </a:r>
          </a:p>
        </p:txBody>
      </p:sp>
      <p:sp>
        <p:nvSpPr>
          <p:cNvPr id="4" name="TextBox 3"/>
          <p:cNvSpPr txBox="1"/>
          <p:nvPr/>
        </p:nvSpPr>
        <p:spPr>
          <a:xfrm>
            <a:off x="548640" y="3429000"/>
            <a:ext cx="11064240" cy="731520"/>
          </a:xfrm>
          <a:prstGeom prst="rect">
            <a:avLst/>
          </a:prstGeom>
          <a:noFill/>
        </p:spPr>
        <p:txBody>
          <a:bodyPr wrap="square" lIns="0" rIns="0" tIns="0" bIns="0">
            <a:spAutoFit/>
          </a:bodyPr>
          <a:lstStyle/>
          <a:p>
            <a:pPr algn="l">
              <a:lnSpc>
                <a:spcPct val="160000"/>
              </a:lnSpc>
            </a:pPr>
            <a:r>
              <a:rPr sz="1500" b="0" i="0">
                <a:solidFill>
                  <a:srgbClr val="F2ECDD"/>
                </a:solidFill>
                <a:latin typeface="Inter"/>
              </a:rPr>
              <a:t>The goal is not a tiny alternative for people who already agree.</a:t>
            </a:r>
          </a:p>
          <a:p>
            <a:pPr algn="l">
              <a:lnSpc>
                <a:spcPct val="160000"/>
              </a:lnSpc>
            </a:pPr>
            <a:r>
              <a:rPr sz="1500" b="0" i="0">
                <a:solidFill>
                  <a:srgbClr val="F2ECDD"/>
                </a:solidFill>
                <a:latin typeface="Inter"/>
              </a:rPr>
              <a:t>A values-aligned alternative cannot remain permanently marginal if it wants to change the industry.</a:t>
            </a:r>
          </a:p>
        </p:txBody>
      </p:sp>
      <p:sp>
        <p:nvSpPr>
          <p:cNvPr id="5" name="Rounded Rectangle 4"/>
          <p:cNvSpPr/>
          <p:nvPr/>
        </p:nvSpPr>
        <p:spPr>
          <a:xfrm>
            <a:off x="548640" y="4572000"/>
            <a:ext cx="2651760" cy="658368"/>
          </a:xfrm>
          <a:prstGeom prst="roundRect">
            <a:avLst>
              <a:gd name="adj" fmla="val 6000"/>
            </a:avLst>
          </a:prstGeom>
          <a:solidFill>
            <a:srgbClr val="084B4D"/>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773168"/>
            <a:ext cx="2651760" cy="32004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change user expectations</a:t>
            </a:r>
          </a:p>
        </p:txBody>
      </p:sp>
      <p:sp>
        <p:nvSpPr>
          <p:cNvPr id="7" name="Rounded Rectangle 6"/>
          <p:cNvSpPr/>
          <p:nvPr/>
        </p:nvSpPr>
        <p:spPr>
          <a:xfrm>
            <a:off x="3401568" y="4572000"/>
            <a:ext cx="2651760" cy="658368"/>
          </a:xfrm>
          <a:prstGeom prst="roundRect">
            <a:avLst>
              <a:gd name="adj" fmla="val 6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01568" y="4773168"/>
            <a:ext cx="2651760" cy="32004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influence competitors</a:t>
            </a:r>
          </a:p>
        </p:txBody>
      </p:sp>
      <p:sp>
        <p:nvSpPr>
          <p:cNvPr id="9" name="Rounded Rectangle 8"/>
          <p:cNvSpPr/>
          <p:nvPr/>
        </p:nvSpPr>
        <p:spPr>
          <a:xfrm>
            <a:off x="6254496" y="4572000"/>
            <a:ext cx="2651760" cy="658368"/>
          </a:xfrm>
          <a:prstGeom prst="roundRect">
            <a:avLst>
              <a:gd name="adj" fmla="val 6000"/>
            </a:avLst>
          </a:prstGeom>
          <a:solidFill>
            <a:srgbClr val="084B4D"/>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54496" y="4773168"/>
            <a:ext cx="2651760" cy="32004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raise standards</a:t>
            </a:r>
          </a:p>
        </p:txBody>
      </p:sp>
      <p:sp>
        <p:nvSpPr>
          <p:cNvPr id="11" name="Rounded Rectangle 10"/>
          <p:cNvSpPr/>
          <p:nvPr/>
        </p:nvSpPr>
        <p:spPr>
          <a:xfrm>
            <a:off x="9107424" y="4572000"/>
            <a:ext cx="2651760" cy="658368"/>
          </a:xfrm>
          <a:prstGeom prst="roundRect">
            <a:avLst>
              <a:gd name="adj" fmla="val 6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07424" y="4773168"/>
            <a:ext cx="2651760" cy="320040"/>
          </a:xfrm>
          <a:prstGeom prst="rect">
            <a:avLst/>
          </a:prstGeom>
          <a:noFill/>
        </p:spPr>
        <p:txBody>
          <a:bodyPr wrap="square" lIns="0" rIns="0" tIns="0" bIns="0">
            <a:spAutoFit/>
          </a:bodyPr>
          <a:lstStyle/>
          <a:p>
            <a:pPr algn="ctr">
              <a:lnSpc>
                <a:spcPct val="115000"/>
              </a:lnSpc>
            </a:pPr>
            <a:r>
              <a:rPr sz="1150" b="0" i="0">
                <a:solidFill>
                  <a:srgbClr val="F4EAD8"/>
                </a:solidFill>
                <a:latin typeface="Inter"/>
              </a:rPr>
              <a:t>prove ownership can differ</a:t>
            </a:r>
          </a:p>
        </p:txBody>
      </p:sp>
      <p:sp>
        <p:nvSpPr>
          <p:cNvPr id="13" name="TextBox 12"/>
          <p:cNvSpPr txBox="1"/>
          <p:nvPr/>
        </p:nvSpPr>
        <p:spPr>
          <a:xfrm>
            <a:off x="548640" y="5623560"/>
            <a:ext cx="11064240" cy="731520"/>
          </a:xfrm>
          <a:prstGeom prst="rect">
            <a:avLst/>
          </a:prstGeom>
          <a:noFill/>
        </p:spPr>
        <p:txBody>
          <a:bodyPr wrap="square" lIns="0" rIns="0" tIns="0" bIns="0">
            <a:spAutoFit/>
          </a:bodyPr>
          <a:lstStyle/>
          <a:p>
            <a:pPr algn="ctr">
              <a:lnSpc>
                <a:spcPct val="140000"/>
              </a:lnSpc>
            </a:pPr>
            <a:r>
              <a:rPr sz="1600" b="0" i="1">
                <a:solidFill>
                  <a:srgbClr val="EBCF9E"/>
                </a:solidFill>
                <a:latin typeface="Georgia"/>
              </a:rPr>
              <a:t>Play at a high enough level to change the game.</a:t>
            </a:r>
          </a:p>
        </p:txBody>
      </p:sp>
      <p:pic>
        <p:nvPicPr>
          <p:cNvPr id="14" name="Picture 13"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5" name="TextBox 14"/>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6" name="TextBox 15"/>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H O W   R I V R   S C A L E S</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300" b="1" i="0">
                <a:solidFill>
                  <a:srgbClr val="F4EAD8"/>
                </a:solidFill>
                <a:latin typeface="Inter"/>
              </a:rPr>
              <a:t>Local doesn't mean </a:t>
            </a:r>
            <a:r>
              <a:rPr sz="3600" b="0" i="1">
                <a:solidFill>
                  <a:srgbClr val="99E6D9"/>
                </a:solidFill>
                <a:latin typeface="Georgia"/>
              </a:rPr>
              <a:t>isolated.</a:t>
            </a:r>
          </a:p>
        </p:txBody>
      </p:sp>
      <p:sp>
        <p:nvSpPr>
          <p:cNvPr id="4" name="Rounded Rectangle 3"/>
          <p:cNvSpPr/>
          <p:nvPr/>
        </p:nvSpPr>
        <p:spPr>
          <a:xfrm>
            <a:off x="548640" y="2286000"/>
            <a:ext cx="3569208" cy="201168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14600"/>
            <a:ext cx="3112008" cy="1554480"/>
          </a:xfrm>
          <a:prstGeom prst="rect">
            <a:avLst/>
          </a:prstGeom>
          <a:noFill/>
        </p:spPr>
        <p:txBody>
          <a:bodyPr wrap="square" lIns="0" rIns="0" tIns="0" bIns="0">
            <a:spAutoFit/>
          </a:bodyPr>
          <a:lstStyle/>
          <a:p>
            <a:pPr algn="l">
              <a:lnSpc>
                <a:spcPct val="135000"/>
              </a:lnSpc>
            </a:pPr>
            <a:r>
              <a:rPr sz="1000" b="1" i="0">
                <a:solidFill>
                  <a:srgbClr val="9FE8DC"/>
                </a:solidFill>
                <a:latin typeface="Inter"/>
              </a:rPr>
              <a:t>L O C A L L Y   S C O P E D</a:t>
            </a:r>
          </a:p>
          <a:p>
            <a:pPr algn="l">
              <a:lnSpc>
                <a:spcPct val="135000"/>
              </a:lnSpc>
            </a:pPr>
            <a:r>
              <a:rPr sz="500" b="0" i="0">
                <a:solidFill>
                  <a:srgbClr val="AFC4C2"/>
                </a:solidFill>
                <a:latin typeface="Inter"/>
              </a:rPr>
              <a:t/>
            </a:r>
          </a:p>
          <a:p>
            <a:pPr algn="l">
              <a:lnSpc>
                <a:spcPct val="135000"/>
              </a:lnSpc>
            </a:pPr>
            <a:r>
              <a:rPr sz="1150" b="0" i="0">
                <a:solidFill>
                  <a:srgbClr val="F2ECDD"/>
                </a:solidFill>
                <a:latin typeface="Inter"/>
              </a:rPr>
              <a:t>Each place develops around its own people, culture, ecology, economy, needs, and resources.</a:t>
            </a:r>
          </a:p>
        </p:txBody>
      </p:sp>
      <p:sp>
        <p:nvSpPr>
          <p:cNvPr id="6" name="Rounded Rectangle 5"/>
          <p:cNvSpPr/>
          <p:nvPr/>
        </p:nvSpPr>
        <p:spPr>
          <a:xfrm>
            <a:off x="4319016" y="2286000"/>
            <a:ext cx="3569208" cy="2011680"/>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47616" y="2514600"/>
            <a:ext cx="3112008" cy="1554480"/>
          </a:xfrm>
          <a:prstGeom prst="rect">
            <a:avLst/>
          </a:prstGeom>
          <a:noFill/>
        </p:spPr>
        <p:txBody>
          <a:bodyPr wrap="square" lIns="0" rIns="0" tIns="0" bIns="0">
            <a:spAutoFit/>
          </a:bodyPr>
          <a:lstStyle/>
          <a:p>
            <a:pPr algn="l">
              <a:lnSpc>
                <a:spcPct val="135000"/>
              </a:lnSpc>
            </a:pPr>
            <a:r>
              <a:rPr sz="1000" b="1" i="0">
                <a:solidFill>
                  <a:srgbClr val="9FE8DC"/>
                </a:solidFill>
                <a:latin typeface="Inter"/>
              </a:rPr>
              <a:t>S O V E R E I G N</a:t>
            </a:r>
          </a:p>
          <a:p>
            <a:pPr algn="l">
              <a:lnSpc>
                <a:spcPct val="135000"/>
              </a:lnSpc>
            </a:pPr>
            <a:r>
              <a:rPr sz="500" b="0" i="0">
                <a:solidFill>
                  <a:srgbClr val="AFC4C2"/>
                </a:solidFill>
                <a:latin typeface="Inter"/>
              </a:rPr>
              <a:t/>
            </a:r>
          </a:p>
          <a:p>
            <a:pPr algn="l">
              <a:lnSpc>
                <a:spcPct val="135000"/>
              </a:lnSpc>
            </a:pPr>
            <a:r>
              <a:rPr sz="1150" b="0" i="0">
                <a:solidFill>
                  <a:srgbClr val="F2ECDD"/>
                </a:solidFill>
                <a:latin typeface="Inter"/>
              </a:rPr>
              <a:t>Communities keep their identity, rules, memory, and authority. Even their data.</a:t>
            </a:r>
          </a:p>
        </p:txBody>
      </p:sp>
      <p:sp>
        <p:nvSpPr>
          <p:cNvPr id="8" name="Rounded Rectangle 7"/>
          <p:cNvSpPr/>
          <p:nvPr/>
        </p:nvSpPr>
        <p:spPr>
          <a:xfrm>
            <a:off x="8089392" y="2286000"/>
            <a:ext cx="3569208" cy="201168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17992" y="2514600"/>
            <a:ext cx="3112008" cy="1554480"/>
          </a:xfrm>
          <a:prstGeom prst="rect">
            <a:avLst/>
          </a:prstGeom>
          <a:noFill/>
        </p:spPr>
        <p:txBody>
          <a:bodyPr wrap="square" lIns="0" rIns="0" tIns="0" bIns="0">
            <a:spAutoFit/>
          </a:bodyPr>
          <a:lstStyle/>
          <a:p>
            <a:pPr algn="l">
              <a:lnSpc>
                <a:spcPct val="135000"/>
              </a:lnSpc>
            </a:pPr>
            <a:r>
              <a:rPr sz="1000" b="1" i="0">
                <a:solidFill>
                  <a:srgbClr val="9FE8DC"/>
                </a:solidFill>
                <a:latin typeface="Inter"/>
              </a:rPr>
              <a:t>I N T E R O P E R A B L E</a:t>
            </a:r>
          </a:p>
          <a:p>
            <a:pPr algn="l">
              <a:lnSpc>
                <a:spcPct val="135000"/>
              </a:lnSpc>
            </a:pPr>
            <a:r>
              <a:rPr sz="500" b="0" i="0">
                <a:solidFill>
                  <a:srgbClr val="AFC4C2"/>
                </a:solidFill>
                <a:latin typeface="Inter"/>
              </a:rPr>
              <a:t/>
            </a:r>
          </a:p>
          <a:p>
            <a:pPr algn="l">
              <a:lnSpc>
                <a:spcPct val="135000"/>
              </a:lnSpc>
            </a:pPr>
            <a:r>
              <a:rPr sz="1150" b="0" i="0">
                <a:solidFill>
                  <a:srgbClr val="F2ECDD"/>
                </a:solidFill>
                <a:latin typeface="Inter"/>
              </a:rPr>
              <a:t>Shared standards let systems work together — connecting difference, not erasing it.</a:t>
            </a:r>
          </a:p>
        </p:txBody>
      </p:sp>
      <p:sp>
        <p:nvSpPr>
          <p:cNvPr id="10" name="TextBox 9"/>
          <p:cNvSpPr txBox="1"/>
          <p:nvPr/>
        </p:nvSpPr>
        <p:spPr>
          <a:xfrm>
            <a:off x="548640" y="5120640"/>
            <a:ext cx="11064240" cy="731520"/>
          </a:xfrm>
          <a:prstGeom prst="rect">
            <a:avLst/>
          </a:prstGeom>
          <a:noFill/>
        </p:spPr>
        <p:txBody>
          <a:bodyPr wrap="square" lIns="0" rIns="0" tIns="0" bIns="0">
            <a:spAutoFit/>
          </a:bodyPr>
          <a:lstStyle/>
          <a:p>
            <a:pPr algn="ctr">
              <a:lnSpc>
                <a:spcPct val="140000"/>
              </a:lnSpc>
            </a:pPr>
            <a:r>
              <a:rPr sz="1350" b="0" i="0">
                <a:solidFill>
                  <a:srgbClr val="F2ECDD"/>
                </a:solidFill>
                <a:latin typeface="Inter"/>
              </a:rPr>
              <a:t>Not one centralized global marketplace with dependent users everywhere —</a:t>
            </a:r>
          </a:p>
          <a:p>
            <a:pPr algn="ctr">
              <a:lnSpc>
                <a:spcPct val="140000"/>
              </a:lnSpc>
            </a:pPr>
            <a:r>
              <a:rPr sz="1500" b="0" i="1">
                <a:solidFill>
                  <a:srgbClr val="EBCF9E"/>
                </a:solidFill>
                <a:latin typeface="Georgia"/>
              </a:rPr>
              <a:t>strong local networks ↔ connected to strong local networks.</a:t>
            </a:r>
          </a:p>
        </p:txBody>
      </p:sp>
      <p:pic>
        <p:nvPicPr>
          <p:cNvPr id="11" name="Picture 10"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2" name="TextBox 11"/>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3" name="TextBox 12"/>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EBCF9E"/>
                </a:solidFill>
                <a:latin typeface="Inter"/>
              </a:rPr>
              <a:t>G R O W T H   M O D E L</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400" b="1" i="0">
                <a:solidFill>
                  <a:srgbClr val="F4EAD8"/>
                </a:solidFill>
                <a:latin typeface="Inter"/>
              </a:rPr>
              <a:t>Grow </a:t>
            </a:r>
            <a:r>
              <a:rPr sz="3700" b="0" i="1">
                <a:solidFill>
                  <a:srgbClr val="F0CC8B"/>
                </a:solidFill>
                <a:latin typeface="Georgia"/>
              </a:rPr>
              <a:t>one place deep</a:t>
            </a:r>
            <a:r>
              <a:rPr sz="3400" b="1" i="0">
                <a:solidFill>
                  <a:srgbClr val="F4EAD8"/>
                </a:solidFill>
                <a:latin typeface="Inter"/>
              </a:rPr>
              <a:t> at a time.</a:t>
            </a:r>
          </a:p>
        </p:txBody>
      </p:sp>
      <p:sp>
        <p:nvSpPr>
          <p:cNvPr id="4" name="Rounded Rectangle 3"/>
          <p:cNvSpPr/>
          <p:nvPr/>
        </p:nvSpPr>
        <p:spPr>
          <a:xfrm>
            <a:off x="548640" y="2103120"/>
            <a:ext cx="2651760" cy="1554480"/>
          </a:xfrm>
          <a:prstGeom prst="roundRect">
            <a:avLst>
              <a:gd name="adj" fmla="val 6000"/>
            </a:avLst>
          </a:prstGeom>
          <a:solidFill>
            <a:srgbClr val="0D3E40"/>
          </a:solidFill>
          <a:ln w="1206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267712"/>
            <a:ext cx="2286000" cy="1188720"/>
          </a:xfrm>
          <a:prstGeom prst="rect">
            <a:avLst/>
          </a:prstGeom>
          <a:noFill/>
        </p:spPr>
        <p:txBody>
          <a:bodyPr wrap="square" lIns="0" rIns="0" tIns="0" bIns="0">
            <a:spAutoFit/>
          </a:bodyPr>
          <a:lstStyle/>
          <a:p>
            <a:pPr algn="l">
              <a:lnSpc>
                <a:spcPct val="130000"/>
              </a:lnSpc>
            </a:pPr>
            <a:r>
              <a:rPr sz="2000" b="0" i="1">
                <a:solidFill>
                  <a:srgbClr val="F0CC8B"/>
                </a:solidFill>
                <a:latin typeface="Georgia"/>
              </a:rPr>
              <a:t>01  </a:t>
            </a:r>
            <a:r>
              <a:rPr sz="1050" b="1" i="0">
                <a:solidFill>
                  <a:srgbClr val="9FE8DC"/>
                </a:solidFill>
                <a:latin typeface="Inter"/>
              </a:rPr>
              <a:t>S E E D</a:t>
            </a:r>
          </a:p>
          <a:p>
            <a:pPr algn="l">
              <a:lnSpc>
                <a:spcPct val="130000"/>
              </a:lnSpc>
            </a:pPr>
            <a:r>
              <a:rPr sz="400" b="0" i="0">
                <a:solidFill>
                  <a:srgbClr val="AFC4C2"/>
                </a:solidFill>
                <a:latin typeface="Inter"/>
              </a:rPr>
              <a:t/>
            </a:r>
          </a:p>
          <a:p>
            <a:pPr algn="l">
              <a:lnSpc>
                <a:spcPct val="130000"/>
              </a:lnSpc>
            </a:pPr>
            <a:r>
              <a:rPr sz="1050" b="0" i="0">
                <a:solidFill>
                  <a:srgbClr val="F2ECDD"/>
                </a:solidFill>
                <a:latin typeface="Inter"/>
              </a:rPr>
              <a:t>a strong local community</a:t>
            </a:r>
          </a:p>
        </p:txBody>
      </p:sp>
      <p:sp>
        <p:nvSpPr>
          <p:cNvPr id="6" name="Rounded Rectangle 5"/>
          <p:cNvSpPr/>
          <p:nvPr/>
        </p:nvSpPr>
        <p:spPr>
          <a:xfrm>
            <a:off x="3401568" y="2103120"/>
            <a:ext cx="2651760" cy="1554480"/>
          </a:xfrm>
          <a:prstGeom prst="roundRect">
            <a:avLst>
              <a:gd name="adj" fmla="val 6000"/>
            </a:avLst>
          </a:prstGeom>
          <a:solidFill>
            <a:srgbClr val="062A2C"/>
          </a:solidFill>
          <a:ln w="1206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02736" y="2267712"/>
            <a:ext cx="2286000" cy="1188720"/>
          </a:xfrm>
          <a:prstGeom prst="rect">
            <a:avLst/>
          </a:prstGeom>
          <a:noFill/>
        </p:spPr>
        <p:txBody>
          <a:bodyPr wrap="square" lIns="0" rIns="0" tIns="0" bIns="0">
            <a:spAutoFit/>
          </a:bodyPr>
          <a:lstStyle/>
          <a:p>
            <a:pPr algn="l">
              <a:lnSpc>
                <a:spcPct val="130000"/>
              </a:lnSpc>
            </a:pPr>
            <a:r>
              <a:rPr sz="2000" b="0" i="1">
                <a:solidFill>
                  <a:srgbClr val="F0CC8B"/>
                </a:solidFill>
                <a:latin typeface="Georgia"/>
              </a:rPr>
              <a:t>02  </a:t>
            </a:r>
            <a:r>
              <a:rPr sz="1050" b="1" i="0">
                <a:solidFill>
                  <a:srgbClr val="9FE8DC"/>
                </a:solidFill>
                <a:latin typeface="Inter"/>
              </a:rPr>
              <a:t>A N C H O R</a:t>
            </a:r>
          </a:p>
          <a:p>
            <a:pPr algn="l">
              <a:lnSpc>
                <a:spcPct val="130000"/>
              </a:lnSpc>
            </a:pPr>
            <a:r>
              <a:rPr sz="400" b="0" i="0">
                <a:solidFill>
                  <a:srgbClr val="AFC4C2"/>
                </a:solidFill>
                <a:latin typeface="Inter"/>
              </a:rPr>
              <a:t/>
            </a:r>
          </a:p>
          <a:p>
            <a:pPr algn="l">
              <a:lnSpc>
                <a:spcPct val="130000"/>
              </a:lnSpc>
            </a:pPr>
            <a:r>
              <a:rPr sz="1050" b="0" i="0">
                <a:solidFill>
                  <a:srgbClr val="F2ECDD"/>
                </a:solidFill>
                <a:latin typeface="Inter"/>
              </a:rPr>
              <a:t>events, organizations, creators, trusted members</a:t>
            </a:r>
          </a:p>
        </p:txBody>
      </p:sp>
      <p:sp>
        <p:nvSpPr>
          <p:cNvPr id="8" name="Rounded Rectangle 7"/>
          <p:cNvSpPr/>
          <p:nvPr/>
        </p:nvSpPr>
        <p:spPr>
          <a:xfrm>
            <a:off x="6254496" y="2103120"/>
            <a:ext cx="2651760" cy="1554480"/>
          </a:xfrm>
          <a:prstGeom prst="roundRect">
            <a:avLst>
              <a:gd name="adj" fmla="val 6000"/>
            </a:avLst>
          </a:prstGeom>
          <a:solidFill>
            <a:srgbClr val="0D3E40"/>
          </a:solidFill>
          <a:ln w="1206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55664" y="2267712"/>
            <a:ext cx="2286000" cy="1188720"/>
          </a:xfrm>
          <a:prstGeom prst="rect">
            <a:avLst/>
          </a:prstGeom>
          <a:noFill/>
        </p:spPr>
        <p:txBody>
          <a:bodyPr wrap="square" lIns="0" rIns="0" tIns="0" bIns="0">
            <a:spAutoFit/>
          </a:bodyPr>
          <a:lstStyle/>
          <a:p>
            <a:pPr algn="l">
              <a:lnSpc>
                <a:spcPct val="130000"/>
              </a:lnSpc>
            </a:pPr>
            <a:r>
              <a:rPr sz="2000" b="0" i="1">
                <a:solidFill>
                  <a:srgbClr val="F0CC8B"/>
                </a:solidFill>
                <a:latin typeface="Georgia"/>
              </a:rPr>
              <a:t>03  </a:t>
            </a:r>
            <a:r>
              <a:rPr sz="1050" b="1" i="0">
                <a:solidFill>
                  <a:srgbClr val="9FE8DC"/>
                </a:solidFill>
                <a:latin typeface="Inter"/>
              </a:rPr>
              <a:t>D E N S I T Y</a:t>
            </a:r>
          </a:p>
          <a:p>
            <a:pPr algn="l">
              <a:lnSpc>
                <a:spcPct val="130000"/>
              </a:lnSpc>
            </a:pPr>
            <a:r>
              <a:rPr sz="400" b="0" i="0">
                <a:solidFill>
                  <a:srgbClr val="AFC4C2"/>
                </a:solidFill>
                <a:latin typeface="Inter"/>
              </a:rPr>
              <a:t/>
            </a:r>
          </a:p>
          <a:p>
            <a:pPr algn="l">
              <a:lnSpc>
                <a:spcPct val="130000"/>
              </a:lnSpc>
            </a:pPr>
            <a:r>
              <a:rPr sz="1050" b="0" i="0">
                <a:solidFill>
                  <a:srgbClr val="F2ECDD"/>
                </a:solidFill>
                <a:latin typeface="Inter"/>
              </a:rPr>
              <a:t>enough activity that the network becomes useful</a:t>
            </a:r>
          </a:p>
        </p:txBody>
      </p:sp>
      <p:sp>
        <p:nvSpPr>
          <p:cNvPr id="10" name="Rounded Rectangle 9"/>
          <p:cNvSpPr/>
          <p:nvPr/>
        </p:nvSpPr>
        <p:spPr>
          <a:xfrm>
            <a:off x="9107424" y="2103120"/>
            <a:ext cx="2651760" cy="1554480"/>
          </a:xfrm>
          <a:prstGeom prst="roundRect">
            <a:avLst>
              <a:gd name="adj" fmla="val 6000"/>
            </a:avLst>
          </a:prstGeom>
          <a:solidFill>
            <a:srgbClr val="062A2C"/>
          </a:solidFill>
          <a:ln w="1206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08592" y="2267712"/>
            <a:ext cx="2286000" cy="1188720"/>
          </a:xfrm>
          <a:prstGeom prst="rect">
            <a:avLst/>
          </a:prstGeom>
          <a:noFill/>
        </p:spPr>
        <p:txBody>
          <a:bodyPr wrap="square" lIns="0" rIns="0" tIns="0" bIns="0">
            <a:spAutoFit/>
          </a:bodyPr>
          <a:lstStyle/>
          <a:p>
            <a:pPr algn="l">
              <a:lnSpc>
                <a:spcPct val="130000"/>
              </a:lnSpc>
            </a:pPr>
            <a:r>
              <a:rPr sz="2000" b="0" i="1">
                <a:solidFill>
                  <a:srgbClr val="F0CC8B"/>
                </a:solidFill>
                <a:latin typeface="Georgia"/>
              </a:rPr>
              <a:t>04  </a:t>
            </a:r>
            <a:r>
              <a:rPr sz="1050" b="1" i="0">
                <a:solidFill>
                  <a:srgbClr val="9FE8DC"/>
                </a:solidFill>
                <a:latin typeface="Inter"/>
              </a:rPr>
              <a:t>R E P L I C A T E</a:t>
            </a:r>
          </a:p>
          <a:p>
            <a:pPr algn="l">
              <a:lnSpc>
                <a:spcPct val="130000"/>
              </a:lnSpc>
            </a:pPr>
            <a:r>
              <a:rPr sz="400" b="0" i="0">
                <a:solidFill>
                  <a:srgbClr val="AFC4C2"/>
                </a:solidFill>
                <a:latin typeface="Inter"/>
              </a:rPr>
              <a:t/>
            </a:r>
          </a:p>
          <a:p>
            <a:pPr algn="l">
              <a:lnSpc>
                <a:spcPct val="130000"/>
              </a:lnSpc>
            </a:pPr>
            <a:r>
              <a:rPr sz="1050" b="0" i="0">
                <a:solidFill>
                  <a:srgbClr val="F2ECDD"/>
                </a:solidFill>
                <a:latin typeface="Inter"/>
              </a:rPr>
              <a:t>aligned places, local stewards, partner networks</a:t>
            </a:r>
          </a:p>
        </p:txBody>
      </p:sp>
      <p:sp>
        <p:nvSpPr>
          <p:cNvPr id="12" name="Rounded Rectangle 11"/>
          <p:cNvSpPr/>
          <p:nvPr/>
        </p:nvSpPr>
        <p:spPr>
          <a:xfrm>
            <a:off x="548640" y="3977639"/>
            <a:ext cx="5486400" cy="1600200"/>
          </a:xfrm>
          <a:prstGeom prst="roundRect">
            <a:avLst>
              <a:gd name="adj" fmla="val 6000"/>
            </a:avLst>
          </a:prstGeom>
          <a:solidFill>
            <a:srgbClr val="084B4D"/>
          </a:solidFill>
          <a:ln w="1397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160520"/>
            <a:ext cx="4983480" cy="1234440"/>
          </a:xfrm>
          <a:prstGeom prst="rect">
            <a:avLst/>
          </a:prstGeom>
          <a:noFill/>
        </p:spPr>
        <p:txBody>
          <a:bodyPr wrap="square" lIns="0" rIns="0" tIns="0" bIns="0">
            <a:spAutoFit/>
          </a:bodyPr>
          <a:lstStyle/>
          <a:p>
            <a:pPr algn="l">
              <a:lnSpc>
                <a:spcPct val="145000"/>
              </a:lnSpc>
            </a:pPr>
            <a:r>
              <a:rPr sz="900" b="1" i="0">
                <a:solidFill>
                  <a:srgbClr val="EBCF9E"/>
                </a:solidFill>
                <a:latin typeface="Inter"/>
              </a:rPr>
              <a:t>P R O V E N   B E F O R E   —   O N E   B O U L D E R   2 0 2 0 – 2 0 2 3</a:t>
            </a:r>
          </a:p>
          <a:p>
            <a:pPr algn="l">
              <a:lnSpc>
                <a:spcPct val="145000"/>
              </a:lnSpc>
            </a:pPr>
            <a:r>
              <a:rPr sz="1200" b="0" i="0">
                <a:solidFill>
                  <a:srgbClr val="F2ECDD"/>
                </a:solidFill>
                <a:latin typeface="Inter"/>
              </a:rPr>
              <a:t>Nearly </a:t>
            </a:r>
            <a:r>
              <a:rPr sz="1200" b="1" i="0">
                <a:solidFill>
                  <a:srgbClr val="F4EAD8"/>
                </a:solidFill>
                <a:latin typeface="Inter"/>
              </a:rPr>
              <a:t>4,800 users</a:t>
            </a:r>
            <a:r>
              <a:rPr sz="1200" b="0" i="0">
                <a:solidFill>
                  <a:srgbClr val="F2ECDD"/>
                </a:solidFill>
                <a:latin typeface="Inter"/>
              </a:rPr>
              <a:t> on one locale's events;</a:t>
            </a:r>
          </a:p>
          <a:p>
            <a:pPr algn="l">
              <a:lnSpc>
                <a:spcPct val="145000"/>
              </a:lnSpc>
            </a:pPr>
            <a:r>
              <a:rPr sz="1200" b="1" i="0">
                <a:solidFill>
                  <a:srgbClr val="F4EAD8"/>
                </a:solidFill>
                <a:latin typeface="Inter"/>
              </a:rPr>
              <a:t>42% of high-activity users</a:t>
            </a:r>
            <a:r>
              <a:rPr sz="1200" b="0" i="0">
                <a:solidFill>
                  <a:srgbClr val="F2ECDD"/>
                </a:solidFill>
                <a:latin typeface="Inter"/>
              </a:rPr>
              <a:t> converted to paid</a:t>
            </a:r>
          </a:p>
          <a:p>
            <a:pPr algn="l">
              <a:lnSpc>
                <a:spcPct val="145000"/>
              </a:lnSpc>
            </a:pPr>
            <a:r>
              <a:rPr sz="1200" b="0" i="0">
                <a:solidFill>
                  <a:srgbClr val="F2ECDD"/>
                </a:solidFill>
                <a:latin typeface="Inter"/>
              </a:rPr>
              <a:t>membership. The playbook Rivr now ships as software.</a:t>
            </a:r>
          </a:p>
        </p:txBody>
      </p:sp>
      <p:sp>
        <p:nvSpPr>
          <p:cNvPr id="14" name="Rounded Rectangle 13"/>
          <p:cNvSpPr/>
          <p:nvPr/>
        </p:nvSpPr>
        <p:spPr>
          <a:xfrm>
            <a:off x="6263640" y="3977639"/>
            <a:ext cx="5394960" cy="160020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160520"/>
            <a:ext cx="4892040" cy="1234440"/>
          </a:xfrm>
          <a:prstGeom prst="rect">
            <a:avLst/>
          </a:prstGeom>
          <a:noFill/>
        </p:spPr>
        <p:txBody>
          <a:bodyPr wrap="square" lIns="0" rIns="0" tIns="0" bIns="0">
            <a:spAutoFit/>
          </a:bodyPr>
          <a:lstStyle/>
          <a:p>
            <a:pPr algn="l">
              <a:lnSpc>
                <a:spcPct val="145000"/>
              </a:lnSpc>
            </a:pPr>
            <a:r>
              <a:rPr sz="900" b="1" i="0">
                <a:solidFill>
                  <a:srgbClr val="9FE8DC"/>
                </a:solidFill>
                <a:latin typeface="Inter"/>
              </a:rPr>
              <a:t>E X P A N S I O N   R E G I O N S   M A P P E D</a:t>
            </a:r>
          </a:p>
          <a:p>
            <a:pPr algn="l">
              <a:lnSpc>
                <a:spcPct val="145000"/>
              </a:lnSpc>
            </a:pPr>
            <a:r>
              <a:rPr sz="1150" b="0" i="0">
                <a:solidFill>
                  <a:srgbClr val="F2ECDD"/>
                </a:solidFill>
                <a:latin typeface="Inter"/>
              </a:rPr>
              <a:t>Austin · Portland · Boston · Asheville · Nashville</a:t>
            </a:r>
          </a:p>
          <a:p>
            <a:pPr algn="l">
              <a:lnSpc>
                <a:spcPct val="145000"/>
              </a:lnSpc>
            </a:pPr>
            <a:r>
              <a:rPr sz="1150" b="0" i="0">
                <a:solidFill>
                  <a:srgbClr val="F2ECDD"/>
                </a:solidFill>
                <a:latin typeface="Inter"/>
              </a:rPr>
              <a:t>San Diego · Sedona · Taos · Maui — and a variety</a:t>
            </a:r>
          </a:p>
          <a:p>
            <a:pPr algn="l">
              <a:lnSpc>
                <a:spcPct val="145000"/>
              </a:lnSpc>
            </a:pPr>
            <a:r>
              <a:rPr sz="1150" b="0" i="0">
                <a:solidFill>
                  <a:srgbClr val="F2ECDD"/>
                </a:solidFill>
                <a:latin typeface="Inter"/>
              </a:rPr>
              <a:t>of cities in bioregions worldwide.</a:t>
            </a:r>
          </a:p>
        </p:txBody>
      </p:sp>
      <p:sp>
        <p:nvSpPr>
          <p:cNvPr id="16" name="TextBox 15"/>
          <p:cNvSpPr txBox="1"/>
          <p:nvPr/>
        </p:nvSpPr>
        <p:spPr>
          <a:xfrm>
            <a:off x="548640" y="5852160"/>
            <a:ext cx="11064240" cy="731520"/>
          </a:xfrm>
          <a:prstGeom prst="rect">
            <a:avLst/>
          </a:prstGeom>
          <a:noFill/>
        </p:spPr>
        <p:txBody>
          <a:bodyPr wrap="square" lIns="0" rIns="0" tIns="0" bIns="0">
            <a:spAutoFit/>
          </a:bodyPr>
          <a:lstStyle/>
          <a:p>
            <a:pPr algn="ctr">
              <a:lnSpc>
                <a:spcPct val="140000"/>
              </a:lnSpc>
            </a:pPr>
            <a:r>
              <a:rPr sz="1400" b="0" i="0">
                <a:solidFill>
                  <a:srgbClr val="F2ECDD"/>
                </a:solidFill>
                <a:latin typeface="Inter"/>
              </a:rPr>
              <a:t>Starting local, </a:t>
            </a:r>
            <a:r>
              <a:rPr sz="1500" b="0" i="1">
                <a:solidFill>
                  <a:srgbClr val="EBCF9E"/>
                </a:solidFill>
                <a:latin typeface="Georgia"/>
              </a:rPr>
              <a:t>again</a:t>
            </a:r>
            <a:r>
              <a:rPr sz="1400" b="0" i="0">
                <a:solidFill>
                  <a:srgbClr val="F2ECDD"/>
                </a:solidFill>
                <a:latin typeface="Inter"/>
              </a:rPr>
              <a:t>, in Boulder, Colorado.</a:t>
            </a:r>
          </a:p>
        </p:txBody>
      </p:sp>
      <p:pic>
        <p:nvPicPr>
          <p:cNvPr id="17" name="Picture 16"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8" name="TextBox 17"/>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9" name="TextBox 18"/>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culture_d30.jpg"/>
          <p:cNvPicPr>
            <a:picLocks noChangeAspect="1"/>
          </p:cNvPicPr>
          <p:nvPr/>
        </p:nvPicPr>
        <p:blipFill>
          <a:blip r:embed="rId2"/>
          <a:stretch>
            <a:fillRect/>
          </a:stretch>
        </p:blipFill>
        <p:spPr>
          <a:xfrm>
            <a:off x="953376" y="0"/>
            <a:ext cx="10284943" cy="6858000"/>
          </a:xfrm>
          <a:prstGeom prst="rect">
            <a:avLst/>
          </a:prstGeom>
        </p:spPr>
      </p:pic>
      <p:sp>
        <p:nvSpPr>
          <p:cNvPr id="3" name="TextBox 2"/>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T E A M   +   T I M E L I N E</a:t>
            </a:r>
          </a:p>
        </p:txBody>
      </p:sp>
      <p:sp>
        <p:nvSpPr>
          <p:cNvPr id="4" name="TextBox 3"/>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2900" b="1" i="0">
                <a:solidFill>
                  <a:srgbClr val="F4EAD8"/>
                </a:solidFill>
                <a:latin typeface="Inter"/>
              </a:rPr>
              <a:t>Building the software </a:t>
            </a:r>
            <a:r>
              <a:rPr sz="3200" b="0" i="1">
                <a:solidFill>
                  <a:srgbClr val="EBCF9E"/>
                </a:solidFill>
                <a:latin typeface="Georgia"/>
              </a:rPr>
              <a:t>and the institution.</a:t>
            </a:r>
          </a:p>
        </p:txBody>
      </p:sp>
      <p:sp>
        <p:nvSpPr>
          <p:cNvPr id="5" name="Rounded Rectangle 4"/>
          <p:cNvSpPr/>
          <p:nvPr/>
        </p:nvSpPr>
        <p:spPr>
          <a:xfrm>
            <a:off x="548640" y="2011680"/>
            <a:ext cx="3566160" cy="1234440"/>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286000"/>
            <a:ext cx="3063240" cy="822960"/>
          </a:xfrm>
          <a:prstGeom prst="rect">
            <a:avLst/>
          </a:prstGeom>
          <a:noFill/>
        </p:spPr>
        <p:txBody>
          <a:bodyPr wrap="square" lIns="0" rIns="0" tIns="0" bIns="0">
            <a:spAutoFit/>
          </a:bodyPr>
          <a:lstStyle/>
          <a:p>
            <a:pPr algn="l">
              <a:lnSpc>
                <a:spcPct val="140000"/>
              </a:lnSpc>
            </a:pPr>
            <a:r>
              <a:rPr sz="1550" b="1" i="0">
                <a:solidFill>
                  <a:srgbClr val="F4EAD8"/>
                </a:solidFill>
                <a:latin typeface="Inter"/>
              </a:rPr>
              <a:t>Cameron Ely-Murdock</a:t>
            </a:r>
          </a:p>
          <a:p>
            <a:pPr algn="l">
              <a:lnSpc>
                <a:spcPct val="140000"/>
              </a:lnSpc>
            </a:pPr>
            <a:r>
              <a:rPr sz="1200" b="0" i="1">
                <a:solidFill>
                  <a:srgbClr val="EBCF9E"/>
                </a:solidFill>
                <a:latin typeface="Georgia"/>
              </a:rPr>
              <a:t>Strategy Director &amp; Development</a:t>
            </a:r>
          </a:p>
        </p:txBody>
      </p:sp>
      <p:sp>
        <p:nvSpPr>
          <p:cNvPr id="7" name="Rounded Rectangle 6"/>
          <p:cNvSpPr/>
          <p:nvPr/>
        </p:nvSpPr>
        <p:spPr>
          <a:xfrm>
            <a:off x="4315968" y="2011680"/>
            <a:ext cx="3566160" cy="1234440"/>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2286000"/>
            <a:ext cx="3063240" cy="822960"/>
          </a:xfrm>
          <a:prstGeom prst="rect">
            <a:avLst/>
          </a:prstGeom>
          <a:noFill/>
        </p:spPr>
        <p:txBody>
          <a:bodyPr wrap="square" lIns="0" rIns="0" tIns="0" bIns="0">
            <a:spAutoFit/>
          </a:bodyPr>
          <a:lstStyle/>
          <a:p>
            <a:pPr algn="l">
              <a:lnSpc>
                <a:spcPct val="140000"/>
              </a:lnSpc>
            </a:pPr>
            <a:r>
              <a:rPr sz="1550" b="1" i="0">
                <a:solidFill>
                  <a:srgbClr val="F4EAD8"/>
                </a:solidFill>
                <a:latin typeface="Inter"/>
              </a:rPr>
              <a:t>Kathleen Marie Rose</a:t>
            </a:r>
          </a:p>
          <a:p>
            <a:pPr algn="l">
              <a:lnSpc>
                <a:spcPct val="140000"/>
              </a:lnSpc>
            </a:pPr>
            <a:r>
              <a:rPr sz="1200" b="0" i="1">
                <a:solidFill>
                  <a:srgbClr val="EBCF9E"/>
                </a:solidFill>
                <a:latin typeface="Georgia"/>
              </a:rPr>
              <a:t>Design &amp; Community Outreach</a:t>
            </a:r>
          </a:p>
        </p:txBody>
      </p:sp>
      <p:sp>
        <p:nvSpPr>
          <p:cNvPr id="9" name="Rounded Rectangle 8"/>
          <p:cNvSpPr/>
          <p:nvPr/>
        </p:nvSpPr>
        <p:spPr>
          <a:xfrm>
            <a:off x="8083296" y="2011680"/>
            <a:ext cx="3566160" cy="1234440"/>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39328" y="2286000"/>
            <a:ext cx="3063240" cy="822960"/>
          </a:xfrm>
          <a:prstGeom prst="rect">
            <a:avLst/>
          </a:prstGeom>
          <a:noFill/>
        </p:spPr>
        <p:txBody>
          <a:bodyPr wrap="square" lIns="0" rIns="0" tIns="0" bIns="0">
            <a:spAutoFit/>
          </a:bodyPr>
          <a:lstStyle/>
          <a:p>
            <a:pPr algn="l">
              <a:lnSpc>
                <a:spcPct val="140000"/>
              </a:lnSpc>
            </a:pPr>
            <a:r>
              <a:rPr sz="1550" b="1" i="0">
                <a:solidFill>
                  <a:srgbClr val="F4EAD8"/>
                </a:solidFill>
                <a:latin typeface="Inter"/>
              </a:rPr>
              <a:t>Grig Bilham</a:t>
            </a:r>
          </a:p>
          <a:p>
            <a:pPr algn="l">
              <a:lnSpc>
                <a:spcPct val="140000"/>
              </a:lnSpc>
            </a:pPr>
            <a:r>
              <a:rPr sz="1200" b="0" i="1">
                <a:solidFill>
                  <a:srgbClr val="EBCF9E"/>
                </a:solidFill>
                <a:latin typeface="Georgia"/>
              </a:rPr>
              <a:t>Operations Management</a:t>
            </a:r>
          </a:p>
        </p:txBody>
      </p:sp>
      <p:sp>
        <p:nvSpPr>
          <p:cNvPr id="11" name="Rounded Rectangle 10"/>
          <p:cNvSpPr/>
          <p:nvPr/>
        </p:nvSpPr>
        <p:spPr>
          <a:xfrm>
            <a:off x="548640" y="3611880"/>
            <a:ext cx="3566160" cy="1051560"/>
          </a:xfrm>
          <a:prstGeom prst="roundRect">
            <a:avLst>
              <a:gd name="adj" fmla="val 6000"/>
            </a:avLst>
          </a:prstGeom>
          <a:solidFill>
            <a:srgbClr val="0D3E40"/>
          </a:solidFill>
          <a:ln w="1143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794760"/>
            <a:ext cx="3108960" cy="731520"/>
          </a:xfrm>
          <a:prstGeom prst="rect">
            <a:avLst/>
          </a:prstGeom>
          <a:noFill/>
        </p:spPr>
        <p:txBody>
          <a:bodyPr wrap="square" lIns="0" rIns="0" tIns="0" bIns="0">
            <a:spAutoFit/>
          </a:bodyPr>
          <a:lstStyle/>
          <a:p>
            <a:pPr algn="l">
              <a:lnSpc>
                <a:spcPct val="140000"/>
              </a:lnSpc>
            </a:pPr>
            <a:r>
              <a:rPr sz="950" b="1" i="0">
                <a:solidFill>
                  <a:srgbClr val="9FE8DC"/>
                </a:solidFill>
                <a:latin typeface="Inter"/>
              </a:rPr>
              <a:t>Q 3   2 0 2 6</a:t>
            </a:r>
          </a:p>
          <a:p>
            <a:pPr algn="l">
              <a:lnSpc>
                <a:spcPct val="140000"/>
              </a:lnSpc>
            </a:pPr>
            <a:r>
              <a:rPr sz="1100" b="0" i="0">
                <a:solidFill>
                  <a:srgbClr val="F2ECDD"/>
                </a:solidFill>
                <a:latin typeface="Inter"/>
              </a:rPr>
              <a:t>Beta launch opens in Boulder — members sign up.</a:t>
            </a:r>
          </a:p>
        </p:txBody>
      </p:sp>
      <p:sp>
        <p:nvSpPr>
          <p:cNvPr id="13" name="Rounded Rectangle 12"/>
          <p:cNvSpPr/>
          <p:nvPr/>
        </p:nvSpPr>
        <p:spPr>
          <a:xfrm>
            <a:off x="4315968" y="3611880"/>
            <a:ext cx="3566160" cy="1051560"/>
          </a:xfrm>
          <a:prstGeom prst="roundRect">
            <a:avLst>
              <a:gd name="adj" fmla="val 6000"/>
            </a:avLst>
          </a:prstGeom>
          <a:solidFill>
            <a:srgbClr val="0D3E40"/>
          </a:solidFill>
          <a:ln w="1143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4568" y="3794760"/>
            <a:ext cx="3108960" cy="731520"/>
          </a:xfrm>
          <a:prstGeom prst="rect">
            <a:avLst/>
          </a:prstGeom>
          <a:noFill/>
        </p:spPr>
        <p:txBody>
          <a:bodyPr wrap="square" lIns="0" rIns="0" tIns="0" bIns="0">
            <a:spAutoFit/>
          </a:bodyPr>
          <a:lstStyle/>
          <a:p>
            <a:pPr algn="l">
              <a:lnSpc>
                <a:spcPct val="140000"/>
              </a:lnSpc>
            </a:pPr>
            <a:r>
              <a:rPr sz="950" b="1" i="0">
                <a:solidFill>
                  <a:srgbClr val="9FE8DC"/>
                </a:solidFill>
                <a:latin typeface="Inter"/>
              </a:rPr>
              <a:t>2 0 2 7</a:t>
            </a:r>
          </a:p>
          <a:p>
            <a:pPr algn="l">
              <a:lnSpc>
                <a:spcPct val="140000"/>
              </a:lnSpc>
            </a:pPr>
            <a:r>
              <a:rPr sz="1100" b="0" i="0">
                <a:solidFill>
                  <a:srgbClr val="F2ECDD"/>
                </a:solidFill>
                <a:latin typeface="Inter"/>
              </a:rPr>
              <a:t>Mobile app build-out · bioregional expansion.</a:t>
            </a:r>
          </a:p>
        </p:txBody>
      </p:sp>
      <p:sp>
        <p:nvSpPr>
          <p:cNvPr id="15" name="Rounded Rectangle 14"/>
          <p:cNvSpPr/>
          <p:nvPr/>
        </p:nvSpPr>
        <p:spPr>
          <a:xfrm>
            <a:off x="8083296" y="3611880"/>
            <a:ext cx="3566160" cy="1051560"/>
          </a:xfrm>
          <a:prstGeom prst="roundRect">
            <a:avLst>
              <a:gd name="adj" fmla="val 6000"/>
            </a:avLst>
          </a:prstGeom>
          <a:solidFill>
            <a:srgbClr val="0D3E40"/>
          </a:solidFill>
          <a:ln w="1143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11896" y="3794760"/>
            <a:ext cx="3108960" cy="731520"/>
          </a:xfrm>
          <a:prstGeom prst="rect">
            <a:avLst/>
          </a:prstGeom>
          <a:noFill/>
        </p:spPr>
        <p:txBody>
          <a:bodyPr wrap="square" lIns="0" rIns="0" tIns="0" bIns="0">
            <a:spAutoFit/>
          </a:bodyPr>
          <a:lstStyle/>
          <a:p>
            <a:pPr algn="l">
              <a:lnSpc>
                <a:spcPct val="140000"/>
              </a:lnSpc>
            </a:pPr>
            <a:r>
              <a:rPr sz="950" b="1" i="0">
                <a:solidFill>
                  <a:srgbClr val="9FE8DC"/>
                </a:solidFill>
                <a:latin typeface="Inter"/>
              </a:rPr>
              <a:t>B Y   E N D   2 0 2 7</a:t>
            </a:r>
          </a:p>
          <a:p>
            <a:pPr algn="l">
              <a:lnSpc>
                <a:spcPct val="140000"/>
              </a:lnSpc>
            </a:pPr>
            <a:r>
              <a:rPr sz="1100" b="0" i="0">
                <a:solidFill>
                  <a:srgbClr val="F2ECDD"/>
                </a:solidFill>
                <a:latin typeface="Inter"/>
              </a:rPr>
              <a:t>~30 bioregions · ~200 organizations · 5,000+ members.</a:t>
            </a:r>
          </a:p>
        </p:txBody>
      </p:sp>
      <p:sp>
        <p:nvSpPr>
          <p:cNvPr id="17" name="TextBox 16"/>
          <p:cNvSpPr txBox="1"/>
          <p:nvPr/>
        </p:nvSpPr>
        <p:spPr>
          <a:xfrm>
            <a:off x="548640" y="5120640"/>
            <a:ext cx="11064240" cy="685800"/>
          </a:xfrm>
          <a:prstGeom prst="rect">
            <a:avLst/>
          </a:prstGeom>
          <a:noFill/>
        </p:spPr>
        <p:txBody>
          <a:bodyPr wrap="square" lIns="0" rIns="0" tIns="0" bIns="0">
            <a:spAutoFit/>
          </a:bodyPr>
          <a:lstStyle/>
          <a:p>
            <a:pPr algn="ctr">
              <a:lnSpc>
                <a:spcPct val="180000"/>
              </a:lnSpc>
            </a:pPr>
            <a:r>
              <a:rPr sz="900" b="1" i="0">
                <a:solidFill>
                  <a:srgbClr val="9FE8DC"/>
                </a:solidFill>
                <a:latin typeface="Inter"/>
              </a:rPr>
              <a:t>A F F I L I A T E D   O R G S</a:t>
            </a:r>
          </a:p>
          <a:p>
            <a:pPr algn="ctr">
              <a:lnSpc>
                <a:spcPct val="180000"/>
              </a:lnSpc>
            </a:pPr>
            <a:r>
              <a:rPr sz="1200" b="0" i="1">
                <a:solidFill>
                  <a:srgbClr val="F2ECDD"/>
                </a:solidFill>
                <a:latin typeface="Georgia"/>
              </a:rPr>
              <a:t>SPIRIT of the Front Range · OpenCivics · The Riverside · regenhub.xyz · CoHere · The Mystery Works · Front Range Commons</a:t>
            </a:r>
          </a:p>
        </p:txBody>
      </p:sp>
      <p:sp>
        <p:nvSpPr>
          <p:cNvPr id="18" name="TextBox 17"/>
          <p:cNvSpPr txBox="1"/>
          <p:nvPr/>
        </p:nvSpPr>
        <p:spPr>
          <a:xfrm>
            <a:off x="548640" y="5897880"/>
            <a:ext cx="11064240" cy="731520"/>
          </a:xfrm>
          <a:prstGeom prst="rect">
            <a:avLst/>
          </a:prstGeom>
          <a:noFill/>
        </p:spPr>
        <p:txBody>
          <a:bodyPr wrap="square" lIns="0" rIns="0" tIns="0" bIns="0">
            <a:spAutoFit/>
          </a:bodyPr>
          <a:lstStyle/>
          <a:p>
            <a:pPr algn="ctr">
              <a:lnSpc>
                <a:spcPct val="140000"/>
              </a:lnSpc>
            </a:pPr>
            <a:r>
              <a:rPr sz="1350" b="0" i="1">
                <a:solidFill>
                  <a:srgbClr val="9FE8DC"/>
                </a:solidFill>
                <a:latin typeface="Georgia"/>
              </a:rPr>
              <a:t>A small team that's ready to grow — devoted, here for the long game.</a:t>
            </a:r>
          </a:p>
        </p:txBody>
      </p:sp>
      <p:pic>
        <p:nvPicPr>
          <p:cNvPr id="19" name="Picture 18"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20" name="TextBox 19"/>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21" name="TextBox 20"/>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EBCF9E"/>
                </a:solidFill>
                <a:latin typeface="Inter"/>
              </a:rPr>
              <a:t>T H E   A S K   ·   S E E D   R O U N D   2 0 2 6</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800" b="1" i="0">
                <a:solidFill>
                  <a:srgbClr val="EBCF9E"/>
                </a:solidFill>
                <a:latin typeface="Inter"/>
              </a:rPr>
              <a:t>$500K</a:t>
            </a:r>
            <a:r>
              <a:rPr sz="2900" b="1" i="0">
                <a:solidFill>
                  <a:srgbClr val="F4EAD8"/>
                </a:solidFill>
                <a:latin typeface="Inter"/>
              </a:rPr>
              <a:t>  to take the built platform </a:t>
            </a:r>
            <a:r>
              <a:rPr sz="3300" b="0" i="1">
                <a:solidFill>
                  <a:srgbClr val="99E6D9"/>
                </a:solidFill>
                <a:latin typeface="Georgia"/>
              </a:rPr>
              <a:t>live.</a:t>
            </a:r>
          </a:p>
        </p:txBody>
      </p:sp>
      <p:sp>
        <p:nvSpPr>
          <p:cNvPr id="4" name="Rounded Rectangle 3"/>
          <p:cNvSpPr/>
          <p:nvPr/>
        </p:nvSpPr>
        <p:spPr>
          <a:xfrm>
            <a:off x="548640" y="1965960"/>
            <a:ext cx="5669280" cy="1207008"/>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130552"/>
            <a:ext cx="5212080" cy="914400"/>
          </a:xfrm>
          <a:prstGeom prst="rect">
            <a:avLst/>
          </a:prstGeom>
          <a:noFill/>
        </p:spPr>
        <p:txBody>
          <a:bodyPr wrap="square" lIns="0" rIns="0" tIns="0" bIns="0">
            <a:spAutoFit/>
          </a:bodyPr>
          <a:lstStyle/>
          <a:p>
            <a:pPr algn="l">
              <a:lnSpc>
                <a:spcPct val="130000"/>
              </a:lnSpc>
            </a:pPr>
            <a:r>
              <a:rPr sz="1000" b="1" i="0">
                <a:solidFill>
                  <a:srgbClr val="9FE8DC"/>
                </a:solidFill>
                <a:latin typeface="Inter"/>
              </a:rPr>
              <a:t>I N S T R U M E N T   +   T E R M S</a:t>
            </a:r>
          </a:p>
          <a:p>
            <a:pPr algn="l">
              <a:lnSpc>
                <a:spcPct val="130000"/>
              </a:lnSpc>
            </a:pPr>
            <a:r>
              <a:rPr sz="1150" b="0" i="0">
                <a:solidFill>
                  <a:srgbClr val="F2ECDD"/>
                </a:solidFill>
                <a:latin typeface="Inter"/>
              </a:rPr>
              <a:t>Cooperative SAFE — $4M cap · 20% discount → Class D Steward Shares (accredited, 506b). Colorado residents: direct Class R purchase (147A).</a:t>
            </a:r>
          </a:p>
        </p:txBody>
      </p:sp>
      <p:sp>
        <p:nvSpPr>
          <p:cNvPr id="6" name="Rounded Rectangle 5"/>
          <p:cNvSpPr/>
          <p:nvPr/>
        </p:nvSpPr>
        <p:spPr>
          <a:xfrm>
            <a:off x="548640" y="3337560"/>
            <a:ext cx="5669280" cy="1207008"/>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3502152"/>
            <a:ext cx="5212080" cy="914400"/>
          </a:xfrm>
          <a:prstGeom prst="rect">
            <a:avLst/>
          </a:prstGeom>
          <a:noFill/>
        </p:spPr>
        <p:txBody>
          <a:bodyPr wrap="square" lIns="0" rIns="0" tIns="0" bIns="0">
            <a:spAutoFit/>
          </a:bodyPr>
          <a:lstStyle/>
          <a:p>
            <a:pPr algn="l">
              <a:lnSpc>
                <a:spcPct val="130000"/>
              </a:lnSpc>
            </a:pPr>
            <a:r>
              <a:rPr sz="1000" b="1" i="0">
                <a:solidFill>
                  <a:srgbClr val="9FE8DC"/>
                </a:solidFill>
                <a:latin typeface="Inter"/>
              </a:rPr>
              <a:t>S H A R E   P R I C E</a:t>
            </a:r>
          </a:p>
          <a:p>
            <a:pPr algn="l">
              <a:lnSpc>
                <a:spcPct val="130000"/>
              </a:lnSpc>
            </a:pPr>
            <a:r>
              <a:rPr sz="1150" b="0" i="0">
                <a:solidFill>
                  <a:srgbClr val="F2ECDD"/>
                </a:solidFill>
                <a:latin typeface="Inter"/>
              </a:rPr>
              <a:t>$0.20 per share.</a:t>
            </a:r>
          </a:p>
        </p:txBody>
      </p:sp>
      <p:sp>
        <p:nvSpPr>
          <p:cNvPr id="8" name="Rounded Rectangle 7"/>
          <p:cNvSpPr/>
          <p:nvPr/>
        </p:nvSpPr>
        <p:spPr>
          <a:xfrm>
            <a:off x="548640" y="4709160"/>
            <a:ext cx="5669280" cy="1207008"/>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873752"/>
            <a:ext cx="5212080" cy="914400"/>
          </a:xfrm>
          <a:prstGeom prst="rect">
            <a:avLst/>
          </a:prstGeom>
          <a:noFill/>
        </p:spPr>
        <p:txBody>
          <a:bodyPr wrap="square" lIns="0" rIns="0" tIns="0" bIns="0">
            <a:spAutoFit/>
          </a:bodyPr>
          <a:lstStyle/>
          <a:p>
            <a:pPr algn="l">
              <a:lnSpc>
                <a:spcPct val="130000"/>
              </a:lnSpc>
            </a:pPr>
            <a:r>
              <a:rPr sz="1000" b="1" i="0">
                <a:solidFill>
                  <a:srgbClr val="9FE8DC"/>
                </a:solidFill>
                <a:latin typeface="Inter"/>
              </a:rPr>
              <a:t>D I V I D E N D   R I G H T</a:t>
            </a:r>
          </a:p>
          <a:p>
            <a:pPr algn="l">
              <a:lnSpc>
                <a:spcPct val="130000"/>
              </a:lnSpc>
            </a:pPr>
            <a:r>
              <a:rPr sz="1150" b="0" i="0">
                <a:solidFill>
                  <a:srgbClr val="F2ECDD"/>
                </a:solidFill>
                <a:latin typeface="Inter"/>
              </a:rPr>
              <a:t>Steward Pool = 33% of after-tax retained profit, pro-rata, from the first profitable year.</a:t>
            </a:r>
          </a:p>
        </p:txBody>
      </p:sp>
      <p:sp>
        <p:nvSpPr>
          <p:cNvPr id="10" name="Rounded Rectangle 9"/>
          <p:cNvSpPr/>
          <p:nvPr/>
        </p:nvSpPr>
        <p:spPr>
          <a:xfrm>
            <a:off x="6492240" y="1965960"/>
            <a:ext cx="5166360" cy="3931920"/>
          </a:xfrm>
          <a:prstGeom prst="roundRect">
            <a:avLst>
              <a:gd name="adj" fmla="val 6000"/>
            </a:avLst>
          </a:prstGeom>
          <a:solidFill>
            <a:srgbClr val="084B4D"/>
          </a:solidFill>
          <a:ln w="1524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2194560"/>
            <a:ext cx="4663440" cy="3520440"/>
          </a:xfrm>
          <a:prstGeom prst="rect">
            <a:avLst/>
          </a:prstGeom>
          <a:noFill/>
        </p:spPr>
        <p:txBody>
          <a:bodyPr wrap="square" lIns="0" rIns="0" tIns="0" bIns="0">
            <a:spAutoFit/>
          </a:bodyPr>
          <a:lstStyle/>
          <a:p>
            <a:pPr algn="l">
              <a:lnSpc>
                <a:spcPct val="155000"/>
              </a:lnSpc>
            </a:pPr>
            <a:r>
              <a:rPr sz="1050" b="1" i="0">
                <a:solidFill>
                  <a:srgbClr val="EBCF9E"/>
                </a:solidFill>
                <a:latin typeface="Inter"/>
              </a:rPr>
              <a:t>U S E   O F   F U N D S</a:t>
            </a:r>
          </a:p>
          <a:p>
            <a:pPr algn="l">
              <a:lnSpc>
                <a:spcPct val="155000"/>
              </a:lnSpc>
            </a:pPr>
            <a:r>
              <a:rPr sz="500" b="0" i="0">
                <a:solidFill>
                  <a:srgbClr val="AFC4C2"/>
                </a:solidFill>
                <a:latin typeface="Inter"/>
              </a:rPr>
              <a:t/>
            </a:r>
          </a:p>
          <a:p>
            <a:pPr algn="l">
              <a:lnSpc>
                <a:spcPct val="155000"/>
              </a:lnSpc>
            </a:pPr>
            <a:r>
              <a:rPr sz="1250" b="0" i="0">
                <a:solidFill>
                  <a:srgbClr val="F2ECDD"/>
                </a:solidFill>
                <a:latin typeface="Inter"/>
              </a:rPr>
              <a:t>·  Live-money cutover + payment operations</a:t>
            </a:r>
          </a:p>
          <a:p>
            <a:pPr algn="l">
              <a:lnSpc>
                <a:spcPct val="155000"/>
              </a:lnSpc>
            </a:pPr>
            <a:r>
              <a:rPr sz="1250" b="0" i="0">
                <a:solidFill>
                  <a:srgbClr val="F2ECDD"/>
                </a:solidFill>
                <a:latin typeface="Inter"/>
              </a:rPr>
              <a:t>·  Core team compensation + engineering</a:t>
            </a:r>
          </a:p>
          <a:p>
            <a:pPr algn="l">
              <a:lnSpc>
                <a:spcPct val="155000"/>
              </a:lnSpc>
            </a:pPr>
            <a:r>
              <a:rPr sz="1250" b="0" i="0">
                <a:solidFill>
                  <a:srgbClr val="F2ECDD"/>
                </a:solidFill>
                <a:latin typeface="Inter"/>
              </a:rPr>
              <a:t>·  Community growth + chapter onboarding</a:t>
            </a:r>
          </a:p>
          <a:p>
            <a:pPr algn="l">
              <a:lnSpc>
                <a:spcPct val="155000"/>
              </a:lnSpc>
            </a:pPr>
            <a:r>
              <a:rPr sz="1250" b="0" i="0">
                <a:solidFill>
                  <a:srgbClr val="F2ECDD"/>
                </a:solidFill>
                <a:latin typeface="Inter"/>
              </a:rPr>
              <a:t>·  Legal, compliance + co-op formation</a:t>
            </a:r>
          </a:p>
          <a:p>
            <a:pPr algn="l">
              <a:lnSpc>
                <a:spcPct val="155000"/>
              </a:lnSpc>
            </a:pPr>
            <a:r>
              <a:rPr sz="1250" b="0" i="0">
                <a:solidFill>
                  <a:srgbClr val="F2ECDD"/>
                </a:solidFill>
                <a:latin typeface="Inter"/>
              </a:rPr>
              <a:t>·  Infrastructure + AI</a:t>
            </a:r>
          </a:p>
          <a:p>
            <a:pPr algn="l">
              <a:lnSpc>
                <a:spcPct val="155000"/>
              </a:lnSpc>
            </a:pPr>
            <a:r>
              <a:rPr sz="700" b="0" i="0">
                <a:solidFill>
                  <a:srgbClr val="AFC4C2"/>
                </a:solidFill>
                <a:latin typeface="Inter"/>
              </a:rPr>
              <a:t/>
            </a:r>
          </a:p>
          <a:p>
            <a:pPr algn="l">
              <a:lnSpc>
                <a:spcPct val="155000"/>
              </a:lnSpc>
            </a:pPr>
            <a:r>
              <a:rPr sz="1300" b="0" i="1">
                <a:solidFill>
                  <a:srgbClr val="EBCF9E"/>
                </a:solidFill>
                <a:latin typeface="Georgia"/>
              </a:rPr>
              <a:t>Runway into the 2027 Crowd round.</a:t>
            </a:r>
          </a:p>
        </p:txBody>
      </p:sp>
      <p:sp>
        <p:nvSpPr>
          <p:cNvPr id="12" name="TextBox 11"/>
          <p:cNvSpPr txBox="1"/>
          <p:nvPr/>
        </p:nvSpPr>
        <p:spPr>
          <a:xfrm>
            <a:off x="548640" y="6126480"/>
            <a:ext cx="11064240" cy="320040"/>
          </a:xfrm>
          <a:prstGeom prst="rect">
            <a:avLst/>
          </a:prstGeom>
          <a:noFill/>
        </p:spPr>
        <p:txBody>
          <a:bodyPr wrap="square" lIns="0" rIns="0" tIns="0" bIns="0">
            <a:spAutoFit/>
          </a:bodyPr>
          <a:lstStyle/>
          <a:p>
            <a:pPr algn="ctr">
              <a:lnSpc>
                <a:spcPct val="115000"/>
              </a:lnSpc>
            </a:pPr>
            <a:r>
              <a:rPr sz="900" b="0" i="0">
                <a:solidFill>
                  <a:srgbClr val="AFC4C2"/>
                </a:solidFill>
                <a:latin typeface="Inter"/>
              </a:rPr>
              <a:t>Informational only. Not an offer to sell securities. See governing documents and membership agreements for binding terms.</a:t>
            </a:r>
          </a:p>
        </p:txBody>
      </p:sp>
      <p:pic>
        <p:nvPicPr>
          <p:cNvPr id="13" name="Picture 12"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4" name="TextBox 13"/>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5" name="TextBox 14"/>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sp>
        <p:nvSpPr>
          <p:cNvPr id="2" name="TextBox 1"/>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9FE8DC"/>
                </a:solidFill>
                <a:latin typeface="Inter"/>
              </a:rPr>
              <a:t>V A L U E S - B A S E D   W O R L D   O U T C O M E S</a:t>
            </a:r>
          </a:p>
        </p:txBody>
      </p:sp>
      <p:sp>
        <p:nvSpPr>
          <p:cNvPr id="3" name="TextBox 2"/>
          <p:cNvSpPr txBox="1"/>
          <p:nvPr/>
        </p:nvSpPr>
        <p:spPr>
          <a:xfrm>
            <a:off x="548640" y="914400"/>
            <a:ext cx="11247120" cy="1371600"/>
          </a:xfrm>
          <a:prstGeom prst="rect">
            <a:avLst/>
          </a:prstGeom>
          <a:noFill/>
        </p:spPr>
        <p:txBody>
          <a:bodyPr wrap="square" lIns="0" rIns="0" tIns="0" bIns="0">
            <a:spAutoFit/>
          </a:bodyPr>
          <a:lstStyle/>
          <a:p>
            <a:pPr algn="l">
              <a:lnSpc>
                <a:spcPct val="120000"/>
              </a:lnSpc>
            </a:pPr>
            <a:r>
              <a:rPr sz="3200" b="1" i="0">
                <a:solidFill>
                  <a:srgbClr val="F4EAD8"/>
                </a:solidFill>
                <a:latin typeface="Inter"/>
              </a:rPr>
              <a:t>Public benefits, </a:t>
            </a:r>
            <a:r>
              <a:rPr sz="3500" b="0" i="1">
                <a:solidFill>
                  <a:srgbClr val="F0CC8B"/>
                </a:solidFill>
                <a:latin typeface="Georgia"/>
              </a:rPr>
              <a:t>codified.</a:t>
            </a:r>
          </a:p>
        </p:txBody>
      </p:sp>
      <p:sp>
        <p:nvSpPr>
          <p:cNvPr id="4" name="Rounded Rectangle 3"/>
          <p:cNvSpPr/>
          <p:nvPr/>
        </p:nvSpPr>
        <p:spPr>
          <a:xfrm>
            <a:off x="548640" y="2148840"/>
            <a:ext cx="3569208" cy="1536192"/>
          </a:xfrm>
          <a:prstGeom prst="roundRect">
            <a:avLst>
              <a:gd name="adj" fmla="val 6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377440"/>
            <a:ext cx="3112008" cy="1078992"/>
          </a:xfrm>
          <a:prstGeom prst="rect">
            <a:avLst/>
          </a:prstGeom>
          <a:noFill/>
        </p:spPr>
        <p:txBody>
          <a:bodyPr wrap="square" lIns="0" rIns="0" tIns="0" bIns="0">
            <a:spAutoFit/>
          </a:bodyPr>
          <a:lstStyle/>
          <a:p>
            <a:pPr algn="l">
              <a:lnSpc>
                <a:spcPct val="135000"/>
              </a:lnSpc>
            </a:pPr>
            <a:r>
              <a:rPr sz="1000" b="1" i="0">
                <a:solidFill>
                  <a:srgbClr val="9FE8DC"/>
                </a:solidFill>
                <a:latin typeface="Inter"/>
              </a:rPr>
              <a:t>E C O N O M I C   R E S I L I E N C E</a:t>
            </a:r>
          </a:p>
          <a:p>
            <a:pPr algn="l">
              <a:lnSpc>
                <a:spcPct val="135000"/>
              </a:lnSpc>
            </a:pPr>
            <a:r>
              <a:rPr sz="500" b="0" i="0">
                <a:solidFill>
                  <a:srgbClr val="AFC4C2"/>
                </a:solidFill>
                <a:latin typeface="Inter"/>
              </a:rPr>
              <a:t/>
            </a:r>
          </a:p>
          <a:p>
            <a:pPr algn="l">
              <a:lnSpc>
                <a:spcPct val="135000"/>
              </a:lnSpc>
            </a:pPr>
            <a:r>
              <a:rPr sz="1050" b="0" i="0">
                <a:solidFill>
                  <a:srgbClr val="F2ECDD"/>
                </a:solidFill>
                <a:latin typeface="Inter"/>
              </a:rPr>
              <a:t>Local economic thriving — cooperative commerce, resource sharing, community building.</a:t>
            </a:r>
          </a:p>
        </p:txBody>
      </p:sp>
      <p:sp>
        <p:nvSpPr>
          <p:cNvPr id="6" name="Rounded Rectangle 5"/>
          <p:cNvSpPr/>
          <p:nvPr/>
        </p:nvSpPr>
        <p:spPr>
          <a:xfrm>
            <a:off x="4319016" y="2148840"/>
            <a:ext cx="3569208" cy="1536192"/>
          </a:xfrm>
          <a:prstGeom prst="roundRect">
            <a:avLst>
              <a:gd name="adj" fmla="val 6000"/>
            </a:avLst>
          </a:prstGeom>
          <a:solidFill>
            <a:srgbClr val="062A2C"/>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47616" y="2377440"/>
            <a:ext cx="3112008" cy="1078992"/>
          </a:xfrm>
          <a:prstGeom prst="rect">
            <a:avLst/>
          </a:prstGeom>
          <a:noFill/>
        </p:spPr>
        <p:txBody>
          <a:bodyPr wrap="square" lIns="0" rIns="0" tIns="0" bIns="0">
            <a:spAutoFit/>
          </a:bodyPr>
          <a:lstStyle/>
          <a:p>
            <a:pPr algn="l">
              <a:lnSpc>
                <a:spcPct val="135000"/>
              </a:lnSpc>
            </a:pPr>
            <a:r>
              <a:rPr sz="1000" b="1" i="0">
                <a:solidFill>
                  <a:srgbClr val="9FE8DC"/>
                </a:solidFill>
                <a:latin typeface="Inter"/>
              </a:rPr>
              <a:t>R E G E N E R A T I V E   I M P A C T</a:t>
            </a:r>
          </a:p>
          <a:p>
            <a:pPr algn="l">
              <a:lnSpc>
                <a:spcPct val="135000"/>
              </a:lnSpc>
            </a:pPr>
            <a:r>
              <a:rPr sz="500" b="0" i="0">
                <a:solidFill>
                  <a:srgbClr val="AFC4C2"/>
                </a:solidFill>
                <a:latin typeface="Inter"/>
              </a:rPr>
              <a:t/>
            </a:r>
          </a:p>
          <a:p>
            <a:pPr algn="l">
              <a:lnSpc>
                <a:spcPct val="135000"/>
              </a:lnSpc>
            </a:pPr>
            <a:r>
              <a:rPr sz="1050" b="0" i="0">
                <a:solidFill>
                  <a:srgbClr val="F2ECDD"/>
                </a:solidFill>
                <a:latin typeface="Inter"/>
              </a:rPr>
              <a:t>Environmentally regenerative practice through education, technology, and transparency.</a:t>
            </a:r>
          </a:p>
        </p:txBody>
      </p:sp>
      <p:sp>
        <p:nvSpPr>
          <p:cNvPr id="8" name="Rounded Rectangle 7"/>
          <p:cNvSpPr/>
          <p:nvPr/>
        </p:nvSpPr>
        <p:spPr>
          <a:xfrm>
            <a:off x="8089392" y="2148840"/>
            <a:ext cx="3569208" cy="1536192"/>
          </a:xfrm>
          <a:prstGeom prst="roundRect">
            <a:avLst>
              <a:gd name="adj" fmla="val 6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17992" y="2377440"/>
            <a:ext cx="3112008" cy="1078992"/>
          </a:xfrm>
          <a:prstGeom prst="rect">
            <a:avLst/>
          </a:prstGeom>
          <a:noFill/>
        </p:spPr>
        <p:txBody>
          <a:bodyPr wrap="square" lIns="0" rIns="0" tIns="0" bIns="0">
            <a:spAutoFit/>
          </a:bodyPr>
          <a:lstStyle/>
          <a:p>
            <a:pPr algn="l">
              <a:lnSpc>
                <a:spcPct val="135000"/>
              </a:lnSpc>
            </a:pPr>
            <a:r>
              <a:rPr sz="1000" b="1" i="0">
                <a:solidFill>
                  <a:srgbClr val="9FE8DC"/>
                </a:solidFill>
                <a:latin typeface="Inter"/>
              </a:rPr>
              <a:t>C I V I C   E N G A G E M E N T</a:t>
            </a:r>
          </a:p>
          <a:p>
            <a:pPr algn="l">
              <a:lnSpc>
                <a:spcPct val="135000"/>
              </a:lnSpc>
            </a:pPr>
            <a:r>
              <a:rPr sz="500" b="0" i="0">
                <a:solidFill>
                  <a:srgbClr val="AFC4C2"/>
                </a:solidFill>
                <a:latin typeface="Inter"/>
              </a:rPr>
              <a:t/>
            </a:r>
          </a:p>
          <a:p>
            <a:pPr algn="l">
              <a:lnSpc>
                <a:spcPct val="135000"/>
              </a:lnSpc>
            </a:pPr>
            <a:r>
              <a:rPr sz="1050" b="0" i="0">
                <a:solidFill>
                  <a:srgbClr val="F2ECDD"/>
                </a:solidFill>
                <a:latin typeface="Inter"/>
              </a:rPr>
              <a:t>Democratic participation through accessible cooperative ownership.</a:t>
            </a:r>
          </a:p>
        </p:txBody>
      </p:sp>
      <p:sp>
        <p:nvSpPr>
          <p:cNvPr id="10" name="Rounded Rectangle 9"/>
          <p:cNvSpPr/>
          <p:nvPr/>
        </p:nvSpPr>
        <p:spPr>
          <a:xfrm>
            <a:off x="548640" y="3886200"/>
            <a:ext cx="3569208" cy="1536192"/>
          </a:xfrm>
          <a:prstGeom prst="roundRect">
            <a:avLst>
              <a:gd name="adj" fmla="val 6000"/>
            </a:avLst>
          </a:prstGeom>
          <a:solidFill>
            <a:srgbClr val="062A2C"/>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114800"/>
            <a:ext cx="3112008" cy="1078992"/>
          </a:xfrm>
          <a:prstGeom prst="rect">
            <a:avLst/>
          </a:prstGeom>
          <a:noFill/>
        </p:spPr>
        <p:txBody>
          <a:bodyPr wrap="square" lIns="0" rIns="0" tIns="0" bIns="0">
            <a:spAutoFit/>
          </a:bodyPr>
          <a:lstStyle/>
          <a:p>
            <a:pPr algn="l">
              <a:lnSpc>
                <a:spcPct val="135000"/>
              </a:lnSpc>
            </a:pPr>
            <a:r>
              <a:rPr sz="1000" b="1" i="0">
                <a:solidFill>
                  <a:srgbClr val="9FE8DC"/>
                </a:solidFill>
                <a:latin typeface="Inter"/>
              </a:rPr>
              <a:t>P E R S O N A L   L I B E R T Y</a:t>
            </a:r>
          </a:p>
          <a:p>
            <a:pPr algn="l">
              <a:lnSpc>
                <a:spcPct val="135000"/>
              </a:lnSpc>
            </a:pPr>
            <a:r>
              <a:rPr sz="500" b="0" i="0">
                <a:solidFill>
                  <a:srgbClr val="AFC4C2"/>
                </a:solidFill>
                <a:latin typeface="Inter"/>
              </a:rPr>
              <a:t/>
            </a:r>
          </a:p>
          <a:p>
            <a:pPr algn="l">
              <a:lnSpc>
                <a:spcPct val="135000"/>
              </a:lnSpc>
            </a:pPr>
            <a:r>
              <a:rPr sz="1050" b="0" i="0">
                <a:solidFill>
                  <a:srgbClr val="F2ECDD"/>
                </a:solidFill>
                <a:latin typeface="Inter"/>
              </a:rPr>
              <a:t>Data sovereignty and open tools — an opt-in ecosystem of vibrant social organisms.</a:t>
            </a:r>
          </a:p>
        </p:txBody>
      </p:sp>
      <p:sp>
        <p:nvSpPr>
          <p:cNvPr id="12" name="Rounded Rectangle 11"/>
          <p:cNvSpPr/>
          <p:nvPr/>
        </p:nvSpPr>
        <p:spPr>
          <a:xfrm>
            <a:off x="4319016" y="3886200"/>
            <a:ext cx="3569208" cy="1536192"/>
          </a:xfrm>
          <a:prstGeom prst="roundRect">
            <a:avLst>
              <a:gd name="adj" fmla="val 6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7616" y="4114800"/>
            <a:ext cx="3112008" cy="1078992"/>
          </a:xfrm>
          <a:prstGeom prst="rect">
            <a:avLst/>
          </a:prstGeom>
          <a:noFill/>
        </p:spPr>
        <p:txBody>
          <a:bodyPr wrap="square" lIns="0" rIns="0" tIns="0" bIns="0">
            <a:spAutoFit/>
          </a:bodyPr>
          <a:lstStyle/>
          <a:p>
            <a:pPr algn="l">
              <a:lnSpc>
                <a:spcPct val="135000"/>
              </a:lnSpc>
            </a:pPr>
            <a:r>
              <a:rPr sz="1000" b="1" i="0">
                <a:solidFill>
                  <a:srgbClr val="9FE8DC"/>
                </a:solidFill>
                <a:latin typeface="Inter"/>
              </a:rPr>
              <a:t>L O C A L   C U L T U R E   &amp;   E C O L O G Y</a:t>
            </a:r>
          </a:p>
          <a:p>
            <a:pPr algn="l">
              <a:lnSpc>
                <a:spcPct val="135000"/>
              </a:lnSpc>
            </a:pPr>
            <a:r>
              <a:rPr sz="500" b="0" i="0">
                <a:solidFill>
                  <a:srgbClr val="AFC4C2"/>
                </a:solidFill>
                <a:latin typeface="Inter"/>
              </a:rPr>
              <a:t/>
            </a:r>
          </a:p>
          <a:p>
            <a:pPr algn="l">
              <a:lnSpc>
                <a:spcPct val="135000"/>
              </a:lnSpc>
            </a:pPr>
            <a:r>
              <a:rPr sz="1050" b="0" i="0">
                <a:solidFill>
                  <a:srgbClr val="F2ECDD"/>
                </a:solidFill>
                <a:latin typeface="Inter"/>
              </a:rPr>
              <a:t>The vitality of each place: water, land, food, art, music, business, care.</a:t>
            </a:r>
          </a:p>
        </p:txBody>
      </p:sp>
      <p:sp>
        <p:nvSpPr>
          <p:cNvPr id="14" name="Rounded Rectangle 13"/>
          <p:cNvSpPr/>
          <p:nvPr/>
        </p:nvSpPr>
        <p:spPr>
          <a:xfrm>
            <a:off x="8089392" y="3886200"/>
            <a:ext cx="3569208" cy="1536192"/>
          </a:xfrm>
          <a:prstGeom prst="roundRect">
            <a:avLst>
              <a:gd name="adj" fmla="val 6000"/>
            </a:avLst>
          </a:prstGeom>
          <a:solidFill>
            <a:srgbClr val="062A2C"/>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17992" y="4114800"/>
            <a:ext cx="3112008" cy="1078992"/>
          </a:xfrm>
          <a:prstGeom prst="rect">
            <a:avLst/>
          </a:prstGeom>
          <a:noFill/>
        </p:spPr>
        <p:txBody>
          <a:bodyPr wrap="square" lIns="0" rIns="0" tIns="0" bIns="0">
            <a:spAutoFit/>
          </a:bodyPr>
          <a:lstStyle/>
          <a:p>
            <a:pPr algn="l">
              <a:lnSpc>
                <a:spcPct val="135000"/>
              </a:lnSpc>
            </a:pPr>
            <a:r>
              <a:rPr sz="1000" b="1" i="0">
                <a:solidFill>
                  <a:srgbClr val="9FE8DC"/>
                </a:solidFill>
                <a:latin typeface="Inter"/>
              </a:rPr>
              <a:t>T H R I V I N G   B I O R E G I O N S</a:t>
            </a:r>
          </a:p>
          <a:p>
            <a:pPr algn="l">
              <a:lnSpc>
                <a:spcPct val="135000"/>
              </a:lnSpc>
            </a:pPr>
            <a:r>
              <a:rPr sz="500" b="0" i="0">
                <a:solidFill>
                  <a:srgbClr val="AFC4C2"/>
                </a:solidFill>
                <a:latin typeface="Inter"/>
              </a:rPr>
              <a:t/>
            </a:r>
          </a:p>
          <a:p>
            <a:pPr algn="l">
              <a:lnSpc>
                <a:spcPct val="135000"/>
              </a:lnSpc>
            </a:pPr>
            <a:r>
              <a:rPr sz="1050" b="0" i="0">
                <a:solidFill>
                  <a:srgbClr val="F2ECDD"/>
                </a:solidFill>
                <a:latin typeface="Inter"/>
              </a:rPr>
              <a:t>~30 active bioregions and ~200 living organizations by end of 2027 — and beyond.</a:t>
            </a:r>
          </a:p>
        </p:txBody>
      </p:sp>
      <p:sp>
        <p:nvSpPr>
          <p:cNvPr id="16" name="TextBox 15"/>
          <p:cNvSpPr txBox="1"/>
          <p:nvPr/>
        </p:nvSpPr>
        <p:spPr>
          <a:xfrm>
            <a:off x="548640" y="5623560"/>
            <a:ext cx="11064240" cy="731520"/>
          </a:xfrm>
          <a:prstGeom prst="rect">
            <a:avLst/>
          </a:prstGeom>
          <a:noFill/>
        </p:spPr>
        <p:txBody>
          <a:bodyPr wrap="square" lIns="0" rIns="0" tIns="0" bIns="0">
            <a:spAutoFit/>
          </a:bodyPr>
          <a:lstStyle/>
          <a:p>
            <a:pPr algn="ctr">
              <a:lnSpc>
                <a:spcPct val="140000"/>
              </a:lnSpc>
            </a:pPr>
            <a:r>
              <a:rPr sz="1300" b="0" i="0">
                <a:solidFill>
                  <a:srgbClr val="F2ECDD"/>
                </a:solidFill>
                <a:latin typeface="Inter"/>
              </a:rPr>
              <a:t>The bigger vision is capable places — able to see and care for themselves</a:t>
            </a:r>
          </a:p>
          <a:p>
            <a:pPr algn="ctr">
              <a:lnSpc>
                <a:spcPct val="140000"/>
              </a:lnSpc>
            </a:pPr>
            <a:r>
              <a:rPr sz="1400" b="0" i="1">
                <a:solidFill>
                  <a:srgbClr val="9FE8DC"/>
                </a:solidFill>
                <a:latin typeface="Georgia"/>
              </a:rPr>
              <a:t>without cutting themselves off from the rest of the world.</a:t>
            </a:r>
          </a:p>
        </p:txBody>
      </p:sp>
      <p:pic>
        <p:nvPicPr>
          <p:cNvPr id="17" name="Picture 16" descr="rivr-symbol-light.png"/>
          <p:cNvPicPr>
            <a:picLocks noChangeAspect="1"/>
          </p:cNvPicPr>
          <p:nvPr/>
        </p:nvPicPr>
        <p:blipFill>
          <a:blip r:embed="rId3"/>
          <a:stretch>
            <a:fillRect/>
          </a:stretch>
        </p:blipFill>
        <p:spPr>
          <a:xfrm>
            <a:off x="384048" y="6327648"/>
            <a:ext cx="365760" cy="365760"/>
          </a:xfrm>
          <a:prstGeom prst="rect">
            <a:avLst/>
          </a:prstGeom>
        </p:spPr>
      </p:pic>
      <p:sp>
        <p:nvSpPr>
          <p:cNvPr id="18" name="TextBox 17"/>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9" name="TextBox 18"/>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sharing_d32.jpg"/>
          <p:cNvPicPr>
            <a:picLocks noChangeAspect="1"/>
          </p:cNvPicPr>
          <p:nvPr/>
        </p:nvPicPr>
        <p:blipFill>
          <a:blip r:embed="rId2"/>
          <a:stretch>
            <a:fillRect/>
          </a:stretch>
        </p:blipFill>
        <p:spPr>
          <a:xfrm>
            <a:off x="953376" y="0"/>
            <a:ext cx="10284943" cy="6858000"/>
          </a:xfrm>
          <a:prstGeom prst="rect">
            <a:avLst/>
          </a:prstGeom>
        </p:spPr>
      </p:pic>
      <p:sp>
        <p:nvSpPr>
          <p:cNvPr id="3" name="TextBox 2"/>
          <p:cNvSpPr txBox="1"/>
          <p:nvPr/>
        </p:nvSpPr>
        <p:spPr>
          <a:xfrm>
            <a:off x="548640" y="384048"/>
            <a:ext cx="11155680" cy="292608"/>
          </a:xfrm>
          <a:prstGeom prst="rect">
            <a:avLst/>
          </a:prstGeom>
          <a:noFill/>
        </p:spPr>
        <p:txBody>
          <a:bodyPr wrap="square" lIns="0" rIns="0" tIns="0" bIns="0">
            <a:spAutoFit/>
          </a:bodyPr>
          <a:lstStyle/>
          <a:p>
            <a:pPr algn="l">
              <a:lnSpc>
                <a:spcPct val="115000"/>
              </a:lnSpc>
            </a:pPr>
            <a:r>
              <a:rPr sz="1200" b="1" i="0">
                <a:solidFill>
                  <a:srgbClr val="EBCF9E"/>
                </a:solidFill>
                <a:latin typeface="Inter"/>
              </a:rPr>
              <a:t>C L O S I N G   ·   F L O W   L O C A L .   C O N N E C T   G L O B A L .</a:t>
            </a:r>
          </a:p>
        </p:txBody>
      </p:sp>
      <p:sp>
        <p:nvSpPr>
          <p:cNvPr id="4" name="TextBox 3"/>
          <p:cNvSpPr txBox="1"/>
          <p:nvPr/>
        </p:nvSpPr>
        <p:spPr>
          <a:xfrm>
            <a:off x="822960" y="1371600"/>
            <a:ext cx="10515600" cy="1463040"/>
          </a:xfrm>
          <a:prstGeom prst="rect">
            <a:avLst/>
          </a:prstGeom>
          <a:noFill/>
        </p:spPr>
        <p:txBody>
          <a:bodyPr wrap="square" lIns="0" rIns="0" tIns="0" bIns="0">
            <a:spAutoFit/>
          </a:bodyPr>
          <a:lstStyle/>
          <a:p>
            <a:pPr algn="ctr">
              <a:lnSpc>
                <a:spcPct val="140000"/>
              </a:lnSpc>
            </a:pPr>
            <a:r>
              <a:rPr sz="2800" b="0" i="1">
                <a:solidFill>
                  <a:srgbClr val="F4EAD8"/>
                </a:solidFill>
                <a:latin typeface="Georgia"/>
              </a:rPr>
              <a:t>The best Rivr interaction may end</a:t>
            </a:r>
          </a:p>
          <a:p>
            <a:pPr algn="ctr">
              <a:lnSpc>
                <a:spcPct val="140000"/>
              </a:lnSpc>
            </a:pPr>
            <a:r>
              <a:rPr sz="2800" b="0" i="1">
                <a:solidFill>
                  <a:srgbClr val="F4EAD8"/>
                </a:solidFill>
                <a:latin typeface="Georgia"/>
              </a:rPr>
              <a:t>with you </a:t>
            </a:r>
            <a:r>
              <a:rPr sz="2800" b="0" i="1">
                <a:solidFill>
                  <a:srgbClr val="EBCF9E"/>
                </a:solidFill>
                <a:latin typeface="Georgia"/>
              </a:rPr>
              <a:t>leaving Rivr.</a:t>
            </a:r>
          </a:p>
        </p:txBody>
      </p:sp>
      <p:sp>
        <p:nvSpPr>
          <p:cNvPr id="5" name="TextBox 4"/>
          <p:cNvSpPr txBox="1"/>
          <p:nvPr/>
        </p:nvSpPr>
        <p:spPr>
          <a:xfrm>
            <a:off x="822960" y="2926080"/>
            <a:ext cx="10515600" cy="731520"/>
          </a:xfrm>
          <a:prstGeom prst="rect">
            <a:avLst/>
          </a:prstGeom>
          <a:noFill/>
        </p:spPr>
        <p:txBody>
          <a:bodyPr wrap="square" lIns="0" rIns="0" tIns="0" bIns="0">
            <a:spAutoFit/>
          </a:bodyPr>
          <a:lstStyle/>
          <a:p>
            <a:pPr algn="ctr">
              <a:lnSpc>
                <a:spcPct val="160000"/>
              </a:lnSpc>
            </a:pPr>
            <a:r>
              <a:rPr sz="1400" b="0" i="0">
                <a:solidFill>
                  <a:srgbClr val="F2ECDD"/>
                </a:solidFill>
                <a:latin typeface="Inter"/>
              </a:rPr>
              <a:t>Find the thing. Find the person. Make the agreement. Join the project.</a:t>
            </a:r>
          </a:p>
          <a:p>
            <a:pPr algn="ctr">
              <a:lnSpc>
                <a:spcPct val="160000"/>
              </a:lnSpc>
            </a:pPr>
            <a:r>
              <a:rPr sz="1400" b="0" i="0">
                <a:solidFill>
                  <a:srgbClr val="F2ECDD"/>
                </a:solidFill>
                <a:latin typeface="Inter"/>
              </a:rPr>
              <a:t>Go meet them. Go do the work. </a:t>
            </a:r>
            <a:r>
              <a:rPr sz="1400" b="1" i="0">
                <a:solidFill>
                  <a:srgbClr val="9FE8DC"/>
                </a:solidFill>
                <a:latin typeface="Inter"/>
              </a:rPr>
              <a:t>Put the phone away.</a:t>
            </a:r>
          </a:p>
        </p:txBody>
      </p:sp>
      <p:sp>
        <p:nvSpPr>
          <p:cNvPr id="6" name="Rounded Rectangle 5"/>
          <p:cNvSpPr/>
          <p:nvPr/>
        </p:nvSpPr>
        <p:spPr>
          <a:xfrm>
            <a:off x="2103120" y="3977639"/>
            <a:ext cx="7955279" cy="1691640"/>
          </a:xfrm>
          <a:prstGeom prst="roundRect">
            <a:avLst>
              <a:gd name="adj" fmla="val 6000"/>
            </a:avLst>
          </a:prstGeom>
          <a:solidFill>
            <a:srgbClr val="062A2C"/>
          </a:solidFill>
          <a:ln w="1524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468880" y="4206240"/>
            <a:ext cx="7223760" cy="1280160"/>
          </a:xfrm>
          <a:prstGeom prst="rect">
            <a:avLst/>
          </a:prstGeom>
          <a:noFill/>
        </p:spPr>
        <p:txBody>
          <a:bodyPr wrap="square" lIns="0" rIns="0" tIns="0" bIns="0">
            <a:spAutoFit/>
          </a:bodyPr>
          <a:lstStyle/>
          <a:p>
            <a:pPr algn="ctr">
              <a:lnSpc>
                <a:spcPct val="155000"/>
              </a:lnSpc>
            </a:pPr>
            <a:r>
              <a:rPr sz="1250" b="0" i="0">
                <a:solidFill>
                  <a:srgbClr val="F2ECDD"/>
                </a:solidFill>
                <a:latin typeface="Inter"/>
              </a:rPr>
              <a:t>We don't need to abandon modern technology to remember how to live together —</a:t>
            </a:r>
          </a:p>
          <a:p>
            <a:pPr algn="ctr">
              <a:lnSpc>
                <a:spcPct val="155000"/>
              </a:lnSpc>
            </a:pPr>
            <a:r>
              <a:rPr sz="1250" b="0" i="0">
                <a:solidFill>
                  <a:srgbClr val="F2ECDD"/>
                </a:solidFill>
                <a:latin typeface="Inter"/>
              </a:rPr>
              <a:t>we can build </a:t>
            </a:r>
            <a:r>
              <a:rPr sz="1350" b="0" i="1">
                <a:solidFill>
                  <a:srgbClr val="EBCF9E"/>
                </a:solidFill>
                <a:latin typeface="Georgia"/>
              </a:rPr>
              <a:t>better technology</a:t>
            </a:r>
            <a:r>
              <a:rPr sz="1250" b="0" i="0">
                <a:solidFill>
                  <a:srgbClr val="F2ECDD"/>
                </a:solidFill>
                <a:latin typeface="Inter"/>
              </a:rPr>
              <a:t> for it.</a:t>
            </a:r>
          </a:p>
          <a:p>
            <a:pPr algn="ctr">
              <a:lnSpc>
                <a:spcPct val="155000"/>
              </a:lnSpc>
            </a:pPr>
            <a:r>
              <a:rPr sz="500" b="0" i="0">
                <a:solidFill>
                  <a:srgbClr val="AFC4C2"/>
                </a:solidFill>
                <a:latin typeface="Inter"/>
              </a:rPr>
              <a:t/>
            </a:r>
          </a:p>
          <a:p>
            <a:pPr algn="ctr">
              <a:lnSpc>
                <a:spcPct val="155000"/>
              </a:lnSpc>
            </a:pPr>
            <a:r>
              <a:rPr sz="1350" b="1" i="0">
                <a:solidFill>
                  <a:srgbClr val="9FE8DC"/>
                </a:solidFill>
                <a:latin typeface="Inter"/>
              </a:rPr>
              <a:t>admin@rivr.social    ·    app.rivr.social    ·    invest.rivr.social</a:t>
            </a:r>
          </a:p>
        </p:txBody>
      </p:sp>
      <p:sp>
        <p:nvSpPr>
          <p:cNvPr id="8" name="TextBox 7"/>
          <p:cNvSpPr txBox="1"/>
          <p:nvPr/>
        </p:nvSpPr>
        <p:spPr>
          <a:xfrm>
            <a:off x="822960" y="5943600"/>
            <a:ext cx="10515600" cy="365760"/>
          </a:xfrm>
          <a:prstGeom prst="rect">
            <a:avLst/>
          </a:prstGeom>
          <a:noFill/>
        </p:spPr>
        <p:txBody>
          <a:bodyPr wrap="square" lIns="0" rIns="0" tIns="0" bIns="0">
            <a:spAutoFit/>
          </a:bodyPr>
          <a:lstStyle/>
          <a:p>
            <a:pPr algn="ctr">
              <a:lnSpc>
                <a:spcPct val="115000"/>
              </a:lnSpc>
            </a:pPr>
            <a:r>
              <a:rPr sz="1600" b="0" i="1">
                <a:solidFill>
                  <a:srgbClr val="F4EAD8"/>
                </a:solidFill>
                <a:latin typeface="Georgia"/>
              </a:rPr>
              <a:t>Flow local. Connect global.  </a:t>
            </a:r>
            <a:r>
              <a:rPr sz="1600" b="0" i="1">
                <a:solidFill>
                  <a:srgbClr val="EBCF9E"/>
                </a:solidFill>
                <a:latin typeface="Georgia"/>
              </a:rPr>
              <a:t>A Rivr made of many rivers.</a:t>
            </a:r>
          </a:p>
        </p:txBody>
      </p:sp>
      <p:pic>
        <p:nvPicPr>
          <p:cNvPr id="9" name="Picture 8"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0" name="TextBox 9"/>
          <p:cNvSpPr txBox="1"/>
          <p:nvPr/>
        </p:nvSpPr>
        <p:spPr>
          <a:xfrm>
            <a:off x="914400" y="6455664"/>
            <a:ext cx="3657600" cy="228600"/>
          </a:xfrm>
          <a:prstGeom prst="rect">
            <a:avLst/>
          </a:prstGeom>
          <a:noFill/>
        </p:spPr>
        <p:txBody>
          <a:bodyPr wrap="square" lIns="0" rIns="0" tIns="0" bIns="0">
            <a:spAutoFit/>
          </a:bodyPr>
          <a:lstStyle/>
          <a:p>
            <a:pPr algn="l">
              <a:lnSpc>
                <a:spcPct val="115000"/>
              </a:lnSpc>
            </a:pPr>
            <a:r>
              <a:rPr sz="950" b="0" i="0">
                <a:solidFill>
                  <a:srgbClr val="AFC4C2"/>
                </a:solidFill>
                <a:latin typeface="Inter"/>
              </a:rPr>
              <a:t>Rivr · Seed Round 2026</a:t>
            </a:r>
          </a:p>
        </p:txBody>
      </p:sp>
      <p:sp>
        <p:nvSpPr>
          <p:cNvPr id="11" name="TextBox 10"/>
          <p:cNvSpPr txBox="1"/>
          <p:nvPr/>
        </p:nvSpPr>
        <p:spPr>
          <a:xfrm>
            <a:off x="11247120" y="6455664"/>
            <a:ext cx="640080" cy="228600"/>
          </a:xfrm>
          <a:prstGeom prst="rect">
            <a:avLst/>
          </a:prstGeom>
          <a:noFill/>
        </p:spPr>
        <p:txBody>
          <a:bodyPr wrap="square" lIns="0" rIns="0" tIns="0" bIns="0">
            <a:spAutoFit/>
          </a:bodyPr>
          <a:lstStyle/>
          <a:p>
            <a:pPr algn="r">
              <a:lnSpc>
                <a:spcPct val="115000"/>
              </a:lnSpc>
            </a:pPr>
            <a:r>
              <a:rPr sz="950" b="0" i="0">
                <a:solidFill>
                  <a:srgbClr val="AFC4C2"/>
                </a:solidFill>
                <a:latin typeface="Inter"/>
              </a:rPr>
              <a:t>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