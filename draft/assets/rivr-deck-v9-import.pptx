
<file path=[Content_Types].xml><?xml version="1.0" encoding="utf-8"?>
<Types xmlns="http://schemas.openxmlformats.org/package/2006/content-types">
  <Default ContentType="application/x-fontdata" Extension="fntdata"/>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8287542" cy="10287000" type="screen4x3"/>
  <p:notesSz cx="6858000" cy="9144000"/>
  <p:embeddedFontLst>
    <p:embeddedFont>
      <p:font typeface="Alike Italics" pitchFamily="2" charset="0"/>
      <p:regular r:id="rId60"/>
    </p:embeddedFont>
    <p:embeddedFont>
      <p:font typeface="Ibarra Real Nova Italics" pitchFamily="2" charset="0"/>
      <p:regular r:id="rId61"/>
    </p:embeddedFont>
    <p:embeddedFont>
      <p:font typeface="TT Commons Pro" pitchFamily="2" charset="0"/>
      <p:regular r:id="rId62"/>
    </p:embeddedFont>
    <p:embeddedFont>
      <p:font typeface="TT Commons Pro Bold" pitchFamily="2" charset="0"/>
      <p:regular r:id="rId63"/>
    </p:embeddedFont>
    <p:embeddedFont>
      <p:font typeface="Todes 1" pitchFamily="2" charset="0"/>
      <p:regular r:id="rId64"/>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font" Target="fonts/font1.fntdata"/><Relationship Id="rId61" Type="http://schemas.openxmlformats.org/officeDocument/2006/relationships/font" Target="fonts/font2.fntdata"/><Relationship Id="rId62" Type="http://schemas.openxmlformats.org/officeDocument/2006/relationships/font" Target="fonts/font3.fntdata"/><Relationship Id="rId63" Type="http://schemas.openxmlformats.org/officeDocument/2006/relationships/font" Target="fonts/font4.fntdata"/><Relationship Id="rId64" Type="http://schemas.openxmlformats.org/officeDocument/2006/relationships/font" Target="fonts/font5.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Rivr — a social network for local life.</a:t>
            </a:r>
          </a:p>
          <a:p>
            <a:r>
              <a:t>Every place already holds most of what the people in it need: skills, tools, food, spaces, knowledge, money, care. What's missing is not resources. What's missing is visibility and coordination.</a:t>
            </a:r>
          </a:p>
          <a:p>
            <a:r>
              <a:t>[pause]</a:t>
            </a:r>
          </a:p>
          <a:p>
            <a:r>
              <a:t>Rivr makes the capacity of a place visible enough to act on.</a:t>
            </a:r>
          </a:p>
          <a:p>
            <a:r>
              <a:t>BRIDGE: Let me start with what's already in every community.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Look at what any place already contains. People with skills. People looking for work. Tools sitting unused. Food being grown. Spaces, knowledge, projects, money, care, ideas — things people would give away, and things people are actively searching for.</a:t>
            </a:r>
          </a:p>
          <a:p>
            <a:r>
              <a:t>[pause]</a:t>
            </a:r>
          </a:p>
          <a:p>
            <a:r>
              <a:t>None of this is missing. It exists, right now, within a few miles of every person in this room.</a:t>
            </a:r>
          </a:p>
          <a:p>
            <a:r>
              <a:t>The problem is not that these things don't exist. The problem is finding them, trusting them, and coordinating around them.</a:t>
            </a:r>
          </a:p>
          <a:p>
            <a:r>
              <a:t>[pause]</a:t>
            </a:r>
          </a:p>
          <a:p>
            <a:r>
              <a:t>A need and a resource can sit three blocks apart and never meet.</a:t>
            </a:r>
          </a:p>
          <a:p>
            <a:r>
              <a:t>BRIDGE: And even when they do meet, the work is only beginning.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Say you do find each other. You still have to answer: who is doing what, what did we agree to, what resources are needed, how does someone join, who contributed, what happened, and what is owed.</a:t>
            </a:r>
          </a:p>
          <a:p>
            <a:r>
              <a:t>[pause]</a:t>
            </a:r>
          </a:p>
          <a:p>
            <a:r>
              <a:t>Real coordination is this whole chain — discover, trust, agree, organize, act, verify, account, compensate. Today people assemble that chain by hand, out of a dozen disconnected tools, every single time.</a:t>
            </a:r>
          </a:p>
          <a:p>
            <a:r>
              <a:t>[pause]</a:t>
            </a:r>
          </a:p>
          <a:p>
            <a:r>
              <a:t>That overhead is why so much possible activity never happens. It isn't a lack of will. It's friction.</a:t>
            </a:r>
          </a:p>
          <a:p>
            <a:r>
              <a:t>BRIDGE: And the tools we use to fight that friction are themselves scattered.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Meanwhile our digital lives are split across a dozen products. Events over here. Payments over there. Projects, messages, markets, documents, scheduling, governance — each in its own silo, none of them aware of the others.</a:t>
            </a:r>
          </a:p>
          <a:p>
            <a:r>
              <a:t>[pause]</a:t>
            </a:r>
          </a:p>
          <a:p>
            <a:r>
              <a:t>We spend a remarkable amount of time coordinating the tools that are supposed to help us coordinate.</a:t>
            </a:r>
          </a:p>
          <a:p>
            <a:r>
              <a:t>[pause]</a:t>
            </a:r>
          </a:p>
          <a:p>
            <a:r>
              <a:t>And notice what actually happened over the last fifteen years: social media did evolve toward coordination. It grew groups, events, marketplaces, business tools. The expansion wasn't the problem. The incentive structure underneath it was.</a:t>
            </a:r>
          </a:p>
          <a:p>
            <a:r>
              <a:t>BRIDGE: So what would it look like if a community could actually see itself?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So picture the alternative. What happens when a community can actually see itself?</a:t>
            </a:r>
          </a:p>
          <a:p>
            <a:r>
              <a:t>[pause]</a:t>
            </a:r>
          </a:p>
          <a:p>
            <a:r>
              <a:t>Needs find resources. Skills find opportunities. People find each other. Ideas find collaborators. Local businesses find local customers. Projects find the people who can make them happen.</a:t>
            </a:r>
          </a:p>
          <a:p>
            <a:r>
              <a:t>[pause]</a:t>
            </a:r>
          </a:p>
          <a:p>
            <a:r>
              <a:t>Notice what that requires. In most cases the resources don't need to be created. They simply need to be connected.</a:t>
            </a:r>
          </a:p>
          <a:p>
            <a:r>
              <a:t>BRIDGE: And connection has a shape — it happens somewhere. Place matters.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can search the entire planet and still miss the thing three blocks away.</a:t>
            </a:r>
          </a:p>
          <a:p>
            <a:r>
              <a:t>[pause]</a:t>
            </a:r>
          </a:p>
          <a:p>
            <a:r>
              <a:t>Someone orders from across the country what a neighbor already has on a shelf. A business struggles to find customers while nearby residents search elsewhere for exactly what it sells. Two organizations duplicate the same work because they cannot see each other.</a:t>
            </a:r>
          </a:p>
          <a:p>
            <a:r>
              <a:t>[pause]</a:t>
            </a:r>
          </a:p>
          <a:p>
            <a:r>
              <a:t>Rivr brings place back — not as a wall around a community, but as context. Local when possible, wider network when needed.</a:t>
            </a:r>
          </a:p>
          <a:p>
            <a:r>
              <a:t>BRIDGE: Though 'local' turns out to mean more than one thing.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Place is not one fixed boundary. It's nested. A household sits inside a neighborhood, inside a town or an organization, inside a watershed or bioregion, inside the wider network.</a:t>
            </a:r>
          </a:p>
          <a:p>
            <a:r>
              <a:t>[pause]</a:t>
            </a:r>
          </a:p>
          <a:p>
            <a:r>
              <a:t>And people belong to several of these at once. This is not geographic lock-in — it's layered belonging.</a:t>
            </a:r>
          </a:p>
          <a:p>
            <a:r>
              <a:t>[pause]</a:t>
            </a:r>
          </a:p>
          <a:p>
            <a:r>
              <a:t>What that buys you is scope. The right people, information, resources, and activity appear at the level where they actually matter.</a:t>
            </a:r>
          </a:p>
          <a:p>
            <a:r>
              <a:t>BRIDGE: The largest of those scopes is ecological — and that's not decoration.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 river basin tells a different story about where we live than a city boundary does.</a:t>
            </a:r>
          </a:p>
          <a:p>
            <a:r>
              <a:t>[pause]</a:t>
            </a:r>
          </a:p>
          <a:p>
            <a:r>
              <a:t>Water, food, energy, transport, habitat, economy, and culture all move through actual places, and they don't stop at the county line. They follow the shape of the land.</a:t>
            </a:r>
          </a:p>
          <a:p>
            <a:r>
              <a:t>[pause]</a:t>
            </a:r>
          </a:p>
          <a:p>
            <a:r>
              <a:t>So the question is not simply what kind of social media comes next. It's what kind of technology helps humans live more intelligently inside the places and ecosystems that sustain us.</a:t>
            </a:r>
          </a:p>
          <a:p>
            <a:r>
              <a:t>BRIDGE: Here is what we built to do that.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Rivr is a place-based social and economic network. One connected environment where a community can see and use what it has.</a:t>
            </a:r>
          </a:p>
          <a:p>
            <a:r>
              <a:t>[pause]</a:t>
            </a:r>
          </a:p>
          <a:p>
            <a:r>
              <a:t>Find what's nearby. Discover and create events. Offer and ask. Find work, hire well. Create groups. Build projects together. Create roles and tasks. Exchange value. Coordinate action.</a:t>
            </a:r>
          </a:p>
          <a:p>
            <a:r>
              <a:t>[pause]</a:t>
            </a:r>
          </a:p>
          <a:p>
            <a:r>
              <a:t>Less searching through disconnected platforms. More actually doing things together.</a:t>
            </a:r>
          </a:p>
          <a:p>
            <a:r>
              <a:t>BRIDGE: On the surface, it looks like something you already know how to use.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surface is deliberately familiar. Profiles, posts, feeds, events, groups, messages, offers, businesses, products, services, jobs, local discovery.</a:t>
            </a:r>
          </a:p>
          <a:p>
            <a:r>
              <a:t>[pause]</a:t>
            </a:r>
          </a:p>
          <a:p>
            <a:r>
              <a:t>That's on purpose. Rivr should still feel alive and social — expression, personality, interests, and relationships all matter. Economic relationships usually begin as human ones.</a:t>
            </a:r>
          </a:p>
          <a:p>
            <a:r>
              <a:t>[pause]</a:t>
            </a:r>
          </a:p>
          <a:p>
            <a:r>
              <a:t>But underneath that familiar surface is real coordination infrastructure. That's the part nobody else has built.</a:t>
            </a:r>
          </a:p>
          <a:p>
            <a:r>
              <a:t>BRIDGE: Start with discovery — because discovery is where it all begins.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Discovery on Rivr has two jobs.</a:t>
            </a:r>
          </a:p>
          <a:p>
            <a:r>
              <a:t>Sometimes you know exactly what you need — a person, a service, a tool, a venue, tonight's event. Show me that.</a:t>
            </a:r>
          </a:p>
          <a:p>
            <a:r>
              <a:t>[pause]</a:t>
            </a:r>
          </a:p>
          <a:p>
            <a:r>
              <a:t>And sometimes you don't know what's possible yet — a project you'd want to join, a skill nearby, an opportunity you didn't know to search for. Show me what I'd be glad to know exists.</a:t>
            </a:r>
          </a:p>
          <a:p>
            <a:r>
              <a:t>[pause]</a:t>
            </a:r>
          </a:p>
          <a:p>
            <a:r>
              <a:t>What it should never be is random noise, or whoever paid to be inserted into the feed. Discovery optimized for the user's world, not advertiser demand.</a:t>
            </a:r>
          </a:p>
          <a:p>
            <a:r>
              <a:t>BRIDGE: And discovery is only worth anything if it leads to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Here's the arc Rivr actually supports. A person finds a project. The project creates a role. The role has tasks. The person fulfills them. The contribution is recorded. Value moves. The organization sees what happened.</a:t>
            </a:r>
          </a:p>
          <a:p>
            <a:r>
              <a:t>[pause]</a:t>
            </a:r>
          </a:p>
          <a:p>
            <a:r>
              <a:t>And the person builds a history of real participation — which becomes the basis for trust the next time.</a:t>
            </a:r>
          </a:p>
          <a:p>
            <a:r>
              <a:t>[pause]</a:t>
            </a:r>
          </a:p>
          <a:p>
            <a:r>
              <a:t>Every other platform stops at the first step.</a:t>
            </a:r>
          </a:p>
          <a:p>
            <a:r>
              <a:t>BRIDGE: That history is a different kind of signal than a follower count.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Most platforms measure followers, likes, views, engagement. That's a popularity score, and it's tuned to keep people performing for the feed.</a:t>
            </a:r>
          </a:p>
          <a:p>
            <a:r>
              <a:t>[pause]</a:t>
            </a:r>
          </a:p>
          <a:p>
            <a:r>
              <a:t>Rivr can measure something else: what have you actually contributed? Helped with projects. Completed work. Offered skills. Shown up. Supported people. Created value.</a:t>
            </a:r>
          </a:p>
          <a:p>
            <a:r>
              <a:t>[pause]</a:t>
            </a:r>
          </a:p>
          <a:p>
            <a:r>
              <a:t>That makes participation legible — and it becomes context for trust, qualification, reputation, compensation, and stake. Trust grows through real participation, not follower counts.</a:t>
            </a:r>
          </a:p>
          <a:p>
            <a:r>
              <a:t>BRIDGE: Which brings us to trust itself.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Finding the resource is not enough. Before anyone acts, they ask a second set of questions. Who is this person? Are they part of my community? What have they done? Do they have the relevant skill? Do we share relationships? Have they contributed before?</a:t>
            </a:r>
          </a:p>
          <a:p>
            <a:r>
              <a:t>[pause]</a:t>
            </a:r>
          </a:p>
          <a:p>
            <a:r>
              <a:t>Every one of those is a trust question, and today you answer them by asking around.</a:t>
            </a:r>
          </a:p>
          <a:p>
            <a:r>
              <a:t>[pause]</a:t>
            </a:r>
          </a:p>
          <a:p>
            <a:r>
              <a:t>Rivr can answer them from things the network already knows — relationships, history, qualifications, references, verified claims, group membership, and contribution.</a:t>
            </a:r>
          </a:p>
          <a:p>
            <a:r>
              <a:t>BRIDGE: That's the substrate. Here's what it looks like as a product.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Three audiences, one product.</a:t>
            </a:r>
          </a:p>
          <a:p>
            <a:r>
              <a:t>For a person: a genuinely useful local social network — feeds, profiles, groups, events, markets, jobs, local discovery.</a:t>
            </a:r>
          </a:p>
          <a:p>
            <a:r>
              <a:t>For an organization: the tools to actually operate — projects, roles, tasks, scheduling, payments, documents, governance, inventory.</a:t>
            </a:r>
          </a:p>
          <a:p>
            <a:r>
              <a:t>For a community: a living map of what that place has, needs, knows, makes, and can do.</a:t>
            </a:r>
          </a:p>
          <a:p>
            <a:r>
              <a:t>[pause]</a:t>
            </a:r>
          </a:p>
          <a:p>
            <a:r>
              <a:t>Today those functions live across many disconnected products. Rivr brings them into one connected ecosystem.</a:t>
            </a:r>
          </a:p>
          <a:p>
            <a:r>
              <a:t>BRIDGE: And it isn't only for formal organizations.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And this has to work for ordinary life, not just for institutions.</a:t>
            </a:r>
          </a:p>
          <a:p>
            <a:r>
              <a:t>Neighbors see who has extra food. Someone finds the ladder. Someone finds childcare. A neighborhood organizes a work party. A household tracks shared purchases.</a:t>
            </a:r>
          </a:p>
          <a:p>
            <a:r>
              <a:t>[pause]</a:t>
            </a:r>
          </a:p>
          <a:p>
            <a:r>
              <a:t>Resilience is built partly through ordinary life — the small exchanges that never make it into any formal system.</a:t>
            </a:r>
          </a:p>
          <a:p>
            <a:r>
              <a:t>BRIDGE: But when a group does get formal, it needs much more than a feed.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 small business schedules shifts. A cooperative tracks contribution. A nonprofit runs projects, holds documents, makes decisions, moves money.</a:t>
            </a:r>
          </a:p>
          <a:p>
            <a:r>
              <a:t>[pause]</a:t>
            </a:r>
          </a:p>
          <a:p>
            <a:r>
              <a:t>None of that is a group chat about the organization. It's the organization actually operating — documents, projects, jobs, tasks, qualifications, roles, contribution records, governance, permissions, treasury, payments, membership, events, communications.</a:t>
            </a:r>
          </a:p>
          <a:p>
            <a:r>
              <a:t>[pause]</a:t>
            </a:r>
          </a:p>
          <a:p>
            <a:r>
              <a:t>Today those live across a dozen products that don't know about each other. Rivr brings them into one shared relational environment.</a:t>
            </a:r>
          </a:p>
          <a:p>
            <a:r>
              <a:t>BRIDGE: Start with the most mundane part of it — the records.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Most collaborative problems are boring. Who agreed to do this? Did it happen? Who contributed? Who approved it? What did we agree to? How much does somebody get paid?</a:t>
            </a:r>
          </a:p>
          <a:p>
            <a:r>
              <a:t>[pause]</a:t>
            </a:r>
          </a:p>
          <a:p>
            <a:r>
              <a:t>When those answers live in someone's memory or a chat thread, cooperation depends on chasing people. When they live in a shared record, it doesn't.</a:t>
            </a:r>
          </a:p>
          <a:p>
            <a:r>
              <a:t>[pause]</a:t>
            </a:r>
          </a:p>
          <a:p>
            <a:r>
              <a:t>Clear commitments and visible history make trust easier. The ledger is social infrastructure as much as financial infrastructure.</a:t>
            </a:r>
          </a:p>
          <a:p>
            <a:r>
              <a:t>BRIDGE: And once the patterns are recorded, they can be reused.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Every new project reinvents the same structures — roles, workflows, approvals, governance patterns, resource flows.</a:t>
            </a:r>
          </a:p>
          <a:p>
            <a:r>
              <a:t>[pause]</a:t>
            </a:r>
          </a:p>
          <a:p>
            <a:r>
              <a:t>Capture those once as templates, and any group can pick them up on day one. Starting something new stops requiring an operations expert before it requires anything else.</a:t>
            </a:r>
          </a:p>
          <a:p>
            <a:r>
              <a:t>[pause]</a:t>
            </a:r>
          </a:p>
          <a:p>
            <a:r>
              <a:t>That matters economically: easier organization means more projects, more businesses, more organizations — more economic activity, and more local capacity.</a:t>
            </a:r>
          </a:p>
          <a:p>
            <a:r>
              <a:t>BRIDGE: Capacity that doesn't only move in dollars.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Not every useful exchange begins and ends with money.</a:t>
            </a:r>
          </a:p>
          <a:p>
            <a:r>
              <a:t>People have time, skills, tools, food, space, knowledge. They have dollars and bitcoin and vouchers and professional services. They have things to lend and things they no longer need.</a:t>
            </a:r>
          </a:p>
          <a:p>
            <a:r>
              <a:t>[pause]</a:t>
            </a:r>
          </a:p>
          <a:p>
            <a:r>
              <a:t>And a resource can move in many ways: sold, rented, traded, lent, shared, gifted, contributed, on mutual credit, part cash plus part service.</a:t>
            </a:r>
          </a:p>
          <a:p>
            <a:r>
              <a:t>[pause]</a:t>
            </a:r>
          </a:p>
          <a:p>
            <a:r>
              <a:t>A community contains far more value than the dollars currently circulating through it. The aim is useful resource flow.</a:t>
            </a:r>
          </a:p>
          <a:p>
            <a:r>
              <a:t>BRIDGE: Which reframes what it means to lack money.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 lack of cash should not automatically mean a lack of capacity.</a:t>
            </a:r>
          </a:p>
          <a:p>
            <a:r>
              <a:t>[pause]</a:t>
            </a:r>
          </a:p>
          <a:p>
            <a:r>
              <a:t>Economic sovereignty does not mean abandoning existing money. It means having more than one way to participate. If someone lacks dollars but has time, skill, knowledge, or labor — useful activity does not have to stop.</a:t>
            </a:r>
          </a:p>
          <a:p>
            <a:r>
              <a:t>[pause]</a:t>
            </a:r>
          </a:p>
          <a:p>
            <a:r>
              <a:t>A community becomes more resilient when useful exchange can continue through multiple mutually agreed forms.</a:t>
            </a:r>
          </a:p>
          <a:p>
            <a:r>
              <a:t>BRIDGE: And when exchange keeps moving, something compounds.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the loop that makes the whole thing compound.</a:t>
            </a:r>
          </a:p>
          <a:p>
            <a:r>
              <a:t>Greater visibility creates more coordination. More coordination creates more exchange. More exchange creates more relationships. More activity creates better information about what a place actually needs — and visible demand makes new local businesses, services, production, care networks, and infrastructure viable. Which creates more capacity, and more resilience, and more to be visible about.</a:t>
            </a:r>
          </a:p>
          <a:p>
            <a:r>
              <a:t>[pause]</a:t>
            </a:r>
          </a:p>
          <a:p>
            <a:r>
              <a:t>The goal is not simply to circulate what already exists. Better resource flow creates new productive capacity.</a:t>
            </a:r>
          </a:p>
          <a:p>
            <a:r>
              <a:t>BRIDGE: And the information coming off that loop is itself valuable.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Once activity is visible, a place can finally ask questions about itself.</a:t>
            </a:r>
          </a:p>
          <a:p>
            <a:r>
              <a:t>Where are the shortages? What sits unused? What are people repeatedly trying to find? What do we constantly source from elsewhere? What new business could become viable? What could people build together?</a:t>
            </a:r>
          </a:p>
          <a:p>
            <a:r>
              <a:t>[pause]</a:t>
            </a:r>
          </a:p>
          <a:p>
            <a:r>
              <a:t>That's a feedback system for developing local capacity — not merely a marketplace for what already exists.</a:t>
            </a:r>
          </a:p>
          <a:p>
            <a:r>
              <a:t>BRIDGE: And it reveals partners, not just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familiar pattern online is need, provider, transaction. Done.</a:t>
            </a:r>
          </a:p>
          <a:p>
            <a:r>
              <a:t>[pause]</a:t>
            </a:r>
          </a:p>
          <a:p>
            <a:r>
              <a:t>But there's a larger pattern: visibility, coordination, coalition, collective capacity.</a:t>
            </a:r>
          </a:p>
          <a:p>
            <a:r>
              <a:t>Two organizations may be working separately on the same problem. Several projects may hold complementary resources and never know it.</a:t>
            </a:r>
          </a:p>
          <a:p>
            <a:r>
              <a:t>[pause]</a:t>
            </a:r>
          </a:p>
          <a:p>
            <a:r>
              <a:t>A mission too large for any one organization becomes possible through a coalition.</a:t>
            </a:r>
          </a:p>
          <a:p>
            <a:r>
              <a:t>BRIDGE: Which is really a statement about interdependence.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Healthy communities are not made of people who can each do everything themselves. They're made of people with different abilities who can find, trust, and cooperate with one another.</a:t>
            </a:r>
          </a:p>
          <a:p>
            <a:r>
              <a:t>[pause]</a:t>
            </a:r>
          </a:p>
          <a:p>
            <a:r>
              <a:t>The goal is greater autonomy, supported by stronger interdependence. Those aren't opposites — one produces the other.</a:t>
            </a:r>
          </a:p>
          <a:p>
            <a:r>
              <a:t>BRIDGE: To support that, the software underneath has to be a different shape.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Step back and look at the architecture.</a:t>
            </a:r>
          </a:p>
          <a:p>
            <a:r>
              <a:t>Communication, commerce, projects, events, payments, scheduling, governance, documents, AI — today each of these is a separate platform you stitch together.</a:t>
            </a:r>
          </a:p>
          <a:p>
            <a:r>
              <a:t>[pause]</a:t>
            </a:r>
          </a:p>
          <a:p>
            <a:r>
              <a:t>But they are all different views of the same relationships: between people, organizations, resources, needs, agreements, and actions.</a:t>
            </a:r>
          </a:p>
          <a:p>
            <a:r>
              <a:t>[pause]</a:t>
            </a:r>
          </a:p>
          <a:p>
            <a:r>
              <a:t>The social network is the doorway. Coordination infrastructure is the larger opportunity.</a:t>
            </a:r>
          </a:p>
          <a:p>
            <a:r>
              <a:t>BRIDGE: With one rule — the complexity stays underneath.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There's a design rule underneath all of this.</a:t>
            </a:r>
          </a:p>
          <a:p>
            <a:r>
              <a:t>Nobody should need to understand federation, REA data models, mutual credit, cooperative law, containers, distributed computing, or interoperability protocols.</a:t>
            </a:r>
          </a:p>
          <a:p>
            <a:r>
              <a:t>[pause]</a:t>
            </a:r>
          </a:p>
          <a:p>
            <a:r>
              <a:t>What people should experience is: find a bike. Join an event. Find a babysitter. Take a job. Start a project.</a:t>
            </a:r>
          </a:p>
          <a:p>
            <a:r>
              <a:t>[pause]</a:t>
            </a:r>
          </a:p>
          <a:p>
            <a:r>
              <a:t>Complex infrastructure. Simple participation.</a:t>
            </a:r>
          </a:p>
          <a:p>
            <a:r>
              <a:t>BRIDGE: So what is that infrastructure, concretely?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Underneath, Rivr models the world the way accountants and economists actually do — resources, events, and agents.</a:t>
            </a:r>
          </a:p>
          <a:p>
            <a:r>
              <a:t>A resource is anything that can change hands or change state: tools, food, space, money, skills, work products. An event is something happening: an exchange, a contribution, a decision, a delivery. An agent is a person or a group who acts.</a:t>
            </a:r>
          </a:p>
          <a:p>
            <a:r>
              <a:t>[pause]</a:t>
            </a:r>
          </a:p>
          <a:p>
            <a:r>
              <a:t>The basic unit is not 'someone posted something.' It is people and organizations doing things with resources.</a:t>
            </a:r>
          </a:p>
          <a:p>
            <a:r>
              <a:t>BRIDGE: And because it's a shared model, other tools can plug into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Rivr does not have to build every application. It has to be the connective tissue between them.</a:t>
            </a:r>
          </a:p>
          <a:p>
            <a:r>
              <a:t>[pause]</a:t>
            </a:r>
          </a:p>
          <a:p>
            <a:r>
              <a:t>A course platform, a health tool, a farm-management system, an astrology app, a specialized co-op tool — any of them can plug into the same relational environment and reach the same people, resources, and agreements.</a:t>
            </a:r>
          </a:p>
          <a:p>
            <a:r>
              <a:t>[pause]</a:t>
            </a:r>
          </a:p>
          <a:p>
            <a:r>
              <a:t>The goal is ecosystem coherence, not total software ownership.</a:t>
            </a:r>
          </a:p>
          <a:p>
            <a:r>
              <a:t>BRIDGE: But somebody still has to build the thing people actually use.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 fair question: why not just publish protocols and let a thousand apps bloom?</a:t>
            </a:r>
          </a:p>
          <a:p>
            <a:r>
              <a:t>[pause]</a:t>
            </a:r>
          </a:p>
          <a:p>
            <a:r>
              <a:t>Shared schemas matter. Open-source infrastructure matters. Interoperability matters. But specifications alone do not produce an ecosystem people can actually use.</a:t>
            </a:r>
          </a:p>
          <a:p>
            <a:r>
              <a:t>[pause]</a:t>
            </a:r>
          </a:p>
          <a:p>
            <a:r>
              <a:t>Somebody still has to integrate it, design it, maintain it, support people, market it, make product decisions, and keep responding to changing needs.</a:t>
            </a:r>
          </a:p>
          <a:p>
            <a:r>
              <a:t>We don't just need an engine spec. We need the car.</a:t>
            </a:r>
          </a:p>
          <a:p>
            <a:r>
              <a:t>BRIDGE: And you learn the right standards by driving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So our approach to standards is empirical.</a:t>
            </a:r>
          </a:p>
          <a:p>
            <a:r>
              <a:t>Build the thing real communities need. Use it — real coordination, real exchange, real governance. Learn what actually needs to work together. Refine, because practice informs architecture. Then standardize what works, and federate.</a:t>
            </a:r>
          </a:p>
          <a:p>
            <a:r>
              <a:t>[pause]</a:t>
            </a:r>
          </a:p>
          <a:p>
            <a:r>
              <a:t>Purely theoretical protocols optimize for imagined needs. Real implementations reveal actual interoperability needs.</a:t>
            </a:r>
          </a:p>
          <a:p>
            <a:r>
              <a:t>BRIDGE: Now, the harder questions — starting with data.</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Connected does not have to mean surrendered.</a:t>
            </a:r>
          </a:p>
          <a:p>
            <a:r>
              <a:t>A person controls where their information lives, and what — if anything — moves outward. A group can operate its own instance, with its own rules, memory, and data. A community can share local infrastructure and still be connected to the wider network.</a:t>
            </a:r>
          </a:p>
          <a:p>
            <a:r>
              <a:t>[pause]</a:t>
            </a:r>
          </a:p>
          <a:p>
            <a:r>
              <a:t>Those systems still talk to the network. But only what people choose or permit moves outward. Participating in the network does not mean surrendering ownership of your data to the network.</a:t>
            </a:r>
          </a:p>
          <a:p>
            <a:r>
              <a:t>BRIDGE: Privacy works the same way — contextually.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Privacy is not simply public or private. Different people see different things, for different purposes, under different conditions.</a:t>
            </a:r>
          </a:p>
          <a:p>
            <a:r>
              <a:t>[pause]</a:t>
            </a:r>
          </a:p>
          <a:p>
            <a:r>
              <a:t>You can be findable for a job without publishing everything. An organization can show one face to members and another to neighbors. And often the system can simply confirm yes or no — qualified, in the area, eligible — without exposing what's underneath.</a:t>
            </a:r>
          </a:p>
          <a:p>
            <a:r>
              <a:t>[pause]</a:t>
            </a:r>
          </a:p>
          <a:p>
            <a:r>
              <a:t>The goal is not secrecy. It's appropriate visibility.</a:t>
            </a:r>
          </a:p>
          <a:p>
            <a:r>
              <a:t>BRIDGE: The same principle applies to your attention.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Sovereignty over your attention, too.</a:t>
            </a:r>
          </a:p>
          <a:p>
            <a:r>
              <a:t>Outward: you decide what the world can see of you, and in which contexts. Inward: you decide what gets to enter your field of view. What reaches me? Why? According to whose priorities?</a:t>
            </a:r>
          </a:p>
          <a:p>
            <a:r>
              <a:t>[pause]</a:t>
            </a:r>
          </a:p>
          <a:p>
            <a:r>
              <a:t>Relevance shaped by place, relationships, interests, urgency, communities, time, and chosen context — useful relevance instead of attention capture.</a:t>
            </a:r>
          </a:p>
          <a:p>
            <a:r>
              <a:t>BRIDGE: Which becomes far more urgent once AI is in the loop.</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AI makes all of this more important, not less.</a:t>
            </a:r>
          </a:p>
          <a:p>
            <a:r>
              <a:t>AI could become another centralized layer, another source of dependence, another surveillance infrastructure. It is already capable of searching, scheduling, purchasing, organizing — acting.</a:t>
            </a:r>
          </a:p>
          <a:p>
            <a:r>
              <a:t>[pause]</a:t>
            </a:r>
          </a:p>
          <a:p>
            <a:r>
              <a:t>Or it could help communities find resources, coordinate work, understand needs, surface unused capacity, and care for the ecological systems that sustain them.</a:t>
            </a:r>
          </a:p>
          <a:p>
            <a:r>
              <a:t>[pause]</a:t>
            </a:r>
          </a:p>
          <a:p>
            <a:r>
              <a:t>The question is whether AI makes us more dependent on distant infrastructure, or more capable where we are.</a:t>
            </a:r>
          </a:p>
          <a:p>
            <a:r>
              <a:t>BRIDGE: That outcome is decided by ownership.</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Ownership changes the incentives.</a:t>
            </a:r>
          </a:p>
          <a:p>
            <a:r>
              <a:t>Most platforms capture attention, capture data, capture transactions — and network value concentrates upward.</a:t>
            </a:r>
          </a:p>
          <a:p>
            <a:r>
              <a:t>[pause]</a:t>
            </a:r>
          </a:p>
          <a:p>
            <a:r>
              <a:t>In Rivr's loop, the people using the network create its value, so they participate in its success. Revenue supports operations, patrons, workers, stewards, reserves, and continued development.</a:t>
            </a:r>
          </a:p>
          <a:p>
            <a:r>
              <a:t>[pause]</a:t>
            </a:r>
          </a:p>
          <a:p>
            <a:r>
              <a:t>Serving the community is how Rivr succeeds — not something added after it succeeds.</a:t>
            </a:r>
          </a:p>
          <a:p>
            <a:r>
              <a:t>BRIDGE: And the cooperative isn't a claim on a page. It's in the product.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cooperative is not a statement on the About page. Rivr runs on Rivr.</a:t>
            </a:r>
          </a:p>
          <a:p>
            <a:r>
              <a:t>[pause]</a:t>
            </a:r>
          </a:p>
          <a:p>
            <a:r>
              <a:t>Membership, stake, participation, contribution, revenue, surplus, patronage, and governance are all visible relationships inside the system itself.</a:t>
            </a:r>
          </a:p>
          <a:p>
            <a:r>
              <a:t>[pause]</a:t>
            </a:r>
          </a:p>
          <a:p>
            <a:r>
              <a:t>The institution demonstrates the coordination architecture it is building for others.</a:t>
            </a:r>
          </a:p>
          <a:p>
            <a:r>
              <a:t>BRIDGE: Which raises the obvious worry about any coordinating institution.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Rivr does need real things. One strong brand. A coordinated company. Capital, a development team, marketing, product leadership, a shared user experience, common standards.</a:t>
            </a:r>
          </a:p>
          <a:p>
            <a:r>
              <a:t>[pause]</a:t>
            </a:r>
          </a:p>
          <a:p>
            <a:r>
              <a:t>But none of that requires one company owning everyone's data, one authority controlling every community, one governance body over every instance, or one permanent corporate center.</a:t>
            </a:r>
          </a:p>
          <a:p>
            <a:r>
              <a:t>[pause]</a:t>
            </a:r>
          </a:p>
          <a:p>
            <a:r>
              <a:t>A coherent product can coexist with distributed ownership, local governance, sovereign data, federation, and interoperability.</a:t>
            </a:r>
          </a:p>
          <a:p>
            <a:r>
              <a:t>BRIDGE: And here's how we make capture structurally hard.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If platforms became extractive because incentives changed, Rivr cannot simply say 'trust us.' The answer has to be structural.</a:t>
            </a:r>
          </a:p>
          <a:p>
            <a:r>
              <a:t>[pause]</a:t>
            </a:r>
          </a:p>
          <a:p>
            <a:r>
              <a:t>Cooperative ownership — the users own the institution, so capture has no cheap entry point. Public-benefit purpose — the outcomes are in the Articles: obligations, not marketing. Federation — no single switch to seize. Sovereign data — communities keep their data, and leaving is always possible. Interoperability — open standards mean no lock-in to defend badly. Contextual permissions — visibility and access stay under member control.</a:t>
            </a:r>
          </a:p>
          <a:p>
            <a:r>
              <a:t>[pause]</a:t>
            </a:r>
          </a:p>
          <a:p>
            <a:r>
              <a:t>Build the system so capture is harder even if future incentives change.</a:t>
            </a:r>
          </a:p>
          <a:p>
            <a:r>
              <a:t>BRIDGE: Now let's talk about the market.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Our competition is not one company. It's the fragmented stack.</a:t>
            </a:r>
          </a:p>
          <a:p>
            <a:r>
              <a:t>Facebook, Nextdoor, Meetup, Eventbrite, Asana, Slack, Venmo, Google Workspace, Square, Shopify, Luma, and now centralized AI.</a:t>
            </a:r>
          </a:p>
          <a:p>
            <a:r>
              <a:t>[pause]</a:t>
            </a:r>
          </a:p>
          <a:p>
            <a:r>
              <a:t>Modeled on a five-seat organization, that recognizable stack runs about three hundred twenty-eight dollars and twenty cents a month, before hiring fees. The equivalent Rivr organization is about forty-six dollars and six cents — one relational ecosystem.</a:t>
            </a:r>
          </a:p>
          <a:p>
            <a:r>
              <a:t>[pause]</a:t>
            </a:r>
          </a:p>
          <a:p>
            <a:r>
              <a:t>That's roughly two hundred eighty-two dollars a month saved. About three thousand five hundred forty-seven dollars a year, for one small organization.</a:t>
            </a:r>
          </a:p>
          <a:p>
            <a:r>
              <a:t>BRIDGE: But price isn't the reason people will switch.</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Values are not enough. Rivr cannot succeed simply because people agree with the philosophy.</a:t>
            </a:r>
          </a:p>
          <a:p>
            <a:r>
              <a:t>[pause]</a:t>
            </a:r>
          </a:p>
          <a:p>
            <a:r>
              <a:t>It has to save time, save money, replace fragmented tools, make work easier, make discovery more useful, reduce coordination friction, and feel good to use.</a:t>
            </a:r>
          </a:p>
          <a:p>
            <a:r>
              <a:t>[pause]</a:t>
            </a:r>
          </a:p>
          <a:p>
            <a:r>
              <a:t>People should choose Rivr because Rivr works. The deeper architecture determines who benefits when it does.</a:t>
            </a:r>
          </a:p>
          <a:p>
            <a:r>
              <a:t>BRIDGE: And it already works — this is not a mockup.</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not a mockup. The platform is built and running.</a:t>
            </a:r>
          </a:p>
          <a:p>
            <a:r>
              <a:t>app.rivr.social is live — sovereign community instances, person, group, and locale, federating into one network. The full economic loop is proven end to end on Stripe rails, cent-exact: marketplace, ticketing, jobs, attestation, payout, memberships, refunds. Rivr Pay lanes include tap-to-pay checkout, connected payouts, withholding, subgroup treasuries and card issuing on Stripe Treasury and Issuing.</a:t>
            </a:r>
          </a:p>
          <a:p>
            <a:r>
              <a:t>[pause]</a:t>
            </a:r>
          </a:p>
          <a:p>
            <a:r>
              <a:t>Real governance is running in production groups today — six ballot styles, eligibility gates, weighted voting, boards. Sales tax is registered computation with venue-sourced ticket tax and 1099-K seller gates. And it's AI-native: an org assistant on first-party credentials, an MCP surface of 118 tools, where agents act only as the asking member.</a:t>
            </a:r>
          </a:p>
          <a:p>
            <a:r>
              <a:t>[pause]</a:t>
            </a:r>
          </a:p>
          <a:p>
            <a:r>
              <a:t>Boulder is the first proving ground. This seed round funds go-to-market — not a science project.</a:t>
            </a:r>
          </a:p>
          <a:p>
            <a:r>
              <a:t>BRIDGE: Here's how the money actually works.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model is membership velocity, not fee inflation.</a:t>
            </a:r>
          </a:p>
          <a:p>
            <a:r>
              <a:t>Collaborators are eleven dollars a month, sellers twenty-two, hosts and producers twenty-two, organizers forty-four. Fifty-eight percent of users are free non-members.</a:t>
            </a:r>
          </a:p>
          <a:p>
            <a:r>
              <a:t>[pause]</a:t>
            </a:r>
          </a:p>
          <a:p>
            <a:r>
              <a:t>Transaction fee is unified across all rails: three point three percent plus a dollar forty-nine — and it's patronage-eligible, which matters in a minute.</a:t>
            </a:r>
          </a:p>
          <a:p>
            <a:r>
              <a:t>[pause]</a:t>
            </a:r>
          </a:p>
          <a:p>
            <a:r>
              <a:t>Five revenue streams: memberships, platform and transaction fees, local advertising from local businesses, and invested reserves.</a:t>
            </a:r>
          </a:p>
          <a:p>
            <a:r>
              <a:t>Forty-two percent of active users converting to paid membership is calibrated on ONE Boulder, where we did this before.</a:t>
            </a:r>
          </a:p>
          <a:p>
            <a:r>
              <a:t>BRIDGE: Now watch where every dollar goes.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Here is where every dollar goes.</a:t>
            </a:r>
          </a:p>
          <a:p>
            <a:r>
              <a:t>Fee surplus — platform and transaction fees — splits fifty percent to the Association, twenty-five percent to the fee-paying member, twenty-five percent to the chapter. Patronage goes only to the members who generated the fees.</a:t>
            </a:r>
          </a:p>
          <a:p>
            <a:r>
              <a:t>[pause]</a:t>
            </a:r>
          </a:p>
          <a:p>
            <a:r>
              <a:t>Non-fee surplus — dues, ads, invested reserves — is one hundred percent retained by the Association to fund the mission.</a:t>
            </a:r>
          </a:p>
          <a:p>
            <a:r>
              <a:t>[pause]</a:t>
            </a:r>
          </a:p>
          <a:p>
            <a:r>
              <a:t>Retained profit after corporate tax splits three ways: thirty-three percent stewards, thirty-three percent workers, thirty-three percent reserves. Investors, labor, and the commons share the upside evenly.</a:t>
            </a:r>
          </a:p>
          <a:p>
            <a:r>
              <a:t>[pause]</a:t>
            </a:r>
          </a:p>
          <a:p>
            <a:r>
              <a:t>And every patronage refund arrives twenty percent cash plus eighty percent member capital — so members build equity with every sale.</a:t>
            </a:r>
          </a:p>
          <a:p>
            <a:r>
              <a:t>BRIDGE: That's the engine. Now, scale.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Scale here has a purpose beyond company growth.</a:t>
            </a:r>
          </a:p>
          <a:p>
            <a:r>
              <a:t>Participation creates visibility. Visibility aggregates demand. Aggregated demand creates capacity.</a:t>
            </a:r>
          </a:p>
          <a:p>
            <a:r>
              <a:t>[pause]</a:t>
            </a:r>
          </a:p>
          <a:p>
            <a:r>
              <a:t>A network with meaningful adoption can direct attention toward local providers, coordinate purchasing, launch campaigns, reveal missing services, and bootstrap infrastructure — demand that supports local businesses, services, jobs, cooperative purchasing, and new markets.</a:t>
            </a:r>
          </a:p>
          <a:p>
            <a:r>
              <a:t>BRIDGE: Which is why we have to take real market share.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goal is not a tiny alternative for people who already agree.</a:t>
            </a:r>
          </a:p>
          <a:p>
            <a:r>
              <a:t>[pause]</a:t>
            </a:r>
          </a:p>
          <a:p>
            <a:r>
              <a:t>A values-aligned alternative cannot remain permanently marginal if it wants to change the industry. Take enough of the market and you change user expectations, influence competitors, raise standards, and prove that ownership can work differently.</a:t>
            </a:r>
          </a:p>
          <a:p>
            <a:r>
              <a:t>[pause]</a:t>
            </a:r>
          </a:p>
          <a:p>
            <a:r>
              <a:t>Play at a high enough level to change the game.</a:t>
            </a:r>
          </a:p>
          <a:p>
            <a:r>
              <a:t>BRIDGE: And you get there one place at a time.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Local does not mean isolated.</a:t>
            </a:r>
          </a:p>
          <a:p>
            <a:r>
              <a:t>Each place develops around its own people, culture, ecology, economy, needs, and resources. Communities keep their identity, rules, memory, and authority — even their data. And shared standards let systems work together, connecting difference rather than erasing it.</a:t>
            </a:r>
          </a:p>
          <a:p>
            <a:r>
              <a:t>[pause]</a:t>
            </a:r>
          </a:p>
          <a:p>
            <a:r>
              <a:t>Not one centralized global marketplace with dependent users everywhere — strong local networks connected to strong local networks.</a:t>
            </a:r>
          </a:p>
          <a:p>
            <a:r>
              <a:t>BRIDGE: So how does a new place actually start?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grow one place deep at a time.</a:t>
            </a:r>
          </a:p>
          <a:p>
            <a:r>
              <a:t>Seed a strong local community. Anchor it with events, organizations, creators, trusted members. Build density — enough activity that the network becomes genuinely useful. Then replicate into aligned places with local stewards and partner networks.</a:t>
            </a:r>
          </a:p>
          <a:p>
            <a:r>
              <a:t>[pause]</a:t>
            </a:r>
          </a:p>
          <a:p>
            <a:r>
              <a:t>We have done this before. ONE Boulder reached nearly forty-eight hundred users on one locale's events between 2020 and 2023, and forty-two percent of high-activity users converted to paid membership. That playbook is what Rivr now ships as software.</a:t>
            </a:r>
          </a:p>
          <a:p>
            <a:r>
              <a:t>[pause]</a:t>
            </a:r>
          </a:p>
          <a:p>
            <a:r>
              <a:t>Expansion regions are already mapped — Austin, Portland, Boston, Asheville, Nashville, San Diego, Sedona, Taos, Maui, and a variety of cities in bioregions worldwide.</a:t>
            </a:r>
          </a:p>
          <a:p>
            <a:r>
              <a:t>Starting local, again, in Boulder, Colorado.</a:t>
            </a:r>
          </a:p>
          <a:p>
            <a:r>
              <a:t>BRIDGE: Here's who's building it.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 small team building both the software and the institution.</a:t>
            </a:r>
          </a:p>
          <a:p>
            <a:r>
              <a:t>Cameron Ely-Murdock — strategy direction and development. Kathleen Marie Rose — design and community outreach. Grig Bilham — operations management.</a:t>
            </a:r>
          </a:p>
          <a:p>
            <a:r>
              <a:t>[pause]</a:t>
            </a:r>
          </a:p>
          <a:p>
            <a:r>
              <a:t>Timeline: Q3 2026, beta launch opens in Boulder and members sign up. Through 2027, mobile app build-out and bioregional expansion. By end of 2027, approximately thirty bioregions, about two hundred organizations, and more than five thousand members.</a:t>
            </a:r>
          </a:p>
          <a:p>
            <a:r>
              <a:t>[pause]</a:t>
            </a:r>
          </a:p>
          <a:p>
            <a:r>
              <a:t>We're affiliated with SPIRIT of the Front Range, OpenCivics, The Riverside, regenhub.xyz, CoHere, The Mystery Works, and Front Range Commons.</a:t>
            </a:r>
          </a:p>
          <a:p>
            <a:r>
              <a:t>BRIDGE: Which brings me to what we're raising.</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We're raising five hundred thousand dollars to take the built platform live.</a:t>
            </a:r>
          </a:p>
          <a:p>
            <a:r>
              <a:t>[pause]</a:t>
            </a:r>
          </a:p>
          <a:p>
            <a:r>
              <a:t>The instrument is a cooperative SAFE at a four million dollar cap with a twenty percent discount, converting to Class D Steward Shares for accredited investors under 506(b). Colorado residents can purchase Class R directly under 147A. Share price is twenty cents.</a:t>
            </a:r>
          </a:p>
          <a:p>
            <a:r>
              <a:t>[pause]</a:t>
            </a:r>
          </a:p>
          <a:p>
            <a:r>
              <a:t>The dividend right: the Steward Pool is thirty-three percent of after-tax retained profit, pro-rata, from the first profitable year.</a:t>
            </a:r>
          </a:p>
          <a:p>
            <a:r>
              <a:t>[pause]</a:t>
            </a:r>
          </a:p>
          <a:p>
            <a:r>
              <a:t>Use of funds: live-money cutover and payment operations, core team compensation and engineering, community growth and chapter onboarding, legal and compliance and co-op formation, and infrastructure and AI. That's runway into the 2027 Crowd round.</a:t>
            </a:r>
          </a:p>
          <a:p>
            <a:r>
              <a:t>BRIDGE: And this is what the money is ultimately for.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As a Public Benefit Corporation, these outcomes are obligations in our Articles — not marketing.</a:t>
            </a:r>
          </a:p>
          <a:p>
            <a:r>
              <a:t>Economic resilience: local economic thriving through cooperative commerce, resource sharing, community building. Regenerative impact through education, technology, and transparency. Civic engagement through accessible cooperative ownership. Personal liberty — data sovereignty and open tools. Local culture and ecology: the vitality of each place. And thriving bioregions — roughly thirty active bioregions and two hundred living organizations by end of 2027.</a:t>
            </a:r>
          </a:p>
          <a:p>
            <a:r>
              <a:t>[pause]</a:t>
            </a:r>
          </a:p>
          <a:p>
            <a:r>
              <a:t>The bigger vision is capable places — able to see and care for themselves without cutting themselves off from the rest of the world.</a:t>
            </a:r>
          </a:p>
          <a:p>
            <a:r>
              <a:t>BRIDGE: One last thought.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I'll close with the strangest thing about this product.</a:t>
            </a:r>
          </a:p>
          <a:p>
            <a:r>
              <a:t>[pause]</a:t>
            </a:r>
          </a:p>
          <a:p>
            <a:r>
              <a:t>The best Rivr interaction may end with you leaving Rivr. Find the thing. Find the person. Make the agreement. Join the project. Go meet them. Go do the work. Put the phone away.</a:t>
            </a:r>
          </a:p>
          <a:p>
            <a:r>
              <a:t>[pause]</a:t>
            </a:r>
          </a:p>
          <a:p>
            <a:r>
              <a:t>We don't need to abandon modern technology to remember how to live together — we can build better technology for it.</a:t>
            </a:r>
          </a:p>
          <a:p>
            <a:r>
              <a:t>[pause]</a:t>
            </a:r>
          </a:p>
          <a:p>
            <a:r>
              <a:t>Flow local. Connect global. A Rivr made of many rivers.</a:t>
            </a:r>
          </a:p>
          <a:p>
            <a:r>
              <a:t>Thank you. admin@rivr.social, app.rivr.social, invest.rivr.social.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xml"/><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image" Target="../media/image11.png"/><Relationship Id="rId12" Type="http://schemas.openxmlformats.org/officeDocument/2006/relationships/image" Target="../media/image12.png"/><Relationship Id="rId13" Type="http://schemas.openxmlformats.org/officeDocument/2006/relationships/image" Target="../media/image13.png"/><Relationship Id="rId14" Type="http://schemas.openxmlformats.org/officeDocument/2006/relationships/image" Target="../media/image14.png"/><Relationship Id="rId15" Type="http://schemas.openxmlformats.org/officeDocument/2006/relationships/image" Target="../media/image15.png"/><Relationship Id="rId16"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3.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4.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5.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6.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7.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8.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9.xml"/><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image" Target="../media/image12.png"/><Relationship Id="rId8" Type="http://schemas.openxmlformats.org/officeDocument/2006/relationships/image" Target="../media/image26.png"/><Relationship Id="rId9" Type="http://schemas.openxmlformats.org/officeDocument/2006/relationships/image" Target="../media/image9.png"/><Relationship Id="rId10" Type="http://schemas.openxmlformats.org/officeDocument/2006/relationships/image" Target="../media/image27.png"/><Relationship Id="rId11" Type="http://schemas.openxmlformats.org/officeDocument/2006/relationships/image" Target="../media/image10.png"/><Relationship Id="rId12" Type="http://schemas.openxmlformats.org/officeDocument/2006/relationships/image" Target="../media/image28.png"/><Relationship Id="rId1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10.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11.xml"/><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12.xml"/><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13.xml"/><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14.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15.xml"/><Relationship Id="rId4" Type="http://schemas.openxmlformats.org/officeDocument/2006/relationships/image" Target="../media/image4.png"/><Relationship Id="rId5" Type="http://schemas.openxmlformats.org/officeDocument/2006/relationships/image" Target="../media/image13.png"/><Relationship Id="rId6" Type="http://schemas.openxmlformats.org/officeDocument/2006/relationships/image" Target="../media/image26.png"/><Relationship Id="rId7"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16.xml"/><Relationship Id="rId4"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11.png"/><Relationship Id="rId7" Type="http://schemas.openxmlformats.org/officeDocument/2006/relationships/image" Target="../media/image26.png"/><Relationship Id="rId8" Type="http://schemas.openxmlformats.org/officeDocument/2006/relationships/image" Target="../media/image10.png"/><Relationship Id="rId9"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17.xml"/><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27.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40.png"/><Relationship Id="rId11" Type="http://schemas.openxmlformats.org/officeDocument/2006/relationships/image" Target="../media/image41.png"/><Relationship Id="rId12" Type="http://schemas.openxmlformats.org/officeDocument/2006/relationships/image" Target="../media/image10.png"/><Relationship Id="rId13" Type="http://schemas.openxmlformats.org/officeDocument/2006/relationships/image" Target="../media/image4.png"/><Relationship Id="rId14" Type="http://schemas.openxmlformats.org/officeDocument/2006/relationships/image" Target="../media/image24.png"/><Relationship Id="rId15" Type="http://schemas.openxmlformats.org/officeDocument/2006/relationships/image" Target="../media/image42.png"/><Relationship Id="rId16"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 Id="rId3" Type="http://schemas.openxmlformats.org/officeDocument/2006/relationships/notesSlide" Target="../notesSlides/notesSlide18.xml"/><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jpg"/><Relationship Id="rId3" Type="http://schemas.openxmlformats.org/officeDocument/2006/relationships/notesSlide" Target="../notesSlides/notesSlide19.xml"/><Relationship Id="rId4" Type="http://schemas.openxmlformats.org/officeDocument/2006/relationships/image" Target="../media/image8.png"/><Relationship Id="rId5"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 Id="rId3" Type="http://schemas.openxmlformats.org/officeDocument/2006/relationships/notesSlide" Target="../notesSlides/notesSlide20.xml"/><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jpg"/><Relationship Id="rId3" Type="http://schemas.openxmlformats.org/officeDocument/2006/relationships/notesSlide" Target="../notesSlides/notesSlide21.xml"/><Relationship Id="rId4" Type="http://schemas.openxmlformats.org/officeDocument/2006/relationships/image" Target="../media/image10.png"/><Relationship Id="rId5" Type="http://schemas.openxmlformats.org/officeDocument/2006/relationships/image" Target="../media/image47.png"/><Relationship Id="rId6" Type="http://schemas.openxmlformats.org/officeDocument/2006/relationships/image" Target="../media/image5.png"/><Relationship Id="rId7" Type="http://schemas.openxmlformats.org/officeDocument/2006/relationships/image" Target="../media/image12.png"/><Relationship Id="rId8" Type="http://schemas.openxmlformats.org/officeDocument/2006/relationships/image" Target="../media/image8.png"/><Relationship Id="rId9"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jpg"/><Relationship Id="rId3" Type="http://schemas.openxmlformats.org/officeDocument/2006/relationships/notesSlide" Target="../notesSlides/notesSlide22.xml"/><Relationship Id="rId4" Type="http://schemas.openxmlformats.org/officeDocument/2006/relationships/image" Target="../media/image49.png"/><Relationship Id="rId5" Type="http://schemas.openxmlformats.org/officeDocument/2006/relationships/image" Target="../media/image28.png"/><Relationship Id="rId6" Type="http://schemas.openxmlformats.org/officeDocument/2006/relationships/image" Target="../media/image10.png"/><Relationship Id="rId7" Type="http://schemas.openxmlformats.org/officeDocument/2006/relationships/image" Target="../media/image26.png"/><Relationship Id="rId8" Type="http://schemas.openxmlformats.org/officeDocument/2006/relationships/image" Target="../media/image50.png"/><Relationship Id="rId9" Type="http://schemas.openxmlformats.org/officeDocument/2006/relationships/image" Target="../media/image51.png"/><Relationship Id="rId10" Type="http://schemas.openxmlformats.org/officeDocument/2006/relationships/image" Target="../media/image13.png"/><Relationship Id="rId11" Type="http://schemas.openxmlformats.org/officeDocument/2006/relationships/image" Target="../media/image39.png"/><Relationship Id="rId12"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jpg"/><Relationship Id="rId3" Type="http://schemas.openxmlformats.org/officeDocument/2006/relationships/notesSlide" Target="../notesSlides/notesSlide23.xml"/><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jpg"/><Relationship Id="rId3" Type="http://schemas.openxmlformats.org/officeDocument/2006/relationships/notesSlide" Target="../notesSlides/notesSlide24.xml"/><Relationship Id="rId4" Type="http://schemas.openxmlformats.org/officeDocument/2006/relationships/image" Target="../media/image28.png"/><Relationship Id="rId5"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 Id="rId3" Type="http://schemas.openxmlformats.org/officeDocument/2006/relationships/notesSlide" Target="../notesSlides/notesSlide25.xml"/><Relationship Id="rId4"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26.xml"/><Relationship Id="rId4" Type="http://schemas.openxmlformats.org/officeDocument/2006/relationships/image" Target="../media/image42.png"/><Relationship Id="rId5" Type="http://schemas.openxmlformats.org/officeDocument/2006/relationships/image" Target="../media/image56.png"/><Relationship Id="rId6" Type="http://schemas.openxmlformats.org/officeDocument/2006/relationships/image" Target="../media/image9.png"/><Relationship Id="rId7" Type="http://schemas.openxmlformats.org/officeDocument/2006/relationships/image" Target="../media/image24.png"/><Relationship Id="rId8" Type="http://schemas.openxmlformats.org/officeDocument/2006/relationships/image" Target="../media/image10.png"/><Relationship Id="rId9" Type="http://schemas.openxmlformats.org/officeDocument/2006/relationships/image" Target="../media/image47.png"/><Relationship Id="rId10" Type="http://schemas.openxmlformats.org/officeDocument/2006/relationships/image" Target="../media/image4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57.png"/><Relationship Id="rId14"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jpg"/><Relationship Id="rId3" Type="http://schemas.openxmlformats.org/officeDocument/2006/relationships/notesSlide" Target="../notesSlides/notesSlide27.xml"/><Relationship Id="rId4" Type="http://schemas.openxmlformats.org/officeDocument/2006/relationships/image" Target="../media/image5.png"/><Relationship Id="rId5" Type="http://schemas.openxmlformats.org/officeDocument/2006/relationships/image" Target="../media/image24.png"/><Relationship Id="rId6" Type="http://schemas.openxmlformats.org/officeDocument/2006/relationships/image" Target="../media/image11.png"/><Relationship Id="rId7" Type="http://schemas.openxmlformats.org/officeDocument/2006/relationships/image" Target="../media/image9.png"/><Relationship Id="rId8"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jpg"/><Relationship Id="rId3" Type="http://schemas.openxmlformats.org/officeDocument/2006/relationships/notesSlide" Target="../notesSlides/notesSlide28.xml"/><Relationship Id="rId4" Type="http://schemas.openxmlformats.org/officeDocument/2006/relationships/image" Target="../media/image60.png"/><Relationship Id="rId5" Type="http://schemas.openxmlformats.org/officeDocument/2006/relationships/image" Target="../media/image24.png"/><Relationship Id="rId6" Type="http://schemas.openxmlformats.org/officeDocument/2006/relationships/image" Target="../media/image4.png"/><Relationship Id="rId7"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jpg"/><Relationship Id="rId3" Type="http://schemas.openxmlformats.org/officeDocument/2006/relationships/notesSlide" Target="../notesSlides/notesSlide29.xml"/><Relationship Id="rId4" Type="http://schemas.openxmlformats.org/officeDocument/2006/relationships/image" Target="../media/image57.png"/><Relationship Id="rId5"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jpg"/><Relationship Id="rId3" Type="http://schemas.openxmlformats.org/officeDocument/2006/relationships/notesSlide" Target="../notesSlides/notesSlide30.xml"/><Relationship Id="rId4"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jpg"/><Relationship Id="rId3" Type="http://schemas.openxmlformats.org/officeDocument/2006/relationships/notesSlide" Target="../notesSlides/notesSlide31.xml"/><Relationship Id="rId4" Type="http://schemas.openxmlformats.org/officeDocument/2006/relationships/image" Target="../media/image28.png"/><Relationship Id="rId5" Type="http://schemas.openxmlformats.org/officeDocument/2006/relationships/image" Target="../media/image26.png"/><Relationship Id="rId6" Type="http://schemas.openxmlformats.org/officeDocument/2006/relationships/image" Target="../media/image14.png"/><Relationship Id="rId7" Type="http://schemas.openxmlformats.org/officeDocument/2006/relationships/image" Target="../media/image27.png"/><Relationship Id="rId8" Type="http://schemas.openxmlformats.org/officeDocument/2006/relationships/image" Target="../media/image39.png"/><Relationship Id="rId9"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jpg"/><Relationship Id="rId3" Type="http://schemas.openxmlformats.org/officeDocument/2006/relationships/notesSlide" Target="../notesSlides/notesSlide32.xml"/><Relationship Id="rId4" Type="http://schemas.openxmlformats.org/officeDocument/2006/relationships/image" Target="../media/image4.png"/><Relationship Id="rId5" Type="http://schemas.openxmlformats.org/officeDocument/2006/relationships/image" Target="../media/image26.png"/><Relationship Id="rId6" Type="http://schemas.openxmlformats.org/officeDocument/2006/relationships/image" Target="../media/image13.png"/><Relationship Id="rId7"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jpg"/><Relationship Id="rId3" Type="http://schemas.openxmlformats.org/officeDocument/2006/relationships/notesSlide" Target="../notesSlides/notesSlide33.xml"/><Relationship Id="rId4"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jpg"/><Relationship Id="rId3" Type="http://schemas.openxmlformats.org/officeDocument/2006/relationships/notesSlide" Target="../notesSlides/notesSlide34.xml"/><Relationship Id="rId4" Type="http://schemas.openxmlformats.org/officeDocument/2006/relationships/image" Target="../media/image23.png"/><Relationship Id="rId5" Type="http://schemas.openxmlformats.org/officeDocument/2006/relationships/image" Target="../media/image26.png"/><Relationship Id="rId6" Type="http://schemas.openxmlformats.org/officeDocument/2006/relationships/image" Target="../media/image14.png"/><Relationship Id="rId7" Type="http://schemas.openxmlformats.org/officeDocument/2006/relationships/image" Target="../media/image47.png"/><Relationship Id="rId8" Type="http://schemas.openxmlformats.org/officeDocument/2006/relationships/image" Target="../media/image13.png"/><Relationship Id="rId9" Type="http://schemas.openxmlformats.org/officeDocument/2006/relationships/image" Target="../media/image49.png"/><Relationship Id="rId10"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jpg"/><Relationship Id="rId3" Type="http://schemas.openxmlformats.org/officeDocument/2006/relationships/notesSlide" Target="../notesSlides/notesSlide35.xml"/><Relationship Id="rId4" Type="http://schemas.openxmlformats.org/officeDocument/2006/relationships/image" Target="../media/image14.png"/><Relationship Id="rId5" Type="http://schemas.openxmlformats.org/officeDocument/2006/relationships/image" Target="../media/image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jpg"/><Relationship Id="rId3" Type="http://schemas.openxmlformats.org/officeDocument/2006/relationships/notesSlide" Target="../notesSlides/notesSlide36.xml"/><Relationship Id="rId4" Type="http://schemas.openxmlformats.org/officeDocument/2006/relationships/image" Target="../media/image4.png"/><Relationship Id="rId5" Type="http://schemas.openxmlformats.org/officeDocument/2006/relationships/image" Target="../media/image28.png"/><Relationship Id="rId6" Type="http://schemas.openxmlformats.org/officeDocument/2006/relationships/image" Target="../media/image10.png"/><Relationship Id="rId7" Type="http://schemas.openxmlformats.org/officeDocument/2006/relationships/image" Target="../media/image15.png"/><Relationship Id="rId8" Type="http://schemas.openxmlformats.org/officeDocument/2006/relationships/image" Target="../media/image37.png"/><Relationship Id="rId9"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jpg"/><Relationship Id="rId3" Type="http://schemas.openxmlformats.org/officeDocument/2006/relationships/notesSlide" Target="../notesSlides/notesSlide37.xml"/><Relationship Id="rId4" Type="http://schemas.openxmlformats.org/officeDocument/2006/relationships/image" Target="../media/image4.png"/><Relationship Id="rId5" Type="http://schemas.openxmlformats.org/officeDocument/2006/relationships/image" Target="../media/image37.png"/><Relationship Id="rId6" Type="http://schemas.openxmlformats.org/officeDocument/2006/relationships/image" Target="../media/image28.png"/><Relationship Id="rId7" Type="http://schemas.openxmlformats.org/officeDocument/2006/relationships/image" Target="../media/image39.png"/><Relationship Id="rId8" Type="http://schemas.openxmlformats.org/officeDocument/2006/relationships/image" Target="../media/image10.png"/><Relationship Id="rId9" Type="http://schemas.openxmlformats.org/officeDocument/2006/relationships/image" Target="../media/image41.png"/><Relationship Id="rId10" Type="http://schemas.openxmlformats.org/officeDocument/2006/relationships/image" Target="../media/image15.png"/><Relationship Id="rId11" Type="http://schemas.openxmlformats.org/officeDocument/2006/relationships/image" Target="../media/image40.png"/><Relationship Id="rId12" Type="http://schemas.openxmlformats.org/officeDocument/2006/relationships/image" Target="../media/image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jpg"/><Relationship Id="rId3" Type="http://schemas.openxmlformats.org/officeDocument/2006/relationships/notesSlide" Target="../notesSlides/notesSlide38.xml"/><Relationship Id="rId4" Type="http://schemas.openxmlformats.org/officeDocument/2006/relationships/image" Target="../media/image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jpg"/><Relationship Id="rId3" Type="http://schemas.openxmlformats.org/officeDocument/2006/relationships/notesSlide" Target="../notesSlides/notesSlide39.xml"/><Relationship Id="rId4" Type="http://schemas.openxmlformats.org/officeDocument/2006/relationships/image" Target="../media/image26.png"/><Relationship Id="rId5" Type="http://schemas.openxmlformats.org/officeDocument/2006/relationships/image" Target="../media/image37.png"/><Relationship Id="rId6" Type="http://schemas.openxmlformats.org/officeDocument/2006/relationships/image" Target="../media/image57.png"/><Relationship Id="rId7" Type="http://schemas.openxmlformats.org/officeDocument/2006/relationships/image" Target="../media/image8.png"/><Relationship Id="rId8" Type="http://schemas.openxmlformats.org/officeDocument/2006/relationships/image" Target="../media/image72.png"/><Relationship Id="rId9" Type="http://schemas.openxmlformats.org/officeDocument/2006/relationships/image" Target="../media/image38.png"/><Relationship Id="rId10"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jpg"/><Relationship Id="rId3" Type="http://schemas.openxmlformats.org/officeDocument/2006/relationships/notesSlide" Target="../notesSlides/notesSlide40.xml"/><Relationship Id="rId4" Type="http://schemas.openxmlformats.org/officeDocument/2006/relationships/image" Target="../media/image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jpg"/><Relationship Id="rId3" Type="http://schemas.openxmlformats.org/officeDocument/2006/relationships/notesSlide" Target="../notesSlides/notesSlide41.xml"/><Relationship Id="rId4" Type="http://schemas.openxmlformats.org/officeDocument/2006/relationships/image" Target="../media/image47.png"/><Relationship Id="rId5" Type="http://schemas.openxmlformats.org/officeDocument/2006/relationships/image" Target="../media/image10.png"/><Relationship Id="rId6" Type="http://schemas.openxmlformats.org/officeDocument/2006/relationships/image" Target="../media/image28.png"/><Relationship Id="rId7" Type="http://schemas.openxmlformats.org/officeDocument/2006/relationships/image" Target="../media/image12.png"/><Relationship Id="rId8" Type="http://schemas.openxmlformats.org/officeDocument/2006/relationships/image" Target="../media/image49.png"/><Relationship Id="rId9" Type="http://schemas.openxmlformats.org/officeDocument/2006/relationships/image" Target="../media/image72.png"/><Relationship Id="rId10" Type="http://schemas.openxmlformats.org/officeDocument/2006/relationships/image" Target="../media/image11.png"/><Relationship Id="rId11" Type="http://schemas.openxmlformats.org/officeDocument/2006/relationships/image" Target="../media/image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jpg"/><Relationship Id="rId3" Type="http://schemas.openxmlformats.org/officeDocument/2006/relationships/notesSlide" Target="../notesSlides/notesSlide42.xml"/><Relationship Id="rId4" Type="http://schemas.openxmlformats.org/officeDocument/2006/relationships/image" Target="../media/image57.png"/><Relationship Id="rId5" Type="http://schemas.openxmlformats.org/officeDocument/2006/relationships/image" Target="../media/image10.png"/><Relationship Id="rId6" Type="http://schemas.openxmlformats.org/officeDocument/2006/relationships/image" Target="../media/image41.png"/><Relationship Id="rId7" Type="http://schemas.openxmlformats.org/officeDocument/2006/relationships/image" Target="../media/image40.png"/><Relationship Id="rId8" Type="http://schemas.openxmlformats.org/officeDocument/2006/relationships/image" Target="../media/image39.png"/><Relationship Id="rId9" Type="http://schemas.openxmlformats.org/officeDocument/2006/relationships/image" Target="../media/image14.png"/><Relationship Id="rId10" Type="http://schemas.openxmlformats.org/officeDocument/2006/relationships/image" Target="../media/image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jpg"/><Relationship Id="rId3" Type="http://schemas.openxmlformats.org/officeDocument/2006/relationships/notesSlide" Target="../notesSlides/notesSlide43.xml"/><Relationship Id="rId4" Type="http://schemas.openxmlformats.org/officeDocument/2006/relationships/image" Target="../media/image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jpg"/><Relationship Id="rId3" Type="http://schemas.openxmlformats.org/officeDocument/2006/relationships/notesSlide" Target="../notesSlides/notesSlide44.xml"/><Relationship Id="rId4" Type="http://schemas.openxmlformats.org/officeDocument/2006/relationships/image" Target="../media/image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jpg"/><Relationship Id="rId3" Type="http://schemas.openxmlformats.org/officeDocument/2006/relationships/notesSlide" Target="../notesSlides/notesSlide45.xml"/><Relationship Id="rId4" Type="http://schemas.openxmlformats.org/officeDocument/2006/relationships/image" Target="../media/image4.png"/><Relationship Id="rId5" Type="http://schemas.openxmlformats.org/officeDocument/2006/relationships/image" Target="../media/image49.png"/><Relationship Id="rId6" Type="http://schemas.openxmlformats.org/officeDocument/2006/relationships/image" Target="../media/image51.png"/><Relationship Id="rId7" Type="http://schemas.openxmlformats.org/officeDocument/2006/relationships/image" Target="../media/image13.png"/><Relationship Id="rId8" Type="http://schemas.openxmlformats.org/officeDocument/2006/relationships/image" Target="../media/image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jpg"/><Relationship Id="rId3" Type="http://schemas.openxmlformats.org/officeDocument/2006/relationships/notesSlide" Target="../notesSlides/notesSlide46.xml"/><Relationship Id="rId4" Type="http://schemas.openxmlformats.org/officeDocument/2006/relationships/image" Target="../media/image4.png"/><Relationship Id="rId5" Type="http://schemas.openxmlformats.org/officeDocument/2006/relationships/image" Target="../media/image50.png"/><Relationship Id="rId6" Type="http://schemas.openxmlformats.org/officeDocument/2006/relationships/image" Target="../media/image37.png"/><Relationship Id="rId7" Type="http://schemas.openxmlformats.org/officeDocument/2006/relationships/image" Target="../media/image26.png"/><Relationship Id="rId8" Type="http://schemas.openxmlformats.org/officeDocument/2006/relationships/image" Target="../media/image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jpg"/><Relationship Id="rId3" Type="http://schemas.openxmlformats.org/officeDocument/2006/relationships/notesSlide" Target="../notesSlides/notesSlide47.xml"/><Relationship Id="rId4" Type="http://schemas.openxmlformats.org/officeDocument/2006/relationships/image" Target="../media/image23.png"/><Relationship Id="rId5" Type="http://schemas.openxmlformats.org/officeDocument/2006/relationships/image" Target="../media/image8.png"/><Relationship Id="rId6" Type="http://schemas.openxmlformats.org/officeDocument/2006/relationships/image" Target="../media/image72.png"/><Relationship Id="rId7" Type="http://schemas.openxmlformats.org/officeDocument/2006/relationships/image" Target="../media/image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jpg"/><Relationship Id="rId3" Type="http://schemas.openxmlformats.org/officeDocument/2006/relationships/notesSlide" Target="../notesSlides/notesSlide48.xml"/><Relationship Id="rId4" Type="http://schemas.openxmlformats.org/officeDocument/2006/relationships/image" Target="../media/image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jpg"/><Relationship Id="rId3" Type="http://schemas.openxmlformats.org/officeDocument/2006/relationships/notesSlide" Target="../notesSlides/notesSlide49.xml"/><Relationship Id="rId4" Type="http://schemas.openxmlformats.org/officeDocument/2006/relationships/image" Target="../media/image4.png"/><Relationship Id="rId5" Type="http://schemas.openxmlformats.org/officeDocument/2006/relationships/image" Target="../media/image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jpg"/><Relationship Id="rId3" Type="http://schemas.openxmlformats.org/officeDocument/2006/relationships/notesSlide" Target="../notesSlides/notesSlide50.xml"/><Relationship Id="rId4" Type="http://schemas.openxmlformats.org/officeDocument/2006/relationships/image" Target="../media/image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jpg"/><Relationship Id="rId3" Type="http://schemas.openxmlformats.org/officeDocument/2006/relationships/notesSlide" Target="../notesSlides/notesSlide51.xml"/><Relationship Id="rId4" Type="http://schemas.openxmlformats.org/officeDocument/2006/relationships/image" Target="../media/image10.png"/><Relationship Id="rId5" Type="http://schemas.openxmlformats.org/officeDocument/2006/relationships/image" Target="../media/image23.png"/><Relationship Id="rId6" Type="http://schemas.openxmlformats.org/officeDocument/2006/relationships/image" Target="../media/image40.png"/><Relationship Id="rId7" Type="http://schemas.openxmlformats.org/officeDocument/2006/relationships/image" Target="../media/image38.png"/><Relationship Id="rId8" Type="http://schemas.openxmlformats.org/officeDocument/2006/relationships/image" Target="../media/image11.png"/><Relationship Id="rId9" Type="http://schemas.openxmlformats.org/officeDocument/2006/relationships/image" Target="../media/image57.png"/><Relationship Id="rId10" Type="http://schemas.openxmlformats.org/officeDocument/2006/relationships/image" Target="../media/image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jpg"/><Relationship Id="rId3" Type="http://schemas.openxmlformats.org/officeDocument/2006/relationships/notesSlide" Target="../notesSlides/notesSlide52.xml"/><Relationship Id="rId4"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3333"/>
        </a:solidFill>
        <a:effectLst/>
      </p:bgPr>
    </p:bg>
    <p:spTree>
      <p:nvGrpSpPr>
        <p:cNvPr id="1" name=""/>
        <p:cNvGrpSpPr/>
        <p:nvPr/>
      </p:nvGrpSpPr>
      <p:grpSpPr/>
      <p:pic>
        <p:nvPicPr>
          <p:cNvPr id="2" name="Picture 1" descr="bg_c00.jpg"/>
          <p:cNvPicPr>
            <a:picLocks noChangeAspect="1"/>
          </p:cNvPicPr>
          <p:nvPr/>
        </p:nvPicPr>
        <p:blipFill>
          <a:blip r:embed="rId2"/>
          <a:stretch>
            <a:fillRect/>
          </a:stretch>
        </p:blipFill>
        <p:spPr>
          <a:xfrm>
            <a:off x="0" y="0"/>
            <a:ext cx="18287542" cy="10287000"/>
          </a:xfrm>
          <a:prstGeom prst="rect">
            <a:avLst/>
          </a:prstGeom>
        </p:spPr>
      </p:pic>
      <p:pic>
        <p:nvPicPr>
          <p:cNvPr id="3" name="Picture 2" descr="rivr-symbol-light.png"/>
          <p:cNvPicPr>
            <a:picLocks noChangeAspect="1"/>
          </p:cNvPicPr>
          <p:nvPr/>
        </p:nvPicPr>
        <p:blipFill>
          <a:blip r:embed="rId4"/>
          <a:stretch>
            <a:fillRect/>
          </a:stretch>
        </p:blipFill>
        <p:spPr>
          <a:xfrm>
            <a:off x="850392" y="795527"/>
            <a:ext cx="1234440" cy="1234440"/>
          </a:xfrm>
          <a:prstGeom prst="rect">
            <a:avLst/>
          </a:prstGeom>
        </p:spPr>
      </p:pic>
      <p:cxnSp>
        <p:nvCxnSpPr>
          <p:cNvPr id="4" name="Connector 3"/>
          <p:cNvCxnSpPr/>
          <p:nvPr/>
        </p:nvCxnSpPr>
        <p:spPr>
          <a:xfrm>
            <a:off x="13578840" y="2674620"/>
            <a:ext cx="1662158" cy="800453"/>
          </a:xfrm>
          <a:prstGeom prst="line">
            <a:avLst/>
          </a:prstGeom>
          <a:ln w="9525">
            <a:solidFill>
              <a:srgbClr val="1C5555"/>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5240998" y="3475073"/>
            <a:ext cx="410519" cy="1798602"/>
          </a:xfrm>
          <a:prstGeom prst="line">
            <a:avLst/>
          </a:prstGeom>
          <a:ln w="9525">
            <a:solidFill>
              <a:srgbClr val="1C5555"/>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a:off x="14501268" y="5273675"/>
            <a:ext cx="1150249" cy="1442366"/>
          </a:xfrm>
          <a:prstGeom prst="line">
            <a:avLst/>
          </a:prstGeom>
          <a:ln w="9525">
            <a:solidFill>
              <a:srgbClr val="1C555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12656411" y="6716041"/>
            <a:ext cx="1844857" cy="0"/>
          </a:xfrm>
          <a:prstGeom prst="line">
            <a:avLst/>
          </a:prstGeom>
          <a:ln w="9525">
            <a:solidFill>
              <a:srgbClr val="1C555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flipV="1">
            <a:off x="11506162" y="5273675"/>
            <a:ext cx="1150249" cy="1442366"/>
          </a:xfrm>
          <a:prstGeom prst="line">
            <a:avLst/>
          </a:prstGeom>
          <a:ln w="9525">
            <a:solidFill>
              <a:srgbClr val="1C555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506162" y="3475073"/>
            <a:ext cx="410519" cy="1798602"/>
          </a:xfrm>
          <a:prstGeom prst="line">
            <a:avLst/>
          </a:prstGeom>
          <a:ln w="9525">
            <a:solidFill>
              <a:srgbClr val="1C555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916681" y="2674620"/>
            <a:ext cx="1662159" cy="800453"/>
          </a:xfrm>
          <a:prstGeom prst="line">
            <a:avLst/>
          </a:prstGeom>
          <a:ln w="9525">
            <a:solidFill>
              <a:srgbClr val="1C5555"/>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3373100" y="2468880"/>
            <a:ext cx="411479" cy="411479"/>
          </a:xfrm>
          <a:prstGeom prst="ellipse">
            <a:avLst/>
          </a:prstGeom>
          <a:solidFill>
            <a:srgbClr val="0D3E40"/>
          </a:solidFill>
          <a:ln w="13970">
            <a:solidFill>
              <a:srgbClr val="99E6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5035258" y="3269333"/>
            <a:ext cx="411479" cy="411479"/>
          </a:xfrm>
          <a:prstGeom prst="ellipse">
            <a:avLst/>
          </a:prstGeom>
          <a:solidFill>
            <a:srgbClr val="0D3E40"/>
          </a:solidFill>
          <a:ln w="13970">
            <a:solidFill>
              <a:srgbClr val="99E6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5445777" y="5067935"/>
            <a:ext cx="411479" cy="411479"/>
          </a:xfrm>
          <a:prstGeom prst="ellipse">
            <a:avLst/>
          </a:prstGeom>
          <a:solidFill>
            <a:srgbClr val="0D3E40"/>
          </a:solidFill>
          <a:ln w="13970">
            <a:solidFill>
              <a:srgbClr val="99E6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4295528" y="6510301"/>
            <a:ext cx="411479" cy="411479"/>
          </a:xfrm>
          <a:prstGeom prst="ellipse">
            <a:avLst/>
          </a:prstGeom>
          <a:solidFill>
            <a:srgbClr val="0D3E40"/>
          </a:solidFill>
          <a:ln w="13970">
            <a:solidFill>
              <a:srgbClr val="99E6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2450671" y="6510301"/>
            <a:ext cx="411479" cy="411479"/>
          </a:xfrm>
          <a:prstGeom prst="ellipse">
            <a:avLst/>
          </a:prstGeom>
          <a:solidFill>
            <a:srgbClr val="0D3E40"/>
          </a:solidFill>
          <a:ln w="13970">
            <a:solidFill>
              <a:srgbClr val="99E6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300422" y="5067935"/>
            <a:ext cx="411479" cy="411479"/>
          </a:xfrm>
          <a:prstGeom prst="ellipse">
            <a:avLst/>
          </a:prstGeom>
          <a:solidFill>
            <a:srgbClr val="0D3E40"/>
          </a:solidFill>
          <a:ln w="13970">
            <a:solidFill>
              <a:srgbClr val="99E6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10941" y="3269333"/>
            <a:ext cx="411479" cy="411479"/>
          </a:xfrm>
          <a:prstGeom prst="ellipse">
            <a:avLst/>
          </a:prstGeom>
          <a:solidFill>
            <a:srgbClr val="0D3E40"/>
          </a:solidFill>
          <a:ln w="13970">
            <a:solidFill>
              <a:srgbClr val="99E6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392" y="3497579"/>
            <a:ext cx="11247119" cy="2743200"/>
          </a:xfrm>
          <a:prstGeom prst="rect">
            <a:avLst/>
          </a:prstGeom>
          <a:noFill/>
        </p:spPr>
        <p:txBody>
          <a:bodyPr wrap="square" lIns="0" rIns="0" tIns="0" bIns="0">
            <a:spAutoFit/>
          </a:bodyPr>
          <a:lstStyle/>
          <a:p>
            <a:pPr algn="l">
              <a:lnSpc>
                <a:spcPct val="125000"/>
              </a:lnSpc>
            </a:pPr>
            <a:r>
              <a:rPr sz="9600" spc="-130">
                <a:solidFill>
                  <a:srgbClr val="F4EAD8"/>
                </a:solidFill>
                <a:latin typeface="Todes 1"/>
              </a:rPr>
              <a:t>RIVR</a:t>
            </a:r>
          </a:p>
          <a:p>
            <a:pPr algn="l">
              <a:lnSpc>
                <a:spcPct val="125000"/>
              </a:lnSpc>
            </a:pPr>
            <a:r>
              <a:rPr sz="4500" spc="-75">
                <a:solidFill>
                  <a:srgbClr val="F2ECDD"/>
                </a:solidFill>
                <a:latin typeface="Ibarra Real Nova Italics"/>
              </a:rPr>
              <a:t>A social network for </a:t>
            </a:r>
            <a:r>
              <a:rPr sz="4500" spc="-75">
                <a:solidFill>
                  <a:srgbClr val="EBCF9E"/>
                </a:solidFill>
                <a:latin typeface="Ibarra Real Nova Italics"/>
              </a:rPr>
              <a:t>local life.</a:t>
            </a:r>
          </a:p>
        </p:txBody>
      </p:sp>
      <p:sp>
        <p:nvSpPr>
          <p:cNvPr id="19" name="TextBox 18"/>
          <p:cNvSpPr txBox="1"/>
          <p:nvPr/>
        </p:nvSpPr>
        <p:spPr>
          <a:xfrm>
            <a:off x="850392" y="6515100"/>
            <a:ext cx="11521440" cy="1234440"/>
          </a:xfrm>
          <a:prstGeom prst="rect">
            <a:avLst/>
          </a:prstGeom>
          <a:noFill/>
        </p:spPr>
        <p:txBody>
          <a:bodyPr wrap="square" lIns="0" rIns="0" tIns="0" bIns="0">
            <a:spAutoFit/>
          </a:bodyPr>
          <a:lstStyle/>
          <a:p>
            <a:pPr algn="l">
              <a:lnSpc>
                <a:spcPct val="150000"/>
              </a:lnSpc>
            </a:pPr>
            <a:r>
              <a:rPr sz="2100">
                <a:solidFill>
                  <a:srgbClr val="F2ECDD"/>
                </a:solidFill>
                <a:latin typeface="TT Commons Pro"/>
              </a:rPr>
              <a:t>Rivr makes the capacity of a place </a:t>
            </a:r>
            <a:r>
              <a:rPr sz="2100">
                <a:solidFill>
                  <a:srgbClr val="9FE8DC"/>
                </a:solidFill>
                <a:latin typeface="TT Commons Pro Bold"/>
              </a:rPr>
              <a:t>visible enough to act on</a:t>
            </a:r>
          </a:p>
          <a:p>
            <a:pPr algn="l">
              <a:lnSpc>
                <a:spcPct val="150000"/>
              </a:lnSpc>
            </a:pPr>
            <a:r>
              <a:rPr sz="2100">
                <a:solidFill>
                  <a:srgbClr val="F2ECDD"/>
                </a:solidFill>
                <a:latin typeface="TT Commons Pro"/>
              </a:rPr>
              <a:t>— so more of what we need can be found, shared,</a:t>
            </a:r>
          </a:p>
          <a:p>
            <a:pPr algn="l">
              <a:lnSpc>
                <a:spcPct val="150000"/>
              </a:lnSpc>
            </a:pPr>
            <a:r>
              <a:rPr sz="2100">
                <a:solidFill>
                  <a:srgbClr val="F2ECDD"/>
                </a:solidFill>
                <a:latin typeface="TT Commons Pro"/>
              </a:rPr>
              <a:t>coordinated, exchanged, and created together.</a:t>
            </a:r>
          </a:p>
        </p:txBody>
      </p:sp>
      <p:sp>
        <p:nvSpPr>
          <p:cNvPr id="20" name="TextBox 19"/>
          <p:cNvSpPr txBox="1"/>
          <p:nvPr/>
        </p:nvSpPr>
        <p:spPr>
          <a:xfrm>
            <a:off x="850392" y="8435340"/>
            <a:ext cx="15773400" cy="411479"/>
          </a:xfrm>
          <a:prstGeom prst="rect">
            <a:avLst/>
          </a:prstGeom>
          <a:noFill/>
        </p:spPr>
        <p:txBody>
          <a:bodyPr wrap="none" lIns="0" rIns="0" tIns="0" bIns="0">
            <a:spAutoFit/>
          </a:bodyPr>
          <a:lstStyle/>
          <a:p>
            <a:pPr algn="l">
              <a:lnSpc>
                <a:spcPct val="115000"/>
              </a:lnSpc>
            </a:pPr>
            <a:r>
              <a:rPr sz="1575" spc="330">
                <a:solidFill>
                  <a:srgbClr val="9FE8DC"/>
                </a:solidFill>
                <a:latin typeface="Todes 1"/>
              </a:rPr>
              <a:t>REGENERATIVE · INTERCONNECTED · VIBRANT · REGIONS</a:t>
            </a:r>
          </a:p>
        </p:txBody>
      </p:sp>
      <p:sp>
        <p:nvSpPr>
          <p:cNvPr id="21" name="TextBox 20"/>
          <p:cNvSpPr txBox="1"/>
          <p:nvPr/>
        </p:nvSpPr>
        <p:spPr>
          <a:xfrm>
            <a:off x="850392" y="8983980"/>
            <a:ext cx="16184880" cy="548640"/>
          </a:xfrm>
          <a:prstGeom prst="rect">
            <a:avLst/>
          </a:prstGeom>
          <a:noFill/>
        </p:spPr>
        <p:txBody>
          <a:bodyPr wrap="square" lIns="0" rIns="0" tIns="0" bIns="0">
            <a:spAutoFit/>
          </a:bodyPr>
          <a:lstStyle/>
          <a:p>
            <a:pPr algn="l">
              <a:lnSpc>
                <a:spcPct val="115000"/>
              </a:lnSpc>
            </a:pPr>
            <a:r>
              <a:rPr sz="2100" spc="20">
                <a:solidFill>
                  <a:srgbClr val="EBCF9E"/>
                </a:solidFill>
                <a:latin typeface="Alike Italics"/>
              </a:rPr>
              <a:t>Flow local. Connect global.  </a:t>
            </a:r>
            <a:r>
              <a:rPr sz="2100" spc="20">
                <a:solidFill>
                  <a:srgbClr val="AFC4C2"/>
                </a:solidFill>
                <a:latin typeface="Alike Italics"/>
              </a:rPr>
              <a:t>A Rivr made of many rivers.</a:t>
            </a:r>
          </a:p>
        </p:txBody>
      </p:sp>
      <p:sp>
        <p:nvSpPr>
          <p:cNvPr id="22" name="TextBox 21"/>
          <p:cNvSpPr txBox="1"/>
          <p:nvPr/>
        </p:nvSpPr>
        <p:spPr>
          <a:xfrm>
            <a:off x="850392" y="9683496"/>
            <a:ext cx="12344400" cy="411479"/>
          </a:xfrm>
          <a:prstGeom prst="rect">
            <a:avLst/>
          </a:prstGeom>
          <a:noFill/>
        </p:spPr>
        <p:txBody>
          <a:bodyPr wrap="square" lIns="0" rIns="0" tIns="0" bIns="0">
            <a:spAutoFit/>
          </a:bodyPr>
          <a:lstStyle/>
          <a:p>
            <a:pPr algn="l">
              <a:lnSpc>
                <a:spcPct val="115000"/>
              </a:lnSpc>
            </a:pPr>
            <a:r>
              <a:rPr sz="1500">
                <a:solidFill>
                  <a:srgbClr val="AFC4C2"/>
                </a:solidFill>
                <a:latin typeface="TT Commons Pro"/>
              </a:rPr>
              <a:t>Seed Round 2026   ·   rivr.social   ·   app.rivr.social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3333"/>
        </a:solidFill>
        <a:effectLst/>
      </p:bgPr>
    </p:bg>
    <p:spTree>
      <p:nvGrpSpPr>
        <p:cNvPr id="1" name=""/>
        <p:cNvGrpSpPr/>
        <p:nvPr/>
      </p:nvGrpSpPr>
      <p:grpSpPr/>
      <p:pic>
        <p:nvPicPr>
          <p:cNvPr id="2" name="Picture 1" descr="bg_c01.jpg"/>
          <p:cNvPicPr>
            <a:picLocks noChangeAspect="1"/>
          </p:cNvPicPr>
          <p:nvPr/>
        </p:nvPicPr>
        <p:blipFill>
          <a:blip r:embed="rId2"/>
          <a:stretch>
            <a:fillRect/>
          </a:stretch>
        </p:blipFill>
        <p:spPr>
          <a:xfrm>
            <a:off x="0" y="0"/>
            <a:ext cx="18287542" cy="10287000"/>
          </a:xfrm>
          <a:prstGeom prst="rect">
            <a:avLst/>
          </a:prstGeom>
        </p:spPr>
      </p:pic>
      <p:sp>
        <p:nvSpPr>
          <p:cNvPr id="3" name="TextBox 2"/>
          <p:cNvSpPr txBox="1"/>
          <p:nvPr/>
        </p:nvSpPr>
        <p:spPr>
          <a:xfrm>
            <a:off x="822959" y="822959"/>
            <a:ext cx="16733519" cy="384048"/>
          </a:xfrm>
          <a:prstGeom prst="rect">
            <a:avLst/>
          </a:prstGeom>
          <a:noFill/>
        </p:spPr>
        <p:txBody>
          <a:bodyPr wrap="none" lIns="0" rIns="0" tIns="0" bIns="0">
            <a:spAutoFit/>
          </a:bodyPr>
          <a:lstStyle/>
          <a:p>
            <a:pPr algn="l">
              <a:lnSpc>
                <a:spcPct val="115000"/>
              </a:lnSpc>
            </a:pPr>
            <a:r>
              <a:rPr sz="1650" spc="330">
                <a:solidFill>
                  <a:srgbClr val="9FE8DC"/>
                </a:solidFill>
                <a:latin typeface="Todes 1"/>
              </a:rPr>
              <a:t>THE PROBLEM · LATENT CAPACITY</a:t>
            </a:r>
          </a:p>
        </p:txBody>
      </p:sp>
      <p:sp>
        <p:nvSpPr>
          <p:cNvPr id="4" name="TextBox 3"/>
          <p:cNvSpPr txBox="1"/>
          <p:nvPr/>
        </p:nvSpPr>
        <p:spPr>
          <a:xfrm>
            <a:off x="822959" y="1699869"/>
            <a:ext cx="10360342" cy="977836"/>
          </a:xfrm>
          <a:prstGeom prst="rect">
            <a:avLst/>
          </a:prstGeom>
          <a:noFill/>
        </p:spPr>
        <p:txBody>
          <a:bodyPr wrap="none" lIns="0" rIns="0" tIns="0" bIns="0">
            <a:spAutoFit/>
          </a:bodyPr>
          <a:lstStyle/>
          <a:p>
            <a:pPr algn="l">
              <a:lnSpc>
                <a:spcPct val="115000"/>
              </a:lnSpc>
            </a:pPr>
            <a:r>
              <a:rPr sz="5309" spc="-72">
                <a:solidFill>
                  <a:srgbClr val="F4EAD8"/>
                </a:solidFill>
                <a:latin typeface="Todes 1"/>
              </a:rPr>
              <a:t>Every place is already </a:t>
            </a:r>
          </a:p>
        </p:txBody>
      </p:sp>
      <p:sp>
        <p:nvSpPr>
          <p:cNvPr id="5" name="TextBox 4"/>
          <p:cNvSpPr txBox="1"/>
          <p:nvPr/>
        </p:nvSpPr>
        <p:spPr>
          <a:xfrm>
            <a:off x="8946642" y="1645919"/>
            <a:ext cx="7587615" cy="1075620"/>
          </a:xfrm>
          <a:prstGeom prst="rect">
            <a:avLst/>
          </a:prstGeom>
          <a:noFill/>
        </p:spPr>
        <p:txBody>
          <a:bodyPr wrap="none" lIns="0" rIns="0" tIns="0" bIns="0">
            <a:spAutoFit/>
          </a:bodyPr>
          <a:lstStyle/>
          <a:p>
            <a:pPr algn="l">
              <a:lnSpc>
                <a:spcPct val="115000"/>
              </a:lnSpc>
            </a:pPr>
            <a:r>
              <a:rPr sz="5841" spc="-75">
                <a:solidFill>
                  <a:srgbClr val="99E6D9"/>
                </a:solidFill>
                <a:latin typeface="Ibarra Real Nova Italics"/>
              </a:rPr>
              <a:t>full of what it needs.</a:t>
            </a:r>
          </a:p>
        </p:txBody>
      </p:sp>
      <p:cxnSp>
        <p:nvCxnSpPr>
          <p:cNvPr id="6" name="Connector 5"/>
          <p:cNvCxnSpPr/>
          <p:nvPr/>
        </p:nvCxnSpPr>
        <p:spPr>
          <a:xfrm>
            <a:off x="9134856" y="3977639"/>
            <a:ext cx="1042416" cy="279315"/>
          </a:xfrm>
          <a:prstGeom prst="line">
            <a:avLst/>
          </a:prstGeom>
          <a:ln w="9525">
            <a:solidFill>
              <a:srgbClr val="1E5A58"/>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177272" y="4256954"/>
            <a:ext cx="763101" cy="763102"/>
          </a:xfrm>
          <a:prstGeom prst="line">
            <a:avLst/>
          </a:prstGeom>
          <a:ln w="9525">
            <a:solidFill>
              <a:srgbClr val="1E5A58"/>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940373" y="5020056"/>
            <a:ext cx="279315" cy="1042416"/>
          </a:xfrm>
          <a:prstGeom prst="line">
            <a:avLst/>
          </a:prstGeom>
          <a:ln w="9525">
            <a:solidFill>
              <a:srgbClr val="1E5A58"/>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0940373" y="6062472"/>
            <a:ext cx="279315" cy="1042416"/>
          </a:xfrm>
          <a:prstGeom prst="line">
            <a:avLst/>
          </a:prstGeom>
          <a:ln w="9525">
            <a:solidFill>
              <a:srgbClr val="1E5A58"/>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10177272" y="7104888"/>
            <a:ext cx="763101" cy="763101"/>
          </a:xfrm>
          <a:prstGeom prst="line">
            <a:avLst/>
          </a:prstGeom>
          <a:ln w="9525">
            <a:solidFill>
              <a:srgbClr val="1E5A58"/>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9134856" y="7867989"/>
            <a:ext cx="1042416" cy="279315"/>
          </a:xfrm>
          <a:prstGeom prst="line">
            <a:avLst/>
          </a:prstGeom>
          <a:ln w="9525">
            <a:solidFill>
              <a:srgbClr val="1E5A58"/>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flipV="1">
            <a:off x="8092440" y="7867989"/>
            <a:ext cx="1042416" cy="279315"/>
          </a:xfrm>
          <a:prstGeom prst="line">
            <a:avLst/>
          </a:prstGeom>
          <a:ln w="9525">
            <a:solidFill>
              <a:srgbClr val="1E5A58"/>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flipV="1">
            <a:off x="7329338" y="7104888"/>
            <a:ext cx="763102" cy="763101"/>
          </a:xfrm>
          <a:prstGeom prst="line">
            <a:avLst/>
          </a:prstGeom>
          <a:ln w="9525">
            <a:solidFill>
              <a:srgbClr val="1E5A58"/>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flipV="1">
            <a:off x="7050024" y="6062472"/>
            <a:ext cx="279314" cy="1042416"/>
          </a:xfrm>
          <a:prstGeom prst="line">
            <a:avLst/>
          </a:prstGeom>
          <a:ln w="9525">
            <a:solidFill>
              <a:srgbClr val="1E5A58"/>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7050024" y="5020055"/>
            <a:ext cx="279314" cy="1042417"/>
          </a:xfrm>
          <a:prstGeom prst="line">
            <a:avLst/>
          </a:prstGeom>
          <a:ln w="9525">
            <a:solidFill>
              <a:srgbClr val="1E5A5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7329338" y="4256954"/>
            <a:ext cx="763102" cy="763101"/>
          </a:xfrm>
          <a:prstGeom prst="line">
            <a:avLst/>
          </a:prstGeom>
          <a:ln w="9525">
            <a:solidFill>
              <a:srgbClr val="1E5A5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8092440" y="3977639"/>
            <a:ext cx="1042416" cy="279315"/>
          </a:xfrm>
          <a:prstGeom prst="line">
            <a:avLst/>
          </a:prstGeom>
          <a:ln w="9525">
            <a:solidFill>
              <a:srgbClr val="1E5A5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9134856" y="3977639"/>
            <a:ext cx="0" cy="2084833"/>
          </a:xfrm>
          <a:prstGeom prst="line">
            <a:avLst/>
          </a:prstGeom>
          <a:ln w="9525">
            <a:solidFill>
              <a:srgbClr val="1E5A5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9134856" y="4256954"/>
            <a:ext cx="1042416" cy="1805518"/>
          </a:xfrm>
          <a:prstGeom prst="line">
            <a:avLst/>
          </a:prstGeom>
          <a:ln w="9525">
            <a:solidFill>
              <a:srgbClr val="1E5A5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9134856" y="5020056"/>
            <a:ext cx="1805517" cy="1042416"/>
          </a:xfrm>
          <a:prstGeom prst="line">
            <a:avLst/>
          </a:prstGeom>
          <a:ln w="9525">
            <a:solidFill>
              <a:srgbClr val="1E5A5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134856" y="6062472"/>
            <a:ext cx="2084832" cy="0"/>
          </a:xfrm>
          <a:prstGeom prst="line">
            <a:avLst/>
          </a:prstGeom>
          <a:ln w="9525">
            <a:solidFill>
              <a:srgbClr val="1E5A5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134856" y="6062472"/>
            <a:ext cx="1805517" cy="1042416"/>
          </a:xfrm>
          <a:prstGeom prst="line">
            <a:avLst/>
          </a:prstGeom>
          <a:ln w="9525">
            <a:solidFill>
              <a:srgbClr val="1E5A5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134856" y="6062472"/>
            <a:ext cx="1042416" cy="1805517"/>
          </a:xfrm>
          <a:prstGeom prst="line">
            <a:avLst/>
          </a:prstGeom>
          <a:ln w="9525">
            <a:solidFill>
              <a:srgbClr val="1E5A5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134856" y="6062472"/>
            <a:ext cx="0" cy="2084832"/>
          </a:xfrm>
          <a:prstGeom prst="line">
            <a:avLst/>
          </a:prstGeom>
          <a:ln w="9525">
            <a:solidFill>
              <a:srgbClr val="1E5A5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8092440" y="6062472"/>
            <a:ext cx="1042416" cy="1805517"/>
          </a:xfrm>
          <a:prstGeom prst="line">
            <a:avLst/>
          </a:prstGeom>
          <a:ln w="9525">
            <a:solidFill>
              <a:srgbClr val="1E5A5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7329338" y="6062472"/>
            <a:ext cx="1805518" cy="1042416"/>
          </a:xfrm>
          <a:prstGeom prst="line">
            <a:avLst/>
          </a:prstGeom>
          <a:ln w="9525">
            <a:solidFill>
              <a:srgbClr val="1E5A5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7050024" y="6062472"/>
            <a:ext cx="2084832" cy="0"/>
          </a:xfrm>
          <a:prstGeom prst="line">
            <a:avLst/>
          </a:prstGeom>
          <a:ln w="9525">
            <a:solidFill>
              <a:srgbClr val="1E5A5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7329338" y="5020055"/>
            <a:ext cx="1805518" cy="1042417"/>
          </a:xfrm>
          <a:prstGeom prst="line">
            <a:avLst/>
          </a:prstGeom>
          <a:ln w="9525">
            <a:solidFill>
              <a:srgbClr val="1E5A5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flipV="1">
            <a:off x="8092440" y="4256954"/>
            <a:ext cx="1042416" cy="1805518"/>
          </a:xfrm>
          <a:prstGeom prst="line">
            <a:avLst/>
          </a:prstGeom>
          <a:ln w="9525">
            <a:solidFill>
              <a:srgbClr val="1E5A58"/>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8412022" y="5339638"/>
            <a:ext cx="1445666" cy="1445666"/>
          </a:xfrm>
          <a:prstGeom prst="ellipse">
            <a:avLst/>
          </a:prstGeom>
          <a:solidFill>
            <a:srgbClr val="084B4D"/>
          </a:solidFill>
          <a:ln w="1778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12022" y="5843016"/>
            <a:ext cx="1445666" cy="466344"/>
          </a:xfrm>
          <a:prstGeom prst="rect">
            <a:avLst/>
          </a:prstGeom>
          <a:noFill/>
        </p:spPr>
        <p:txBody>
          <a:bodyPr wrap="none" lIns="0" rIns="0" tIns="0" bIns="0">
            <a:spAutoFit/>
          </a:bodyPr>
          <a:lstStyle/>
          <a:p>
            <a:pPr algn="ctr">
              <a:lnSpc>
                <a:spcPct val="115000"/>
              </a:lnSpc>
            </a:pPr>
            <a:r>
              <a:rPr sz="1650" spc="330">
                <a:solidFill>
                  <a:srgbClr val="EBCF9E"/>
                </a:solidFill>
                <a:latin typeface="Todes 1"/>
              </a:rPr>
              <a:t>A PLACE</a:t>
            </a:r>
          </a:p>
        </p:txBody>
      </p:sp>
      <p:sp>
        <p:nvSpPr>
          <p:cNvPr id="32" name="Oval 31"/>
          <p:cNvSpPr/>
          <p:nvPr/>
        </p:nvSpPr>
        <p:spPr>
          <a:xfrm>
            <a:off x="8709660" y="3552444"/>
            <a:ext cx="850392" cy="850392"/>
          </a:xfrm>
          <a:prstGeom prst="ellipse">
            <a:avLst/>
          </a:prstGeom>
          <a:solidFill>
            <a:srgbClr val="0D3E40"/>
          </a:solidFill>
          <a:ln w="1397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person.png"/>
          <p:cNvPicPr>
            <a:picLocks noChangeAspect="1"/>
          </p:cNvPicPr>
          <p:nvPr/>
        </p:nvPicPr>
        <p:blipFill>
          <a:blip r:embed="rId4"/>
          <a:stretch>
            <a:fillRect/>
          </a:stretch>
        </p:blipFill>
        <p:spPr>
          <a:xfrm>
            <a:off x="8901684" y="3744468"/>
            <a:ext cx="466344" cy="466344"/>
          </a:xfrm>
          <a:prstGeom prst="rect">
            <a:avLst/>
          </a:prstGeom>
        </p:spPr>
      </p:pic>
      <p:sp>
        <p:nvSpPr>
          <p:cNvPr id="34" name="TextBox 33"/>
          <p:cNvSpPr txBox="1"/>
          <p:nvPr/>
        </p:nvSpPr>
        <p:spPr>
          <a:xfrm>
            <a:off x="7626096" y="2990088"/>
            <a:ext cx="3017520" cy="411479"/>
          </a:xfrm>
          <a:prstGeom prst="rect">
            <a:avLst/>
          </a:prstGeom>
          <a:noFill/>
        </p:spPr>
        <p:txBody>
          <a:bodyPr wrap="none" lIns="0" rIns="0" tIns="0" bIns="0">
            <a:spAutoFit/>
          </a:bodyPr>
          <a:lstStyle/>
          <a:p>
            <a:pPr algn="ctr">
              <a:lnSpc>
                <a:spcPct val="115000"/>
              </a:lnSpc>
            </a:pPr>
            <a:r>
              <a:rPr sz="1275" spc="150">
                <a:solidFill>
                  <a:srgbClr val="F2ECDD"/>
                </a:solidFill>
                <a:latin typeface="TT Commons Pro"/>
              </a:rPr>
              <a:t>skills</a:t>
            </a:r>
          </a:p>
        </p:txBody>
      </p:sp>
      <p:sp>
        <p:nvSpPr>
          <p:cNvPr id="35" name="Oval 34"/>
          <p:cNvSpPr/>
          <p:nvPr/>
        </p:nvSpPr>
        <p:spPr>
          <a:xfrm>
            <a:off x="9752076" y="3831758"/>
            <a:ext cx="850392" cy="850392"/>
          </a:xfrm>
          <a:prstGeom prst="ellipse">
            <a:avLst/>
          </a:prstGeom>
          <a:solidFill>
            <a:srgbClr val="0D3E40"/>
          </a:solidFill>
          <a:ln w="1397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tool.png"/>
          <p:cNvPicPr>
            <a:picLocks noChangeAspect="1"/>
          </p:cNvPicPr>
          <p:nvPr/>
        </p:nvPicPr>
        <p:blipFill>
          <a:blip r:embed="rId5"/>
          <a:stretch>
            <a:fillRect/>
          </a:stretch>
        </p:blipFill>
        <p:spPr>
          <a:xfrm>
            <a:off x="9944100" y="4023782"/>
            <a:ext cx="466344" cy="466344"/>
          </a:xfrm>
          <a:prstGeom prst="rect">
            <a:avLst/>
          </a:prstGeom>
        </p:spPr>
      </p:pic>
      <p:sp>
        <p:nvSpPr>
          <p:cNvPr id="37" name="TextBox 36"/>
          <p:cNvSpPr txBox="1"/>
          <p:nvPr/>
        </p:nvSpPr>
        <p:spPr>
          <a:xfrm>
            <a:off x="9086850" y="3381495"/>
            <a:ext cx="3017520" cy="411479"/>
          </a:xfrm>
          <a:prstGeom prst="rect">
            <a:avLst/>
          </a:prstGeom>
          <a:noFill/>
        </p:spPr>
        <p:txBody>
          <a:bodyPr wrap="none" lIns="0" rIns="0" tIns="0" bIns="0">
            <a:spAutoFit/>
          </a:bodyPr>
          <a:lstStyle/>
          <a:p>
            <a:pPr algn="ctr">
              <a:lnSpc>
                <a:spcPct val="115000"/>
              </a:lnSpc>
            </a:pPr>
            <a:r>
              <a:rPr sz="1275" spc="150">
                <a:solidFill>
                  <a:srgbClr val="F2ECDD"/>
                </a:solidFill>
                <a:latin typeface="TT Commons Pro"/>
              </a:rPr>
              <a:t>unused tools</a:t>
            </a:r>
          </a:p>
        </p:txBody>
      </p:sp>
      <p:sp>
        <p:nvSpPr>
          <p:cNvPr id="38" name="Oval 37"/>
          <p:cNvSpPr/>
          <p:nvPr/>
        </p:nvSpPr>
        <p:spPr>
          <a:xfrm>
            <a:off x="10515177" y="4594860"/>
            <a:ext cx="850392" cy="850392"/>
          </a:xfrm>
          <a:prstGeom prst="ellipse">
            <a:avLst/>
          </a:prstGeom>
          <a:solidFill>
            <a:srgbClr val="0D3E40"/>
          </a:solidFill>
          <a:ln w="1397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food.png"/>
          <p:cNvPicPr>
            <a:picLocks noChangeAspect="1"/>
          </p:cNvPicPr>
          <p:nvPr/>
        </p:nvPicPr>
        <p:blipFill>
          <a:blip r:embed="rId6"/>
          <a:stretch>
            <a:fillRect/>
          </a:stretch>
        </p:blipFill>
        <p:spPr>
          <a:xfrm>
            <a:off x="10707201" y="4786884"/>
            <a:ext cx="466344" cy="466344"/>
          </a:xfrm>
          <a:prstGeom prst="rect">
            <a:avLst/>
          </a:prstGeom>
        </p:spPr>
      </p:pic>
      <p:sp>
        <p:nvSpPr>
          <p:cNvPr id="40" name="TextBox 39"/>
          <p:cNvSpPr txBox="1"/>
          <p:nvPr/>
        </p:nvSpPr>
        <p:spPr>
          <a:xfrm>
            <a:off x="10156196" y="4450842"/>
            <a:ext cx="3017520" cy="411479"/>
          </a:xfrm>
          <a:prstGeom prst="rect">
            <a:avLst/>
          </a:prstGeom>
          <a:noFill/>
        </p:spPr>
        <p:txBody>
          <a:bodyPr wrap="none" lIns="0" rIns="0" tIns="0" bIns="0">
            <a:spAutoFit/>
          </a:bodyPr>
          <a:lstStyle/>
          <a:p>
            <a:pPr algn="ctr">
              <a:lnSpc>
                <a:spcPct val="115000"/>
              </a:lnSpc>
            </a:pPr>
            <a:r>
              <a:rPr sz="1275" spc="150">
                <a:solidFill>
                  <a:srgbClr val="F2ECDD"/>
                </a:solidFill>
                <a:latin typeface="TT Commons Pro"/>
              </a:rPr>
              <a:t>food</a:t>
            </a:r>
          </a:p>
        </p:txBody>
      </p:sp>
      <p:sp>
        <p:nvSpPr>
          <p:cNvPr id="41" name="Oval 40"/>
          <p:cNvSpPr/>
          <p:nvPr/>
        </p:nvSpPr>
        <p:spPr>
          <a:xfrm>
            <a:off x="10794492" y="5637276"/>
            <a:ext cx="850392" cy="850392"/>
          </a:xfrm>
          <a:prstGeom prst="ellipse">
            <a:avLst/>
          </a:prstGeom>
          <a:solidFill>
            <a:srgbClr val="0D3E40"/>
          </a:solidFill>
          <a:ln w="1397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space.png"/>
          <p:cNvPicPr>
            <a:picLocks noChangeAspect="1"/>
          </p:cNvPicPr>
          <p:nvPr/>
        </p:nvPicPr>
        <p:blipFill>
          <a:blip r:embed="rId7"/>
          <a:stretch>
            <a:fillRect/>
          </a:stretch>
        </p:blipFill>
        <p:spPr>
          <a:xfrm>
            <a:off x="10986516" y="5829300"/>
            <a:ext cx="466344" cy="466344"/>
          </a:xfrm>
          <a:prstGeom prst="rect">
            <a:avLst/>
          </a:prstGeom>
        </p:spPr>
      </p:pic>
      <p:sp>
        <p:nvSpPr>
          <p:cNvPr id="43" name="TextBox 42"/>
          <p:cNvSpPr txBox="1"/>
          <p:nvPr/>
        </p:nvSpPr>
        <p:spPr>
          <a:xfrm>
            <a:off x="10547604" y="5911596"/>
            <a:ext cx="3017520" cy="411479"/>
          </a:xfrm>
          <a:prstGeom prst="rect">
            <a:avLst/>
          </a:prstGeom>
          <a:noFill/>
        </p:spPr>
        <p:txBody>
          <a:bodyPr wrap="none" lIns="0" rIns="0" tIns="0" bIns="0">
            <a:spAutoFit/>
          </a:bodyPr>
          <a:lstStyle/>
          <a:p>
            <a:pPr algn="ctr">
              <a:lnSpc>
                <a:spcPct val="115000"/>
              </a:lnSpc>
            </a:pPr>
            <a:r>
              <a:rPr sz="1275" spc="150">
                <a:solidFill>
                  <a:srgbClr val="F2ECDD"/>
                </a:solidFill>
                <a:latin typeface="TT Commons Pro"/>
              </a:rPr>
              <a:t>spaces</a:t>
            </a:r>
          </a:p>
        </p:txBody>
      </p:sp>
      <p:sp>
        <p:nvSpPr>
          <p:cNvPr id="44" name="Oval 43"/>
          <p:cNvSpPr/>
          <p:nvPr/>
        </p:nvSpPr>
        <p:spPr>
          <a:xfrm>
            <a:off x="10515177" y="6679692"/>
            <a:ext cx="850392" cy="850392"/>
          </a:xfrm>
          <a:prstGeom prst="ellipse">
            <a:avLst/>
          </a:prstGeom>
          <a:solidFill>
            <a:srgbClr val="0D3E40"/>
          </a:solidFill>
          <a:ln w="1397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5" name="Picture 44" descr="doc.png"/>
          <p:cNvPicPr>
            <a:picLocks noChangeAspect="1"/>
          </p:cNvPicPr>
          <p:nvPr/>
        </p:nvPicPr>
        <p:blipFill>
          <a:blip r:embed="rId8"/>
          <a:stretch>
            <a:fillRect/>
          </a:stretch>
        </p:blipFill>
        <p:spPr>
          <a:xfrm>
            <a:off x="10707201" y="6871716"/>
            <a:ext cx="466344" cy="466344"/>
          </a:xfrm>
          <a:prstGeom prst="rect">
            <a:avLst/>
          </a:prstGeom>
        </p:spPr>
      </p:pic>
      <p:sp>
        <p:nvSpPr>
          <p:cNvPr id="46" name="TextBox 45"/>
          <p:cNvSpPr txBox="1"/>
          <p:nvPr/>
        </p:nvSpPr>
        <p:spPr>
          <a:xfrm>
            <a:off x="10156196" y="7372349"/>
            <a:ext cx="3017520" cy="411479"/>
          </a:xfrm>
          <a:prstGeom prst="rect">
            <a:avLst/>
          </a:prstGeom>
          <a:noFill/>
        </p:spPr>
        <p:txBody>
          <a:bodyPr wrap="none" lIns="0" rIns="0" tIns="0" bIns="0">
            <a:spAutoFit/>
          </a:bodyPr>
          <a:lstStyle/>
          <a:p>
            <a:pPr algn="ctr">
              <a:lnSpc>
                <a:spcPct val="115000"/>
              </a:lnSpc>
            </a:pPr>
            <a:r>
              <a:rPr sz="1275" spc="150">
                <a:solidFill>
                  <a:srgbClr val="F2ECDD"/>
                </a:solidFill>
                <a:latin typeface="TT Commons Pro"/>
              </a:rPr>
              <a:t>knowledge</a:t>
            </a:r>
          </a:p>
        </p:txBody>
      </p:sp>
      <p:sp>
        <p:nvSpPr>
          <p:cNvPr id="47" name="Oval 46"/>
          <p:cNvSpPr/>
          <p:nvPr/>
        </p:nvSpPr>
        <p:spPr>
          <a:xfrm>
            <a:off x="9752076" y="7442793"/>
            <a:ext cx="850392" cy="850392"/>
          </a:xfrm>
          <a:prstGeom prst="ellipse">
            <a:avLst/>
          </a:prstGeom>
          <a:solidFill>
            <a:srgbClr val="0D3E40"/>
          </a:solidFill>
          <a:ln w="1397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project.png"/>
          <p:cNvPicPr>
            <a:picLocks noChangeAspect="1"/>
          </p:cNvPicPr>
          <p:nvPr/>
        </p:nvPicPr>
        <p:blipFill>
          <a:blip r:embed="rId9"/>
          <a:stretch>
            <a:fillRect/>
          </a:stretch>
        </p:blipFill>
        <p:spPr>
          <a:xfrm>
            <a:off x="9944100" y="7634817"/>
            <a:ext cx="466344" cy="466344"/>
          </a:xfrm>
          <a:prstGeom prst="rect">
            <a:avLst/>
          </a:prstGeom>
        </p:spPr>
      </p:pic>
      <p:sp>
        <p:nvSpPr>
          <p:cNvPr id="49" name="TextBox 48"/>
          <p:cNvSpPr txBox="1"/>
          <p:nvPr/>
        </p:nvSpPr>
        <p:spPr>
          <a:xfrm>
            <a:off x="9086850" y="8441696"/>
            <a:ext cx="3017520" cy="411479"/>
          </a:xfrm>
          <a:prstGeom prst="rect">
            <a:avLst/>
          </a:prstGeom>
          <a:noFill/>
        </p:spPr>
        <p:txBody>
          <a:bodyPr wrap="none" lIns="0" rIns="0" tIns="0" bIns="0">
            <a:spAutoFit/>
          </a:bodyPr>
          <a:lstStyle/>
          <a:p>
            <a:pPr algn="ctr">
              <a:lnSpc>
                <a:spcPct val="115000"/>
              </a:lnSpc>
            </a:pPr>
            <a:r>
              <a:rPr sz="1275" spc="150">
                <a:solidFill>
                  <a:srgbClr val="F2ECDD"/>
                </a:solidFill>
                <a:latin typeface="TT Commons Pro"/>
              </a:rPr>
              <a:t>projects</a:t>
            </a:r>
          </a:p>
        </p:txBody>
      </p:sp>
      <p:sp>
        <p:nvSpPr>
          <p:cNvPr id="50" name="Oval 49"/>
          <p:cNvSpPr/>
          <p:nvPr/>
        </p:nvSpPr>
        <p:spPr>
          <a:xfrm>
            <a:off x="8709660" y="7722108"/>
            <a:ext cx="850392" cy="850392"/>
          </a:xfrm>
          <a:prstGeom prst="ellipse">
            <a:avLst/>
          </a:prstGeom>
          <a:solidFill>
            <a:srgbClr val="0D3E40"/>
          </a:solidFill>
          <a:ln w="1397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1" name="Picture 50" descr="money.png"/>
          <p:cNvPicPr>
            <a:picLocks noChangeAspect="1"/>
          </p:cNvPicPr>
          <p:nvPr/>
        </p:nvPicPr>
        <p:blipFill>
          <a:blip r:embed="rId10"/>
          <a:stretch>
            <a:fillRect/>
          </a:stretch>
        </p:blipFill>
        <p:spPr>
          <a:xfrm>
            <a:off x="8901684" y="7914131"/>
            <a:ext cx="466344" cy="466344"/>
          </a:xfrm>
          <a:prstGeom prst="rect">
            <a:avLst/>
          </a:prstGeom>
        </p:spPr>
      </p:pic>
      <p:sp>
        <p:nvSpPr>
          <p:cNvPr id="52" name="TextBox 51"/>
          <p:cNvSpPr txBox="1"/>
          <p:nvPr/>
        </p:nvSpPr>
        <p:spPr>
          <a:xfrm>
            <a:off x="7626096" y="8833104"/>
            <a:ext cx="3017520" cy="411479"/>
          </a:xfrm>
          <a:prstGeom prst="rect">
            <a:avLst/>
          </a:prstGeom>
          <a:noFill/>
        </p:spPr>
        <p:txBody>
          <a:bodyPr wrap="none" lIns="0" rIns="0" tIns="0" bIns="0">
            <a:spAutoFit/>
          </a:bodyPr>
          <a:lstStyle/>
          <a:p>
            <a:pPr algn="ctr">
              <a:lnSpc>
                <a:spcPct val="115000"/>
              </a:lnSpc>
            </a:pPr>
            <a:r>
              <a:rPr sz="1275" spc="150">
                <a:solidFill>
                  <a:srgbClr val="F2ECDD"/>
                </a:solidFill>
                <a:latin typeface="TT Commons Pro"/>
              </a:rPr>
              <a:t>money</a:t>
            </a:r>
          </a:p>
        </p:txBody>
      </p:sp>
      <p:sp>
        <p:nvSpPr>
          <p:cNvPr id="53" name="Oval 52"/>
          <p:cNvSpPr/>
          <p:nvPr/>
        </p:nvSpPr>
        <p:spPr>
          <a:xfrm>
            <a:off x="7667244" y="7442793"/>
            <a:ext cx="850392" cy="850392"/>
          </a:xfrm>
          <a:prstGeom prst="ellipse">
            <a:avLst/>
          </a:prstGeom>
          <a:solidFill>
            <a:srgbClr val="0D3E40"/>
          </a:solidFill>
          <a:ln w="1397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4" name="Picture 53" descr="care.png"/>
          <p:cNvPicPr>
            <a:picLocks noChangeAspect="1"/>
          </p:cNvPicPr>
          <p:nvPr/>
        </p:nvPicPr>
        <p:blipFill>
          <a:blip r:embed="rId11"/>
          <a:stretch>
            <a:fillRect/>
          </a:stretch>
        </p:blipFill>
        <p:spPr>
          <a:xfrm>
            <a:off x="7859268" y="7634817"/>
            <a:ext cx="466344" cy="466344"/>
          </a:xfrm>
          <a:prstGeom prst="rect">
            <a:avLst/>
          </a:prstGeom>
        </p:spPr>
      </p:pic>
      <p:sp>
        <p:nvSpPr>
          <p:cNvPr id="55" name="TextBox 54"/>
          <p:cNvSpPr txBox="1"/>
          <p:nvPr/>
        </p:nvSpPr>
        <p:spPr>
          <a:xfrm>
            <a:off x="6165342" y="8441696"/>
            <a:ext cx="3017520" cy="411479"/>
          </a:xfrm>
          <a:prstGeom prst="rect">
            <a:avLst/>
          </a:prstGeom>
          <a:noFill/>
        </p:spPr>
        <p:txBody>
          <a:bodyPr wrap="none" lIns="0" rIns="0" tIns="0" bIns="0">
            <a:spAutoFit/>
          </a:bodyPr>
          <a:lstStyle/>
          <a:p>
            <a:pPr algn="ctr">
              <a:lnSpc>
                <a:spcPct val="115000"/>
              </a:lnSpc>
            </a:pPr>
            <a:r>
              <a:rPr sz="1275" spc="150">
                <a:solidFill>
                  <a:srgbClr val="F2ECDD"/>
                </a:solidFill>
                <a:latin typeface="TT Commons Pro"/>
              </a:rPr>
              <a:t>care</a:t>
            </a:r>
          </a:p>
        </p:txBody>
      </p:sp>
      <p:sp>
        <p:nvSpPr>
          <p:cNvPr id="56" name="Oval 55"/>
          <p:cNvSpPr/>
          <p:nvPr/>
        </p:nvSpPr>
        <p:spPr>
          <a:xfrm>
            <a:off x="6904142" y="6679692"/>
            <a:ext cx="850392" cy="850392"/>
          </a:xfrm>
          <a:prstGeom prst="ellipse">
            <a:avLst/>
          </a:prstGeom>
          <a:solidFill>
            <a:srgbClr val="0D3E40"/>
          </a:solidFill>
          <a:ln w="1397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7" name="Picture 56" descr="work.png"/>
          <p:cNvPicPr>
            <a:picLocks noChangeAspect="1"/>
          </p:cNvPicPr>
          <p:nvPr/>
        </p:nvPicPr>
        <p:blipFill>
          <a:blip r:embed="rId12"/>
          <a:stretch>
            <a:fillRect/>
          </a:stretch>
        </p:blipFill>
        <p:spPr>
          <a:xfrm>
            <a:off x="7096166" y="6871716"/>
            <a:ext cx="466344" cy="466344"/>
          </a:xfrm>
          <a:prstGeom prst="rect">
            <a:avLst/>
          </a:prstGeom>
        </p:spPr>
      </p:pic>
      <p:sp>
        <p:nvSpPr>
          <p:cNvPr id="58" name="TextBox 57"/>
          <p:cNvSpPr txBox="1"/>
          <p:nvPr/>
        </p:nvSpPr>
        <p:spPr>
          <a:xfrm>
            <a:off x="5095995" y="7372349"/>
            <a:ext cx="3017520" cy="411479"/>
          </a:xfrm>
          <a:prstGeom prst="rect">
            <a:avLst/>
          </a:prstGeom>
          <a:noFill/>
        </p:spPr>
        <p:txBody>
          <a:bodyPr wrap="none" lIns="0" rIns="0" tIns="0" bIns="0">
            <a:spAutoFit/>
          </a:bodyPr>
          <a:lstStyle/>
          <a:p>
            <a:pPr algn="ctr">
              <a:lnSpc>
                <a:spcPct val="115000"/>
              </a:lnSpc>
            </a:pPr>
            <a:r>
              <a:rPr sz="1275" spc="150">
                <a:solidFill>
                  <a:srgbClr val="F2ECDD"/>
                </a:solidFill>
                <a:latin typeface="TT Commons Pro"/>
              </a:rPr>
              <a:t>labor</a:t>
            </a:r>
          </a:p>
        </p:txBody>
      </p:sp>
      <p:sp>
        <p:nvSpPr>
          <p:cNvPr id="59" name="Oval 58"/>
          <p:cNvSpPr/>
          <p:nvPr/>
        </p:nvSpPr>
        <p:spPr>
          <a:xfrm>
            <a:off x="6624828" y="5637276"/>
            <a:ext cx="850392" cy="850392"/>
          </a:xfrm>
          <a:prstGeom prst="ellipse">
            <a:avLst/>
          </a:prstGeom>
          <a:solidFill>
            <a:srgbClr val="0D3E40"/>
          </a:solidFill>
          <a:ln w="1397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0" name="Picture 59" descr="org.png"/>
          <p:cNvPicPr>
            <a:picLocks noChangeAspect="1"/>
          </p:cNvPicPr>
          <p:nvPr/>
        </p:nvPicPr>
        <p:blipFill>
          <a:blip r:embed="rId13"/>
          <a:stretch>
            <a:fillRect/>
          </a:stretch>
        </p:blipFill>
        <p:spPr>
          <a:xfrm>
            <a:off x="6816852" y="5829300"/>
            <a:ext cx="466344" cy="466344"/>
          </a:xfrm>
          <a:prstGeom prst="rect">
            <a:avLst/>
          </a:prstGeom>
        </p:spPr>
      </p:pic>
      <p:sp>
        <p:nvSpPr>
          <p:cNvPr id="61" name="TextBox 60"/>
          <p:cNvSpPr txBox="1"/>
          <p:nvPr/>
        </p:nvSpPr>
        <p:spPr>
          <a:xfrm>
            <a:off x="4704588" y="5911596"/>
            <a:ext cx="3017520" cy="411479"/>
          </a:xfrm>
          <a:prstGeom prst="rect">
            <a:avLst/>
          </a:prstGeom>
          <a:noFill/>
        </p:spPr>
        <p:txBody>
          <a:bodyPr wrap="none" lIns="0" rIns="0" tIns="0" bIns="0">
            <a:spAutoFit/>
          </a:bodyPr>
          <a:lstStyle/>
          <a:p>
            <a:pPr algn="ctr">
              <a:lnSpc>
                <a:spcPct val="115000"/>
              </a:lnSpc>
            </a:pPr>
            <a:r>
              <a:rPr sz="1275" spc="150">
                <a:solidFill>
                  <a:srgbClr val="F2ECDD"/>
                </a:solidFill>
                <a:latin typeface="TT Commons Pro"/>
              </a:rPr>
              <a:t>organizations</a:t>
            </a:r>
          </a:p>
        </p:txBody>
      </p:sp>
      <p:sp>
        <p:nvSpPr>
          <p:cNvPr id="62" name="Oval 61"/>
          <p:cNvSpPr/>
          <p:nvPr/>
        </p:nvSpPr>
        <p:spPr>
          <a:xfrm>
            <a:off x="6904142" y="4594859"/>
            <a:ext cx="850392" cy="850392"/>
          </a:xfrm>
          <a:prstGeom prst="ellipse">
            <a:avLst/>
          </a:prstGeom>
          <a:solidFill>
            <a:srgbClr val="0D3E40"/>
          </a:solidFill>
          <a:ln w="1397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3" name="Picture 62" descr="idea.png"/>
          <p:cNvPicPr>
            <a:picLocks noChangeAspect="1"/>
          </p:cNvPicPr>
          <p:nvPr/>
        </p:nvPicPr>
        <p:blipFill>
          <a:blip r:embed="rId14"/>
          <a:stretch>
            <a:fillRect/>
          </a:stretch>
        </p:blipFill>
        <p:spPr>
          <a:xfrm>
            <a:off x="7096166" y="4786883"/>
            <a:ext cx="466344" cy="466344"/>
          </a:xfrm>
          <a:prstGeom prst="rect">
            <a:avLst/>
          </a:prstGeom>
        </p:spPr>
      </p:pic>
      <p:sp>
        <p:nvSpPr>
          <p:cNvPr id="64" name="TextBox 63"/>
          <p:cNvSpPr txBox="1"/>
          <p:nvPr/>
        </p:nvSpPr>
        <p:spPr>
          <a:xfrm>
            <a:off x="5095995" y="4450842"/>
            <a:ext cx="3017520" cy="411479"/>
          </a:xfrm>
          <a:prstGeom prst="rect">
            <a:avLst/>
          </a:prstGeom>
          <a:noFill/>
        </p:spPr>
        <p:txBody>
          <a:bodyPr wrap="none" lIns="0" rIns="0" tIns="0" bIns="0">
            <a:spAutoFit/>
          </a:bodyPr>
          <a:lstStyle/>
          <a:p>
            <a:pPr algn="ctr">
              <a:lnSpc>
                <a:spcPct val="115000"/>
              </a:lnSpc>
            </a:pPr>
            <a:r>
              <a:rPr sz="1275" spc="150">
                <a:solidFill>
                  <a:srgbClr val="F2ECDD"/>
                </a:solidFill>
                <a:latin typeface="TT Commons Pro"/>
              </a:rPr>
              <a:t>ideas</a:t>
            </a:r>
          </a:p>
        </p:txBody>
      </p:sp>
      <p:sp>
        <p:nvSpPr>
          <p:cNvPr id="65" name="Oval 64"/>
          <p:cNvSpPr/>
          <p:nvPr/>
        </p:nvSpPr>
        <p:spPr>
          <a:xfrm>
            <a:off x="7667244" y="3831758"/>
            <a:ext cx="850392" cy="850392"/>
          </a:xfrm>
          <a:prstGeom prst="ellipse">
            <a:avLst/>
          </a:prstGeom>
          <a:solidFill>
            <a:srgbClr val="0D3E40"/>
          </a:solidFill>
          <a:ln w="1397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6" name="Picture 65" descr="gift.png"/>
          <p:cNvPicPr>
            <a:picLocks noChangeAspect="1"/>
          </p:cNvPicPr>
          <p:nvPr/>
        </p:nvPicPr>
        <p:blipFill>
          <a:blip r:embed="rId15"/>
          <a:stretch>
            <a:fillRect/>
          </a:stretch>
        </p:blipFill>
        <p:spPr>
          <a:xfrm>
            <a:off x="7859267" y="4023782"/>
            <a:ext cx="466344" cy="466344"/>
          </a:xfrm>
          <a:prstGeom prst="rect">
            <a:avLst/>
          </a:prstGeom>
        </p:spPr>
      </p:pic>
      <p:sp>
        <p:nvSpPr>
          <p:cNvPr id="67" name="TextBox 66"/>
          <p:cNvSpPr txBox="1"/>
          <p:nvPr/>
        </p:nvSpPr>
        <p:spPr>
          <a:xfrm>
            <a:off x="6165341" y="3381495"/>
            <a:ext cx="3017520" cy="411479"/>
          </a:xfrm>
          <a:prstGeom prst="rect">
            <a:avLst/>
          </a:prstGeom>
          <a:noFill/>
        </p:spPr>
        <p:txBody>
          <a:bodyPr wrap="none" lIns="0" rIns="0" tIns="0" bIns="0">
            <a:spAutoFit/>
          </a:bodyPr>
          <a:lstStyle/>
          <a:p>
            <a:pPr algn="ctr">
              <a:lnSpc>
                <a:spcPct val="115000"/>
              </a:lnSpc>
            </a:pPr>
            <a:r>
              <a:rPr sz="1275" spc="150">
                <a:solidFill>
                  <a:srgbClr val="F2ECDD"/>
                </a:solidFill>
                <a:latin typeface="TT Commons Pro"/>
              </a:rPr>
              <a:t>things to give</a:t>
            </a:r>
          </a:p>
        </p:txBody>
      </p:sp>
      <p:sp>
        <p:nvSpPr>
          <p:cNvPr id="68" name="TextBox 67"/>
          <p:cNvSpPr txBox="1"/>
          <p:nvPr/>
        </p:nvSpPr>
        <p:spPr>
          <a:xfrm>
            <a:off x="822959" y="8915400"/>
            <a:ext cx="16596359" cy="1097280"/>
          </a:xfrm>
          <a:prstGeom prst="rect">
            <a:avLst/>
          </a:prstGeom>
          <a:noFill/>
        </p:spPr>
        <p:txBody>
          <a:bodyPr wrap="square" lIns="0" rIns="0" tIns="0" bIns="0">
            <a:spAutoFit/>
          </a:bodyPr>
          <a:lstStyle/>
          <a:p>
            <a:pPr algn="ctr">
              <a:lnSpc>
                <a:spcPct val="140000"/>
              </a:lnSpc>
            </a:pPr>
            <a:r>
              <a:rPr sz="1875">
                <a:solidFill>
                  <a:srgbClr val="F2ECDD"/>
                </a:solidFill>
                <a:latin typeface="TT Commons Pro"/>
              </a:rPr>
              <a:t>The problem is not that these things don't exist — it is finding them, trusting them, and coordinating around them.</a:t>
            </a:r>
          </a:p>
          <a:p>
            <a:pPr algn="ctr">
              <a:lnSpc>
                <a:spcPct val="140000"/>
              </a:lnSpc>
            </a:pPr>
            <a:r>
              <a:rPr sz="2100" spc="20">
                <a:solidFill>
                  <a:srgbClr val="EBCF9E"/>
                </a:solidFill>
                <a:latin typeface="Alike Italics"/>
              </a:rPr>
              <a:t>A need and a resource can exist blocks apart without ever meeting.</a:t>
            </a:r>
          </a:p>
        </p:txBody>
      </p:sp>
      <p:pic>
        <p:nvPicPr>
          <p:cNvPr id="69" name="Picture 68" descr="rivr-symbol-light.png"/>
          <p:cNvPicPr>
            <a:picLocks noChangeAspect="1"/>
          </p:cNvPicPr>
          <p:nvPr/>
        </p:nvPicPr>
        <p:blipFill>
          <a:blip r:embed="rId16"/>
          <a:stretch>
            <a:fillRect/>
          </a:stretch>
        </p:blipFill>
        <p:spPr>
          <a:xfrm>
            <a:off x="576072" y="9518904"/>
            <a:ext cx="521208" cy="521208"/>
          </a:xfrm>
          <a:prstGeom prst="rect">
            <a:avLst/>
          </a:prstGeom>
        </p:spPr>
      </p:pic>
      <p:sp>
        <p:nvSpPr>
          <p:cNvPr id="70" name="TextBox 69"/>
          <p:cNvSpPr txBox="1"/>
          <p:nvPr/>
        </p:nvSpPr>
        <p:spPr>
          <a:xfrm>
            <a:off x="1371600" y="9724644"/>
            <a:ext cx="5486400" cy="301752"/>
          </a:xfrm>
          <a:prstGeom prst="rect">
            <a:avLst/>
          </a:prstGeom>
          <a:noFill/>
        </p:spPr>
        <p:txBody>
          <a:bodyPr wrap="none" lIns="0" rIns="0" tIns="0" bIns="0">
            <a:spAutoFit/>
          </a:bodyPr>
          <a:lstStyle/>
          <a:p>
            <a:pPr algn="l">
              <a:lnSpc>
                <a:spcPct val="115000"/>
              </a:lnSpc>
            </a:pPr>
            <a:r>
              <a:rPr sz="1350" spc="150">
                <a:solidFill>
                  <a:srgbClr val="AFC4C2"/>
                </a:solidFill>
                <a:latin typeface="TT Commons Pro"/>
              </a:rPr>
              <a:t>Rivr · Seed Round 2026</a:t>
            </a:r>
          </a:p>
        </p:txBody>
      </p:sp>
      <p:sp>
        <p:nvSpPr>
          <p:cNvPr id="71" name="TextBox 70"/>
          <p:cNvSpPr txBox="1"/>
          <p:nvPr/>
        </p:nvSpPr>
        <p:spPr>
          <a:xfrm>
            <a:off x="16870680" y="9724644"/>
            <a:ext cx="960119" cy="301752"/>
          </a:xfrm>
          <a:prstGeom prst="rect">
            <a:avLst/>
          </a:prstGeom>
          <a:noFill/>
        </p:spPr>
        <p:txBody>
          <a:bodyPr wrap="none" lIns="0" rIns="0" tIns="0" bIns="0">
            <a:spAutoFit/>
          </a:bodyPr>
          <a:lstStyle/>
          <a:p>
            <a:pPr algn="r">
              <a:lnSpc>
                <a:spcPct val="115000"/>
              </a:lnSpc>
            </a:pPr>
            <a:r>
              <a:rPr sz="1350" spc="150">
                <a:solidFill>
                  <a:srgbClr val="AFC4C2"/>
                </a:solidFill>
                <a:latin typeface="TT Commons Pro"/>
              </a:rPr>
              <a:t>01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3333"/>
        </a:solidFill>
        <a:effectLst/>
      </p:bgPr>
    </p:bg>
    <p:spTree>
      <p:nvGrpSpPr>
        <p:cNvPr id="1" name=""/>
        <p:cNvGrpSpPr/>
        <p:nvPr/>
      </p:nvGrpSpPr>
      <p:grpSpPr/>
      <p:pic>
        <p:nvPicPr>
          <p:cNvPr id="2" name="Picture 1" descr="bg_c02.jpg"/>
          <p:cNvPicPr>
            <a:picLocks noChangeAspect="1"/>
          </p:cNvPicPr>
          <p:nvPr/>
        </p:nvPicPr>
        <p:blipFill>
          <a:blip r:embed="rId2"/>
          <a:stretch>
            <a:fillRect/>
          </a:stretch>
        </p:blipFill>
        <p:spPr>
          <a:xfrm>
            <a:off x="0" y="0"/>
            <a:ext cx="18287542" cy="10287000"/>
          </a:xfrm>
          <a:prstGeom prst="rect">
            <a:avLst/>
          </a:prstGeom>
        </p:spPr>
      </p:pic>
      <p:sp>
        <p:nvSpPr>
          <p:cNvPr id="3" name="TextBox 2"/>
          <p:cNvSpPr txBox="1"/>
          <p:nvPr/>
        </p:nvSpPr>
        <p:spPr>
          <a:xfrm>
            <a:off x="822959" y="822959"/>
            <a:ext cx="16733519" cy="384048"/>
          </a:xfrm>
          <a:prstGeom prst="rect">
            <a:avLst/>
          </a:prstGeom>
          <a:noFill/>
        </p:spPr>
        <p:txBody>
          <a:bodyPr wrap="none" lIns="0" rIns="0" tIns="0" bIns="0">
            <a:spAutoFit/>
          </a:bodyPr>
          <a:lstStyle/>
          <a:p>
            <a:pPr algn="l">
              <a:lnSpc>
                <a:spcPct val="115000"/>
              </a:lnSpc>
            </a:pPr>
            <a:r>
              <a:rPr sz="1650" spc="330">
                <a:solidFill>
                  <a:srgbClr val="9FE8DC"/>
                </a:solidFill>
                <a:latin typeface="Todes 1"/>
              </a:rPr>
              <a:t>THE PROBLEM · COORDINATION</a:t>
            </a:r>
          </a:p>
        </p:txBody>
      </p:sp>
      <p:sp>
        <p:nvSpPr>
          <p:cNvPr id="4" name="TextBox 3"/>
          <p:cNvSpPr txBox="1"/>
          <p:nvPr/>
        </p:nvSpPr>
        <p:spPr>
          <a:xfrm>
            <a:off x="822959" y="1699869"/>
            <a:ext cx="12667456" cy="1043025"/>
          </a:xfrm>
          <a:prstGeom prst="rect">
            <a:avLst/>
          </a:prstGeom>
          <a:noFill/>
        </p:spPr>
        <p:txBody>
          <a:bodyPr wrap="none" lIns="0" rIns="0" tIns="0" bIns="0">
            <a:spAutoFit/>
          </a:bodyPr>
          <a:lstStyle/>
          <a:p>
            <a:pPr algn="l">
              <a:lnSpc>
                <a:spcPct val="115000"/>
              </a:lnSpc>
            </a:pPr>
            <a:r>
              <a:rPr sz="5664" spc="-76">
                <a:solidFill>
                  <a:srgbClr val="F4EAD8"/>
                </a:solidFill>
                <a:latin typeface="Todes 1"/>
              </a:rPr>
              <a:t>Finding each other is only </a:t>
            </a:r>
          </a:p>
        </p:txBody>
      </p:sp>
      <p:sp>
        <p:nvSpPr>
          <p:cNvPr id="5" name="TextBox 4"/>
          <p:cNvSpPr txBox="1"/>
          <p:nvPr/>
        </p:nvSpPr>
        <p:spPr>
          <a:xfrm>
            <a:off x="10792333" y="1645919"/>
            <a:ext cx="5861208" cy="1140809"/>
          </a:xfrm>
          <a:prstGeom prst="rect">
            <a:avLst/>
          </a:prstGeom>
          <a:noFill/>
        </p:spPr>
        <p:txBody>
          <a:bodyPr wrap="none" lIns="0" rIns="0" tIns="0" bIns="0">
            <a:spAutoFit/>
          </a:bodyPr>
          <a:lstStyle/>
          <a:p>
            <a:pPr algn="l">
              <a:lnSpc>
                <a:spcPct val="115000"/>
              </a:lnSpc>
            </a:pPr>
            <a:r>
              <a:rPr sz="6195" spc="-75">
                <a:solidFill>
                  <a:srgbClr val="99E6D9"/>
                </a:solidFill>
                <a:latin typeface="Ibarra Real Nova Italics"/>
              </a:rPr>
              <a:t>the beginning.</a:t>
            </a:r>
          </a:p>
        </p:txBody>
      </p:sp>
      <p:sp>
        <p:nvSpPr>
          <p:cNvPr id="6" name="TextBox 5"/>
          <p:cNvSpPr txBox="1"/>
          <p:nvPr/>
        </p:nvSpPr>
        <p:spPr>
          <a:xfrm>
            <a:off x="822959" y="3360420"/>
            <a:ext cx="15773400" cy="411479"/>
          </a:xfrm>
          <a:prstGeom prst="rect">
            <a:avLst/>
          </a:prstGeom>
          <a:noFill/>
        </p:spPr>
        <p:txBody>
          <a:bodyPr wrap="none" lIns="0" rIns="0" tIns="0" bIns="0">
            <a:spAutoFit/>
          </a:bodyPr>
          <a:lstStyle/>
          <a:p>
            <a:pPr algn="l">
              <a:lnSpc>
                <a:spcPct val="115000"/>
              </a:lnSpc>
            </a:pPr>
            <a:r>
              <a:rPr sz="1800" spc="180">
                <a:solidFill>
                  <a:srgbClr val="9FE8DC"/>
                </a:solidFill>
                <a:latin typeface="Todes 1"/>
              </a:rPr>
              <a:t>THE FULL ARC OF WORKING TOGETHER</a:t>
            </a:r>
          </a:p>
        </p:txBody>
      </p:sp>
      <p:sp>
        <p:nvSpPr>
          <p:cNvPr id="7" name="Rounded Rectangle 6"/>
          <p:cNvSpPr/>
          <p:nvPr/>
        </p:nvSpPr>
        <p:spPr>
          <a:xfrm>
            <a:off x="822959" y="3977639"/>
            <a:ext cx="3693033" cy="1261872"/>
          </a:xfrm>
          <a:prstGeom prst="roundRect">
            <a:avLst>
              <a:gd name="adj" fmla="val 14000"/>
            </a:avLst>
          </a:prstGeom>
          <a:solidFill>
            <a:srgbClr val="0D3E40"/>
          </a:solidFill>
          <a:ln w="1270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169664"/>
            <a:ext cx="4022216" cy="411479"/>
          </a:xfrm>
          <a:prstGeom prst="rect">
            <a:avLst/>
          </a:prstGeom>
          <a:noFill/>
        </p:spPr>
        <p:txBody>
          <a:bodyPr wrap="none" lIns="0" rIns="0" tIns="0" bIns="0">
            <a:spAutoFit/>
          </a:bodyPr>
          <a:lstStyle/>
          <a:p>
            <a:pPr algn="ctr">
              <a:lnSpc>
                <a:spcPct val="115000"/>
              </a:lnSpc>
            </a:pPr>
            <a:r>
              <a:rPr sz="1425" spc="330">
                <a:solidFill>
                  <a:srgbClr val="9FE8DC"/>
                </a:solidFill>
                <a:latin typeface="Todes 1"/>
              </a:rPr>
              <a:t>DISCOVER</a:t>
            </a:r>
          </a:p>
        </p:txBody>
      </p:sp>
      <p:sp>
        <p:nvSpPr>
          <p:cNvPr id="9" name="TextBox 8"/>
          <p:cNvSpPr txBox="1"/>
          <p:nvPr/>
        </p:nvSpPr>
        <p:spPr>
          <a:xfrm>
            <a:off x="960119" y="4581144"/>
            <a:ext cx="3418712" cy="411479"/>
          </a:xfrm>
          <a:prstGeom prst="rect">
            <a:avLst/>
          </a:prstGeom>
          <a:noFill/>
        </p:spPr>
        <p:txBody>
          <a:bodyPr wrap="square" lIns="0" rIns="0" tIns="0" bIns="0">
            <a:spAutoFit/>
          </a:bodyPr>
          <a:lstStyle/>
          <a:p>
            <a:pPr algn="ctr">
              <a:lnSpc>
                <a:spcPct val="115000"/>
              </a:lnSpc>
            </a:pPr>
            <a:r>
              <a:rPr sz="1275" spc="150">
                <a:solidFill>
                  <a:srgbClr val="AFC4C2"/>
                </a:solidFill>
                <a:latin typeface="TT Commons Pro"/>
              </a:rPr>
              <a:t>find each other</a:t>
            </a:r>
          </a:p>
        </p:txBody>
      </p:sp>
      <p:sp>
        <p:nvSpPr>
          <p:cNvPr id="10" name="Right Arrow 9"/>
          <p:cNvSpPr/>
          <p:nvPr/>
        </p:nvSpPr>
        <p:spPr>
          <a:xfrm>
            <a:off x="4653153" y="4505705"/>
            <a:ext cx="356616" cy="205739"/>
          </a:xfrm>
          <a:prstGeom prst="rightArrow">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146929" y="3977639"/>
            <a:ext cx="3693033" cy="1261872"/>
          </a:xfrm>
          <a:prstGeom prst="roundRect">
            <a:avLst>
              <a:gd name="adj" fmla="val 14000"/>
            </a:avLst>
          </a:prstGeom>
          <a:solidFill>
            <a:srgbClr val="0D3E40"/>
          </a:solidFill>
          <a:ln w="1270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82337" y="4169664"/>
            <a:ext cx="4022216" cy="411479"/>
          </a:xfrm>
          <a:prstGeom prst="rect">
            <a:avLst/>
          </a:prstGeom>
          <a:noFill/>
        </p:spPr>
        <p:txBody>
          <a:bodyPr wrap="none" lIns="0" rIns="0" tIns="0" bIns="0">
            <a:spAutoFit/>
          </a:bodyPr>
          <a:lstStyle/>
          <a:p>
            <a:pPr algn="ctr">
              <a:lnSpc>
                <a:spcPct val="115000"/>
              </a:lnSpc>
            </a:pPr>
            <a:r>
              <a:rPr sz="1425" spc="330">
                <a:solidFill>
                  <a:srgbClr val="9FE8DC"/>
                </a:solidFill>
                <a:latin typeface="Todes 1"/>
              </a:rPr>
              <a:t>TRUST</a:t>
            </a:r>
          </a:p>
        </p:txBody>
      </p:sp>
      <p:sp>
        <p:nvSpPr>
          <p:cNvPr id="13" name="TextBox 12"/>
          <p:cNvSpPr txBox="1"/>
          <p:nvPr/>
        </p:nvSpPr>
        <p:spPr>
          <a:xfrm>
            <a:off x="5284089" y="4581144"/>
            <a:ext cx="3418712" cy="411479"/>
          </a:xfrm>
          <a:prstGeom prst="rect">
            <a:avLst/>
          </a:prstGeom>
          <a:noFill/>
        </p:spPr>
        <p:txBody>
          <a:bodyPr wrap="square" lIns="0" rIns="0" tIns="0" bIns="0">
            <a:spAutoFit/>
          </a:bodyPr>
          <a:lstStyle/>
          <a:p>
            <a:pPr algn="ctr">
              <a:lnSpc>
                <a:spcPct val="115000"/>
              </a:lnSpc>
            </a:pPr>
            <a:r>
              <a:rPr sz="1275" spc="150">
                <a:solidFill>
                  <a:srgbClr val="AFC4C2"/>
                </a:solidFill>
                <a:latin typeface="TT Commons Pro"/>
              </a:rPr>
              <a:t>enough context</a:t>
            </a:r>
          </a:p>
        </p:txBody>
      </p:sp>
      <p:sp>
        <p:nvSpPr>
          <p:cNvPr id="14" name="Right Arrow 13"/>
          <p:cNvSpPr/>
          <p:nvPr/>
        </p:nvSpPr>
        <p:spPr>
          <a:xfrm>
            <a:off x="8977122" y="4505705"/>
            <a:ext cx="356616" cy="205739"/>
          </a:xfrm>
          <a:prstGeom prst="rightArrow">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470897" y="3977639"/>
            <a:ext cx="3693033" cy="1261872"/>
          </a:xfrm>
          <a:prstGeom prst="roundRect">
            <a:avLst>
              <a:gd name="adj" fmla="val 14000"/>
            </a:avLst>
          </a:prstGeom>
          <a:solidFill>
            <a:srgbClr val="0D3E40"/>
          </a:solidFill>
          <a:ln w="1270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06305" y="4169664"/>
            <a:ext cx="4022216" cy="411479"/>
          </a:xfrm>
          <a:prstGeom prst="rect">
            <a:avLst/>
          </a:prstGeom>
          <a:noFill/>
        </p:spPr>
        <p:txBody>
          <a:bodyPr wrap="none" lIns="0" rIns="0" tIns="0" bIns="0">
            <a:spAutoFit/>
          </a:bodyPr>
          <a:lstStyle/>
          <a:p>
            <a:pPr algn="ctr">
              <a:lnSpc>
                <a:spcPct val="115000"/>
              </a:lnSpc>
            </a:pPr>
            <a:r>
              <a:rPr sz="1425" spc="330">
                <a:solidFill>
                  <a:srgbClr val="9FE8DC"/>
                </a:solidFill>
                <a:latin typeface="Todes 1"/>
              </a:rPr>
              <a:t>AGREE</a:t>
            </a:r>
          </a:p>
        </p:txBody>
      </p:sp>
      <p:sp>
        <p:nvSpPr>
          <p:cNvPr id="17" name="TextBox 16"/>
          <p:cNvSpPr txBox="1"/>
          <p:nvPr/>
        </p:nvSpPr>
        <p:spPr>
          <a:xfrm>
            <a:off x="9608057" y="4581144"/>
            <a:ext cx="3418712" cy="411479"/>
          </a:xfrm>
          <a:prstGeom prst="rect">
            <a:avLst/>
          </a:prstGeom>
          <a:noFill/>
        </p:spPr>
        <p:txBody>
          <a:bodyPr wrap="square" lIns="0" rIns="0" tIns="0" bIns="0">
            <a:spAutoFit/>
          </a:bodyPr>
          <a:lstStyle/>
          <a:p>
            <a:pPr algn="ctr">
              <a:lnSpc>
                <a:spcPct val="115000"/>
              </a:lnSpc>
            </a:pPr>
            <a:r>
              <a:rPr sz="1275" spc="150">
                <a:solidFill>
                  <a:srgbClr val="AFC4C2"/>
                </a:solidFill>
                <a:latin typeface="TT Commons Pro"/>
              </a:rPr>
              <a:t>terms + roles</a:t>
            </a:r>
          </a:p>
        </p:txBody>
      </p:sp>
      <p:sp>
        <p:nvSpPr>
          <p:cNvPr id="18" name="Right Arrow 17"/>
          <p:cNvSpPr/>
          <p:nvPr/>
        </p:nvSpPr>
        <p:spPr>
          <a:xfrm>
            <a:off x="13301091" y="4505705"/>
            <a:ext cx="356616" cy="205739"/>
          </a:xfrm>
          <a:prstGeom prst="rightArrow">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3794867" y="3977639"/>
            <a:ext cx="3693033" cy="1261872"/>
          </a:xfrm>
          <a:prstGeom prst="roundRect">
            <a:avLst>
              <a:gd name="adj" fmla="val 14000"/>
            </a:avLst>
          </a:prstGeom>
          <a:solidFill>
            <a:srgbClr val="0D3E40"/>
          </a:solidFill>
          <a:ln w="1270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3630275" y="4169664"/>
            <a:ext cx="4022216" cy="411479"/>
          </a:xfrm>
          <a:prstGeom prst="rect">
            <a:avLst/>
          </a:prstGeom>
          <a:noFill/>
        </p:spPr>
        <p:txBody>
          <a:bodyPr wrap="none" lIns="0" rIns="0" tIns="0" bIns="0">
            <a:spAutoFit/>
          </a:bodyPr>
          <a:lstStyle/>
          <a:p>
            <a:pPr algn="ctr">
              <a:lnSpc>
                <a:spcPct val="115000"/>
              </a:lnSpc>
            </a:pPr>
            <a:r>
              <a:rPr sz="1425" spc="330">
                <a:solidFill>
                  <a:srgbClr val="9FE8DC"/>
                </a:solidFill>
                <a:latin typeface="Todes 1"/>
              </a:rPr>
              <a:t>ORGANIZE</a:t>
            </a:r>
          </a:p>
        </p:txBody>
      </p:sp>
      <p:sp>
        <p:nvSpPr>
          <p:cNvPr id="21" name="TextBox 20"/>
          <p:cNvSpPr txBox="1"/>
          <p:nvPr/>
        </p:nvSpPr>
        <p:spPr>
          <a:xfrm>
            <a:off x="13932026" y="4581144"/>
            <a:ext cx="3418712" cy="411479"/>
          </a:xfrm>
          <a:prstGeom prst="rect">
            <a:avLst/>
          </a:prstGeom>
          <a:noFill/>
        </p:spPr>
        <p:txBody>
          <a:bodyPr wrap="square" lIns="0" rIns="0" tIns="0" bIns="0">
            <a:spAutoFit/>
          </a:bodyPr>
          <a:lstStyle/>
          <a:p>
            <a:pPr algn="ctr">
              <a:lnSpc>
                <a:spcPct val="115000"/>
              </a:lnSpc>
            </a:pPr>
            <a:r>
              <a:rPr sz="1275" spc="150">
                <a:solidFill>
                  <a:srgbClr val="AFC4C2"/>
                </a:solidFill>
                <a:latin typeface="TT Commons Pro"/>
              </a:rPr>
              <a:t>schedule + assign</a:t>
            </a:r>
          </a:p>
        </p:txBody>
      </p:sp>
      <p:sp>
        <p:nvSpPr>
          <p:cNvPr id="22" name="Rounded Rectangle 21"/>
          <p:cNvSpPr/>
          <p:nvPr/>
        </p:nvSpPr>
        <p:spPr>
          <a:xfrm>
            <a:off x="822959" y="5513831"/>
            <a:ext cx="3693033" cy="1261872"/>
          </a:xfrm>
          <a:prstGeom prst="roundRect">
            <a:avLst>
              <a:gd name="adj" fmla="val 14000"/>
            </a:avLst>
          </a:prstGeom>
          <a:solidFill>
            <a:srgbClr val="0D3E40"/>
          </a:solidFill>
          <a:ln w="1270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5705855"/>
            <a:ext cx="4022216" cy="411479"/>
          </a:xfrm>
          <a:prstGeom prst="rect">
            <a:avLst/>
          </a:prstGeom>
          <a:noFill/>
        </p:spPr>
        <p:txBody>
          <a:bodyPr wrap="none" lIns="0" rIns="0" tIns="0" bIns="0">
            <a:spAutoFit/>
          </a:bodyPr>
          <a:lstStyle/>
          <a:p>
            <a:pPr algn="ctr">
              <a:lnSpc>
                <a:spcPct val="115000"/>
              </a:lnSpc>
            </a:pPr>
            <a:r>
              <a:rPr sz="1425" spc="330">
                <a:solidFill>
                  <a:srgbClr val="9FE8DC"/>
                </a:solidFill>
                <a:latin typeface="Todes 1"/>
              </a:rPr>
              <a:t>ACT</a:t>
            </a:r>
          </a:p>
        </p:txBody>
      </p:sp>
      <p:sp>
        <p:nvSpPr>
          <p:cNvPr id="24" name="TextBox 23"/>
          <p:cNvSpPr txBox="1"/>
          <p:nvPr/>
        </p:nvSpPr>
        <p:spPr>
          <a:xfrm>
            <a:off x="960119" y="6117335"/>
            <a:ext cx="3418712" cy="411479"/>
          </a:xfrm>
          <a:prstGeom prst="rect">
            <a:avLst/>
          </a:prstGeom>
          <a:noFill/>
        </p:spPr>
        <p:txBody>
          <a:bodyPr wrap="square" lIns="0" rIns="0" tIns="0" bIns="0">
            <a:spAutoFit/>
          </a:bodyPr>
          <a:lstStyle/>
          <a:p>
            <a:pPr algn="ctr">
              <a:lnSpc>
                <a:spcPct val="115000"/>
              </a:lnSpc>
            </a:pPr>
            <a:r>
              <a:rPr sz="1275" spc="150">
                <a:solidFill>
                  <a:srgbClr val="AFC4C2"/>
                </a:solidFill>
                <a:latin typeface="TT Commons Pro"/>
              </a:rPr>
              <a:t>do the work</a:t>
            </a:r>
          </a:p>
        </p:txBody>
      </p:sp>
      <p:sp>
        <p:nvSpPr>
          <p:cNvPr id="25" name="Right Arrow 24"/>
          <p:cNvSpPr/>
          <p:nvPr/>
        </p:nvSpPr>
        <p:spPr>
          <a:xfrm>
            <a:off x="4653153" y="6041897"/>
            <a:ext cx="356616" cy="205739"/>
          </a:xfrm>
          <a:prstGeom prst="rightArrow">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146929" y="5513831"/>
            <a:ext cx="3693033" cy="1261872"/>
          </a:xfrm>
          <a:prstGeom prst="roundRect">
            <a:avLst>
              <a:gd name="adj" fmla="val 14000"/>
            </a:avLst>
          </a:prstGeom>
          <a:solidFill>
            <a:srgbClr val="0D3E40"/>
          </a:solidFill>
          <a:ln w="1270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82337" y="5705855"/>
            <a:ext cx="4022216" cy="411479"/>
          </a:xfrm>
          <a:prstGeom prst="rect">
            <a:avLst/>
          </a:prstGeom>
          <a:noFill/>
        </p:spPr>
        <p:txBody>
          <a:bodyPr wrap="none" lIns="0" rIns="0" tIns="0" bIns="0">
            <a:spAutoFit/>
          </a:bodyPr>
          <a:lstStyle/>
          <a:p>
            <a:pPr algn="ctr">
              <a:lnSpc>
                <a:spcPct val="115000"/>
              </a:lnSpc>
            </a:pPr>
            <a:r>
              <a:rPr sz="1425" spc="330">
                <a:solidFill>
                  <a:srgbClr val="9FE8DC"/>
                </a:solidFill>
                <a:latin typeface="Todes 1"/>
              </a:rPr>
              <a:t>VERIFY</a:t>
            </a:r>
          </a:p>
        </p:txBody>
      </p:sp>
      <p:sp>
        <p:nvSpPr>
          <p:cNvPr id="28" name="TextBox 27"/>
          <p:cNvSpPr txBox="1"/>
          <p:nvPr/>
        </p:nvSpPr>
        <p:spPr>
          <a:xfrm>
            <a:off x="5284089" y="6117335"/>
            <a:ext cx="3418712" cy="411479"/>
          </a:xfrm>
          <a:prstGeom prst="rect">
            <a:avLst/>
          </a:prstGeom>
          <a:noFill/>
        </p:spPr>
        <p:txBody>
          <a:bodyPr wrap="square" lIns="0" rIns="0" tIns="0" bIns="0">
            <a:spAutoFit/>
          </a:bodyPr>
          <a:lstStyle/>
          <a:p>
            <a:pPr algn="ctr">
              <a:lnSpc>
                <a:spcPct val="115000"/>
              </a:lnSpc>
            </a:pPr>
            <a:r>
              <a:rPr sz="1275" spc="150">
                <a:solidFill>
                  <a:srgbClr val="AFC4C2"/>
                </a:solidFill>
                <a:latin typeface="TT Commons Pro"/>
              </a:rPr>
              <a:t>confirm it happened</a:t>
            </a:r>
          </a:p>
        </p:txBody>
      </p:sp>
      <p:sp>
        <p:nvSpPr>
          <p:cNvPr id="29" name="Right Arrow 28"/>
          <p:cNvSpPr/>
          <p:nvPr/>
        </p:nvSpPr>
        <p:spPr>
          <a:xfrm>
            <a:off x="8977122" y="6041897"/>
            <a:ext cx="356616" cy="205739"/>
          </a:xfrm>
          <a:prstGeom prst="rightArrow">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470897" y="5513831"/>
            <a:ext cx="3693033" cy="1261872"/>
          </a:xfrm>
          <a:prstGeom prst="roundRect">
            <a:avLst>
              <a:gd name="adj" fmla="val 14000"/>
            </a:avLst>
          </a:prstGeom>
          <a:solidFill>
            <a:srgbClr val="0D3E40"/>
          </a:solidFill>
          <a:ln w="1270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306305" y="5705855"/>
            <a:ext cx="4022216" cy="411479"/>
          </a:xfrm>
          <a:prstGeom prst="rect">
            <a:avLst/>
          </a:prstGeom>
          <a:noFill/>
        </p:spPr>
        <p:txBody>
          <a:bodyPr wrap="none" lIns="0" rIns="0" tIns="0" bIns="0">
            <a:spAutoFit/>
          </a:bodyPr>
          <a:lstStyle/>
          <a:p>
            <a:pPr algn="ctr">
              <a:lnSpc>
                <a:spcPct val="115000"/>
              </a:lnSpc>
            </a:pPr>
            <a:r>
              <a:rPr sz="1425" spc="330">
                <a:solidFill>
                  <a:srgbClr val="9FE8DC"/>
                </a:solidFill>
                <a:latin typeface="Todes 1"/>
              </a:rPr>
              <a:t>ACCOUNT</a:t>
            </a:r>
          </a:p>
        </p:txBody>
      </p:sp>
      <p:sp>
        <p:nvSpPr>
          <p:cNvPr id="32" name="TextBox 31"/>
          <p:cNvSpPr txBox="1"/>
          <p:nvPr/>
        </p:nvSpPr>
        <p:spPr>
          <a:xfrm>
            <a:off x="9608057" y="6117335"/>
            <a:ext cx="3418712" cy="411479"/>
          </a:xfrm>
          <a:prstGeom prst="rect">
            <a:avLst/>
          </a:prstGeom>
          <a:noFill/>
        </p:spPr>
        <p:txBody>
          <a:bodyPr wrap="square" lIns="0" rIns="0" tIns="0" bIns="0">
            <a:spAutoFit/>
          </a:bodyPr>
          <a:lstStyle/>
          <a:p>
            <a:pPr algn="ctr">
              <a:lnSpc>
                <a:spcPct val="115000"/>
              </a:lnSpc>
            </a:pPr>
            <a:r>
              <a:rPr sz="1275" spc="150">
                <a:solidFill>
                  <a:srgbClr val="AFC4C2"/>
                </a:solidFill>
                <a:latin typeface="TT Commons Pro"/>
              </a:rPr>
              <a:t>record it</a:t>
            </a:r>
          </a:p>
        </p:txBody>
      </p:sp>
      <p:sp>
        <p:nvSpPr>
          <p:cNvPr id="33" name="Right Arrow 32"/>
          <p:cNvSpPr/>
          <p:nvPr/>
        </p:nvSpPr>
        <p:spPr>
          <a:xfrm>
            <a:off x="13301091" y="6041897"/>
            <a:ext cx="356616" cy="205739"/>
          </a:xfrm>
          <a:prstGeom prst="rightArrow">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13794867" y="5513831"/>
            <a:ext cx="3693033" cy="1261872"/>
          </a:xfrm>
          <a:prstGeom prst="roundRect">
            <a:avLst>
              <a:gd name="adj" fmla="val 14000"/>
            </a:avLst>
          </a:prstGeom>
          <a:solidFill>
            <a:srgbClr val="0D3E40"/>
          </a:solidFill>
          <a:ln w="1270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3630275" y="5705855"/>
            <a:ext cx="4022216" cy="411479"/>
          </a:xfrm>
          <a:prstGeom prst="rect">
            <a:avLst/>
          </a:prstGeom>
          <a:noFill/>
        </p:spPr>
        <p:txBody>
          <a:bodyPr wrap="none" lIns="0" rIns="0" tIns="0" bIns="0">
            <a:spAutoFit/>
          </a:bodyPr>
          <a:lstStyle/>
          <a:p>
            <a:pPr algn="ctr">
              <a:lnSpc>
                <a:spcPct val="115000"/>
              </a:lnSpc>
            </a:pPr>
            <a:r>
              <a:rPr sz="1425" spc="330">
                <a:solidFill>
                  <a:srgbClr val="9FE8DC"/>
                </a:solidFill>
                <a:latin typeface="Todes 1"/>
              </a:rPr>
              <a:t>COMPENSATE</a:t>
            </a:r>
          </a:p>
        </p:txBody>
      </p:sp>
      <p:sp>
        <p:nvSpPr>
          <p:cNvPr id="36" name="TextBox 35"/>
          <p:cNvSpPr txBox="1"/>
          <p:nvPr/>
        </p:nvSpPr>
        <p:spPr>
          <a:xfrm>
            <a:off x="13932026" y="6117335"/>
            <a:ext cx="3418712" cy="411479"/>
          </a:xfrm>
          <a:prstGeom prst="rect">
            <a:avLst/>
          </a:prstGeom>
          <a:noFill/>
        </p:spPr>
        <p:txBody>
          <a:bodyPr wrap="square" lIns="0" rIns="0" tIns="0" bIns="0">
            <a:spAutoFit/>
          </a:bodyPr>
          <a:lstStyle/>
          <a:p>
            <a:pPr algn="ctr">
              <a:lnSpc>
                <a:spcPct val="115000"/>
              </a:lnSpc>
            </a:pPr>
            <a:r>
              <a:rPr sz="1275" spc="150">
                <a:solidFill>
                  <a:srgbClr val="AFC4C2"/>
                </a:solidFill>
                <a:latin typeface="TT Commons Pro"/>
              </a:rPr>
              <a:t>value moves</a:t>
            </a:r>
          </a:p>
        </p:txBody>
      </p:sp>
      <p:sp>
        <p:nvSpPr>
          <p:cNvPr id="37" name="TextBox 36"/>
          <p:cNvSpPr txBox="1"/>
          <p:nvPr/>
        </p:nvSpPr>
        <p:spPr>
          <a:xfrm>
            <a:off x="822959" y="7050023"/>
            <a:ext cx="15773400" cy="411479"/>
          </a:xfrm>
          <a:prstGeom prst="rect">
            <a:avLst/>
          </a:prstGeom>
          <a:noFill/>
        </p:spPr>
        <p:txBody>
          <a:bodyPr wrap="none" lIns="0" rIns="0" tIns="0" bIns="0">
            <a:spAutoFit/>
          </a:bodyPr>
          <a:lstStyle/>
          <a:p>
            <a:pPr algn="l">
              <a:lnSpc>
                <a:spcPct val="115000"/>
              </a:lnSpc>
            </a:pPr>
            <a:r>
              <a:rPr sz="1800" spc="180">
                <a:solidFill>
                  <a:srgbClr val="EBCF9E"/>
                </a:solidFill>
                <a:latin typeface="Todes 1"/>
              </a:rPr>
              <a:t>WHAT PEOPLE ASSEMBLE BY HAND, EVERY TIME</a:t>
            </a:r>
          </a:p>
        </p:txBody>
      </p:sp>
      <p:sp>
        <p:nvSpPr>
          <p:cNvPr id="38" name="TextBox 37"/>
          <p:cNvSpPr txBox="1"/>
          <p:nvPr/>
        </p:nvSpPr>
        <p:spPr>
          <a:xfrm>
            <a:off x="822959" y="7626096"/>
            <a:ext cx="5486400" cy="548640"/>
          </a:xfrm>
          <a:prstGeom prst="rect">
            <a:avLst/>
          </a:prstGeom>
          <a:noFill/>
        </p:spPr>
        <p:txBody>
          <a:bodyPr wrap="square" lIns="0" rIns="0" tIns="0" bIns="0">
            <a:spAutoFit/>
          </a:bodyPr>
          <a:lstStyle/>
          <a:p>
            <a:pPr algn="l">
              <a:lnSpc>
                <a:spcPct val="115000"/>
              </a:lnSpc>
            </a:pPr>
            <a:r>
              <a:rPr sz="2100" spc="20">
                <a:solidFill>
                  <a:srgbClr val="F0CC8B"/>
                </a:solidFill>
                <a:latin typeface="Alike Italics"/>
              </a:rPr>
              <a:t>?  </a:t>
            </a:r>
            <a:r>
              <a:rPr sz="1950" spc="20">
                <a:solidFill>
                  <a:srgbClr val="F2ECDD"/>
                </a:solidFill>
                <a:latin typeface="Alike Italics"/>
              </a:rPr>
              <a:t>Who is doing what?</a:t>
            </a:r>
          </a:p>
        </p:txBody>
      </p:sp>
      <p:sp>
        <p:nvSpPr>
          <p:cNvPr id="39" name="TextBox 38"/>
          <p:cNvSpPr txBox="1"/>
          <p:nvPr/>
        </p:nvSpPr>
        <p:spPr>
          <a:xfrm>
            <a:off x="6446519" y="7626096"/>
            <a:ext cx="5486400" cy="548640"/>
          </a:xfrm>
          <a:prstGeom prst="rect">
            <a:avLst/>
          </a:prstGeom>
          <a:noFill/>
        </p:spPr>
        <p:txBody>
          <a:bodyPr wrap="square" lIns="0" rIns="0" tIns="0" bIns="0">
            <a:spAutoFit/>
          </a:bodyPr>
          <a:lstStyle/>
          <a:p>
            <a:pPr algn="l">
              <a:lnSpc>
                <a:spcPct val="115000"/>
              </a:lnSpc>
            </a:pPr>
            <a:r>
              <a:rPr sz="2100" spc="20">
                <a:solidFill>
                  <a:srgbClr val="F0CC8B"/>
                </a:solidFill>
                <a:latin typeface="Alike Italics"/>
              </a:rPr>
              <a:t>?  </a:t>
            </a:r>
            <a:r>
              <a:rPr sz="1950" spc="20">
                <a:solidFill>
                  <a:srgbClr val="F2ECDD"/>
                </a:solidFill>
                <a:latin typeface="Alike Italics"/>
              </a:rPr>
              <a:t>What was agreed to?</a:t>
            </a:r>
          </a:p>
        </p:txBody>
      </p:sp>
      <p:sp>
        <p:nvSpPr>
          <p:cNvPr id="40" name="TextBox 39"/>
          <p:cNvSpPr txBox="1"/>
          <p:nvPr/>
        </p:nvSpPr>
        <p:spPr>
          <a:xfrm>
            <a:off x="12070080" y="7626096"/>
            <a:ext cx="5486400" cy="548640"/>
          </a:xfrm>
          <a:prstGeom prst="rect">
            <a:avLst/>
          </a:prstGeom>
          <a:noFill/>
        </p:spPr>
        <p:txBody>
          <a:bodyPr wrap="square" lIns="0" rIns="0" tIns="0" bIns="0">
            <a:spAutoFit/>
          </a:bodyPr>
          <a:lstStyle/>
          <a:p>
            <a:pPr algn="l">
              <a:lnSpc>
                <a:spcPct val="115000"/>
              </a:lnSpc>
            </a:pPr>
            <a:r>
              <a:rPr sz="2100" spc="20">
                <a:solidFill>
                  <a:srgbClr val="F0CC8B"/>
                </a:solidFill>
                <a:latin typeface="Alike Italics"/>
              </a:rPr>
              <a:t>?  </a:t>
            </a:r>
            <a:r>
              <a:rPr sz="1950" spc="20">
                <a:solidFill>
                  <a:srgbClr val="F2ECDD"/>
                </a:solidFill>
                <a:latin typeface="Alike Italics"/>
              </a:rPr>
              <a:t>What resources are needed?</a:t>
            </a:r>
          </a:p>
        </p:txBody>
      </p:sp>
      <p:sp>
        <p:nvSpPr>
          <p:cNvPr id="41" name="TextBox 40"/>
          <p:cNvSpPr txBox="1"/>
          <p:nvPr/>
        </p:nvSpPr>
        <p:spPr>
          <a:xfrm>
            <a:off x="822959" y="8257031"/>
            <a:ext cx="5486400" cy="548640"/>
          </a:xfrm>
          <a:prstGeom prst="rect">
            <a:avLst/>
          </a:prstGeom>
          <a:noFill/>
        </p:spPr>
        <p:txBody>
          <a:bodyPr wrap="square" lIns="0" rIns="0" tIns="0" bIns="0">
            <a:spAutoFit/>
          </a:bodyPr>
          <a:lstStyle/>
          <a:p>
            <a:pPr algn="l">
              <a:lnSpc>
                <a:spcPct val="115000"/>
              </a:lnSpc>
            </a:pPr>
            <a:r>
              <a:rPr sz="2100" spc="20">
                <a:solidFill>
                  <a:srgbClr val="F0CC8B"/>
                </a:solidFill>
                <a:latin typeface="Alike Italics"/>
              </a:rPr>
              <a:t>?  </a:t>
            </a:r>
            <a:r>
              <a:rPr sz="1950" spc="20">
                <a:solidFill>
                  <a:srgbClr val="F2ECDD"/>
                </a:solidFill>
                <a:latin typeface="Alike Italics"/>
              </a:rPr>
              <a:t>How does someone participate?</a:t>
            </a:r>
          </a:p>
        </p:txBody>
      </p:sp>
      <p:sp>
        <p:nvSpPr>
          <p:cNvPr id="42" name="TextBox 41"/>
          <p:cNvSpPr txBox="1"/>
          <p:nvPr/>
        </p:nvSpPr>
        <p:spPr>
          <a:xfrm>
            <a:off x="6446519" y="8257031"/>
            <a:ext cx="5486400" cy="548640"/>
          </a:xfrm>
          <a:prstGeom prst="rect">
            <a:avLst/>
          </a:prstGeom>
          <a:noFill/>
        </p:spPr>
        <p:txBody>
          <a:bodyPr wrap="square" lIns="0" rIns="0" tIns="0" bIns="0">
            <a:spAutoFit/>
          </a:bodyPr>
          <a:lstStyle/>
          <a:p>
            <a:pPr algn="l">
              <a:lnSpc>
                <a:spcPct val="115000"/>
              </a:lnSpc>
            </a:pPr>
            <a:r>
              <a:rPr sz="2100" spc="20">
                <a:solidFill>
                  <a:srgbClr val="F0CC8B"/>
                </a:solidFill>
                <a:latin typeface="Alike Italics"/>
              </a:rPr>
              <a:t>?  </a:t>
            </a:r>
            <a:r>
              <a:rPr sz="1950" spc="20">
                <a:solidFill>
                  <a:srgbClr val="F2ECDD"/>
                </a:solidFill>
                <a:latin typeface="Alike Italics"/>
              </a:rPr>
              <a:t>Who contributed?</a:t>
            </a:r>
          </a:p>
        </p:txBody>
      </p:sp>
      <p:sp>
        <p:nvSpPr>
          <p:cNvPr id="43" name="TextBox 42"/>
          <p:cNvSpPr txBox="1"/>
          <p:nvPr/>
        </p:nvSpPr>
        <p:spPr>
          <a:xfrm>
            <a:off x="12070080" y="8257031"/>
            <a:ext cx="5486400" cy="548640"/>
          </a:xfrm>
          <a:prstGeom prst="rect">
            <a:avLst/>
          </a:prstGeom>
          <a:noFill/>
        </p:spPr>
        <p:txBody>
          <a:bodyPr wrap="square" lIns="0" rIns="0" tIns="0" bIns="0">
            <a:spAutoFit/>
          </a:bodyPr>
          <a:lstStyle/>
          <a:p>
            <a:pPr algn="l">
              <a:lnSpc>
                <a:spcPct val="115000"/>
              </a:lnSpc>
            </a:pPr>
            <a:r>
              <a:rPr sz="2100" spc="20">
                <a:solidFill>
                  <a:srgbClr val="F0CC8B"/>
                </a:solidFill>
                <a:latin typeface="Alike Italics"/>
              </a:rPr>
              <a:t>?  </a:t>
            </a:r>
            <a:r>
              <a:rPr sz="1950" spc="20">
                <a:solidFill>
                  <a:srgbClr val="F2ECDD"/>
                </a:solidFill>
                <a:latin typeface="Alike Italics"/>
              </a:rPr>
              <a:t>What is owed?</a:t>
            </a:r>
          </a:p>
        </p:txBody>
      </p:sp>
      <p:sp>
        <p:nvSpPr>
          <p:cNvPr id="44" name="TextBox 43"/>
          <p:cNvSpPr txBox="1"/>
          <p:nvPr/>
        </p:nvSpPr>
        <p:spPr>
          <a:xfrm>
            <a:off x="822959" y="9079992"/>
            <a:ext cx="16596359" cy="1097280"/>
          </a:xfrm>
          <a:prstGeom prst="rect">
            <a:avLst/>
          </a:prstGeom>
          <a:noFill/>
        </p:spPr>
        <p:txBody>
          <a:bodyPr wrap="square" lIns="0" rIns="0" tIns="0" bIns="0">
            <a:spAutoFit/>
          </a:bodyPr>
          <a:lstStyle/>
          <a:p>
            <a:pPr algn="ctr">
              <a:lnSpc>
                <a:spcPct val="140000"/>
              </a:lnSpc>
            </a:pPr>
            <a:r>
              <a:rPr sz="1875">
                <a:solidFill>
                  <a:srgbClr val="F2ECDD"/>
                </a:solidFill>
                <a:latin typeface="TT Commons Pro"/>
              </a:rPr>
              <a:t>Coordination overhead prevents useful activity from happening. </a:t>
            </a:r>
            <a:r>
              <a:rPr sz="2025" spc="20">
                <a:solidFill>
                  <a:srgbClr val="9FE8DC"/>
                </a:solidFill>
                <a:latin typeface="Alike Italics"/>
              </a:rPr>
              <a:t>Rivr lowers the friction between wanting to do something together and doing it.</a:t>
            </a:r>
          </a:p>
        </p:txBody>
      </p:sp>
      <p:pic>
        <p:nvPicPr>
          <p:cNvPr id="45" name="Picture 44" descr="rivr-symbol-light.png"/>
          <p:cNvPicPr>
            <a:picLocks noChangeAspect="1"/>
          </p:cNvPicPr>
          <p:nvPr/>
        </p:nvPicPr>
        <p:blipFill>
          <a:blip r:embed="rId4"/>
          <a:stretch>
            <a:fillRect/>
          </a:stretch>
        </p:blipFill>
        <p:spPr>
          <a:xfrm>
            <a:off x="576072" y="9518904"/>
            <a:ext cx="521208" cy="521208"/>
          </a:xfrm>
          <a:prstGeom prst="rect">
            <a:avLst/>
          </a:prstGeom>
        </p:spPr>
      </p:pic>
      <p:sp>
        <p:nvSpPr>
          <p:cNvPr id="46" name="TextBox 45"/>
          <p:cNvSpPr txBox="1"/>
          <p:nvPr/>
        </p:nvSpPr>
        <p:spPr>
          <a:xfrm>
            <a:off x="1371600" y="9724644"/>
            <a:ext cx="5486400" cy="301752"/>
          </a:xfrm>
          <a:prstGeom prst="rect">
            <a:avLst/>
          </a:prstGeom>
          <a:noFill/>
        </p:spPr>
        <p:txBody>
          <a:bodyPr wrap="none" lIns="0" rIns="0" tIns="0" bIns="0">
            <a:spAutoFit/>
          </a:bodyPr>
          <a:lstStyle/>
          <a:p>
            <a:pPr algn="l">
              <a:lnSpc>
                <a:spcPct val="115000"/>
              </a:lnSpc>
            </a:pPr>
            <a:r>
              <a:rPr sz="1350" spc="150">
                <a:solidFill>
                  <a:srgbClr val="AFC4C2"/>
                </a:solidFill>
                <a:latin typeface="TT Commons Pro"/>
              </a:rPr>
              <a:t>Rivr · Seed Round 2026</a:t>
            </a:r>
          </a:p>
        </p:txBody>
      </p:sp>
      <p:sp>
        <p:nvSpPr>
          <p:cNvPr id="47" name="TextBox 46"/>
          <p:cNvSpPr txBox="1"/>
          <p:nvPr/>
        </p:nvSpPr>
        <p:spPr>
          <a:xfrm>
            <a:off x="16870680" y="9724644"/>
            <a:ext cx="960119" cy="301752"/>
          </a:xfrm>
          <a:prstGeom prst="rect">
            <a:avLst/>
          </a:prstGeom>
          <a:noFill/>
        </p:spPr>
        <p:txBody>
          <a:bodyPr wrap="none" lIns="0" rIns="0" tIns="0" bIns="0">
            <a:spAutoFit/>
          </a:bodyPr>
          <a:lstStyle/>
          <a:p>
            <a:pPr algn="r">
              <a:lnSpc>
                <a:spcPct val="115000"/>
              </a:lnSpc>
            </a:pPr>
            <a:r>
              <a:rPr sz="1350" spc="150">
                <a:solidFill>
                  <a:srgbClr val="AFC4C2"/>
                </a:solidFill>
                <a:latin typeface="TT Commons Pro"/>
              </a:rPr>
              <a:t>02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3333"/>
        </a:solidFill>
        <a:effectLst/>
      </p:bgPr>
    </p:bg>
    <p:spTree>
      <p:nvGrpSpPr>
        <p:cNvPr id="1" name=""/>
        <p:cNvGrpSpPr/>
        <p:nvPr/>
      </p:nvGrpSpPr>
      <p:grpSpPr/>
      <p:pic>
        <p:nvPicPr>
          <p:cNvPr id="2" name="Picture 1" descr="bg_c03.jpg"/>
          <p:cNvPicPr>
            <a:picLocks noChangeAspect="1"/>
          </p:cNvPicPr>
          <p:nvPr/>
        </p:nvPicPr>
        <p:blipFill>
          <a:blip r:embed="rId2"/>
          <a:stretch>
            <a:fillRect/>
          </a:stretch>
        </p:blipFill>
        <p:spPr>
          <a:xfrm>
            <a:off x="0" y="0"/>
            <a:ext cx="18287542" cy="10287000"/>
          </a:xfrm>
          <a:prstGeom prst="rect">
            <a:avLst/>
          </a:prstGeom>
        </p:spPr>
      </p:pic>
      <p:sp>
        <p:nvSpPr>
          <p:cNvPr id="3" name="TextBox 2"/>
          <p:cNvSpPr txBox="1"/>
          <p:nvPr/>
        </p:nvSpPr>
        <p:spPr>
          <a:xfrm>
            <a:off x="822959" y="822959"/>
            <a:ext cx="16733519" cy="384048"/>
          </a:xfrm>
          <a:prstGeom prst="rect">
            <a:avLst/>
          </a:prstGeom>
          <a:noFill/>
        </p:spPr>
        <p:txBody>
          <a:bodyPr wrap="none" lIns="0" rIns="0" tIns="0" bIns="0">
            <a:spAutoFit/>
          </a:bodyPr>
          <a:lstStyle/>
          <a:p>
            <a:pPr algn="l">
              <a:lnSpc>
                <a:spcPct val="115000"/>
              </a:lnSpc>
            </a:pPr>
            <a:r>
              <a:rPr sz="1650" spc="330">
                <a:solidFill>
                  <a:srgbClr val="9FE8DC"/>
                </a:solidFill>
                <a:latin typeface="Todes 1"/>
              </a:rPr>
              <a:t>THE PROBLEM · DIGITAL FRAGMENTATION</a:t>
            </a:r>
          </a:p>
        </p:txBody>
      </p:sp>
      <p:sp>
        <p:nvSpPr>
          <p:cNvPr id="4" name="TextBox 3"/>
          <p:cNvSpPr txBox="1"/>
          <p:nvPr/>
        </p:nvSpPr>
        <p:spPr>
          <a:xfrm>
            <a:off x="822959" y="1699869"/>
            <a:ext cx="14437995" cy="977836"/>
          </a:xfrm>
          <a:prstGeom prst="rect">
            <a:avLst/>
          </a:prstGeom>
          <a:noFill/>
        </p:spPr>
        <p:txBody>
          <a:bodyPr wrap="none" lIns="0" rIns="0" tIns="0" bIns="0">
            <a:spAutoFit/>
          </a:bodyPr>
          <a:lstStyle/>
          <a:p>
            <a:pPr algn="l">
              <a:lnSpc>
                <a:spcPct val="115000"/>
              </a:lnSpc>
            </a:pPr>
            <a:r>
              <a:rPr sz="5309" spc="-72">
                <a:solidFill>
                  <a:srgbClr val="F4EAD8"/>
                </a:solidFill>
                <a:latin typeface="Todes 1"/>
              </a:rPr>
              <a:t>Our digital lives are split across </a:t>
            </a:r>
          </a:p>
        </p:txBody>
      </p:sp>
      <p:sp>
        <p:nvSpPr>
          <p:cNvPr id="5" name="TextBox 4"/>
          <p:cNvSpPr txBox="1"/>
          <p:nvPr/>
        </p:nvSpPr>
        <p:spPr>
          <a:xfrm>
            <a:off x="12208763" y="1645919"/>
            <a:ext cx="6218396" cy="1075620"/>
          </a:xfrm>
          <a:prstGeom prst="rect">
            <a:avLst/>
          </a:prstGeom>
          <a:noFill/>
        </p:spPr>
        <p:txBody>
          <a:bodyPr wrap="none" lIns="0" rIns="0" tIns="0" bIns="0">
            <a:spAutoFit/>
          </a:bodyPr>
          <a:lstStyle/>
          <a:p>
            <a:pPr algn="l">
              <a:lnSpc>
                <a:spcPct val="115000"/>
              </a:lnSpc>
            </a:pPr>
            <a:r>
              <a:rPr sz="5841" spc="-75">
                <a:solidFill>
                  <a:srgbClr val="D3B7A5"/>
                </a:solidFill>
                <a:latin typeface="Ibarra Real Nova Italics"/>
              </a:rPr>
              <a:t>too many places.</a:t>
            </a:r>
          </a:p>
        </p:txBody>
      </p:sp>
      <p:sp>
        <p:nvSpPr>
          <p:cNvPr id="6" name="Oval 5"/>
          <p:cNvSpPr/>
          <p:nvPr/>
        </p:nvSpPr>
        <p:spPr>
          <a:xfrm>
            <a:off x="809244" y="3346704"/>
            <a:ext cx="850392" cy="850392"/>
          </a:xfrm>
          <a:prstGeom prst="ellipse">
            <a:avLst/>
          </a:prstGeom>
          <a:solidFill>
            <a:srgbClr val="084B4D"/>
          </a:solidFill>
          <a:ln w="10160">
            <a:solidFill>
              <a:srgbClr val="AFC4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79" y="4265676"/>
            <a:ext cx="2606039" cy="411479"/>
          </a:xfrm>
          <a:prstGeom prst="rect">
            <a:avLst/>
          </a:prstGeom>
          <a:noFill/>
        </p:spPr>
        <p:txBody>
          <a:bodyPr wrap="square" lIns="0" rIns="0" tIns="0" bIns="0">
            <a:spAutoFit/>
          </a:bodyPr>
          <a:lstStyle/>
          <a:p>
            <a:pPr algn="ctr">
              <a:lnSpc>
                <a:spcPct val="115000"/>
              </a:lnSpc>
            </a:pPr>
            <a:r>
              <a:rPr sz="1350" spc="150">
                <a:solidFill>
                  <a:srgbClr val="AFC4C2"/>
                </a:solidFill>
                <a:latin typeface="TT Commons Pro"/>
              </a:rPr>
              <a:t>events</a:t>
            </a:r>
          </a:p>
        </p:txBody>
      </p:sp>
      <p:sp>
        <p:nvSpPr>
          <p:cNvPr id="8" name="Oval 7"/>
          <p:cNvSpPr/>
          <p:nvPr/>
        </p:nvSpPr>
        <p:spPr>
          <a:xfrm>
            <a:off x="3826764" y="4032504"/>
            <a:ext cx="850392" cy="850392"/>
          </a:xfrm>
          <a:prstGeom prst="ellipse">
            <a:avLst/>
          </a:prstGeom>
          <a:solidFill>
            <a:srgbClr val="084B4D"/>
          </a:solidFill>
          <a:ln w="10160">
            <a:solidFill>
              <a:srgbClr val="AFC4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48940" y="4951476"/>
            <a:ext cx="2606039" cy="411479"/>
          </a:xfrm>
          <a:prstGeom prst="rect">
            <a:avLst/>
          </a:prstGeom>
          <a:noFill/>
        </p:spPr>
        <p:txBody>
          <a:bodyPr wrap="square" lIns="0" rIns="0" tIns="0" bIns="0">
            <a:spAutoFit/>
          </a:bodyPr>
          <a:lstStyle/>
          <a:p>
            <a:pPr algn="ctr">
              <a:lnSpc>
                <a:spcPct val="115000"/>
              </a:lnSpc>
            </a:pPr>
            <a:r>
              <a:rPr sz="1350" spc="150">
                <a:solidFill>
                  <a:srgbClr val="AFC4C2"/>
                </a:solidFill>
                <a:latin typeface="TT Commons Pro"/>
              </a:rPr>
              <a:t>payments</a:t>
            </a:r>
          </a:p>
        </p:txBody>
      </p:sp>
      <p:sp>
        <p:nvSpPr>
          <p:cNvPr id="10" name="Oval 9"/>
          <p:cNvSpPr/>
          <p:nvPr/>
        </p:nvSpPr>
        <p:spPr>
          <a:xfrm>
            <a:off x="6432804" y="3209544"/>
            <a:ext cx="850392" cy="850392"/>
          </a:xfrm>
          <a:prstGeom prst="ellipse">
            <a:avLst/>
          </a:prstGeom>
          <a:solidFill>
            <a:srgbClr val="084B4D"/>
          </a:solidFill>
          <a:ln w="10160">
            <a:solidFill>
              <a:srgbClr val="AFC4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4979" y="4128515"/>
            <a:ext cx="2606039" cy="411479"/>
          </a:xfrm>
          <a:prstGeom prst="rect">
            <a:avLst/>
          </a:prstGeom>
          <a:noFill/>
        </p:spPr>
        <p:txBody>
          <a:bodyPr wrap="square" lIns="0" rIns="0" tIns="0" bIns="0">
            <a:spAutoFit/>
          </a:bodyPr>
          <a:lstStyle/>
          <a:p>
            <a:pPr algn="ctr">
              <a:lnSpc>
                <a:spcPct val="115000"/>
              </a:lnSpc>
            </a:pPr>
            <a:r>
              <a:rPr sz="1350" spc="150">
                <a:solidFill>
                  <a:srgbClr val="AFC4C2"/>
                </a:solidFill>
                <a:latin typeface="TT Commons Pro"/>
              </a:rPr>
              <a:t>projects</a:t>
            </a:r>
          </a:p>
        </p:txBody>
      </p:sp>
      <p:sp>
        <p:nvSpPr>
          <p:cNvPr id="12" name="Oval 11"/>
          <p:cNvSpPr/>
          <p:nvPr/>
        </p:nvSpPr>
        <p:spPr>
          <a:xfrm>
            <a:off x="9313164" y="4169664"/>
            <a:ext cx="850392" cy="850392"/>
          </a:xfrm>
          <a:prstGeom prst="ellipse">
            <a:avLst/>
          </a:prstGeom>
          <a:solidFill>
            <a:srgbClr val="084B4D"/>
          </a:solidFill>
          <a:ln w="10160">
            <a:solidFill>
              <a:srgbClr val="AFC4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35340" y="5088636"/>
            <a:ext cx="2606039" cy="411479"/>
          </a:xfrm>
          <a:prstGeom prst="rect">
            <a:avLst/>
          </a:prstGeom>
          <a:noFill/>
        </p:spPr>
        <p:txBody>
          <a:bodyPr wrap="square" lIns="0" rIns="0" tIns="0" bIns="0">
            <a:spAutoFit/>
          </a:bodyPr>
          <a:lstStyle/>
          <a:p>
            <a:pPr algn="ctr">
              <a:lnSpc>
                <a:spcPct val="115000"/>
              </a:lnSpc>
            </a:pPr>
            <a:r>
              <a:rPr sz="1350" spc="150">
                <a:solidFill>
                  <a:srgbClr val="AFC4C2"/>
                </a:solidFill>
                <a:latin typeface="TT Commons Pro"/>
              </a:rPr>
              <a:t>messages</a:t>
            </a:r>
          </a:p>
        </p:txBody>
      </p:sp>
      <p:sp>
        <p:nvSpPr>
          <p:cNvPr id="14" name="Oval 13"/>
          <p:cNvSpPr/>
          <p:nvPr/>
        </p:nvSpPr>
        <p:spPr>
          <a:xfrm>
            <a:off x="11919204" y="3278124"/>
            <a:ext cx="850392" cy="850392"/>
          </a:xfrm>
          <a:prstGeom prst="ellipse">
            <a:avLst/>
          </a:prstGeom>
          <a:solidFill>
            <a:srgbClr val="084B4D"/>
          </a:solidFill>
          <a:ln w="10160">
            <a:solidFill>
              <a:srgbClr val="AFC4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041380" y="4197096"/>
            <a:ext cx="2606039" cy="411479"/>
          </a:xfrm>
          <a:prstGeom prst="rect">
            <a:avLst/>
          </a:prstGeom>
          <a:noFill/>
        </p:spPr>
        <p:txBody>
          <a:bodyPr wrap="square" lIns="0" rIns="0" tIns="0" bIns="0">
            <a:spAutoFit/>
          </a:bodyPr>
          <a:lstStyle/>
          <a:p>
            <a:pPr algn="ctr">
              <a:lnSpc>
                <a:spcPct val="115000"/>
              </a:lnSpc>
            </a:pPr>
            <a:r>
              <a:rPr sz="1350" spc="150">
                <a:solidFill>
                  <a:srgbClr val="AFC4C2"/>
                </a:solidFill>
                <a:latin typeface="TT Commons Pro"/>
              </a:rPr>
              <a:t>markets</a:t>
            </a:r>
          </a:p>
        </p:txBody>
      </p:sp>
      <p:sp>
        <p:nvSpPr>
          <p:cNvPr id="16" name="Oval 15"/>
          <p:cNvSpPr/>
          <p:nvPr/>
        </p:nvSpPr>
        <p:spPr>
          <a:xfrm>
            <a:off x="14525244" y="4101083"/>
            <a:ext cx="850392" cy="850392"/>
          </a:xfrm>
          <a:prstGeom prst="ellipse">
            <a:avLst/>
          </a:prstGeom>
          <a:solidFill>
            <a:srgbClr val="084B4D"/>
          </a:solidFill>
          <a:ln w="10160">
            <a:solidFill>
              <a:srgbClr val="AFC4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647420" y="5020055"/>
            <a:ext cx="2606039" cy="411479"/>
          </a:xfrm>
          <a:prstGeom prst="rect">
            <a:avLst/>
          </a:prstGeom>
          <a:noFill/>
        </p:spPr>
        <p:txBody>
          <a:bodyPr wrap="square" lIns="0" rIns="0" tIns="0" bIns="0">
            <a:spAutoFit/>
          </a:bodyPr>
          <a:lstStyle/>
          <a:p>
            <a:pPr algn="ctr">
              <a:lnSpc>
                <a:spcPct val="115000"/>
              </a:lnSpc>
            </a:pPr>
            <a:r>
              <a:rPr sz="1350" spc="150">
                <a:solidFill>
                  <a:srgbClr val="AFC4C2"/>
                </a:solidFill>
                <a:latin typeface="TT Commons Pro"/>
              </a:rPr>
              <a:t>documents</a:t>
            </a:r>
          </a:p>
        </p:txBody>
      </p:sp>
      <p:sp>
        <p:nvSpPr>
          <p:cNvPr id="18" name="Oval 17"/>
          <p:cNvSpPr/>
          <p:nvPr/>
        </p:nvSpPr>
        <p:spPr>
          <a:xfrm>
            <a:off x="2318004" y="5266944"/>
            <a:ext cx="850392" cy="850392"/>
          </a:xfrm>
          <a:prstGeom prst="ellipse">
            <a:avLst/>
          </a:prstGeom>
          <a:solidFill>
            <a:srgbClr val="084B4D"/>
          </a:solidFill>
          <a:ln w="10160">
            <a:solidFill>
              <a:srgbClr val="AFC4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40180" y="6185916"/>
            <a:ext cx="2606039" cy="411479"/>
          </a:xfrm>
          <a:prstGeom prst="rect">
            <a:avLst/>
          </a:prstGeom>
          <a:noFill/>
        </p:spPr>
        <p:txBody>
          <a:bodyPr wrap="square" lIns="0" rIns="0" tIns="0" bIns="0">
            <a:spAutoFit/>
          </a:bodyPr>
          <a:lstStyle/>
          <a:p>
            <a:pPr algn="ctr">
              <a:lnSpc>
                <a:spcPct val="115000"/>
              </a:lnSpc>
            </a:pPr>
            <a:r>
              <a:rPr sz="1350" spc="150">
                <a:solidFill>
                  <a:srgbClr val="AFC4C2"/>
                </a:solidFill>
                <a:latin typeface="TT Commons Pro"/>
              </a:rPr>
              <a:t>scheduling</a:t>
            </a:r>
          </a:p>
        </p:txBody>
      </p:sp>
      <p:sp>
        <p:nvSpPr>
          <p:cNvPr id="20" name="Oval 19"/>
          <p:cNvSpPr/>
          <p:nvPr/>
        </p:nvSpPr>
        <p:spPr>
          <a:xfrm>
            <a:off x="10547604" y="5335524"/>
            <a:ext cx="850392" cy="850392"/>
          </a:xfrm>
          <a:prstGeom prst="ellipse">
            <a:avLst/>
          </a:prstGeom>
          <a:solidFill>
            <a:srgbClr val="084B4D"/>
          </a:solidFill>
          <a:ln w="10160">
            <a:solidFill>
              <a:srgbClr val="AFC4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69780" y="6254496"/>
            <a:ext cx="2606039" cy="411479"/>
          </a:xfrm>
          <a:prstGeom prst="rect">
            <a:avLst/>
          </a:prstGeom>
          <a:noFill/>
        </p:spPr>
        <p:txBody>
          <a:bodyPr wrap="square" lIns="0" rIns="0" tIns="0" bIns="0">
            <a:spAutoFit/>
          </a:bodyPr>
          <a:lstStyle/>
          <a:p>
            <a:pPr algn="ctr">
              <a:lnSpc>
                <a:spcPct val="115000"/>
              </a:lnSpc>
            </a:pPr>
            <a:r>
              <a:rPr sz="1350" spc="150">
                <a:solidFill>
                  <a:srgbClr val="AFC4C2"/>
                </a:solidFill>
                <a:latin typeface="TT Commons Pro"/>
              </a:rPr>
              <a:t>governance</a:t>
            </a:r>
          </a:p>
        </p:txBody>
      </p:sp>
      <p:sp>
        <p:nvSpPr>
          <p:cNvPr id="22" name="Oval 21"/>
          <p:cNvSpPr/>
          <p:nvPr/>
        </p:nvSpPr>
        <p:spPr>
          <a:xfrm>
            <a:off x="7667244" y="5541264"/>
            <a:ext cx="850392" cy="850392"/>
          </a:xfrm>
          <a:prstGeom prst="ellipse">
            <a:avLst/>
          </a:prstGeom>
          <a:solidFill>
            <a:srgbClr val="084B4D"/>
          </a:solidFill>
          <a:ln w="10160">
            <a:solidFill>
              <a:srgbClr val="AFC4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89420" y="6460236"/>
            <a:ext cx="2606039" cy="411479"/>
          </a:xfrm>
          <a:prstGeom prst="rect">
            <a:avLst/>
          </a:prstGeom>
          <a:noFill/>
        </p:spPr>
        <p:txBody>
          <a:bodyPr wrap="square" lIns="0" rIns="0" tIns="0" bIns="0">
            <a:spAutoFit/>
          </a:bodyPr>
          <a:lstStyle/>
          <a:p>
            <a:pPr algn="ctr">
              <a:lnSpc>
                <a:spcPct val="115000"/>
              </a:lnSpc>
            </a:pPr>
            <a:r>
              <a:rPr sz="1350" spc="150">
                <a:solidFill>
                  <a:srgbClr val="AFC4C2"/>
                </a:solidFill>
                <a:latin typeface="TT Commons Pro"/>
              </a:rPr>
              <a:t>identity</a:t>
            </a:r>
          </a:p>
        </p:txBody>
      </p:sp>
      <p:sp>
        <p:nvSpPr>
          <p:cNvPr id="24" name="Oval 23"/>
          <p:cNvSpPr/>
          <p:nvPr/>
        </p:nvSpPr>
        <p:spPr>
          <a:xfrm>
            <a:off x="15073884" y="5404104"/>
            <a:ext cx="850392" cy="850392"/>
          </a:xfrm>
          <a:prstGeom prst="ellipse">
            <a:avLst/>
          </a:prstGeom>
          <a:solidFill>
            <a:srgbClr val="084B4D"/>
          </a:solidFill>
          <a:ln w="10160">
            <a:solidFill>
              <a:srgbClr val="AFC4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196060" y="6323076"/>
            <a:ext cx="2606039" cy="411479"/>
          </a:xfrm>
          <a:prstGeom prst="rect">
            <a:avLst/>
          </a:prstGeom>
          <a:noFill/>
        </p:spPr>
        <p:txBody>
          <a:bodyPr wrap="square" lIns="0" rIns="0" tIns="0" bIns="0">
            <a:spAutoFit/>
          </a:bodyPr>
          <a:lstStyle/>
          <a:p>
            <a:pPr algn="ctr">
              <a:lnSpc>
                <a:spcPct val="115000"/>
              </a:lnSpc>
            </a:pPr>
            <a:r>
              <a:rPr sz="1350" spc="150">
                <a:solidFill>
                  <a:srgbClr val="AFC4C2"/>
                </a:solidFill>
                <a:latin typeface="TT Commons Pro"/>
              </a:rPr>
              <a:t>payouts</a:t>
            </a:r>
          </a:p>
        </p:txBody>
      </p:sp>
      <p:sp>
        <p:nvSpPr>
          <p:cNvPr id="26" name="TextBox 25"/>
          <p:cNvSpPr txBox="1"/>
          <p:nvPr/>
        </p:nvSpPr>
        <p:spPr>
          <a:xfrm>
            <a:off x="822959" y="6926579"/>
            <a:ext cx="16596359" cy="548640"/>
          </a:xfrm>
          <a:prstGeom prst="rect">
            <a:avLst/>
          </a:prstGeom>
          <a:noFill/>
        </p:spPr>
        <p:txBody>
          <a:bodyPr wrap="square" lIns="0" rIns="0" tIns="0" bIns="0">
            <a:spAutoFit/>
          </a:bodyPr>
          <a:lstStyle/>
          <a:p>
            <a:pPr algn="ctr">
              <a:lnSpc>
                <a:spcPct val="115000"/>
              </a:lnSpc>
            </a:pPr>
            <a:r>
              <a:rPr sz="2250" spc="20">
                <a:solidFill>
                  <a:srgbClr val="F2ECDD"/>
                </a:solidFill>
                <a:latin typeface="Alike Italics"/>
              </a:rPr>
              <a:t>We spend too much time coordinating the tools meant to help us coordinate.</a:t>
            </a:r>
          </a:p>
        </p:txBody>
      </p:sp>
      <p:sp>
        <p:nvSpPr>
          <p:cNvPr id="27" name="Rounded Rectangle 26"/>
          <p:cNvSpPr/>
          <p:nvPr/>
        </p:nvSpPr>
        <p:spPr>
          <a:xfrm>
            <a:off x="822959" y="7680959"/>
            <a:ext cx="16664940" cy="1577339"/>
          </a:xfrm>
          <a:prstGeom prst="roundRect">
            <a:avLst>
              <a:gd name="adj" fmla="val 6000"/>
            </a:avLst>
          </a:prstGeom>
          <a:solidFill>
            <a:srgbClr val="0D3E40"/>
          </a:solidFill>
          <a:ln w="20955">
            <a:solidFill>
              <a:srgbClr val="F0CC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234440" y="7927848"/>
            <a:ext cx="15910559" cy="1234440"/>
          </a:xfrm>
          <a:prstGeom prst="rect">
            <a:avLst/>
          </a:prstGeom>
          <a:noFill/>
        </p:spPr>
        <p:txBody>
          <a:bodyPr wrap="square" lIns="0" rIns="0" tIns="0" bIns="0">
            <a:spAutoFit/>
          </a:bodyPr>
          <a:lstStyle/>
          <a:p>
            <a:pPr algn="l">
              <a:lnSpc>
                <a:spcPct val="145000"/>
              </a:lnSpc>
            </a:pPr>
            <a:r>
              <a:rPr sz="1875">
                <a:solidFill>
                  <a:srgbClr val="F2ECDD"/>
                </a:solidFill>
                <a:latin typeface="TT Commons Pro"/>
              </a:rPr>
              <a:t>Social media evolved toward coordination — </a:t>
            </a:r>
            <a:r>
              <a:rPr sz="1875">
                <a:solidFill>
                  <a:srgbClr val="EBCF9E"/>
                </a:solidFill>
                <a:latin typeface="TT Commons Pro Bold"/>
              </a:rPr>
              <a:t>under extractive incentives.</a:t>
            </a:r>
          </a:p>
          <a:p>
            <a:pPr algn="l">
              <a:lnSpc>
                <a:spcPct val="145000"/>
              </a:lnSpc>
            </a:pPr>
            <a:r>
              <a:rPr sz="1875">
                <a:solidFill>
                  <a:srgbClr val="F2ECDD"/>
                </a:solidFill>
                <a:latin typeface="TT Commons Pro"/>
              </a:rPr>
              <a:t>The problem was never that social networks expanded into groups, events, marketplaces, and business tools.</a:t>
            </a:r>
          </a:p>
          <a:p>
            <a:pPr algn="l">
              <a:lnSpc>
                <a:spcPct val="145000"/>
              </a:lnSpc>
            </a:pPr>
            <a:r>
              <a:rPr sz="1875">
                <a:solidFill>
                  <a:srgbClr val="F2ECDD"/>
                </a:solidFill>
                <a:latin typeface="TT Commons Pro"/>
              </a:rPr>
              <a:t>The problem was the incentive structure underneath them.</a:t>
            </a:r>
          </a:p>
        </p:txBody>
      </p:sp>
      <p:pic>
        <p:nvPicPr>
          <p:cNvPr id="29" name="Picture 28" descr="rivr-symbol-light.png"/>
          <p:cNvPicPr>
            <a:picLocks noChangeAspect="1"/>
          </p:cNvPicPr>
          <p:nvPr/>
        </p:nvPicPr>
        <p:blipFill>
          <a:blip r:embed="rId4"/>
          <a:stretch>
            <a:fillRect/>
          </a:stretch>
        </p:blipFill>
        <p:spPr>
          <a:xfrm>
            <a:off x="576072" y="9518904"/>
            <a:ext cx="521208" cy="521208"/>
          </a:xfrm>
          <a:prstGeom prst="rect">
            <a:avLst/>
          </a:prstGeom>
        </p:spPr>
      </p:pic>
      <p:sp>
        <p:nvSpPr>
          <p:cNvPr id="30" name="TextBox 29"/>
          <p:cNvSpPr txBox="1"/>
          <p:nvPr/>
        </p:nvSpPr>
        <p:spPr>
          <a:xfrm>
            <a:off x="1371600" y="9724644"/>
            <a:ext cx="5486400" cy="301752"/>
          </a:xfrm>
          <a:prstGeom prst="rect">
            <a:avLst/>
          </a:prstGeom>
          <a:noFill/>
        </p:spPr>
        <p:txBody>
          <a:bodyPr wrap="none" lIns="0" rIns="0" tIns="0" bIns="0">
            <a:spAutoFit/>
          </a:bodyPr>
          <a:lstStyle/>
          <a:p>
            <a:pPr algn="l">
              <a:lnSpc>
                <a:spcPct val="115000"/>
              </a:lnSpc>
            </a:pPr>
            <a:r>
              <a:rPr sz="1350" spc="150">
                <a:solidFill>
                  <a:srgbClr val="AFC4C2"/>
                </a:solidFill>
                <a:latin typeface="TT Commons Pro"/>
              </a:rPr>
              <a:t>Rivr · Seed Round 2026</a:t>
            </a:r>
          </a:p>
        </p:txBody>
      </p:sp>
      <p:sp>
        <p:nvSpPr>
          <p:cNvPr id="31" name="TextBox 30"/>
          <p:cNvSpPr txBox="1"/>
          <p:nvPr/>
        </p:nvSpPr>
        <p:spPr>
          <a:xfrm>
            <a:off x="16870680" y="9724644"/>
            <a:ext cx="960119" cy="301752"/>
          </a:xfrm>
          <a:prstGeom prst="rect">
            <a:avLst/>
          </a:prstGeom>
          <a:noFill/>
        </p:spPr>
        <p:txBody>
          <a:bodyPr wrap="none" lIns="0" rIns="0" tIns="0" bIns="0">
            <a:spAutoFit/>
          </a:bodyPr>
          <a:lstStyle/>
          <a:p>
            <a:pPr algn="r">
              <a:lnSpc>
                <a:spcPct val="115000"/>
              </a:lnSpc>
            </a:pPr>
            <a:r>
              <a:rPr sz="1350" spc="150">
                <a:solidFill>
                  <a:srgbClr val="AFC4C2"/>
                </a:solidFill>
                <a:latin typeface="TT Commons Pro"/>
              </a:rPr>
              <a:t>03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3333"/>
        </a:solidFill>
        <a:effectLst/>
      </p:bgPr>
    </p:bg>
    <p:spTree>
      <p:nvGrpSpPr>
        <p:cNvPr id="1" name=""/>
        <p:cNvGrpSpPr/>
        <p:nvPr/>
      </p:nvGrpSpPr>
      <p:grpSpPr/>
      <p:pic>
        <p:nvPicPr>
          <p:cNvPr id="2" name="Picture 1" descr="bg_p00.jpg"/>
          <p:cNvPicPr>
            <a:picLocks noChangeAspect="1"/>
          </p:cNvPicPr>
          <p:nvPr/>
        </p:nvPicPr>
        <p:blipFill>
          <a:blip r:embed="rId2"/>
          <a:stretch>
            <a:fillRect/>
          </a:stretch>
        </p:blipFill>
        <p:spPr>
          <a:xfrm>
            <a:off x="0" y="0"/>
            <a:ext cx="18287542" cy="10287000"/>
          </a:xfrm>
          <a:prstGeom prst="rect">
            <a:avLst/>
          </a:prstGeom>
        </p:spPr>
      </p:pic>
      <p:sp>
        <p:nvSpPr>
          <p:cNvPr id="3" name="TextBox 2"/>
          <p:cNvSpPr txBox="1"/>
          <p:nvPr/>
        </p:nvSpPr>
        <p:spPr>
          <a:xfrm>
            <a:off x="822959" y="822959"/>
            <a:ext cx="16733519" cy="384048"/>
          </a:xfrm>
          <a:prstGeom prst="rect">
            <a:avLst/>
          </a:prstGeom>
          <a:noFill/>
        </p:spPr>
        <p:txBody>
          <a:bodyPr wrap="none" lIns="0" rIns="0" tIns="0" bIns="0">
            <a:spAutoFit/>
          </a:bodyPr>
          <a:lstStyle/>
          <a:p>
            <a:pPr algn="l">
              <a:lnSpc>
                <a:spcPct val="115000"/>
              </a:lnSpc>
            </a:pPr>
            <a:r>
              <a:rPr sz="1650" spc="330">
                <a:solidFill>
                  <a:srgbClr val="9FE8DC"/>
                </a:solidFill>
                <a:latin typeface="Todes 1"/>
              </a:rPr>
              <a:t>THE POSSIBILITY</a:t>
            </a:r>
          </a:p>
        </p:txBody>
      </p:sp>
      <p:sp>
        <p:nvSpPr>
          <p:cNvPr id="4" name="TextBox 3"/>
          <p:cNvSpPr txBox="1"/>
          <p:nvPr/>
        </p:nvSpPr>
        <p:spPr>
          <a:xfrm>
            <a:off x="822959" y="1699869"/>
            <a:ext cx="16763047" cy="945241"/>
          </a:xfrm>
          <a:prstGeom prst="rect">
            <a:avLst/>
          </a:prstGeom>
          <a:noFill/>
        </p:spPr>
        <p:txBody>
          <a:bodyPr wrap="none" lIns="0" rIns="0" tIns="0" bIns="0">
            <a:spAutoFit/>
          </a:bodyPr>
          <a:lstStyle/>
          <a:p>
            <a:pPr algn="l">
              <a:lnSpc>
                <a:spcPct val="115000"/>
              </a:lnSpc>
            </a:pPr>
            <a:r>
              <a:rPr sz="5133" spc="-69">
                <a:solidFill>
                  <a:srgbClr val="F4EAD8"/>
                </a:solidFill>
                <a:latin typeface="Todes 1"/>
              </a:rPr>
              <a:t>What happens when a community can </a:t>
            </a:r>
          </a:p>
        </p:txBody>
      </p:sp>
      <p:sp>
        <p:nvSpPr>
          <p:cNvPr id="5" name="TextBox 4"/>
          <p:cNvSpPr txBox="1"/>
          <p:nvPr/>
        </p:nvSpPr>
        <p:spPr>
          <a:xfrm>
            <a:off x="14068806" y="1645919"/>
            <a:ext cx="3396615" cy="1043025"/>
          </a:xfrm>
          <a:prstGeom prst="rect">
            <a:avLst/>
          </a:prstGeom>
          <a:noFill/>
        </p:spPr>
        <p:txBody>
          <a:bodyPr wrap="none" lIns="0" rIns="0" tIns="0" bIns="0">
            <a:spAutoFit/>
          </a:bodyPr>
          <a:lstStyle/>
          <a:p>
            <a:pPr algn="l">
              <a:lnSpc>
                <a:spcPct val="115000"/>
              </a:lnSpc>
            </a:pPr>
            <a:r>
              <a:rPr sz="5664" spc="-75">
                <a:solidFill>
                  <a:srgbClr val="EBCF9E"/>
                </a:solidFill>
                <a:latin typeface="Ibarra Real Nova Italics"/>
              </a:rPr>
              <a:t>see itself?</a:t>
            </a:r>
          </a:p>
        </p:txBody>
      </p:sp>
      <p:sp>
        <p:nvSpPr>
          <p:cNvPr id="6" name="TextBox 5"/>
          <p:cNvSpPr txBox="1"/>
          <p:nvPr/>
        </p:nvSpPr>
        <p:spPr>
          <a:xfrm>
            <a:off x="1234440" y="3566160"/>
            <a:ext cx="15773400" cy="411479"/>
          </a:xfrm>
          <a:prstGeom prst="rect">
            <a:avLst/>
          </a:prstGeom>
          <a:noFill/>
        </p:spPr>
        <p:txBody>
          <a:bodyPr wrap="none" lIns="0" rIns="0" tIns="0" bIns="0">
            <a:spAutoFit/>
          </a:bodyPr>
          <a:lstStyle/>
          <a:p>
            <a:pPr algn="l">
              <a:lnSpc>
                <a:spcPct val="115000"/>
              </a:lnSpc>
            </a:pPr>
            <a:r>
              <a:rPr sz="1500" spc="330">
                <a:solidFill>
                  <a:srgbClr val="AFC4C2"/>
                </a:solidFill>
                <a:latin typeface="Todes 1"/>
              </a:rPr>
              <a:t>TODAY — LATENT, UNCONNECTED</a:t>
            </a:r>
          </a:p>
        </p:txBody>
      </p:sp>
      <p:sp>
        <p:nvSpPr>
          <p:cNvPr id="7" name="Oval 6"/>
          <p:cNvSpPr/>
          <p:nvPr/>
        </p:nvSpPr>
        <p:spPr>
          <a:xfrm>
            <a:off x="1961388" y="4567428"/>
            <a:ext cx="466344" cy="466344"/>
          </a:xfrm>
          <a:prstGeom prst="ellipse">
            <a:avLst/>
          </a:prstGeom>
          <a:solidFill>
            <a:srgbClr val="084B4D"/>
          </a:solidFill>
          <a:ln w="8890">
            <a:solidFill>
              <a:srgbClr val="AFC4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3744468" y="4087368"/>
            <a:ext cx="466344" cy="466344"/>
          </a:xfrm>
          <a:prstGeom prst="ellipse">
            <a:avLst/>
          </a:prstGeom>
          <a:solidFill>
            <a:srgbClr val="084B4D"/>
          </a:solidFill>
          <a:ln w="8890">
            <a:solidFill>
              <a:srgbClr val="AFC4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664708" y="4841748"/>
            <a:ext cx="466344" cy="466344"/>
          </a:xfrm>
          <a:prstGeom prst="ellipse">
            <a:avLst/>
          </a:prstGeom>
          <a:solidFill>
            <a:srgbClr val="084B4D"/>
          </a:solidFill>
          <a:ln w="8890">
            <a:solidFill>
              <a:srgbClr val="AFC4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647188" y="5939028"/>
            <a:ext cx="466344" cy="466344"/>
          </a:xfrm>
          <a:prstGeom prst="ellipse">
            <a:avLst/>
          </a:prstGeom>
          <a:solidFill>
            <a:srgbClr val="084B4D"/>
          </a:solidFill>
          <a:ln w="8890">
            <a:solidFill>
              <a:srgbClr val="AFC4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704588" y="6487668"/>
            <a:ext cx="466344" cy="466344"/>
          </a:xfrm>
          <a:prstGeom prst="ellipse">
            <a:avLst/>
          </a:prstGeom>
          <a:solidFill>
            <a:srgbClr val="084B4D"/>
          </a:solidFill>
          <a:ln w="8890">
            <a:solidFill>
              <a:srgbClr val="AFC4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624828" y="5664708"/>
            <a:ext cx="466344" cy="466344"/>
          </a:xfrm>
          <a:prstGeom prst="ellipse">
            <a:avLst/>
          </a:prstGeom>
          <a:solidFill>
            <a:srgbClr val="084B4D"/>
          </a:solidFill>
          <a:ln w="8890">
            <a:solidFill>
              <a:srgbClr val="AFC4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687068" y="7036308"/>
            <a:ext cx="466344" cy="466344"/>
          </a:xfrm>
          <a:prstGeom prst="ellipse">
            <a:avLst/>
          </a:prstGeom>
          <a:solidFill>
            <a:srgbClr val="084B4D"/>
          </a:solidFill>
          <a:ln w="8890">
            <a:solidFill>
              <a:srgbClr val="AFC4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076188" y="7310628"/>
            <a:ext cx="466344" cy="466344"/>
          </a:xfrm>
          <a:prstGeom prst="ellipse">
            <a:avLst/>
          </a:prstGeom>
          <a:solidFill>
            <a:srgbClr val="084B4D"/>
          </a:solidFill>
          <a:ln w="8890">
            <a:solidFill>
              <a:srgbClr val="AFC4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ight Arrow 14"/>
          <p:cNvSpPr/>
          <p:nvPr/>
        </p:nvSpPr>
        <p:spPr>
          <a:xfrm>
            <a:off x="8435340" y="5692140"/>
            <a:ext cx="1165860" cy="301752"/>
          </a:xfrm>
          <a:prstGeom prst="rightArrow">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24159" y="3566160"/>
            <a:ext cx="15773400" cy="411479"/>
          </a:xfrm>
          <a:prstGeom prst="rect">
            <a:avLst/>
          </a:prstGeom>
          <a:noFill/>
        </p:spPr>
        <p:txBody>
          <a:bodyPr wrap="none" lIns="0" rIns="0" tIns="0" bIns="0">
            <a:spAutoFit/>
          </a:bodyPr>
          <a:lstStyle/>
          <a:p>
            <a:pPr algn="l">
              <a:lnSpc>
                <a:spcPct val="115000"/>
              </a:lnSpc>
            </a:pPr>
            <a:r>
              <a:rPr sz="1500" spc="330">
                <a:solidFill>
                  <a:srgbClr val="9FE8DC"/>
                </a:solidFill>
                <a:latin typeface="Todes 1"/>
              </a:rPr>
              <a:t>WITH RIVR — VISIBLE, COORDINATED</a:t>
            </a:r>
          </a:p>
        </p:txBody>
      </p:sp>
      <p:cxnSp>
        <p:nvCxnSpPr>
          <p:cNvPr id="17" name="Connector 16"/>
          <p:cNvCxnSpPr/>
          <p:nvPr/>
        </p:nvCxnSpPr>
        <p:spPr>
          <a:xfrm>
            <a:off x="13716000" y="4347972"/>
            <a:ext cx="1406308" cy="582511"/>
          </a:xfrm>
          <a:prstGeom prst="line">
            <a:avLst/>
          </a:prstGeom>
          <a:ln w="9525">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5122308" y="4930483"/>
            <a:ext cx="582511" cy="1406309"/>
          </a:xfrm>
          <a:prstGeom prst="line">
            <a:avLst/>
          </a:prstGeom>
          <a:ln w="9525">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15122308" y="6336792"/>
            <a:ext cx="582511" cy="1406308"/>
          </a:xfrm>
          <a:prstGeom prst="line">
            <a:avLst/>
          </a:prstGeom>
          <a:ln w="9525">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13716000" y="7743100"/>
            <a:ext cx="1406308" cy="582512"/>
          </a:xfrm>
          <a:prstGeom prst="line">
            <a:avLst/>
          </a:prstGeom>
          <a:ln w="9525">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flipV="1">
            <a:off x="12309691" y="7743100"/>
            <a:ext cx="1406309" cy="582512"/>
          </a:xfrm>
          <a:prstGeom prst="line">
            <a:avLst/>
          </a:prstGeom>
          <a:ln w="9525">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flipV="1">
            <a:off x="11727180" y="6336792"/>
            <a:ext cx="582511" cy="1406308"/>
          </a:xfrm>
          <a:prstGeom prst="line">
            <a:avLst/>
          </a:prstGeom>
          <a:ln w="9525">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11727180" y="4930483"/>
            <a:ext cx="582511" cy="1406309"/>
          </a:xfrm>
          <a:prstGeom prst="line">
            <a:avLst/>
          </a:prstGeom>
          <a:ln w="9525">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12309691" y="4347972"/>
            <a:ext cx="1406309" cy="582511"/>
          </a:xfrm>
          <a:prstGeom prst="line">
            <a:avLst/>
          </a:prstGeom>
          <a:ln w="9525">
            <a:solidFill>
              <a:srgbClr val="99E6D9"/>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13482828" y="4114800"/>
            <a:ext cx="466344" cy="466344"/>
          </a:xfrm>
          <a:prstGeom prst="ellipse">
            <a:avLst/>
          </a:prstGeom>
          <a:solidFill>
            <a:srgbClr val="0D3E40"/>
          </a:solidFill>
          <a:ln w="1397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4889136" y="4697311"/>
            <a:ext cx="466344" cy="466344"/>
          </a:xfrm>
          <a:prstGeom prst="ellipse">
            <a:avLst/>
          </a:prstGeom>
          <a:solidFill>
            <a:srgbClr val="0D3E40"/>
          </a:solidFill>
          <a:ln w="1397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5471647" y="6103620"/>
            <a:ext cx="466344" cy="466344"/>
          </a:xfrm>
          <a:prstGeom prst="ellipse">
            <a:avLst/>
          </a:prstGeom>
          <a:solidFill>
            <a:srgbClr val="0D3E40"/>
          </a:solidFill>
          <a:ln w="1397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4889136" y="7509928"/>
            <a:ext cx="466344" cy="466344"/>
          </a:xfrm>
          <a:prstGeom prst="ellipse">
            <a:avLst/>
          </a:prstGeom>
          <a:solidFill>
            <a:srgbClr val="0D3E40"/>
          </a:solidFill>
          <a:ln w="1397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3482828" y="8092440"/>
            <a:ext cx="466344" cy="466344"/>
          </a:xfrm>
          <a:prstGeom prst="ellipse">
            <a:avLst/>
          </a:prstGeom>
          <a:solidFill>
            <a:srgbClr val="0D3E40"/>
          </a:solidFill>
          <a:ln w="1397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2076519" y="7509928"/>
            <a:ext cx="466344" cy="466344"/>
          </a:xfrm>
          <a:prstGeom prst="ellipse">
            <a:avLst/>
          </a:prstGeom>
          <a:solidFill>
            <a:srgbClr val="0D3E40"/>
          </a:solidFill>
          <a:ln w="1397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494008" y="6103620"/>
            <a:ext cx="466344" cy="466344"/>
          </a:xfrm>
          <a:prstGeom prst="ellipse">
            <a:avLst/>
          </a:prstGeom>
          <a:solidFill>
            <a:srgbClr val="0D3E40"/>
          </a:solidFill>
          <a:ln w="1397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2076519" y="4697311"/>
            <a:ext cx="466344" cy="466344"/>
          </a:xfrm>
          <a:prstGeom prst="ellipse">
            <a:avLst/>
          </a:prstGeom>
          <a:solidFill>
            <a:srgbClr val="0D3E40"/>
          </a:solidFill>
          <a:ln w="1397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59" y="8846820"/>
            <a:ext cx="16596359" cy="1097280"/>
          </a:xfrm>
          <a:prstGeom prst="rect">
            <a:avLst/>
          </a:prstGeom>
          <a:noFill/>
        </p:spPr>
        <p:txBody>
          <a:bodyPr wrap="square" lIns="0" rIns="0" tIns="0" bIns="0">
            <a:spAutoFit/>
          </a:bodyPr>
          <a:lstStyle/>
          <a:p>
            <a:pPr algn="ctr">
              <a:lnSpc>
                <a:spcPct val="140000"/>
              </a:lnSpc>
            </a:pPr>
            <a:r>
              <a:rPr sz="2250" spc="20">
                <a:solidFill>
                  <a:srgbClr val="9FE8DC"/>
                </a:solidFill>
                <a:latin typeface="Alike Italics"/>
              </a:rPr>
              <a:t>The resources don't always need to be created — sometimes they simply need to be connected.</a:t>
            </a:r>
          </a:p>
        </p:txBody>
      </p:sp>
      <p:pic>
        <p:nvPicPr>
          <p:cNvPr id="34" name="Picture 33" descr="rivr-symbol-light.png"/>
          <p:cNvPicPr>
            <a:picLocks noChangeAspect="1"/>
          </p:cNvPicPr>
          <p:nvPr/>
        </p:nvPicPr>
        <p:blipFill>
          <a:blip r:embed="rId4"/>
          <a:stretch>
            <a:fillRect/>
          </a:stretch>
        </p:blipFill>
        <p:spPr>
          <a:xfrm>
            <a:off x="576072" y="9518904"/>
            <a:ext cx="521208" cy="521208"/>
          </a:xfrm>
          <a:prstGeom prst="rect">
            <a:avLst/>
          </a:prstGeom>
        </p:spPr>
      </p:pic>
      <p:sp>
        <p:nvSpPr>
          <p:cNvPr id="35" name="TextBox 34"/>
          <p:cNvSpPr txBox="1"/>
          <p:nvPr/>
        </p:nvSpPr>
        <p:spPr>
          <a:xfrm>
            <a:off x="1371600" y="9724644"/>
            <a:ext cx="5486400" cy="301752"/>
          </a:xfrm>
          <a:prstGeom prst="rect">
            <a:avLst/>
          </a:prstGeom>
          <a:noFill/>
        </p:spPr>
        <p:txBody>
          <a:bodyPr wrap="none" lIns="0" rIns="0" tIns="0" bIns="0">
            <a:spAutoFit/>
          </a:bodyPr>
          <a:lstStyle/>
          <a:p>
            <a:pPr algn="l">
              <a:lnSpc>
                <a:spcPct val="115000"/>
              </a:lnSpc>
            </a:pPr>
            <a:r>
              <a:rPr sz="1350" spc="150">
                <a:solidFill>
                  <a:srgbClr val="AFC4C2"/>
                </a:solidFill>
                <a:latin typeface="TT Commons Pro"/>
              </a:rPr>
              <a:t>Rivr · Seed Round 2026</a:t>
            </a:r>
          </a:p>
        </p:txBody>
      </p:sp>
      <p:sp>
        <p:nvSpPr>
          <p:cNvPr id="36" name="TextBox 35"/>
          <p:cNvSpPr txBox="1"/>
          <p:nvPr/>
        </p:nvSpPr>
        <p:spPr>
          <a:xfrm>
            <a:off x="16870680" y="9724644"/>
            <a:ext cx="960119" cy="301752"/>
          </a:xfrm>
          <a:prstGeom prst="rect">
            <a:avLst/>
          </a:prstGeom>
          <a:noFill/>
        </p:spPr>
        <p:txBody>
          <a:bodyPr wrap="none" lIns="0" rIns="0" tIns="0" bIns="0">
            <a:spAutoFit/>
          </a:bodyPr>
          <a:lstStyle/>
          <a:p>
            <a:pPr algn="r">
              <a:lnSpc>
                <a:spcPct val="115000"/>
              </a:lnSpc>
            </a:pPr>
            <a:r>
              <a:rPr sz="1350" spc="150">
                <a:solidFill>
                  <a:srgbClr val="AFC4C2"/>
                </a:solidFill>
                <a:latin typeface="TT Commons Pro"/>
              </a:rPr>
              <a:t>04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3333"/>
        </a:solidFill>
        <a:effectLst/>
      </p:bgPr>
    </p:bg>
    <p:spTree>
      <p:nvGrpSpPr>
        <p:cNvPr id="1" name=""/>
        <p:cNvGrpSpPr/>
        <p:nvPr/>
      </p:nvGrpSpPr>
      <p:grpSpPr/>
      <p:pic>
        <p:nvPicPr>
          <p:cNvPr id="2" name="Picture 1" descr="bg_c04.jpg"/>
          <p:cNvPicPr>
            <a:picLocks noChangeAspect="1"/>
          </p:cNvPicPr>
          <p:nvPr/>
        </p:nvPicPr>
        <p:blipFill>
          <a:blip r:embed="rId2"/>
          <a:stretch>
            <a:fillRect/>
          </a:stretch>
        </p:blipFill>
        <p:spPr>
          <a:xfrm>
            <a:off x="0" y="0"/>
            <a:ext cx="18287542" cy="10287000"/>
          </a:xfrm>
          <a:prstGeom prst="rect">
            <a:avLst/>
          </a:prstGeom>
        </p:spPr>
      </p:pic>
      <p:sp>
        <p:nvSpPr>
          <p:cNvPr id="3" name="TextBox 2"/>
          <p:cNvSpPr txBox="1"/>
          <p:nvPr/>
        </p:nvSpPr>
        <p:spPr>
          <a:xfrm>
            <a:off x="822959" y="822959"/>
            <a:ext cx="16733519" cy="384048"/>
          </a:xfrm>
          <a:prstGeom prst="rect">
            <a:avLst/>
          </a:prstGeom>
          <a:noFill/>
        </p:spPr>
        <p:txBody>
          <a:bodyPr wrap="none" lIns="0" rIns="0" tIns="0" bIns="0">
            <a:spAutoFit/>
          </a:bodyPr>
          <a:lstStyle/>
          <a:p>
            <a:pPr algn="l">
              <a:lnSpc>
                <a:spcPct val="115000"/>
              </a:lnSpc>
            </a:pPr>
            <a:r>
              <a:rPr sz="1650" spc="330">
                <a:solidFill>
                  <a:srgbClr val="9FE8DC"/>
                </a:solidFill>
                <a:latin typeface="Todes 1"/>
              </a:rPr>
              <a:t>PLACE MATTERS</a:t>
            </a:r>
          </a:p>
        </p:txBody>
      </p:sp>
      <p:sp>
        <p:nvSpPr>
          <p:cNvPr id="4" name="TextBox 3"/>
          <p:cNvSpPr txBox="1"/>
          <p:nvPr/>
        </p:nvSpPr>
        <p:spPr>
          <a:xfrm>
            <a:off x="822959" y="1645919"/>
            <a:ext cx="14605079" cy="921210"/>
          </a:xfrm>
          <a:prstGeom prst="rect">
            <a:avLst/>
          </a:prstGeom>
          <a:noFill/>
        </p:spPr>
        <p:txBody>
          <a:bodyPr wrap="none" lIns="0" rIns="0" tIns="0" bIns="0">
            <a:spAutoFit/>
          </a:bodyPr>
          <a:lstStyle/>
          <a:p>
            <a:pPr algn="l">
              <a:lnSpc>
                <a:spcPct val="115000"/>
              </a:lnSpc>
            </a:pPr>
            <a:r>
              <a:rPr sz="5002" spc="-68">
                <a:solidFill>
                  <a:srgbClr val="F4EAD8"/>
                </a:solidFill>
                <a:latin typeface="Todes 1"/>
              </a:rPr>
              <a:t>We can search the whole planet —</a:t>
            </a:r>
          </a:p>
        </p:txBody>
      </p:sp>
      <p:sp>
        <p:nvSpPr>
          <p:cNvPr id="5" name="TextBox 4"/>
          <p:cNvSpPr txBox="1"/>
          <p:nvPr/>
        </p:nvSpPr>
        <p:spPr>
          <a:xfrm>
            <a:off x="822959" y="2575236"/>
            <a:ext cx="7994570" cy="921210"/>
          </a:xfrm>
          <a:prstGeom prst="rect">
            <a:avLst/>
          </a:prstGeom>
          <a:noFill/>
        </p:spPr>
        <p:txBody>
          <a:bodyPr wrap="none" lIns="0" rIns="0" tIns="0" bIns="0">
            <a:spAutoFit/>
          </a:bodyPr>
          <a:lstStyle/>
          <a:p>
            <a:pPr algn="l">
              <a:lnSpc>
                <a:spcPct val="115000"/>
              </a:lnSpc>
            </a:pPr>
            <a:r>
              <a:rPr sz="5002" spc="-68">
                <a:solidFill>
                  <a:srgbClr val="F4EAD8"/>
                </a:solidFill>
                <a:latin typeface="Todes 1"/>
              </a:rPr>
              <a:t>and miss the thing </a:t>
            </a:r>
          </a:p>
        </p:txBody>
      </p:sp>
      <p:sp>
        <p:nvSpPr>
          <p:cNvPr id="6" name="TextBox 5"/>
          <p:cNvSpPr txBox="1"/>
          <p:nvPr/>
        </p:nvSpPr>
        <p:spPr>
          <a:xfrm>
            <a:off x="7054024" y="2522658"/>
            <a:ext cx="5599271" cy="1016507"/>
          </a:xfrm>
          <a:prstGeom prst="rect">
            <a:avLst/>
          </a:prstGeom>
          <a:noFill/>
        </p:spPr>
        <p:txBody>
          <a:bodyPr wrap="none" lIns="0" rIns="0" tIns="0" bIns="0">
            <a:spAutoFit/>
          </a:bodyPr>
          <a:lstStyle/>
          <a:p>
            <a:pPr algn="l">
              <a:lnSpc>
                <a:spcPct val="115000"/>
              </a:lnSpc>
            </a:pPr>
            <a:r>
              <a:rPr sz="5520" spc="-75">
                <a:solidFill>
                  <a:srgbClr val="EBCF9E"/>
                </a:solidFill>
                <a:latin typeface="Ibarra Real Nova Italics"/>
              </a:rPr>
              <a:t>down the street.</a:t>
            </a:r>
          </a:p>
        </p:txBody>
      </p:sp>
      <p:sp>
        <p:nvSpPr>
          <p:cNvPr id="7" name="Oval 6"/>
          <p:cNvSpPr/>
          <p:nvPr/>
        </p:nvSpPr>
        <p:spPr>
          <a:xfrm>
            <a:off x="2811780" y="5623559"/>
            <a:ext cx="3154679" cy="3154679"/>
          </a:xfrm>
          <a:prstGeom prst="ellipse">
            <a:avLst/>
          </a:prstGeom>
          <a:noFill/>
          <a:ln w="1270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4046220" y="6858000"/>
            <a:ext cx="685800" cy="685800"/>
          </a:xfrm>
          <a:prstGeom prst="ellipse">
            <a:avLst/>
          </a:prstGeom>
          <a:solidFill>
            <a:srgbClr val="084B4D"/>
          </a:solidFill>
          <a:ln w="13970">
            <a:solidFill>
              <a:srgbClr val="99E6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017520" y="7667244"/>
            <a:ext cx="2743200" cy="411479"/>
          </a:xfrm>
          <a:prstGeom prst="rect">
            <a:avLst/>
          </a:prstGeom>
          <a:noFill/>
        </p:spPr>
        <p:txBody>
          <a:bodyPr wrap="none" lIns="0" rIns="0" tIns="0" bIns="0">
            <a:spAutoFit/>
          </a:bodyPr>
          <a:lstStyle/>
          <a:p>
            <a:pPr algn="ctr">
              <a:lnSpc>
                <a:spcPct val="115000"/>
              </a:lnSpc>
            </a:pPr>
            <a:r>
              <a:rPr sz="1350" spc="330">
                <a:solidFill>
                  <a:srgbClr val="9FE8DC"/>
                </a:solidFill>
                <a:latin typeface="Todes 1"/>
              </a:rPr>
              <a:t>YOUR PLACE</a:t>
            </a:r>
          </a:p>
        </p:txBody>
      </p:sp>
      <p:cxnSp>
        <p:nvCxnSpPr>
          <p:cNvPr id="10" name="Connector 9"/>
          <p:cNvCxnSpPr/>
          <p:nvPr/>
        </p:nvCxnSpPr>
        <p:spPr>
          <a:xfrm flipV="1">
            <a:off x="4800600" y="5924104"/>
            <a:ext cx="3479527" cy="1276796"/>
          </a:xfrm>
          <a:prstGeom prst="line">
            <a:avLst/>
          </a:prstGeom>
          <a:ln w="11430">
            <a:solidFill>
              <a:srgbClr val="D3B7A5"/>
            </a:solidFill>
            <a:prstDash val="dash"/>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8129251" y="5773228"/>
            <a:ext cx="301752" cy="301752"/>
          </a:xfrm>
          <a:prstGeom prst="ellipse">
            <a:avLst/>
          </a:prstGeom>
          <a:solidFill>
            <a:srgbClr val="D3B7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flipV="1">
            <a:off x="4800600" y="6864170"/>
            <a:ext cx="5293177" cy="336730"/>
          </a:xfrm>
          <a:prstGeom prst="line">
            <a:avLst/>
          </a:prstGeom>
          <a:ln w="11430">
            <a:solidFill>
              <a:srgbClr val="D3B7A5"/>
            </a:solidFill>
            <a:prstDash val="dash"/>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9942901" y="6713294"/>
            <a:ext cx="301752" cy="301752"/>
          </a:xfrm>
          <a:prstGeom prst="ellipse">
            <a:avLst/>
          </a:prstGeom>
          <a:solidFill>
            <a:srgbClr val="D3B7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4800600" y="7200900"/>
            <a:ext cx="4486273" cy="748707"/>
          </a:xfrm>
          <a:prstGeom prst="line">
            <a:avLst/>
          </a:prstGeom>
          <a:ln w="11430">
            <a:solidFill>
              <a:srgbClr val="D3B7A5"/>
            </a:solidFill>
            <a:prstDash val="dash"/>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9135997" y="7798731"/>
            <a:ext cx="301752" cy="301752"/>
          </a:xfrm>
          <a:prstGeom prst="ellipse">
            <a:avLst/>
          </a:prstGeom>
          <a:solidFill>
            <a:srgbClr val="D3B7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4800600" y="7200900"/>
            <a:ext cx="2542179" cy="1284613"/>
          </a:xfrm>
          <a:prstGeom prst="line">
            <a:avLst/>
          </a:prstGeom>
          <a:ln w="11430">
            <a:solidFill>
              <a:srgbClr val="D3B7A5"/>
            </a:solidFill>
            <a:prstDash val="dash"/>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7191903" y="8334637"/>
            <a:ext cx="301752" cy="301752"/>
          </a:xfrm>
          <a:prstGeom prst="ellipse">
            <a:avLst/>
          </a:prstGeom>
          <a:solidFill>
            <a:srgbClr val="D3B7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15400" y="8709659"/>
            <a:ext cx="5760720" cy="411479"/>
          </a:xfrm>
          <a:prstGeom prst="rect">
            <a:avLst/>
          </a:prstGeom>
          <a:noFill/>
        </p:spPr>
        <p:txBody>
          <a:bodyPr wrap="square" lIns="0" rIns="0" tIns="0" bIns="0">
            <a:spAutoFit/>
          </a:bodyPr>
          <a:lstStyle/>
          <a:p>
            <a:pPr algn="l">
              <a:lnSpc>
                <a:spcPct val="115000"/>
              </a:lnSpc>
            </a:pPr>
            <a:r>
              <a:rPr sz="1500">
                <a:solidFill>
                  <a:srgbClr val="D3B7A5"/>
                </a:solidFill>
                <a:latin typeface="TT Commons Pro"/>
              </a:rPr>
              <a:t>value leaving the place</a:t>
            </a:r>
          </a:p>
        </p:txBody>
      </p:sp>
      <p:sp>
        <p:nvSpPr>
          <p:cNvPr id="19" name="TextBox 18"/>
          <p:cNvSpPr txBox="1"/>
          <p:nvPr/>
        </p:nvSpPr>
        <p:spPr>
          <a:xfrm>
            <a:off x="822959" y="3429000"/>
            <a:ext cx="8503920" cy="1865376"/>
          </a:xfrm>
          <a:prstGeom prst="rect">
            <a:avLst/>
          </a:prstGeom>
          <a:noFill/>
        </p:spPr>
        <p:txBody>
          <a:bodyPr wrap="square" lIns="0" rIns="0" tIns="0" bIns="0">
            <a:spAutoFit/>
          </a:bodyPr>
          <a:lstStyle/>
          <a:p>
            <a:pPr algn="l">
              <a:lnSpc>
                <a:spcPct val="150000"/>
              </a:lnSpc>
            </a:pPr>
            <a:r>
              <a:rPr sz="1875">
                <a:solidFill>
                  <a:srgbClr val="F2ECDD"/>
                </a:solidFill>
                <a:latin typeface="TT Commons Pro"/>
              </a:rPr>
              <a:t>Someone buys from across the country what a neighbor already has.</a:t>
            </a:r>
          </a:p>
          <a:p>
            <a:pPr algn="l">
              <a:lnSpc>
                <a:spcPct val="150000"/>
              </a:lnSpc>
            </a:pPr>
            <a:r>
              <a:rPr sz="1875">
                <a:solidFill>
                  <a:srgbClr val="F2ECDD"/>
                </a:solidFill>
                <a:latin typeface="TT Commons Pro"/>
              </a:rPr>
              <a:t>A business struggles to find customers while nearby residents</a:t>
            </a:r>
          </a:p>
          <a:p>
            <a:pPr algn="l">
              <a:lnSpc>
                <a:spcPct val="150000"/>
              </a:lnSpc>
            </a:pPr>
            <a:r>
              <a:rPr sz="1875">
                <a:solidFill>
                  <a:srgbClr val="F2ECDD"/>
                </a:solidFill>
                <a:latin typeface="TT Commons Pro"/>
              </a:rPr>
              <a:t>search elsewhere for exactly what it offers.</a:t>
            </a:r>
          </a:p>
          <a:p>
            <a:pPr algn="l">
              <a:lnSpc>
                <a:spcPct val="150000"/>
              </a:lnSpc>
            </a:pPr>
            <a:r>
              <a:rPr sz="1875">
                <a:solidFill>
                  <a:srgbClr val="F2ECDD"/>
                </a:solidFill>
                <a:latin typeface="TT Commons Pro"/>
              </a:rPr>
              <a:t>Organizations duplicate work because they cannot see one another.</a:t>
            </a:r>
          </a:p>
        </p:txBody>
      </p:sp>
      <p:sp>
        <p:nvSpPr>
          <p:cNvPr id="20" name="Rounded Rectangle 19"/>
          <p:cNvSpPr/>
          <p:nvPr/>
        </p:nvSpPr>
        <p:spPr>
          <a:xfrm>
            <a:off x="11658600" y="4937760"/>
            <a:ext cx="5829300" cy="3429000"/>
          </a:xfrm>
          <a:prstGeom prst="roundRect">
            <a:avLst>
              <a:gd name="adj" fmla="val 6000"/>
            </a:avLst>
          </a:prstGeom>
          <a:solidFill>
            <a:srgbClr val="0D3E40"/>
          </a:solidFill>
          <a:ln w="19050">
            <a:solidFill>
              <a:srgbClr val="99E6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070080" y="5280660"/>
            <a:ext cx="5212079" cy="411479"/>
          </a:xfrm>
          <a:prstGeom prst="rect">
            <a:avLst/>
          </a:prstGeom>
          <a:noFill/>
        </p:spPr>
        <p:txBody>
          <a:bodyPr wrap="none" lIns="0" rIns="0" tIns="0" bIns="0">
            <a:spAutoFit/>
          </a:bodyPr>
          <a:lstStyle/>
          <a:p>
            <a:pPr algn="l">
              <a:lnSpc>
                <a:spcPct val="115000"/>
              </a:lnSpc>
            </a:pPr>
            <a:r>
              <a:rPr sz="1500" spc="330">
                <a:solidFill>
                  <a:srgbClr val="9FE8DC"/>
                </a:solidFill>
                <a:latin typeface="Todes 1"/>
              </a:rPr>
              <a:t>RIVR BRINGS PLACE BACK</a:t>
            </a:r>
          </a:p>
        </p:txBody>
      </p:sp>
      <p:sp>
        <p:nvSpPr>
          <p:cNvPr id="22" name="TextBox 21"/>
          <p:cNvSpPr txBox="1"/>
          <p:nvPr/>
        </p:nvSpPr>
        <p:spPr>
          <a:xfrm>
            <a:off x="12070080" y="5897879"/>
            <a:ext cx="5074920" cy="932688"/>
          </a:xfrm>
          <a:prstGeom prst="rect">
            <a:avLst/>
          </a:prstGeom>
          <a:noFill/>
        </p:spPr>
        <p:txBody>
          <a:bodyPr wrap="square" lIns="0" rIns="0" tIns="0" bIns="0">
            <a:spAutoFit/>
          </a:bodyPr>
          <a:lstStyle/>
          <a:p>
            <a:pPr algn="l">
              <a:lnSpc>
                <a:spcPct val="150000"/>
              </a:lnSpc>
            </a:pPr>
            <a:r>
              <a:rPr sz="1800">
                <a:solidFill>
                  <a:srgbClr val="F2ECDD"/>
                </a:solidFill>
                <a:latin typeface="TT Commons Pro"/>
              </a:rPr>
              <a:t>Not as a wall around a community.</a:t>
            </a:r>
          </a:p>
          <a:p>
            <a:pPr algn="l">
              <a:lnSpc>
                <a:spcPct val="150000"/>
              </a:lnSpc>
            </a:pPr>
            <a:r>
              <a:rPr sz="1800">
                <a:solidFill>
                  <a:srgbClr val="F2ECDD"/>
                </a:solidFill>
                <a:latin typeface="TT Commons Pro"/>
              </a:rPr>
              <a:t>As context.</a:t>
            </a:r>
          </a:p>
        </p:txBody>
      </p:sp>
      <p:sp>
        <p:nvSpPr>
          <p:cNvPr id="23" name="TextBox 22"/>
          <p:cNvSpPr txBox="1"/>
          <p:nvPr/>
        </p:nvSpPr>
        <p:spPr>
          <a:xfrm>
            <a:off x="12070080" y="7063740"/>
            <a:ext cx="5074920" cy="960119"/>
          </a:xfrm>
          <a:prstGeom prst="rect">
            <a:avLst/>
          </a:prstGeom>
          <a:noFill/>
        </p:spPr>
        <p:txBody>
          <a:bodyPr wrap="square" lIns="0" rIns="0" tIns="0" bIns="0">
            <a:spAutoFit/>
          </a:bodyPr>
          <a:lstStyle/>
          <a:p>
            <a:pPr algn="l">
              <a:lnSpc>
                <a:spcPct val="145000"/>
              </a:lnSpc>
            </a:pPr>
            <a:r>
              <a:rPr sz="1950" spc="20">
                <a:solidFill>
                  <a:srgbClr val="F2ECDD"/>
                </a:solidFill>
                <a:latin typeface="Alike Italics"/>
              </a:rPr>
              <a:t>Local when possible.</a:t>
            </a:r>
          </a:p>
          <a:p>
            <a:pPr algn="l">
              <a:lnSpc>
                <a:spcPct val="145000"/>
              </a:lnSpc>
            </a:pPr>
            <a:r>
              <a:rPr sz="1950" spc="20">
                <a:solidFill>
                  <a:srgbClr val="F2ECDD"/>
                </a:solidFill>
                <a:latin typeface="Alike Italics"/>
              </a:rPr>
              <a:t>Wider network when needed.</a:t>
            </a:r>
          </a:p>
        </p:txBody>
      </p:sp>
      <p:pic>
        <p:nvPicPr>
          <p:cNvPr id="24" name="Picture 23" descr="rivr-symbol-light.png"/>
          <p:cNvPicPr>
            <a:picLocks noChangeAspect="1"/>
          </p:cNvPicPr>
          <p:nvPr/>
        </p:nvPicPr>
        <p:blipFill>
          <a:blip r:embed="rId4"/>
          <a:stretch>
            <a:fillRect/>
          </a:stretch>
        </p:blipFill>
        <p:spPr>
          <a:xfrm>
            <a:off x="576072" y="9518904"/>
            <a:ext cx="521208" cy="521208"/>
          </a:xfrm>
          <a:prstGeom prst="rect">
            <a:avLst/>
          </a:prstGeom>
        </p:spPr>
      </p:pic>
      <p:sp>
        <p:nvSpPr>
          <p:cNvPr id="25" name="TextBox 24"/>
          <p:cNvSpPr txBox="1"/>
          <p:nvPr/>
        </p:nvSpPr>
        <p:spPr>
          <a:xfrm>
            <a:off x="1371600" y="9724644"/>
            <a:ext cx="5486400" cy="301752"/>
          </a:xfrm>
          <a:prstGeom prst="rect">
            <a:avLst/>
          </a:prstGeom>
          <a:noFill/>
        </p:spPr>
        <p:txBody>
          <a:bodyPr wrap="none" lIns="0" rIns="0" tIns="0" bIns="0">
            <a:spAutoFit/>
          </a:bodyPr>
          <a:lstStyle/>
          <a:p>
            <a:pPr algn="l">
              <a:lnSpc>
                <a:spcPct val="115000"/>
              </a:lnSpc>
            </a:pPr>
            <a:r>
              <a:rPr sz="1350" spc="150">
                <a:solidFill>
                  <a:srgbClr val="AFC4C2"/>
                </a:solidFill>
                <a:latin typeface="TT Commons Pro"/>
              </a:rPr>
              <a:t>Rivr · Seed Round 2026</a:t>
            </a:r>
          </a:p>
        </p:txBody>
      </p:sp>
      <p:sp>
        <p:nvSpPr>
          <p:cNvPr id="26" name="TextBox 25"/>
          <p:cNvSpPr txBox="1"/>
          <p:nvPr/>
        </p:nvSpPr>
        <p:spPr>
          <a:xfrm>
            <a:off x="16870680" y="9724644"/>
            <a:ext cx="960119" cy="301752"/>
          </a:xfrm>
          <a:prstGeom prst="rect">
            <a:avLst/>
          </a:prstGeom>
          <a:noFill/>
        </p:spPr>
        <p:txBody>
          <a:bodyPr wrap="none" lIns="0" rIns="0" tIns="0" bIns="0">
            <a:spAutoFit/>
          </a:bodyPr>
          <a:lstStyle/>
          <a:p>
            <a:pPr algn="r">
              <a:lnSpc>
                <a:spcPct val="115000"/>
              </a:lnSpc>
            </a:pPr>
            <a:r>
              <a:rPr sz="1350" spc="150">
                <a:solidFill>
                  <a:srgbClr val="AFC4C2"/>
                </a:solidFill>
                <a:latin typeface="TT Commons Pro"/>
              </a:rPr>
              <a:t>05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3333"/>
        </a:solidFill>
        <a:effectLst/>
      </p:bgPr>
    </p:bg>
    <p:spTree>
      <p:nvGrpSpPr>
        <p:cNvPr id="1" name=""/>
        <p:cNvGrpSpPr/>
        <p:nvPr/>
      </p:nvGrpSpPr>
      <p:grpSpPr/>
      <p:pic>
        <p:nvPicPr>
          <p:cNvPr id="2" name="Picture 1" descr="bg_c05.jpg"/>
          <p:cNvPicPr>
            <a:picLocks noChangeAspect="1"/>
          </p:cNvPicPr>
          <p:nvPr/>
        </p:nvPicPr>
        <p:blipFill>
          <a:blip r:embed="rId2"/>
          <a:stretch>
            <a:fillRect/>
          </a:stretch>
        </p:blipFill>
        <p:spPr>
          <a:xfrm>
            <a:off x="0" y="0"/>
            <a:ext cx="18287542" cy="10287000"/>
          </a:xfrm>
          <a:prstGeom prst="rect">
            <a:avLst/>
          </a:prstGeom>
        </p:spPr>
      </p:pic>
      <p:sp>
        <p:nvSpPr>
          <p:cNvPr id="3" name="TextBox 2"/>
          <p:cNvSpPr txBox="1"/>
          <p:nvPr/>
        </p:nvSpPr>
        <p:spPr>
          <a:xfrm>
            <a:off x="822959" y="822959"/>
            <a:ext cx="16733519" cy="384048"/>
          </a:xfrm>
          <a:prstGeom prst="rect">
            <a:avLst/>
          </a:prstGeom>
          <a:noFill/>
        </p:spPr>
        <p:txBody>
          <a:bodyPr wrap="none" lIns="0" rIns="0" tIns="0" bIns="0">
            <a:spAutoFit/>
          </a:bodyPr>
          <a:lstStyle/>
          <a:p>
            <a:pPr algn="l">
              <a:lnSpc>
                <a:spcPct val="115000"/>
              </a:lnSpc>
            </a:pPr>
            <a:r>
              <a:rPr sz="1650" spc="330">
                <a:solidFill>
                  <a:srgbClr val="9FE8DC"/>
                </a:solidFill>
                <a:latin typeface="Todes 1"/>
              </a:rPr>
              <a:t>PLACE IS LAYERED</a:t>
            </a:r>
          </a:p>
        </p:txBody>
      </p:sp>
      <p:sp>
        <p:nvSpPr>
          <p:cNvPr id="4" name="TextBox 3"/>
          <p:cNvSpPr txBox="1"/>
          <p:nvPr/>
        </p:nvSpPr>
        <p:spPr>
          <a:xfrm>
            <a:off x="822959" y="1699869"/>
            <a:ext cx="12364164" cy="1043025"/>
          </a:xfrm>
          <a:prstGeom prst="rect">
            <a:avLst/>
          </a:prstGeom>
          <a:noFill/>
        </p:spPr>
        <p:txBody>
          <a:bodyPr wrap="none" lIns="0" rIns="0" tIns="0" bIns="0">
            <a:spAutoFit/>
          </a:bodyPr>
          <a:lstStyle/>
          <a:p>
            <a:pPr algn="l">
              <a:lnSpc>
                <a:spcPct val="115000"/>
              </a:lnSpc>
            </a:pPr>
            <a:r>
              <a:rPr sz="5664" spc="-76">
                <a:solidFill>
                  <a:srgbClr val="F4EAD8"/>
                </a:solidFill>
                <a:latin typeface="Todes 1"/>
              </a:rPr>
              <a:t>Not geographic lock-in — </a:t>
            </a:r>
          </a:p>
        </p:txBody>
      </p:sp>
      <p:sp>
        <p:nvSpPr>
          <p:cNvPr id="5" name="TextBox 4"/>
          <p:cNvSpPr txBox="1"/>
          <p:nvPr/>
        </p:nvSpPr>
        <p:spPr>
          <a:xfrm>
            <a:off x="10549699" y="1645919"/>
            <a:ext cx="7385208" cy="1140809"/>
          </a:xfrm>
          <a:prstGeom prst="rect">
            <a:avLst/>
          </a:prstGeom>
          <a:noFill/>
        </p:spPr>
        <p:txBody>
          <a:bodyPr wrap="none" lIns="0" rIns="0" tIns="0" bIns="0">
            <a:spAutoFit/>
          </a:bodyPr>
          <a:lstStyle/>
          <a:p>
            <a:pPr algn="l">
              <a:lnSpc>
                <a:spcPct val="115000"/>
              </a:lnSpc>
            </a:pPr>
            <a:r>
              <a:rPr sz="6195" spc="-75">
                <a:solidFill>
                  <a:srgbClr val="99E6D9"/>
                </a:solidFill>
                <a:latin typeface="Ibarra Real Nova Italics"/>
              </a:rPr>
              <a:t>layered belonging.</a:t>
            </a:r>
          </a:p>
        </p:txBody>
      </p:sp>
      <p:sp>
        <p:nvSpPr>
          <p:cNvPr id="6" name="TextBox 5"/>
          <p:cNvSpPr txBox="1"/>
          <p:nvPr/>
        </p:nvSpPr>
        <p:spPr>
          <a:xfrm>
            <a:off x="822959" y="3909060"/>
            <a:ext cx="8229600" cy="2331720"/>
          </a:xfrm>
          <a:prstGeom prst="rect">
            <a:avLst/>
          </a:prstGeom>
          <a:noFill/>
        </p:spPr>
        <p:txBody>
          <a:bodyPr wrap="square" lIns="0" rIns="0" tIns="0" bIns="0">
            <a:spAutoFit/>
          </a:bodyPr>
          <a:lstStyle/>
          <a:p>
            <a:pPr algn="l">
              <a:lnSpc>
                <a:spcPct val="150000"/>
              </a:lnSpc>
            </a:pPr>
            <a:r>
              <a:rPr sz="1950">
                <a:solidFill>
                  <a:srgbClr val="F2ECDD"/>
                </a:solidFill>
                <a:latin typeface="TT Commons Pro"/>
              </a:rPr>
              <a:t>Place itself can be nested — and people can belong</a:t>
            </a:r>
          </a:p>
          <a:p>
            <a:pPr algn="l">
              <a:lnSpc>
                <a:spcPct val="150000"/>
              </a:lnSpc>
            </a:pPr>
            <a:r>
              <a:rPr sz="1950">
                <a:solidFill>
                  <a:srgbClr val="F2ECDD"/>
                </a:solidFill>
                <a:latin typeface="TT Commons Pro"/>
              </a:rPr>
              <a:t>to several places and communities at once.</a:t>
            </a:r>
          </a:p>
          <a:p>
            <a:pPr algn="l">
              <a:lnSpc>
                <a:spcPct val="150000"/>
              </a:lnSpc>
            </a:pPr>
            <a:r>
              <a:rPr sz="1950">
                <a:solidFill>
                  <a:srgbClr val="F2ECDD"/>
                </a:solidFill>
                <a:latin typeface="TT Commons Pro"/>
              </a:rPr>
              <a:t/>
            </a:r>
          </a:p>
          <a:p>
            <a:pPr algn="l">
              <a:lnSpc>
                <a:spcPct val="150000"/>
              </a:lnSpc>
            </a:pPr>
            <a:r>
              <a:rPr sz="1950">
                <a:solidFill>
                  <a:srgbClr val="F2ECDD"/>
                </a:solidFill>
                <a:latin typeface="TT Commons Pro"/>
              </a:rPr>
              <a:t>The right people, information, resources, and</a:t>
            </a:r>
          </a:p>
          <a:p>
            <a:pPr algn="l">
              <a:lnSpc>
                <a:spcPct val="150000"/>
              </a:lnSpc>
            </a:pPr>
            <a:r>
              <a:rPr sz="1950">
                <a:solidFill>
                  <a:srgbClr val="F2ECDD"/>
                </a:solidFill>
                <a:latin typeface="TT Commons Pro"/>
              </a:rPr>
              <a:t>activity appear </a:t>
            </a:r>
            <a:r>
              <a:rPr sz="1950">
                <a:solidFill>
                  <a:srgbClr val="9FE8DC"/>
                </a:solidFill>
                <a:latin typeface="TT Commons Pro"/>
              </a:rPr>
              <a:t>at the scope where they matter.</a:t>
            </a:r>
          </a:p>
        </p:txBody>
      </p:sp>
      <p:sp>
        <p:nvSpPr>
          <p:cNvPr id="7" name="Oval 6"/>
          <p:cNvSpPr/>
          <p:nvPr/>
        </p:nvSpPr>
        <p:spPr>
          <a:xfrm>
            <a:off x="10527030" y="3490722"/>
            <a:ext cx="5692140" cy="5692140"/>
          </a:xfrm>
          <a:prstGeom prst="ellipse">
            <a:avLst/>
          </a:prstGeom>
          <a:noFill/>
          <a:ln w="12700">
            <a:solidFill>
              <a:srgbClr val="AFC4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1075669" y="4039362"/>
            <a:ext cx="4594860" cy="4594860"/>
          </a:xfrm>
          <a:prstGeom prst="ellipse">
            <a:avLst/>
          </a:prstGeom>
          <a:noFill/>
          <a:ln w="1270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624309" y="4588002"/>
            <a:ext cx="3497579" cy="3497579"/>
          </a:xfrm>
          <a:prstGeom prst="ellipse">
            <a:avLst/>
          </a:prstGeom>
          <a:noFill/>
          <a:ln w="1270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2172950" y="5136642"/>
            <a:ext cx="2400300" cy="2400300"/>
          </a:xfrm>
          <a:prstGeom prst="ellipse">
            <a:avLst/>
          </a:prstGeom>
          <a:noFill/>
          <a:ln w="1270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2721590" y="5685282"/>
            <a:ext cx="1303019" cy="1303019"/>
          </a:xfrm>
          <a:prstGeom prst="ellipse">
            <a:avLst/>
          </a:prstGeom>
          <a:noFill/>
          <a:ln w="12700">
            <a:solidFill>
              <a:srgbClr val="EBCF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767059" y="3257550"/>
            <a:ext cx="5212079" cy="384048"/>
          </a:xfrm>
          <a:prstGeom prst="rect">
            <a:avLst/>
          </a:prstGeom>
          <a:noFill/>
        </p:spPr>
        <p:txBody>
          <a:bodyPr wrap="none" lIns="0" rIns="0" tIns="0" bIns="0">
            <a:spAutoFit/>
          </a:bodyPr>
          <a:lstStyle/>
          <a:p>
            <a:pPr algn="ctr">
              <a:lnSpc>
                <a:spcPct val="115000"/>
              </a:lnSpc>
            </a:pPr>
            <a:r>
              <a:rPr sz="1275" spc="330">
                <a:solidFill>
                  <a:srgbClr val="AFC4C2"/>
                </a:solidFill>
                <a:latin typeface="Todes 1"/>
              </a:rPr>
              <a:t>WIDER NETWORK</a:t>
            </a:r>
          </a:p>
        </p:txBody>
      </p:sp>
      <p:sp>
        <p:nvSpPr>
          <p:cNvPr id="13" name="TextBox 12"/>
          <p:cNvSpPr txBox="1"/>
          <p:nvPr/>
        </p:nvSpPr>
        <p:spPr>
          <a:xfrm>
            <a:off x="10767059" y="3806190"/>
            <a:ext cx="5212079" cy="384048"/>
          </a:xfrm>
          <a:prstGeom prst="rect">
            <a:avLst/>
          </a:prstGeom>
          <a:noFill/>
        </p:spPr>
        <p:txBody>
          <a:bodyPr wrap="none" lIns="0" rIns="0" tIns="0" bIns="0">
            <a:spAutoFit/>
          </a:bodyPr>
          <a:lstStyle/>
          <a:p>
            <a:pPr algn="ctr">
              <a:lnSpc>
                <a:spcPct val="115000"/>
              </a:lnSpc>
            </a:pPr>
            <a:r>
              <a:rPr sz="1275" spc="330">
                <a:solidFill>
                  <a:srgbClr val="9FE8DC"/>
                </a:solidFill>
                <a:latin typeface="Todes 1"/>
              </a:rPr>
              <a:t>WATERSHED · BIOREGION</a:t>
            </a:r>
          </a:p>
        </p:txBody>
      </p:sp>
      <p:sp>
        <p:nvSpPr>
          <p:cNvPr id="14" name="TextBox 13"/>
          <p:cNvSpPr txBox="1"/>
          <p:nvPr/>
        </p:nvSpPr>
        <p:spPr>
          <a:xfrm>
            <a:off x="10767059" y="4354830"/>
            <a:ext cx="5212079" cy="384048"/>
          </a:xfrm>
          <a:prstGeom prst="rect">
            <a:avLst/>
          </a:prstGeom>
          <a:noFill/>
        </p:spPr>
        <p:txBody>
          <a:bodyPr wrap="none" lIns="0" rIns="0" tIns="0" bIns="0">
            <a:spAutoFit/>
          </a:bodyPr>
          <a:lstStyle/>
          <a:p>
            <a:pPr algn="ctr">
              <a:lnSpc>
                <a:spcPct val="115000"/>
              </a:lnSpc>
            </a:pPr>
            <a:r>
              <a:rPr sz="1275" spc="330">
                <a:solidFill>
                  <a:srgbClr val="9FE8DC"/>
                </a:solidFill>
                <a:latin typeface="Todes 1"/>
              </a:rPr>
              <a:t>TOWN · ORGANIZATION</a:t>
            </a:r>
          </a:p>
        </p:txBody>
      </p:sp>
      <p:sp>
        <p:nvSpPr>
          <p:cNvPr id="15" name="TextBox 14"/>
          <p:cNvSpPr txBox="1"/>
          <p:nvPr/>
        </p:nvSpPr>
        <p:spPr>
          <a:xfrm>
            <a:off x="10767059" y="4903470"/>
            <a:ext cx="5212079" cy="384048"/>
          </a:xfrm>
          <a:prstGeom prst="rect">
            <a:avLst/>
          </a:prstGeom>
          <a:noFill/>
        </p:spPr>
        <p:txBody>
          <a:bodyPr wrap="none" lIns="0" rIns="0" tIns="0" bIns="0">
            <a:spAutoFit/>
          </a:bodyPr>
          <a:lstStyle/>
          <a:p>
            <a:pPr algn="ctr">
              <a:lnSpc>
                <a:spcPct val="115000"/>
              </a:lnSpc>
            </a:pPr>
            <a:r>
              <a:rPr sz="1275" spc="330">
                <a:solidFill>
                  <a:srgbClr val="9FE8DC"/>
                </a:solidFill>
                <a:latin typeface="Todes 1"/>
              </a:rPr>
              <a:t>NEIGHBORHOOD</a:t>
            </a:r>
          </a:p>
        </p:txBody>
      </p:sp>
      <p:sp>
        <p:nvSpPr>
          <p:cNvPr id="16" name="TextBox 15"/>
          <p:cNvSpPr txBox="1"/>
          <p:nvPr/>
        </p:nvSpPr>
        <p:spPr>
          <a:xfrm>
            <a:off x="10767059" y="5452110"/>
            <a:ext cx="5212079" cy="384048"/>
          </a:xfrm>
          <a:prstGeom prst="rect">
            <a:avLst/>
          </a:prstGeom>
          <a:noFill/>
        </p:spPr>
        <p:txBody>
          <a:bodyPr wrap="none" lIns="0" rIns="0" tIns="0" bIns="0">
            <a:spAutoFit/>
          </a:bodyPr>
          <a:lstStyle/>
          <a:p>
            <a:pPr algn="ctr">
              <a:lnSpc>
                <a:spcPct val="115000"/>
              </a:lnSpc>
            </a:pPr>
            <a:r>
              <a:rPr sz="1275" spc="330">
                <a:solidFill>
                  <a:srgbClr val="EBCF9E"/>
                </a:solidFill>
                <a:latin typeface="Todes 1"/>
              </a:rPr>
              <a:t>HOUSEHOLD</a:t>
            </a:r>
          </a:p>
        </p:txBody>
      </p:sp>
      <p:pic>
        <p:nvPicPr>
          <p:cNvPr id="17" name="Picture 16" descr="rivr-symbol-light.png"/>
          <p:cNvPicPr>
            <a:picLocks noChangeAspect="1"/>
          </p:cNvPicPr>
          <p:nvPr/>
        </p:nvPicPr>
        <p:blipFill>
          <a:blip r:embed="rId4"/>
          <a:stretch>
            <a:fillRect/>
          </a:stretch>
        </p:blipFill>
        <p:spPr>
          <a:xfrm>
            <a:off x="576072" y="9518904"/>
            <a:ext cx="521208" cy="521208"/>
          </a:xfrm>
          <a:prstGeom prst="rect">
            <a:avLst/>
          </a:prstGeom>
        </p:spPr>
      </p:pic>
      <p:sp>
        <p:nvSpPr>
          <p:cNvPr id="18" name="TextBox 17"/>
          <p:cNvSpPr txBox="1"/>
          <p:nvPr/>
        </p:nvSpPr>
        <p:spPr>
          <a:xfrm>
            <a:off x="1371600" y="9724644"/>
            <a:ext cx="5486400" cy="301752"/>
          </a:xfrm>
          <a:prstGeom prst="rect">
            <a:avLst/>
          </a:prstGeom>
          <a:noFill/>
        </p:spPr>
        <p:txBody>
          <a:bodyPr wrap="none" lIns="0" rIns="0" tIns="0" bIns="0">
            <a:spAutoFit/>
          </a:bodyPr>
          <a:lstStyle/>
          <a:p>
            <a:pPr algn="l">
              <a:lnSpc>
                <a:spcPct val="115000"/>
              </a:lnSpc>
            </a:pPr>
            <a:r>
              <a:rPr sz="1350" spc="150">
                <a:solidFill>
                  <a:srgbClr val="AFC4C2"/>
                </a:solidFill>
                <a:latin typeface="TT Commons Pro"/>
              </a:rPr>
              <a:t>Rivr · Seed Round 2026</a:t>
            </a:r>
          </a:p>
        </p:txBody>
      </p:sp>
      <p:sp>
        <p:nvSpPr>
          <p:cNvPr id="19" name="TextBox 18"/>
          <p:cNvSpPr txBox="1"/>
          <p:nvPr/>
        </p:nvSpPr>
        <p:spPr>
          <a:xfrm>
            <a:off x="16870680" y="9724644"/>
            <a:ext cx="960119" cy="301752"/>
          </a:xfrm>
          <a:prstGeom prst="rect">
            <a:avLst/>
          </a:prstGeom>
          <a:noFill/>
        </p:spPr>
        <p:txBody>
          <a:bodyPr wrap="none" lIns="0" rIns="0" tIns="0" bIns="0">
            <a:spAutoFit/>
          </a:bodyPr>
          <a:lstStyle/>
          <a:p>
            <a:pPr algn="r">
              <a:lnSpc>
                <a:spcPct val="115000"/>
              </a:lnSpc>
            </a:pPr>
            <a:r>
              <a:rPr sz="1350" spc="150">
                <a:solidFill>
                  <a:srgbClr val="AFC4C2"/>
                </a:solidFill>
                <a:latin typeface="TT Commons Pro"/>
              </a:rPr>
              <a:t>06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3333"/>
        </a:solidFill>
        <a:effectLst/>
      </p:bgPr>
    </p:bg>
    <p:spTree>
      <p:nvGrpSpPr>
        <p:cNvPr id="1" name=""/>
        <p:cNvGrpSpPr/>
        <p:nvPr/>
      </p:nvGrpSpPr>
      <p:grpSpPr/>
      <p:pic>
        <p:nvPicPr>
          <p:cNvPr id="2" name="Picture 1" descr="bg_p01.jpg"/>
          <p:cNvPicPr>
            <a:picLocks noChangeAspect="1"/>
          </p:cNvPicPr>
          <p:nvPr/>
        </p:nvPicPr>
        <p:blipFill>
          <a:blip r:embed="rId2"/>
          <a:stretch>
            <a:fillRect/>
          </a:stretch>
        </p:blipFill>
        <p:spPr>
          <a:xfrm>
            <a:off x="0" y="0"/>
            <a:ext cx="18287542" cy="10287000"/>
          </a:xfrm>
          <a:prstGeom prst="rect">
            <a:avLst/>
          </a:prstGeom>
        </p:spPr>
      </p:pic>
      <p:sp>
        <p:nvSpPr>
          <p:cNvPr id="3" name="TextBox 2"/>
          <p:cNvSpPr txBox="1"/>
          <p:nvPr/>
        </p:nvSpPr>
        <p:spPr>
          <a:xfrm>
            <a:off x="822959" y="822959"/>
            <a:ext cx="16733519" cy="384048"/>
          </a:xfrm>
          <a:prstGeom prst="rect">
            <a:avLst/>
          </a:prstGeom>
          <a:noFill/>
        </p:spPr>
        <p:txBody>
          <a:bodyPr wrap="none" lIns="0" rIns="0" tIns="0" bIns="0">
            <a:spAutoFit/>
          </a:bodyPr>
          <a:lstStyle/>
          <a:p>
            <a:pPr algn="l">
              <a:lnSpc>
                <a:spcPct val="115000"/>
              </a:lnSpc>
            </a:pPr>
            <a:r>
              <a:rPr sz="1650" spc="330">
                <a:solidFill>
                  <a:srgbClr val="9FE8DC"/>
                </a:solidFill>
                <a:latin typeface="Todes 1"/>
              </a:rPr>
              <a:t>PLACE + ECOLOGY</a:t>
            </a:r>
          </a:p>
        </p:txBody>
      </p:sp>
      <p:sp>
        <p:nvSpPr>
          <p:cNvPr id="4" name="TextBox 3"/>
          <p:cNvSpPr txBox="1"/>
          <p:nvPr/>
        </p:nvSpPr>
        <p:spPr>
          <a:xfrm>
            <a:off x="822959" y="1699869"/>
            <a:ext cx="16329580" cy="880052"/>
          </a:xfrm>
          <a:prstGeom prst="rect">
            <a:avLst/>
          </a:prstGeom>
          <a:noFill/>
        </p:spPr>
        <p:txBody>
          <a:bodyPr wrap="none" lIns="0" rIns="0" tIns="0" bIns="0">
            <a:spAutoFit/>
          </a:bodyPr>
          <a:lstStyle/>
          <a:p>
            <a:pPr algn="l">
              <a:lnSpc>
                <a:spcPct val="115000"/>
              </a:lnSpc>
            </a:pPr>
            <a:r>
              <a:rPr sz="4779" spc="-65">
                <a:solidFill>
                  <a:srgbClr val="F4EAD8"/>
                </a:solidFill>
                <a:latin typeface="Todes 1"/>
              </a:rPr>
              <a:t>A river basin tells a different story about </a:t>
            </a:r>
          </a:p>
        </p:txBody>
      </p:sp>
      <p:sp>
        <p:nvSpPr>
          <p:cNvPr id="5" name="TextBox 4"/>
          <p:cNvSpPr txBox="1"/>
          <p:nvPr/>
        </p:nvSpPr>
        <p:spPr>
          <a:xfrm>
            <a:off x="13722032" y="1645919"/>
            <a:ext cx="4867036" cy="977836"/>
          </a:xfrm>
          <a:prstGeom prst="rect">
            <a:avLst/>
          </a:prstGeom>
          <a:noFill/>
        </p:spPr>
        <p:txBody>
          <a:bodyPr wrap="none" lIns="0" rIns="0" tIns="0" bIns="0">
            <a:spAutoFit/>
          </a:bodyPr>
          <a:lstStyle/>
          <a:p>
            <a:pPr algn="l">
              <a:lnSpc>
                <a:spcPct val="115000"/>
              </a:lnSpc>
            </a:pPr>
            <a:r>
              <a:rPr sz="5309" spc="-75">
                <a:solidFill>
                  <a:srgbClr val="EBCF9E"/>
                </a:solidFill>
                <a:latin typeface="Ibarra Real Nova Italics"/>
              </a:rPr>
              <a:t>where we live.</a:t>
            </a:r>
          </a:p>
        </p:txBody>
      </p:sp>
      <p:cxnSp>
        <p:nvCxnSpPr>
          <p:cNvPr id="6" name="Connector 5"/>
          <p:cNvCxnSpPr/>
          <p:nvPr/>
        </p:nvCxnSpPr>
        <p:spPr>
          <a:xfrm flipV="1">
            <a:off x="9134856" y="4251960"/>
            <a:ext cx="0" cy="4663440"/>
          </a:xfrm>
          <a:prstGeom prst="line">
            <a:avLst/>
          </a:prstGeom>
          <a:ln w="3048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flipV="1">
            <a:off x="6528816" y="6995160"/>
            <a:ext cx="2606040" cy="1097280"/>
          </a:xfrm>
          <a:prstGeom prst="line">
            <a:avLst/>
          </a:prstGeom>
          <a:ln w="15240">
            <a:solidFill>
              <a:srgbClr val="9FE8DC"/>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flipV="1">
            <a:off x="6919722" y="6871716"/>
            <a:ext cx="781811" cy="617220"/>
          </a:xfrm>
          <a:prstGeom prst="line">
            <a:avLst/>
          </a:prstGeom>
          <a:ln w="10160">
            <a:solidFill>
              <a:srgbClr val="9FE8DC"/>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9134856" y="6995160"/>
            <a:ext cx="2606040" cy="1097280"/>
          </a:xfrm>
          <a:prstGeom prst="line">
            <a:avLst/>
          </a:prstGeom>
          <a:ln w="15240">
            <a:solidFill>
              <a:srgbClr val="9FE8DC"/>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0568178" y="6871716"/>
            <a:ext cx="781812" cy="617220"/>
          </a:xfrm>
          <a:prstGeom prst="line">
            <a:avLst/>
          </a:prstGeom>
          <a:ln w="10160">
            <a:solidFill>
              <a:srgbClr val="9FE8DC"/>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flipV="1">
            <a:off x="5431536" y="5897879"/>
            <a:ext cx="3703320" cy="960121"/>
          </a:xfrm>
          <a:prstGeom prst="line">
            <a:avLst/>
          </a:prstGeom>
          <a:ln w="15240">
            <a:solidFill>
              <a:srgbClr val="9FE8DC"/>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flipV="1">
            <a:off x="5987034" y="5712714"/>
            <a:ext cx="1110995" cy="617220"/>
          </a:xfrm>
          <a:prstGeom prst="line">
            <a:avLst/>
          </a:prstGeom>
          <a:ln w="10160">
            <a:solidFill>
              <a:srgbClr val="9FE8DC"/>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9134856" y="5897879"/>
            <a:ext cx="3703320" cy="960121"/>
          </a:xfrm>
          <a:prstGeom prst="line">
            <a:avLst/>
          </a:prstGeom>
          <a:ln w="15240">
            <a:solidFill>
              <a:srgbClr val="9FE8DC"/>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1171682" y="5712714"/>
            <a:ext cx="1110996" cy="617220"/>
          </a:xfrm>
          <a:prstGeom prst="line">
            <a:avLst/>
          </a:prstGeom>
          <a:ln w="10160">
            <a:solidFill>
              <a:srgbClr val="9FE8DC"/>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flipV="1">
            <a:off x="6940296" y="4937760"/>
            <a:ext cx="2194560" cy="822960"/>
          </a:xfrm>
          <a:prstGeom prst="line">
            <a:avLst/>
          </a:prstGeom>
          <a:ln w="15240">
            <a:solidFill>
              <a:srgbClr val="9FE8DC"/>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flipV="1">
            <a:off x="7269480" y="4690872"/>
            <a:ext cx="658368" cy="617220"/>
          </a:xfrm>
          <a:prstGeom prst="line">
            <a:avLst/>
          </a:prstGeom>
          <a:ln w="10160">
            <a:solidFill>
              <a:srgbClr val="9FE8DC"/>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9134856" y="4937760"/>
            <a:ext cx="2194560" cy="822960"/>
          </a:xfrm>
          <a:prstGeom prst="line">
            <a:avLst/>
          </a:prstGeom>
          <a:ln w="15240">
            <a:solidFill>
              <a:srgbClr val="9FE8DC"/>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10341864" y="4690872"/>
            <a:ext cx="658368" cy="617220"/>
          </a:xfrm>
          <a:prstGeom prst="line">
            <a:avLst/>
          </a:prstGeom>
          <a:ln w="10160">
            <a:solidFill>
              <a:srgbClr val="9FE8DC"/>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flipV="1">
            <a:off x="5980176" y="4114800"/>
            <a:ext cx="3154680" cy="685800"/>
          </a:xfrm>
          <a:prstGeom prst="line">
            <a:avLst/>
          </a:prstGeom>
          <a:ln w="15240">
            <a:solidFill>
              <a:srgbClr val="9FE8DC"/>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flipV="1">
            <a:off x="6453378" y="3806189"/>
            <a:ext cx="946404" cy="617221"/>
          </a:xfrm>
          <a:prstGeom prst="line">
            <a:avLst/>
          </a:prstGeom>
          <a:ln w="10160">
            <a:solidFill>
              <a:srgbClr val="9FE8DC"/>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9134856" y="4114800"/>
            <a:ext cx="3154680" cy="685800"/>
          </a:xfrm>
          <a:prstGeom prst="line">
            <a:avLst/>
          </a:prstGeom>
          <a:ln w="15240">
            <a:solidFill>
              <a:srgbClr val="9FE8DC"/>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10869930" y="3806189"/>
            <a:ext cx="946404" cy="617221"/>
          </a:xfrm>
          <a:prstGeom prst="line">
            <a:avLst/>
          </a:prstGeom>
          <a:ln w="10160">
            <a:solidFill>
              <a:srgbClr val="9FE8DC"/>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4663440" y="6583680"/>
            <a:ext cx="274320" cy="274320"/>
          </a:xfrm>
          <a:prstGeom prst="ellipse">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29000" y="6912864"/>
            <a:ext cx="2743200" cy="411479"/>
          </a:xfrm>
          <a:prstGeom prst="rect">
            <a:avLst/>
          </a:prstGeom>
          <a:noFill/>
        </p:spPr>
        <p:txBody>
          <a:bodyPr wrap="square" lIns="0" rIns="0" tIns="0" bIns="0">
            <a:spAutoFit/>
          </a:bodyPr>
          <a:lstStyle/>
          <a:p>
            <a:pPr algn="ctr">
              <a:lnSpc>
                <a:spcPct val="115000"/>
              </a:lnSpc>
            </a:pPr>
            <a:r>
              <a:rPr sz="1500">
                <a:solidFill>
                  <a:srgbClr val="F2ECDD"/>
                </a:solidFill>
                <a:latin typeface="TT Commons Pro"/>
              </a:rPr>
              <a:t>water</a:t>
            </a:r>
          </a:p>
        </p:txBody>
      </p:sp>
      <p:sp>
        <p:nvSpPr>
          <p:cNvPr id="25" name="Oval 24"/>
          <p:cNvSpPr/>
          <p:nvPr/>
        </p:nvSpPr>
        <p:spPr>
          <a:xfrm>
            <a:off x="13441680" y="6583680"/>
            <a:ext cx="274320" cy="274320"/>
          </a:xfrm>
          <a:prstGeom prst="ellipse">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207240" y="6912864"/>
            <a:ext cx="2743200" cy="411479"/>
          </a:xfrm>
          <a:prstGeom prst="rect">
            <a:avLst/>
          </a:prstGeom>
          <a:noFill/>
        </p:spPr>
        <p:txBody>
          <a:bodyPr wrap="square" lIns="0" rIns="0" tIns="0" bIns="0">
            <a:spAutoFit/>
          </a:bodyPr>
          <a:lstStyle/>
          <a:p>
            <a:pPr algn="ctr">
              <a:lnSpc>
                <a:spcPct val="115000"/>
              </a:lnSpc>
            </a:pPr>
            <a:r>
              <a:rPr sz="1500">
                <a:solidFill>
                  <a:srgbClr val="F2ECDD"/>
                </a:solidFill>
                <a:latin typeface="TT Commons Pro"/>
              </a:rPr>
              <a:t>food</a:t>
            </a:r>
          </a:p>
        </p:txBody>
      </p:sp>
      <p:sp>
        <p:nvSpPr>
          <p:cNvPr id="27" name="Oval 26"/>
          <p:cNvSpPr/>
          <p:nvPr/>
        </p:nvSpPr>
        <p:spPr>
          <a:xfrm>
            <a:off x="3977639" y="5554980"/>
            <a:ext cx="274320" cy="274320"/>
          </a:xfrm>
          <a:prstGeom prst="ellipse">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743200" y="5884164"/>
            <a:ext cx="2743200" cy="411479"/>
          </a:xfrm>
          <a:prstGeom prst="rect">
            <a:avLst/>
          </a:prstGeom>
          <a:noFill/>
        </p:spPr>
        <p:txBody>
          <a:bodyPr wrap="square" lIns="0" rIns="0" tIns="0" bIns="0">
            <a:spAutoFit/>
          </a:bodyPr>
          <a:lstStyle/>
          <a:p>
            <a:pPr algn="ctr">
              <a:lnSpc>
                <a:spcPct val="115000"/>
              </a:lnSpc>
            </a:pPr>
            <a:r>
              <a:rPr sz="1500">
                <a:solidFill>
                  <a:srgbClr val="F2ECDD"/>
                </a:solidFill>
                <a:latin typeface="TT Commons Pro"/>
              </a:rPr>
              <a:t>energy</a:t>
            </a:r>
          </a:p>
        </p:txBody>
      </p:sp>
      <p:sp>
        <p:nvSpPr>
          <p:cNvPr id="29" name="Oval 28"/>
          <p:cNvSpPr/>
          <p:nvPr/>
        </p:nvSpPr>
        <p:spPr>
          <a:xfrm>
            <a:off x="14127480" y="5554980"/>
            <a:ext cx="274320" cy="274320"/>
          </a:xfrm>
          <a:prstGeom prst="ellipse">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893040" y="5884164"/>
            <a:ext cx="2743200" cy="411479"/>
          </a:xfrm>
          <a:prstGeom prst="rect">
            <a:avLst/>
          </a:prstGeom>
          <a:noFill/>
        </p:spPr>
        <p:txBody>
          <a:bodyPr wrap="square" lIns="0" rIns="0" tIns="0" bIns="0">
            <a:spAutoFit/>
          </a:bodyPr>
          <a:lstStyle/>
          <a:p>
            <a:pPr algn="ctr">
              <a:lnSpc>
                <a:spcPct val="115000"/>
              </a:lnSpc>
            </a:pPr>
            <a:r>
              <a:rPr sz="1500">
                <a:solidFill>
                  <a:srgbClr val="F2ECDD"/>
                </a:solidFill>
                <a:latin typeface="TT Commons Pro"/>
              </a:rPr>
              <a:t>transport</a:t>
            </a:r>
          </a:p>
        </p:txBody>
      </p:sp>
      <p:sp>
        <p:nvSpPr>
          <p:cNvPr id="31" name="Oval 30"/>
          <p:cNvSpPr/>
          <p:nvPr/>
        </p:nvSpPr>
        <p:spPr>
          <a:xfrm>
            <a:off x="5760720" y="4594860"/>
            <a:ext cx="274320" cy="274320"/>
          </a:xfrm>
          <a:prstGeom prst="ellipse">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26279" y="4924044"/>
            <a:ext cx="2743200" cy="411479"/>
          </a:xfrm>
          <a:prstGeom prst="rect">
            <a:avLst/>
          </a:prstGeom>
          <a:noFill/>
        </p:spPr>
        <p:txBody>
          <a:bodyPr wrap="square" lIns="0" rIns="0" tIns="0" bIns="0">
            <a:spAutoFit/>
          </a:bodyPr>
          <a:lstStyle/>
          <a:p>
            <a:pPr algn="ctr">
              <a:lnSpc>
                <a:spcPct val="115000"/>
              </a:lnSpc>
            </a:pPr>
            <a:r>
              <a:rPr sz="1500">
                <a:solidFill>
                  <a:srgbClr val="F2ECDD"/>
                </a:solidFill>
                <a:latin typeface="TT Commons Pro"/>
              </a:rPr>
              <a:t>habitat</a:t>
            </a:r>
          </a:p>
        </p:txBody>
      </p:sp>
      <p:sp>
        <p:nvSpPr>
          <p:cNvPr id="33" name="Oval 32"/>
          <p:cNvSpPr/>
          <p:nvPr/>
        </p:nvSpPr>
        <p:spPr>
          <a:xfrm>
            <a:off x="12344400" y="4594860"/>
            <a:ext cx="274320" cy="274320"/>
          </a:xfrm>
          <a:prstGeom prst="ellipse">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109959" y="4924044"/>
            <a:ext cx="2743200" cy="411479"/>
          </a:xfrm>
          <a:prstGeom prst="rect">
            <a:avLst/>
          </a:prstGeom>
          <a:noFill/>
        </p:spPr>
        <p:txBody>
          <a:bodyPr wrap="square" lIns="0" rIns="0" tIns="0" bIns="0">
            <a:spAutoFit/>
          </a:bodyPr>
          <a:lstStyle/>
          <a:p>
            <a:pPr algn="ctr">
              <a:lnSpc>
                <a:spcPct val="115000"/>
              </a:lnSpc>
            </a:pPr>
            <a:r>
              <a:rPr sz="1500">
                <a:solidFill>
                  <a:srgbClr val="F2ECDD"/>
                </a:solidFill>
                <a:latin typeface="TT Commons Pro"/>
              </a:rPr>
              <a:t>economy</a:t>
            </a:r>
          </a:p>
        </p:txBody>
      </p:sp>
      <p:sp>
        <p:nvSpPr>
          <p:cNvPr id="35" name="Oval 34"/>
          <p:cNvSpPr/>
          <p:nvPr/>
        </p:nvSpPr>
        <p:spPr>
          <a:xfrm>
            <a:off x="4800600" y="3771900"/>
            <a:ext cx="274320" cy="274320"/>
          </a:xfrm>
          <a:prstGeom prst="ellipse">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566160" y="4101084"/>
            <a:ext cx="2743200" cy="411479"/>
          </a:xfrm>
          <a:prstGeom prst="rect">
            <a:avLst/>
          </a:prstGeom>
          <a:noFill/>
        </p:spPr>
        <p:txBody>
          <a:bodyPr wrap="square" lIns="0" rIns="0" tIns="0" bIns="0">
            <a:spAutoFit/>
          </a:bodyPr>
          <a:lstStyle/>
          <a:p>
            <a:pPr algn="ctr">
              <a:lnSpc>
                <a:spcPct val="115000"/>
              </a:lnSpc>
            </a:pPr>
            <a:r>
              <a:rPr sz="1500">
                <a:solidFill>
                  <a:srgbClr val="F2ECDD"/>
                </a:solidFill>
                <a:latin typeface="TT Commons Pro"/>
              </a:rPr>
              <a:t>culture</a:t>
            </a:r>
          </a:p>
        </p:txBody>
      </p:sp>
      <p:sp>
        <p:nvSpPr>
          <p:cNvPr id="37" name="Oval 36"/>
          <p:cNvSpPr/>
          <p:nvPr/>
        </p:nvSpPr>
        <p:spPr>
          <a:xfrm>
            <a:off x="13304520" y="3771900"/>
            <a:ext cx="274320" cy="274320"/>
          </a:xfrm>
          <a:prstGeom prst="ellipse">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2070080" y="4101084"/>
            <a:ext cx="2743200" cy="411479"/>
          </a:xfrm>
          <a:prstGeom prst="rect">
            <a:avLst/>
          </a:prstGeom>
          <a:noFill/>
        </p:spPr>
        <p:txBody>
          <a:bodyPr wrap="square" lIns="0" rIns="0" tIns="0" bIns="0">
            <a:spAutoFit/>
          </a:bodyPr>
          <a:lstStyle/>
          <a:p>
            <a:pPr algn="ctr">
              <a:lnSpc>
                <a:spcPct val="115000"/>
              </a:lnSpc>
            </a:pPr>
            <a:r>
              <a:rPr sz="1500">
                <a:solidFill>
                  <a:srgbClr val="F2ECDD"/>
                </a:solidFill>
                <a:latin typeface="TT Commons Pro"/>
              </a:rPr>
              <a:t>care</a:t>
            </a:r>
          </a:p>
        </p:txBody>
      </p:sp>
      <p:sp>
        <p:nvSpPr>
          <p:cNvPr id="39" name="TextBox 38"/>
          <p:cNvSpPr txBox="1"/>
          <p:nvPr/>
        </p:nvSpPr>
        <p:spPr>
          <a:xfrm>
            <a:off x="822959" y="9052559"/>
            <a:ext cx="16596359" cy="1097280"/>
          </a:xfrm>
          <a:prstGeom prst="rect">
            <a:avLst/>
          </a:prstGeom>
          <a:noFill/>
        </p:spPr>
        <p:txBody>
          <a:bodyPr wrap="square" lIns="0" rIns="0" tIns="0" bIns="0">
            <a:spAutoFit/>
          </a:bodyPr>
          <a:lstStyle/>
          <a:p>
            <a:pPr algn="ctr">
              <a:lnSpc>
                <a:spcPct val="140000"/>
              </a:lnSpc>
            </a:pPr>
            <a:r>
              <a:rPr sz="1875">
                <a:solidFill>
                  <a:srgbClr val="F2ECDD"/>
                </a:solidFill>
                <a:latin typeface="TT Commons Pro"/>
              </a:rPr>
              <a:t>The question is not simply what kind of social media comes next — it is what kind of technology</a:t>
            </a:r>
          </a:p>
          <a:p>
            <a:pPr algn="ctr">
              <a:lnSpc>
                <a:spcPct val="140000"/>
              </a:lnSpc>
            </a:pPr>
            <a:r>
              <a:rPr sz="2100" spc="20">
                <a:solidFill>
                  <a:srgbClr val="9FE8DC"/>
                </a:solidFill>
                <a:latin typeface="Alike Italics"/>
              </a:rPr>
              <a:t>helps humans live more intelligently within the places and ecosystems that sustain us.</a:t>
            </a:r>
          </a:p>
        </p:txBody>
      </p:sp>
      <p:pic>
        <p:nvPicPr>
          <p:cNvPr id="40" name="Picture 39" descr="rivr-symbol-light.png"/>
          <p:cNvPicPr>
            <a:picLocks noChangeAspect="1"/>
          </p:cNvPicPr>
          <p:nvPr/>
        </p:nvPicPr>
        <p:blipFill>
          <a:blip r:embed="rId4"/>
          <a:stretch>
            <a:fillRect/>
          </a:stretch>
        </p:blipFill>
        <p:spPr>
          <a:xfrm>
            <a:off x="576072" y="9518904"/>
            <a:ext cx="521208" cy="521208"/>
          </a:xfrm>
          <a:prstGeom prst="rect">
            <a:avLst/>
          </a:prstGeom>
        </p:spPr>
      </p:pic>
      <p:sp>
        <p:nvSpPr>
          <p:cNvPr id="41" name="TextBox 40"/>
          <p:cNvSpPr txBox="1"/>
          <p:nvPr/>
        </p:nvSpPr>
        <p:spPr>
          <a:xfrm>
            <a:off x="1371600" y="9724644"/>
            <a:ext cx="5486400" cy="301752"/>
          </a:xfrm>
          <a:prstGeom prst="rect">
            <a:avLst/>
          </a:prstGeom>
          <a:noFill/>
        </p:spPr>
        <p:txBody>
          <a:bodyPr wrap="none" lIns="0" rIns="0" tIns="0" bIns="0">
            <a:spAutoFit/>
          </a:bodyPr>
          <a:lstStyle/>
          <a:p>
            <a:pPr algn="l">
              <a:lnSpc>
                <a:spcPct val="115000"/>
              </a:lnSpc>
            </a:pPr>
            <a:r>
              <a:rPr sz="1350" spc="150">
                <a:solidFill>
                  <a:srgbClr val="AFC4C2"/>
                </a:solidFill>
                <a:latin typeface="TT Commons Pro"/>
              </a:rPr>
              <a:t>Rivr · Seed Round 2026</a:t>
            </a:r>
          </a:p>
        </p:txBody>
      </p:sp>
      <p:sp>
        <p:nvSpPr>
          <p:cNvPr id="42" name="TextBox 41"/>
          <p:cNvSpPr txBox="1"/>
          <p:nvPr/>
        </p:nvSpPr>
        <p:spPr>
          <a:xfrm>
            <a:off x="16870680" y="9724644"/>
            <a:ext cx="960119" cy="301752"/>
          </a:xfrm>
          <a:prstGeom prst="rect">
            <a:avLst/>
          </a:prstGeom>
          <a:noFill/>
        </p:spPr>
        <p:txBody>
          <a:bodyPr wrap="none" lIns="0" rIns="0" tIns="0" bIns="0">
            <a:spAutoFit/>
          </a:bodyPr>
          <a:lstStyle/>
          <a:p>
            <a:pPr algn="r">
              <a:lnSpc>
                <a:spcPct val="115000"/>
              </a:lnSpc>
            </a:pPr>
            <a:r>
              <a:rPr sz="1350" spc="150">
                <a:solidFill>
                  <a:srgbClr val="AFC4C2"/>
                </a:solidFill>
                <a:latin typeface="TT Commons Pro"/>
              </a:rPr>
              <a:t>07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3333"/>
        </a:solidFill>
        <a:effectLst/>
      </p:bgPr>
    </p:bg>
    <p:spTree>
      <p:nvGrpSpPr>
        <p:cNvPr id="1" name=""/>
        <p:cNvGrpSpPr/>
        <p:nvPr/>
      </p:nvGrpSpPr>
      <p:grpSpPr/>
      <p:pic>
        <p:nvPicPr>
          <p:cNvPr id="2" name="Picture 1" descr="bg_c06.jpg"/>
          <p:cNvPicPr>
            <a:picLocks noChangeAspect="1"/>
          </p:cNvPicPr>
          <p:nvPr/>
        </p:nvPicPr>
        <p:blipFill>
          <a:blip r:embed="rId2"/>
          <a:stretch>
            <a:fillRect/>
          </a:stretch>
        </p:blipFill>
        <p:spPr>
          <a:xfrm>
            <a:off x="0" y="0"/>
            <a:ext cx="18287542" cy="10287000"/>
          </a:xfrm>
          <a:prstGeom prst="rect">
            <a:avLst/>
          </a:prstGeom>
        </p:spPr>
      </p:pic>
      <p:sp>
        <p:nvSpPr>
          <p:cNvPr id="3" name="TextBox 2"/>
          <p:cNvSpPr txBox="1"/>
          <p:nvPr/>
        </p:nvSpPr>
        <p:spPr>
          <a:xfrm>
            <a:off x="822959" y="822959"/>
            <a:ext cx="16733519" cy="384048"/>
          </a:xfrm>
          <a:prstGeom prst="rect">
            <a:avLst/>
          </a:prstGeom>
          <a:noFill/>
        </p:spPr>
        <p:txBody>
          <a:bodyPr wrap="none" lIns="0" rIns="0" tIns="0" bIns="0">
            <a:spAutoFit/>
          </a:bodyPr>
          <a:lstStyle/>
          <a:p>
            <a:pPr algn="l">
              <a:lnSpc>
                <a:spcPct val="115000"/>
              </a:lnSpc>
            </a:pPr>
            <a:r>
              <a:rPr sz="1650" spc="330">
                <a:solidFill>
                  <a:srgbClr val="9FE8DC"/>
                </a:solidFill>
                <a:latin typeface="Todes 1"/>
              </a:rPr>
              <a:t>THE SOLUTION</a:t>
            </a:r>
          </a:p>
        </p:txBody>
      </p:sp>
      <p:sp>
        <p:nvSpPr>
          <p:cNvPr id="4" name="TextBox 3"/>
          <p:cNvSpPr txBox="1"/>
          <p:nvPr/>
        </p:nvSpPr>
        <p:spPr>
          <a:xfrm>
            <a:off x="822959" y="1699869"/>
            <a:ext cx="15794593" cy="945241"/>
          </a:xfrm>
          <a:prstGeom prst="rect">
            <a:avLst/>
          </a:prstGeom>
          <a:noFill/>
        </p:spPr>
        <p:txBody>
          <a:bodyPr wrap="none" lIns="0" rIns="0" tIns="0" bIns="0">
            <a:spAutoFit/>
          </a:bodyPr>
          <a:lstStyle/>
          <a:p>
            <a:pPr algn="l">
              <a:lnSpc>
                <a:spcPct val="115000"/>
              </a:lnSpc>
            </a:pPr>
            <a:r>
              <a:rPr sz="5133" spc="-69">
                <a:solidFill>
                  <a:srgbClr val="F4EAD8"/>
                </a:solidFill>
                <a:latin typeface="Todes 1"/>
              </a:rPr>
              <a:t>Rivr makes the resources of a place </a:t>
            </a:r>
          </a:p>
        </p:txBody>
      </p:sp>
      <p:sp>
        <p:nvSpPr>
          <p:cNvPr id="5" name="TextBox 4"/>
          <p:cNvSpPr txBox="1"/>
          <p:nvPr/>
        </p:nvSpPr>
        <p:spPr>
          <a:xfrm>
            <a:off x="13294042" y="1645919"/>
            <a:ext cx="5533786" cy="1043025"/>
          </a:xfrm>
          <a:prstGeom prst="rect">
            <a:avLst/>
          </a:prstGeom>
          <a:noFill/>
        </p:spPr>
        <p:txBody>
          <a:bodyPr wrap="none" lIns="0" rIns="0" tIns="0" bIns="0">
            <a:spAutoFit/>
          </a:bodyPr>
          <a:lstStyle/>
          <a:p>
            <a:pPr algn="l">
              <a:lnSpc>
                <a:spcPct val="115000"/>
              </a:lnSpc>
            </a:pPr>
            <a:r>
              <a:rPr sz="5664" spc="-75">
                <a:solidFill>
                  <a:srgbClr val="EBCF9E"/>
                </a:solidFill>
                <a:latin typeface="Ibarra Real Nova Italics"/>
              </a:rPr>
              <a:t>visible to itself.</a:t>
            </a:r>
          </a:p>
        </p:txBody>
      </p:sp>
      <p:sp>
        <p:nvSpPr>
          <p:cNvPr id="6" name="TextBox 5"/>
          <p:cNvSpPr txBox="1"/>
          <p:nvPr/>
        </p:nvSpPr>
        <p:spPr>
          <a:xfrm>
            <a:off x="822959" y="3429000"/>
            <a:ext cx="15773400" cy="411479"/>
          </a:xfrm>
          <a:prstGeom prst="rect">
            <a:avLst/>
          </a:prstGeom>
          <a:noFill/>
        </p:spPr>
        <p:txBody>
          <a:bodyPr wrap="none" lIns="0" rIns="0" tIns="0" bIns="0">
            <a:spAutoFit/>
          </a:bodyPr>
          <a:lstStyle/>
          <a:p>
            <a:pPr algn="l">
              <a:lnSpc>
                <a:spcPct val="115000"/>
              </a:lnSpc>
            </a:pPr>
            <a:r>
              <a:rPr sz="1800" spc="180">
                <a:solidFill>
                  <a:srgbClr val="9FE8DC"/>
                </a:solidFill>
                <a:latin typeface="Todes 1"/>
              </a:rPr>
              <a:t>A PLACE-BASED SOCIAL AND ECONOMIC NETWORK</a:t>
            </a:r>
          </a:p>
        </p:txBody>
      </p:sp>
      <p:sp>
        <p:nvSpPr>
          <p:cNvPr id="7" name="Rounded Rectangle 6"/>
          <p:cNvSpPr/>
          <p:nvPr/>
        </p:nvSpPr>
        <p:spPr>
          <a:xfrm>
            <a:off x="822959" y="4046220"/>
            <a:ext cx="5349240" cy="1371600"/>
          </a:xfrm>
          <a:prstGeom prst="roundRect">
            <a:avLst>
              <a:gd name="adj" fmla="val 6000"/>
            </a:avLst>
          </a:prstGeom>
          <a:solidFill>
            <a:srgbClr val="0D3E40"/>
          </a:solidFill>
          <a:ln w="17145">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map.png"/>
          <p:cNvPicPr>
            <a:picLocks noChangeAspect="1"/>
          </p:cNvPicPr>
          <p:nvPr/>
        </p:nvPicPr>
        <p:blipFill>
          <a:blip r:embed="rId4"/>
          <a:stretch>
            <a:fillRect/>
          </a:stretch>
        </p:blipFill>
        <p:spPr>
          <a:xfrm>
            <a:off x="1193292" y="4485132"/>
            <a:ext cx="493776" cy="493776"/>
          </a:xfrm>
          <a:prstGeom prst="rect">
            <a:avLst/>
          </a:prstGeom>
        </p:spPr>
      </p:pic>
      <p:sp>
        <p:nvSpPr>
          <p:cNvPr id="9" name="TextBox 8"/>
          <p:cNvSpPr txBox="1"/>
          <p:nvPr/>
        </p:nvSpPr>
        <p:spPr>
          <a:xfrm>
            <a:off x="1988819" y="4512564"/>
            <a:ext cx="3977639" cy="480059"/>
          </a:xfrm>
          <a:prstGeom prst="rect">
            <a:avLst/>
          </a:prstGeom>
          <a:noFill/>
        </p:spPr>
        <p:txBody>
          <a:bodyPr wrap="square" lIns="0" rIns="0" tIns="0" bIns="0">
            <a:spAutoFit/>
          </a:bodyPr>
          <a:lstStyle/>
          <a:p>
            <a:pPr algn="l">
              <a:lnSpc>
                <a:spcPct val="115000"/>
              </a:lnSpc>
            </a:pPr>
            <a:r>
              <a:rPr sz="1800">
                <a:solidFill>
                  <a:srgbClr val="F2ECDD"/>
                </a:solidFill>
                <a:latin typeface="TT Commons Pro"/>
              </a:rPr>
              <a:t>find what's nearby</a:t>
            </a:r>
          </a:p>
        </p:txBody>
      </p:sp>
      <p:sp>
        <p:nvSpPr>
          <p:cNvPr id="10" name="Rounded Rectangle 9"/>
          <p:cNvSpPr/>
          <p:nvPr/>
        </p:nvSpPr>
        <p:spPr>
          <a:xfrm>
            <a:off x="6446519" y="4046220"/>
            <a:ext cx="5349240" cy="1371600"/>
          </a:xfrm>
          <a:prstGeom prst="roundRect">
            <a:avLst>
              <a:gd name="adj" fmla="val 6000"/>
            </a:avLst>
          </a:prstGeom>
          <a:solidFill>
            <a:srgbClr val="062A2C"/>
          </a:solidFill>
          <a:ln w="17145">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vent.png"/>
          <p:cNvPicPr>
            <a:picLocks noChangeAspect="1"/>
          </p:cNvPicPr>
          <p:nvPr/>
        </p:nvPicPr>
        <p:blipFill>
          <a:blip r:embed="rId5"/>
          <a:stretch>
            <a:fillRect/>
          </a:stretch>
        </p:blipFill>
        <p:spPr>
          <a:xfrm>
            <a:off x="6816852" y="4485132"/>
            <a:ext cx="493776" cy="493776"/>
          </a:xfrm>
          <a:prstGeom prst="rect">
            <a:avLst/>
          </a:prstGeom>
        </p:spPr>
      </p:pic>
      <p:sp>
        <p:nvSpPr>
          <p:cNvPr id="12" name="TextBox 11"/>
          <p:cNvSpPr txBox="1"/>
          <p:nvPr/>
        </p:nvSpPr>
        <p:spPr>
          <a:xfrm>
            <a:off x="7612379" y="4512564"/>
            <a:ext cx="3977639" cy="480059"/>
          </a:xfrm>
          <a:prstGeom prst="rect">
            <a:avLst/>
          </a:prstGeom>
          <a:noFill/>
        </p:spPr>
        <p:txBody>
          <a:bodyPr wrap="square" lIns="0" rIns="0" tIns="0" bIns="0">
            <a:spAutoFit/>
          </a:bodyPr>
          <a:lstStyle/>
          <a:p>
            <a:pPr algn="l">
              <a:lnSpc>
                <a:spcPct val="115000"/>
              </a:lnSpc>
            </a:pPr>
            <a:r>
              <a:rPr sz="1800">
                <a:solidFill>
                  <a:srgbClr val="F2ECDD"/>
                </a:solidFill>
                <a:latin typeface="TT Commons Pro"/>
              </a:rPr>
              <a:t>discover + create events</a:t>
            </a:r>
          </a:p>
        </p:txBody>
      </p:sp>
      <p:sp>
        <p:nvSpPr>
          <p:cNvPr id="13" name="Rounded Rectangle 12"/>
          <p:cNvSpPr/>
          <p:nvPr/>
        </p:nvSpPr>
        <p:spPr>
          <a:xfrm>
            <a:off x="12070080" y="4046220"/>
            <a:ext cx="5349240" cy="1371600"/>
          </a:xfrm>
          <a:prstGeom prst="roundRect">
            <a:avLst>
              <a:gd name="adj" fmla="val 6000"/>
            </a:avLst>
          </a:prstGeom>
          <a:solidFill>
            <a:srgbClr val="0D3E40"/>
          </a:solidFill>
          <a:ln w="17145">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ffer.png"/>
          <p:cNvPicPr>
            <a:picLocks noChangeAspect="1"/>
          </p:cNvPicPr>
          <p:nvPr/>
        </p:nvPicPr>
        <p:blipFill>
          <a:blip r:embed="rId6"/>
          <a:stretch>
            <a:fillRect/>
          </a:stretch>
        </p:blipFill>
        <p:spPr>
          <a:xfrm>
            <a:off x="12440411" y="4485132"/>
            <a:ext cx="493776" cy="493776"/>
          </a:xfrm>
          <a:prstGeom prst="rect">
            <a:avLst/>
          </a:prstGeom>
        </p:spPr>
      </p:pic>
      <p:sp>
        <p:nvSpPr>
          <p:cNvPr id="15" name="TextBox 14"/>
          <p:cNvSpPr txBox="1"/>
          <p:nvPr/>
        </p:nvSpPr>
        <p:spPr>
          <a:xfrm>
            <a:off x="13235939" y="4512564"/>
            <a:ext cx="3977639" cy="480059"/>
          </a:xfrm>
          <a:prstGeom prst="rect">
            <a:avLst/>
          </a:prstGeom>
          <a:noFill/>
        </p:spPr>
        <p:txBody>
          <a:bodyPr wrap="square" lIns="0" rIns="0" tIns="0" bIns="0">
            <a:spAutoFit/>
          </a:bodyPr>
          <a:lstStyle/>
          <a:p>
            <a:pPr algn="l">
              <a:lnSpc>
                <a:spcPct val="115000"/>
              </a:lnSpc>
            </a:pPr>
            <a:r>
              <a:rPr sz="1800">
                <a:solidFill>
                  <a:srgbClr val="F2ECDD"/>
                </a:solidFill>
                <a:latin typeface="TT Commons Pro"/>
              </a:rPr>
              <a:t>offer + ask</a:t>
            </a:r>
          </a:p>
        </p:txBody>
      </p:sp>
      <p:sp>
        <p:nvSpPr>
          <p:cNvPr id="16" name="Rounded Rectangle 15"/>
          <p:cNvSpPr/>
          <p:nvPr/>
        </p:nvSpPr>
        <p:spPr>
          <a:xfrm>
            <a:off x="822959" y="5664708"/>
            <a:ext cx="5349240" cy="1371600"/>
          </a:xfrm>
          <a:prstGeom prst="roundRect">
            <a:avLst>
              <a:gd name="adj" fmla="val 6000"/>
            </a:avLst>
          </a:prstGeom>
          <a:solidFill>
            <a:srgbClr val="062A2C"/>
          </a:solidFill>
          <a:ln w="17145">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ork.png"/>
          <p:cNvPicPr>
            <a:picLocks noChangeAspect="1"/>
          </p:cNvPicPr>
          <p:nvPr/>
        </p:nvPicPr>
        <p:blipFill>
          <a:blip r:embed="rId7"/>
          <a:stretch>
            <a:fillRect/>
          </a:stretch>
        </p:blipFill>
        <p:spPr>
          <a:xfrm>
            <a:off x="1193292" y="6103620"/>
            <a:ext cx="493776" cy="493776"/>
          </a:xfrm>
          <a:prstGeom prst="rect">
            <a:avLst/>
          </a:prstGeom>
        </p:spPr>
      </p:pic>
      <p:sp>
        <p:nvSpPr>
          <p:cNvPr id="18" name="TextBox 17"/>
          <p:cNvSpPr txBox="1"/>
          <p:nvPr/>
        </p:nvSpPr>
        <p:spPr>
          <a:xfrm>
            <a:off x="1988819" y="6131052"/>
            <a:ext cx="3977639" cy="480059"/>
          </a:xfrm>
          <a:prstGeom prst="rect">
            <a:avLst/>
          </a:prstGeom>
          <a:noFill/>
        </p:spPr>
        <p:txBody>
          <a:bodyPr wrap="square" lIns="0" rIns="0" tIns="0" bIns="0">
            <a:spAutoFit/>
          </a:bodyPr>
          <a:lstStyle/>
          <a:p>
            <a:pPr algn="l">
              <a:lnSpc>
                <a:spcPct val="115000"/>
              </a:lnSpc>
            </a:pPr>
            <a:r>
              <a:rPr sz="1800">
                <a:solidFill>
                  <a:srgbClr val="F2ECDD"/>
                </a:solidFill>
                <a:latin typeface="TT Commons Pro"/>
              </a:rPr>
              <a:t>find work · hire well</a:t>
            </a:r>
          </a:p>
        </p:txBody>
      </p:sp>
      <p:sp>
        <p:nvSpPr>
          <p:cNvPr id="19" name="Rounded Rectangle 18"/>
          <p:cNvSpPr/>
          <p:nvPr/>
        </p:nvSpPr>
        <p:spPr>
          <a:xfrm>
            <a:off x="6446519" y="5664708"/>
            <a:ext cx="5349240" cy="1371600"/>
          </a:xfrm>
          <a:prstGeom prst="roundRect">
            <a:avLst>
              <a:gd name="adj" fmla="val 6000"/>
            </a:avLst>
          </a:prstGeom>
          <a:solidFill>
            <a:srgbClr val="0D3E40"/>
          </a:solidFill>
          <a:ln w="17145">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group.png"/>
          <p:cNvPicPr>
            <a:picLocks noChangeAspect="1"/>
          </p:cNvPicPr>
          <p:nvPr/>
        </p:nvPicPr>
        <p:blipFill>
          <a:blip r:embed="rId8"/>
          <a:stretch>
            <a:fillRect/>
          </a:stretch>
        </p:blipFill>
        <p:spPr>
          <a:xfrm>
            <a:off x="6816852" y="6103620"/>
            <a:ext cx="493776" cy="493776"/>
          </a:xfrm>
          <a:prstGeom prst="rect">
            <a:avLst/>
          </a:prstGeom>
        </p:spPr>
      </p:pic>
      <p:sp>
        <p:nvSpPr>
          <p:cNvPr id="21" name="TextBox 20"/>
          <p:cNvSpPr txBox="1"/>
          <p:nvPr/>
        </p:nvSpPr>
        <p:spPr>
          <a:xfrm>
            <a:off x="7612379" y="6131052"/>
            <a:ext cx="3977639" cy="480059"/>
          </a:xfrm>
          <a:prstGeom prst="rect">
            <a:avLst/>
          </a:prstGeom>
          <a:noFill/>
        </p:spPr>
        <p:txBody>
          <a:bodyPr wrap="square" lIns="0" rIns="0" tIns="0" bIns="0">
            <a:spAutoFit/>
          </a:bodyPr>
          <a:lstStyle/>
          <a:p>
            <a:pPr algn="l">
              <a:lnSpc>
                <a:spcPct val="115000"/>
              </a:lnSpc>
            </a:pPr>
            <a:r>
              <a:rPr sz="1800">
                <a:solidFill>
                  <a:srgbClr val="F2ECDD"/>
                </a:solidFill>
                <a:latin typeface="TT Commons Pro"/>
              </a:rPr>
              <a:t>create groups</a:t>
            </a:r>
          </a:p>
        </p:txBody>
      </p:sp>
      <p:sp>
        <p:nvSpPr>
          <p:cNvPr id="22" name="Rounded Rectangle 21"/>
          <p:cNvSpPr/>
          <p:nvPr/>
        </p:nvSpPr>
        <p:spPr>
          <a:xfrm>
            <a:off x="12070080" y="5664708"/>
            <a:ext cx="5349240" cy="1371600"/>
          </a:xfrm>
          <a:prstGeom prst="roundRect">
            <a:avLst>
              <a:gd name="adj" fmla="val 6000"/>
            </a:avLst>
          </a:prstGeom>
          <a:solidFill>
            <a:srgbClr val="062A2C"/>
          </a:solidFill>
          <a:ln w="17145">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project.png"/>
          <p:cNvPicPr>
            <a:picLocks noChangeAspect="1"/>
          </p:cNvPicPr>
          <p:nvPr/>
        </p:nvPicPr>
        <p:blipFill>
          <a:blip r:embed="rId9"/>
          <a:stretch>
            <a:fillRect/>
          </a:stretch>
        </p:blipFill>
        <p:spPr>
          <a:xfrm>
            <a:off x="12440411" y="6103620"/>
            <a:ext cx="493776" cy="493776"/>
          </a:xfrm>
          <a:prstGeom prst="rect">
            <a:avLst/>
          </a:prstGeom>
        </p:spPr>
      </p:pic>
      <p:sp>
        <p:nvSpPr>
          <p:cNvPr id="24" name="TextBox 23"/>
          <p:cNvSpPr txBox="1"/>
          <p:nvPr/>
        </p:nvSpPr>
        <p:spPr>
          <a:xfrm>
            <a:off x="13235939" y="6131052"/>
            <a:ext cx="3977639" cy="480059"/>
          </a:xfrm>
          <a:prstGeom prst="rect">
            <a:avLst/>
          </a:prstGeom>
          <a:noFill/>
        </p:spPr>
        <p:txBody>
          <a:bodyPr wrap="square" lIns="0" rIns="0" tIns="0" bIns="0">
            <a:spAutoFit/>
          </a:bodyPr>
          <a:lstStyle/>
          <a:p>
            <a:pPr algn="l">
              <a:lnSpc>
                <a:spcPct val="115000"/>
              </a:lnSpc>
            </a:pPr>
            <a:r>
              <a:rPr sz="1800">
                <a:solidFill>
                  <a:srgbClr val="F2ECDD"/>
                </a:solidFill>
                <a:latin typeface="TT Commons Pro"/>
              </a:rPr>
              <a:t>build projects together</a:t>
            </a:r>
          </a:p>
        </p:txBody>
      </p:sp>
      <p:sp>
        <p:nvSpPr>
          <p:cNvPr id="25" name="Rounded Rectangle 24"/>
          <p:cNvSpPr/>
          <p:nvPr/>
        </p:nvSpPr>
        <p:spPr>
          <a:xfrm>
            <a:off x="822959" y="7283196"/>
            <a:ext cx="5349240" cy="1371600"/>
          </a:xfrm>
          <a:prstGeom prst="roundRect">
            <a:avLst>
              <a:gd name="adj" fmla="val 6000"/>
            </a:avLst>
          </a:prstGeom>
          <a:solidFill>
            <a:srgbClr val="0D3E40"/>
          </a:solidFill>
          <a:ln w="17145">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task.png"/>
          <p:cNvPicPr>
            <a:picLocks noChangeAspect="1"/>
          </p:cNvPicPr>
          <p:nvPr/>
        </p:nvPicPr>
        <p:blipFill>
          <a:blip r:embed="rId10"/>
          <a:stretch>
            <a:fillRect/>
          </a:stretch>
        </p:blipFill>
        <p:spPr>
          <a:xfrm>
            <a:off x="1193292" y="7722108"/>
            <a:ext cx="493776" cy="493776"/>
          </a:xfrm>
          <a:prstGeom prst="rect">
            <a:avLst/>
          </a:prstGeom>
        </p:spPr>
      </p:pic>
      <p:sp>
        <p:nvSpPr>
          <p:cNvPr id="27" name="TextBox 26"/>
          <p:cNvSpPr txBox="1"/>
          <p:nvPr/>
        </p:nvSpPr>
        <p:spPr>
          <a:xfrm>
            <a:off x="1988819" y="7749540"/>
            <a:ext cx="3977639" cy="480059"/>
          </a:xfrm>
          <a:prstGeom prst="rect">
            <a:avLst/>
          </a:prstGeom>
          <a:noFill/>
        </p:spPr>
        <p:txBody>
          <a:bodyPr wrap="square" lIns="0" rIns="0" tIns="0" bIns="0">
            <a:spAutoFit/>
          </a:bodyPr>
          <a:lstStyle/>
          <a:p>
            <a:pPr algn="l">
              <a:lnSpc>
                <a:spcPct val="115000"/>
              </a:lnSpc>
            </a:pPr>
            <a:r>
              <a:rPr sz="1800">
                <a:solidFill>
                  <a:srgbClr val="F2ECDD"/>
                </a:solidFill>
                <a:latin typeface="TT Commons Pro"/>
              </a:rPr>
              <a:t>create roles + tasks</a:t>
            </a:r>
          </a:p>
        </p:txBody>
      </p:sp>
      <p:sp>
        <p:nvSpPr>
          <p:cNvPr id="28" name="Rounded Rectangle 27"/>
          <p:cNvSpPr/>
          <p:nvPr/>
        </p:nvSpPr>
        <p:spPr>
          <a:xfrm>
            <a:off x="6446519" y="7283196"/>
            <a:ext cx="5349240" cy="1371600"/>
          </a:xfrm>
          <a:prstGeom prst="roundRect">
            <a:avLst>
              <a:gd name="adj" fmla="val 6000"/>
            </a:avLst>
          </a:prstGeom>
          <a:solidFill>
            <a:srgbClr val="062A2C"/>
          </a:solidFill>
          <a:ln w="17145">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money.png"/>
          <p:cNvPicPr>
            <a:picLocks noChangeAspect="1"/>
          </p:cNvPicPr>
          <p:nvPr/>
        </p:nvPicPr>
        <p:blipFill>
          <a:blip r:embed="rId11"/>
          <a:stretch>
            <a:fillRect/>
          </a:stretch>
        </p:blipFill>
        <p:spPr>
          <a:xfrm>
            <a:off x="6816852" y="7722108"/>
            <a:ext cx="493776" cy="493776"/>
          </a:xfrm>
          <a:prstGeom prst="rect">
            <a:avLst/>
          </a:prstGeom>
        </p:spPr>
      </p:pic>
      <p:sp>
        <p:nvSpPr>
          <p:cNvPr id="30" name="TextBox 29"/>
          <p:cNvSpPr txBox="1"/>
          <p:nvPr/>
        </p:nvSpPr>
        <p:spPr>
          <a:xfrm>
            <a:off x="7612379" y="7749540"/>
            <a:ext cx="3977639" cy="480059"/>
          </a:xfrm>
          <a:prstGeom prst="rect">
            <a:avLst/>
          </a:prstGeom>
          <a:noFill/>
        </p:spPr>
        <p:txBody>
          <a:bodyPr wrap="square" lIns="0" rIns="0" tIns="0" bIns="0">
            <a:spAutoFit/>
          </a:bodyPr>
          <a:lstStyle/>
          <a:p>
            <a:pPr algn="l">
              <a:lnSpc>
                <a:spcPct val="115000"/>
              </a:lnSpc>
            </a:pPr>
            <a:r>
              <a:rPr sz="1800">
                <a:solidFill>
                  <a:srgbClr val="F2ECDD"/>
                </a:solidFill>
                <a:latin typeface="TT Commons Pro"/>
              </a:rPr>
              <a:t>exchange value</a:t>
            </a:r>
          </a:p>
        </p:txBody>
      </p:sp>
      <p:sp>
        <p:nvSpPr>
          <p:cNvPr id="31" name="Rounded Rectangle 30"/>
          <p:cNvSpPr/>
          <p:nvPr/>
        </p:nvSpPr>
        <p:spPr>
          <a:xfrm>
            <a:off x="12070080" y="7283196"/>
            <a:ext cx="5349240" cy="1371600"/>
          </a:xfrm>
          <a:prstGeom prst="roundRect">
            <a:avLst>
              <a:gd name="adj" fmla="val 6000"/>
            </a:avLst>
          </a:prstGeom>
          <a:solidFill>
            <a:srgbClr val="0D3E40"/>
          </a:solidFill>
          <a:ln w="17145">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coord.png"/>
          <p:cNvPicPr>
            <a:picLocks noChangeAspect="1"/>
          </p:cNvPicPr>
          <p:nvPr/>
        </p:nvPicPr>
        <p:blipFill>
          <a:blip r:embed="rId12"/>
          <a:stretch>
            <a:fillRect/>
          </a:stretch>
        </p:blipFill>
        <p:spPr>
          <a:xfrm>
            <a:off x="12440411" y="7722108"/>
            <a:ext cx="493776" cy="493776"/>
          </a:xfrm>
          <a:prstGeom prst="rect">
            <a:avLst/>
          </a:prstGeom>
        </p:spPr>
      </p:pic>
      <p:sp>
        <p:nvSpPr>
          <p:cNvPr id="33" name="TextBox 32"/>
          <p:cNvSpPr txBox="1"/>
          <p:nvPr/>
        </p:nvSpPr>
        <p:spPr>
          <a:xfrm>
            <a:off x="13235939" y="7749540"/>
            <a:ext cx="3977639" cy="480059"/>
          </a:xfrm>
          <a:prstGeom prst="rect">
            <a:avLst/>
          </a:prstGeom>
          <a:noFill/>
        </p:spPr>
        <p:txBody>
          <a:bodyPr wrap="square" lIns="0" rIns="0" tIns="0" bIns="0">
            <a:spAutoFit/>
          </a:bodyPr>
          <a:lstStyle/>
          <a:p>
            <a:pPr algn="l">
              <a:lnSpc>
                <a:spcPct val="115000"/>
              </a:lnSpc>
            </a:pPr>
            <a:r>
              <a:rPr sz="1800">
                <a:solidFill>
                  <a:srgbClr val="F2ECDD"/>
                </a:solidFill>
                <a:latin typeface="TT Commons Pro"/>
              </a:rPr>
              <a:t>coordinate action</a:t>
            </a:r>
          </a:p>
        </p:txBody>
      </p:sp>
      <p:sp>
        <p:nvSpPr>
          <p:cNvPr id="34" name="TextBox 33"/>
          <p:cNvSpPr txBox="1"/>
          <p:nvPr/>
        </p:nvSpPr>
        <p:spPr>
          <a:xfrm>
            <a:off x="822959" y="9052559"/>
            <a:ext cx="16596359" cy="1097280"/>
          </a:xfrm>
          <a:prstGeom prst="rect">
            <a:avLst/>
          </a:prstGeom>
          <a:noFill/>
        </p:spPr>
        <p:txBody>
          <a:bodyPr wrap="square" lIns="0" rIns="0" tIns="0" bIns="0">
            <a:spAutoFit/>
          </a:bodyPr>
          <a:lstStyle/>
          <a:p>
            <a:pPr algn="ctr">
              <a:lnSpc>
                <a:spcPct val="140000"/>
              </a:lnSpc>
            </a:pPr>
            <a:r>
              <a:rPr sz="1950">
                <a:solidFill>
                  <a:srgbClr val="F2ECDD"/>
                </a:solidFill>
                <a:latin typeface="TT Commons Pro"/>
              </a:rPr>
              <a:t>Less searching through disconnected platforms. </a:t>
            </a:r>
            <a:r>
              <a:rPr sz="1950">
                <a:solidFill>
                  <a:srgbClr val="9FE8DC"/>
                </a:solidFill>
                <a:latin typeface="TT Commons Pro Bold"/>
              </a:rPr>
              <a:t>More actually doing things together.</a:t>
            </a:r>
          </a:p>
        </p:txBody>
      </p:sp>
      <p:pic>
        <p:nvPicPr>
          <p:cNvPr id="35" name="Picture 34" descr="rivr-symbol-light.png"/>
          <p:cNvPicPr>
            <a:picLocks noChangeAspect="1"/>
          </p:cNvPicPr>
          <p:nvPr/>
        </p:nvPicPr>
        <p:blipFill>
          <a:blip r:embed="rId13"/>
          <a:stretch>
            <a:fillRect/>
          </a:stretch>
        </p:blipFill>
        <p:spPr>
          <a:xfrm>
            <a:off x="576072" y="9518904"/>
            <a:ext cx="521208" cy="521208"/>
          </a:xfrm>
          <a:prstGeom prst="rect">
            <a:avLst/>
          </a:prstGeom>
        </p:spPr>
      </p:pic>
      <p:sp>
        <p:nvSpPr>
          <p:cNvPr id="36" name="TextBox 35"/>
          <p:cNvSpPr txBox="1"/>
          <p:nvPr/>
        </p:nvSpPr>
        <p:spPr>
          <a:xfrm>
            <a:off x="1371600" y="9724644"/>
            <a:ext cx="5486400" cy="301752"/>
          </a:xfrm>
          <a:prstGeom prst="rect">
            <a:avLst/>
          </a:prstGeom>
          <a:noFill/>
        </p:spPr>
        <p:txBody>
          <a:bodyPr wrap="none" lIns="0" rIns="0" tIns="0" bIns="0">
            <a:spAutoFit/>
          </a:bodyPr>
          <a:lstStyle/>
          <a:p>
            <a:pPr algn="l">
              <a:lnSpc>
                <a:spcPct val="115000"/>
              </a:lnSpc>
            </a:pPr>
            <a:r>
              <a:rPr sz="1350" spc="150">
                <a:solidFill>
                  <a:srgbClr val="AFC4C2"/>
                </a:solidFill>
                <a:latin typeface="TT Commons Pro"/>
              </a:rPr>
              <a:t>Rivr · Seed Round 2026</a:t>
            </a:r>
          </a:p>
        </p:txBody>
      </p:sp>
      <p:sp>
        <p:nvSpPr>
          <p:cNvPr id="37" name="TextBox 36"/>
          <p:cNvSpPr txBox="1"/>
          <p:nvPr/>
        </p:nvSpPr>
        <p:spPr>
          <a:xfrm>
            <a:off x="16870680" y="9724644"/>
            <a:ext cx="960119" cy="301752"/>
          </a:xfrm>
          <a:prstGeom prst="rect">
            <a:avLst/>
          </a:prstGeom>
          <a:noFill/>
        </p:spPr>
        <p:txBody>
          <a:bodyPr wrap="none" lIns="0" rIns="0" tIns="0" bIns="0">
            <a:spAutoFit/>
          </a:bodyPr>
          <a:lstStyle/>
          <a:p>
            <a:pPr algn="r">
              <a:lnSpc>
                <a:spcPct val="115000"/>
              </a:lnSpc>
            </a:pPr>
            <a:r>
              <a:rPr sz="1350" spc="150">
                <a:solidFill>
                  <a:srgbClr val="AFC4C2"/>
                </a:solidFill>
                <a:latin typeface="TT Commons Pro"/>
              </a:rPr>
              <a:t>08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3333"/>
        </a:solidFill>
        <a:effectLst/>
      </p:bgPr>
    </p:bg>
    <p:spTree>
      <p:nvGrpSpPr>
        <p:cNvPr id="1" name=""/>
        <p:cNvGrpSpPr/>
        <p:nvPr/>
      </p:nvGrpSpPr>
      <p:grpSpPr/>
      <p:pic>
        <p:nvPicPr>
          <p:cNvPr id="2" name="Picture 1" descr="bg_c07.jpg"/>
          <p:cNvPicPr>
            <a:picLocks noChangeAspect="1"/>
          </p:cNvPicPr>
          <p:nvPr/>
        </p:nvPicPr>
        <p:blipFill>
          <a:blip r:embed="rId2"/>
          <a:stretch>
            <a:fillRect/>
          </a:stretch>
        </p:blipFill>
        <p:spPr>
          <a:xfrm>
            <a:off x="0" y="0"/>
            <a:ext cx="18287542" cy="10287000"/>
          </a:xfrm>
          <a:prstGeom prst="rect">
            <a:avLst/>
          </a:prstGeom>
        </p:spPr>
      </p:pic>
      <p:sp>
        <p:nvSpPr>
          <p:cNvPr id="3" name="TextBox 2"/>
          <p:cNvSpPr txBox="1"/>
          <p:nvPr/>
        </p:nvSpPr>
        <p:spPr>
          <a:xfrm>
            <a:off x="822959" y="822959"/>
            <a:ext cx="16733519" cy="384048"/>
          </a:xfrm>
          <a:prstGeom prst="rect">
            <a:avLst/>
          </a:prstGeom>
          <a:noFill/>
        </p:spPr>
        <p:txBody>
          <a:bodyPr wrap="none" lIns="0" rIns="0" tIns="0" bIns="0">
            <a:spAutoFit/>
          </a:bodyPr>
          <a:lstStyle/>
          <a:p>
            <a:pPr algn="l">
              <a:lnSpc>
                <a:spcPct val="115000"/>
              </a:lnSpc>
            </a:pPr>
            <a:r>
              <a:rPr sz="1650" spc="330">
                <a:solidFill>
                  <a:srgbClr val="9FE8DC"/>
                </a:solidFill>
                <a:latin typeface="Todes 1"/>
              </a:rPr>
              <a:t>FAMILIAR ON THE SURFACE</a:t>
            </a:r>
          </a:p>
        </p:txBody>
      </p:sp>
      <p:sp>
        <p:nvSpPr>
          <p:cNvPr id="4" name="TextBox 3"/>
          <p:cNvSpPr txBox="1"/>
          <p:nvPr/>
        </p:nvSpPr>
        <p:spPr>
          <a:xfrm>
            <a:off x="822959" y="1699869"/>
            <a:ext cx="12304474" cy="1043025"/>
          </a:xfrm>
          <a:prstGeom prst="rect">
            <a:avLst/>
          </a:prstGeom>
          <a:noFill/>
        </p:spPr>
        <p:txBody>
          <a:bodyPr wrap="none" lIns="0" rIns="0" tIns="0" bIns="0">
            <a:spAutoFit/>
          </a:bodyPr>
          <a:lstStyle/>
          <a:p>
            <a:pPr algn="l">
              <a:lnSpc>
                <a:spcPct val="115000"/>
              </a:lnSpc>
            </a:pPr>
            <a:r>
              <a:rPr sz="5664" spc="-76">
                <a:solidFill>
                  <a:srgbClr val="F4EAD8"/>
                </a:solidFill>
                <a:latin typeface="Todes 1"/>
              </a:rPr>
              <a:t>The social network is the </a:t>
            </a:r>
          </a:p>
        </p:txBody>
      </p:sp>
      <p:sp>
        <p:nvSpPr>
          <p:cNvPr id="5" name="TextBox 4"/>
          <p:cNvSpPr txBox="1"/>
          <p:nvPr/>
        </p:nvSpPr>
        <p:spPr>
          <a:xfrm>
            <a:off x="10501947" y="1645919"/>
            <a:ext cx="7480458" cy="1140809"/>
          </a:xfrm>
          <a:prstGeom prst="rect">
            <a:avLst/>
          </a:prstGeom>
          <a:noFill/>
        </p:spPr>
        <p:txBody>
          <a:bodyPr wrap="none" lIns="0" rIns="0" tIns="0" bIns="0">
            <a:spAutoFit/>
          </a:bodyPr>
          <a:lstStyle/>
          <a:p>
            <a:pPr algn="l">
              <a:lnSpc>
                <a:spcPct val="115000"/>
              </a:lnSpc>
            </a:pPr>
            <a:r>
              <a:rPr sz="6195" spc="-75">
                <a:solidFill>
                  <a:srgbClr val="99E6D9"/>
                </a:solidFill>
                <a:latin typeface="Ibarra Real Nova Italics"/>
              </a:rPr>
              <a:t>familiar doorway.</a:t>
            </a:r>
          </a:p>
        </p:txBody>
      </p:sp>
      <p:sp>
        <p:nvSpPr>
          <p:cNvPr id="6" name="TextBox 5"/>
          <p:cNvSpPr txBox="1"/>
          <p:nvPr/>
        </p:nvSpPr>
        <p:spPr>
          <a:xfrm>
            <a:off x="822959" y="3497579"/>
            <a:ext cx="15773400" cy="411479"/>
          </a:xfrm>
          <a:prstGeom prst="rect">
            <a:avLst/>
          </a:prstGeom>
          <a:noFill/>
        </p:spPr>
        <p:txBody>
          <a:bodyPr wrap="none" lIns="0" rIns="0" tIns="0" bIns="0">
            <a:spAutoFit/>
          </a:bodyPr>
          <a:lstStyle/>
          <a:p>
            <a:pPr algn="l">
              <a:lnSpc>
                <a:spcPct val="115000"/>
              </a:lnSpc>
            </a:pPr>
            <a:r>
              <a:rPr sz="1800" spc="180">
                <a:solidFill>
                  <a:srgbClr val="9FE8DC"/>
                </a:solidFill>
                <a:latin typeface="Todes 1"/>
              </a:rPr>
              <a:t>WHAT YOU SEE — FAMILIAR</a:t>
            </a:r>
          </a:p>
        </p:txBody>
      </p:sp>
      <p:sp>
        <p:nvSpPr>
          <p:cNvPr id="7" name="Rounded Rectangle 6"/>
          <p:cNvSpPr/>
          <p:nvPr/>
        </p:nvSpPr>
        <p:spPr>
          <a:xfrm>
            <a:off x="822959" y="4046220"/>
            <a:ext cx="2578608" cy="685800"/>
          </a:xfrm>
          <a:prstGeom prst="roundRect">
            <a:avLst>
              <a:gd name="adj" fmla="val 20000"/>
            </a:avLst>
          </a:prstGeom>
          <a:solidFill>
            <a:srgbClr val="084B4D"/>
          </a:solidFill>
          <a:ln w="13334">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4238244"/>
            <a:ext cx="2578608" cy="411479"/>
          </a:xfrm>
          <a:prstGeom prst="rect">
            <a:avLst/>
          </a:prstGeom>
          <a:noFill/>
        </p:spPr>
        <p:txBody>
          <a:bodyPr wrap="square" lIns="0" rIns="0" tIns="0" bIns="0">
            <a:spAutoFit/>
          </a:bodyPr>
          <a:lstStyle/>
          <a:p>
            <a:pPr algn="ctr">
              <a:lnSpc>
                <a:spcPct val="115000"/>
              </a:lnSpc>
            </a:pPr>
            <a:r>
              <a:rPr sz="1500">
                <a:solidFill>
                  <a:srgbClr val="F4EAD8"/>
                </a:solidFill>
                <a:latin typeface="TT Commons Pro"/>
              </a:rPr>
              <a:t>profiles</a:t>
            </a:r>
          </a:p>
        </p:txBody>
      </p:sp>
      <p:sp>
        <p:nvSpPr>
          <p:cNvPr id="9" name="Rounded Rectangle 8"/>
          <p:cNvSpPr/>
          <p:nvPr/>
        </p:nvSpPr>
        <p:spPr>
          <a:xfrm>
            <a:off x="3607308" y="4046220"/>
            <a:ext cx="2578608" cy="685800"/>
          </a:xfrm>
          <a:prstGeom prst="roundRect">
            <a:avLst>
              <a:gd name="adj" fmla="val 20000"/>
            </a:avLst>
          </a:prstGeom>
          <a:solidFill>
            <a:srgbClr val="084B4D"/>
          </a:solidFill>
          <a:ln w="13334">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7308" y="4238244"/>
            <a:ext cx="2578608" cy="411479"/>
          </a:xfrm>
          <a:prstGeom prst="rect">
            <a:avLst/>
          </a:prstGeom>
          <a:noFill/>
        </p:spPr>
        <p:txBody>
          <a:bodyPr wrap="square" lIns="0" rIns="0" tIns="0" bIns="0">
            <a:spAutoFit/>
          </a:bodyPr>
          <a:lstStyle/>
          <a:p>
            <a:pPr algn="ctr">
              <a:lnSpc>
                <a:spcPct val="115000"/>
              </a:lnSpc>
            </a:pPr>
            <a:r>
              <a:rPr sz="1500">
                <a:solidFill>
                  <a:srgbClr val="F4EAD8"/>
                </a:solidFill>
                <a:latin typeface="TT Commons Pro"/>
              </a:rPr>
              <a:t>posts</a:t>
            </a:r>
          </a:p>
        </p:txBody>
      </p:sp>
      <p:sp>
        <p:nvSpPr>
          <p:cNvPr id="11" name="Rounded Rectangle 10"/>
          <p:cNvSpPr/>
          <p:nvPr/>
        </p:nvSpPr>
        <p:spPr>
          <a:xfrm>
            <a:off x="6391655" y="4046220"/>
            <a:ext cx="2578608" cy="685800"/>
          </a:xfrm>
          <a:prstGeom prst="roundRect">
            <a:avLst>
              <a:gd name="adj" fmla="val 20000"/>
            </a:avLst>
          </a:prstGeom>
          <a:solidFill>
            <a:srgbClr val="084B4D"/>
          </a:solidFill>
          <a:ln w="13334">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1655" y="4238244"/>
            <a:ext cx="2578608" cy="411479"/>
          </a:xfrm>
          <a:prstGeom prst="rect">
            <a:avLst/>
          </a:prstGeom>
          <a:noFill/>
        </p:spPr>
        <p:txBody>
          <a:bodyPr wrap="square" lIns="0" rIns="0" tIns="0" bIns="0">
            <a:spAutoFit/>
          </a:bodyPr>
          <a:lstStyle/>
          <a:p>
            <a:pPr algn="ctr">
              <a:lnSpc>
                <a:spcPct val="115000"/>
              </a:lnSpc>
            </a:pPr>
            <a:r>
              <a:rPr sz="1500">
                <a:solidFill>
                  <a:srgbClr val="F4EAD8"/>
                </a:solidFill>
                <a:latin typeface="TT Commons Pro"/>
              </a:rPr>
              <a:t>feeds</a:t>
            </a:r>
          </a:p>
        </p:txBody>
      </p:sp>
      <p:sp>
        <p:nvSpPr>
          <p:cNvPr id="13" name="Rounded Rectangle 12"/>
          <p:cNvSpPr/>
          <p:nvPr/>
        </p:nvSpPr>
        <p:spPr>
          <a:xfrm>
            <a:off x="9176004" y="4046220"/>
            <a:ext cx="2578608" cy="685800"/>
          </a:xfrm>
          <a:prstGeom prst="roundRect">
            <a:avLst>
              <a:gd name="adj" fmla="val 20000"/>
            </a:avLst>
          </a:prstGeom>
          <a:solidFill>
            <a:srgbClr val="084B4D"/>
          </a:solidFill>
          <a:ln w="13334">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76004" y="4238244"/>
            <a:ext cx="2578608" cy="411479"/>
          </a:xfrm>
          <a:prstGeom prst="rect">
            <a:avLst/>
          </a:prstGeom>
          <a:noFill/>
        </p:spPr>
        <p:txBody>
          <a:bodyPr wrap="square" lIns="0" rIns="0" tIns="0" bIns="0">
            <a:spAutoFit/>
          </a:bodyPr>
          <a:lstStyle/>
          <a:p>
            <a:pPr algn="ctr">
              <a:lnSpc>
                <a:spcPct val="115000"/>
              </a:lnSpc>
            </a:pPr>
            <a:r>
              <a:rPr sz="1500">
                <a:solidFill>
                  <a:srgbClr val="F4EAD8"/>
                </a:solidFill>
                <a:latin typeface="TT Commons Pro"/>
              </a:rPr>
              <a:t>events</a:t>
            </a:r>
          </a:p>
        </p:txBody>
      </p:sp>
      <p:sp>
        <p:nvSpPr>
          <p:cNvPr id="15" name="Rounded Rectangle 14"/>
          <p:cNvSpPr/>
          <p:nvPr/>
        </p:nvSpPr>
        <p:spPr>
          <a:xfrm>
            <a:off x="11960351" y="4046220"/>
            <a:ext cx="2578608" cy="685800"/>
          </a:xfrm>
          <a:prstGeom prst="roundRect">
            <a:avLst>
              <a:gd name="adj" fmla="val 20000"/>
            </a:avLst>
          </a:prstGeom>
          <a:solidFill>
            <a:srgbClr val="084B4D"/>
          </a:solidFill>
          <a:ln w="13334">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960351" y="4238244"/>
            <a:ext cx="2578608" cy="411479"/>
          </a:xfrm>
          <a:prstGeom prst="rect">
            <a:avLst/>
          </a:prstGeom>
          <a:noFill/>
        </p:spPr>
        <p:txBody>
          <a:bodyPr wrap="square" lIns="0" rIns="0" tIns="0" bIns="0">
            <a:spAutoFit/>
          </a:bodyPr>
          <a:lstStyle/>
          <a:p>
            <a:pPr algn="ctr">
              <a:lnSpc>
                <a:spcPct val="115000"/>
              </a:lnSpc>
            </a:pPr>
            <a:r>
              <a:rPr sz="1500">
                <a:solidFill>
                  <a:srgbClr val="F4EAD8"/>
                </a:solidFill>
                <a:latin typeface="TT Commons Pro"/>
              </a:rPr>
              <a:t>groups</a:t>
            </a:r>
          </a:p>
        </p:txBody>
      </p:sp>
      <p:sp>
        <p:nvSpPr>
          <p:cNvPr id="17" name="Rounded Rectangle 16"/>
          <p:cNvSpPr/>
          <p:nvPr/>
        </p:nvSpPr>
        <p:spPr>
          <a:xfrm>
            <a:off x="14744699" y="4046220"/>
            <a:ext cx="2578608" cy="685800"/>
          </a:xfrm>
          <a:prstGeom prst="roundRect">
            <a:avLst>
              <a:gd name="adj" fmla="val 20000"/>
            </a:avLst>
          </a:prstGeom>
          <a:solidFill>
            <a:srgbClr val="084B4D"/>
          </a:solidFill>
          <a:ln w="13334">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4744699" y="4238244"/>
            <a:ext cx="2578608" cy="411479"/>
          </a:xfrm>
          <a:prstGeom prst="rect">
            <a:avLst/>
          </a:prstGeom>
          <a:noFill/>
        </p:spPr>
        <p:txBody>
          <a:bodyPr wrap="square" lIns="0" rIns="0" tIns="0" bIns="0">
            <a:spAutoFit/>
          </a:bodyPr>
          <a:lstStyle/>
          <a:p>
            <a:pPr algn="ctr">
              <a:lnSpc>
                <a:spcPct val="115000"/>
              </a:lnSpc>
            </a:pPr>
            <a:r>
              <a:rPr sz="1500">
                <a:solidFill>
                  <a:srgbClr val="F4EAD8"/>
                </a:solidFill>
                <a:latin typeface="TT Commons Pro"/>
              </a:rPr>
              <a:t>messages</a:t>
            </a:r>
          </a:p>
        </p:txBody>
      </p:sp>
      <p:sp>
        <p:nvSpPr>
          <p:cNvPr id="19" name="Rounded Rectangle 18"/>
          <p:cNvSpPr/>
          <p:nvPr/>
        </p:nvSpPr>
        <p:spPr>
          <a:xfrm>
            <a:off x="822959" y="4951476"/>
            <a:ext cx="2578608" cy="685800"/>
          </a:xfrm>
          <a:prstGeom prst="roundRect">
            <a:avLst>
              <a:gd name="adj" fmla="val 20000"/>
            </a:avLst>
          </a:prstGeom>
          <a:solidFill>
            <a:srgbClr val="084B4D"/>
          </a:solidFill>
          <a:ln w="13334">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59" y="5143500"/>
            <a:ext cx="2578608" cy="411479"/>
          </a:xfrm>
          <a:prstGeom prst="rect">
            <a:avLst/>
          </a:prstGeom>
          <a:noFill/>
        </p:spPr>
        <p:txBody>
          <a:bodyPr wrap="square" lIns="0" rIns="0" tIns="0" bIns="0">
            <a:spAutoFit/>
          </a:bodyPr>
          <a:lstStyle/>
          <a:p>
            <a:pPr algn="ctr">
              <a:lnSpc>
                <a:spcPct val="115000"/>
              </a:lnSpc>
            </a:pPr>
            <a:r>
              <a:rPr sz="1500">
                <a:solidFill>
                  <a:srgbClr val="F4EAD8"/>
                </a:solidFill>
                <a:latin typeface="TT Commons Pro"/>
              </a:rPr>
              <a:t>offers</a:t>
            </a:r>
          </a:p>
        </p:txBody>
      </p:sp>
      <p:sp>
        <p:nvSpPr>
          <p:cNvPr id="21" name="Rounded Rectangle 20"/>
          <p:cNvSpPr/>
          <p:nvPr/>
        </p:nvSpPr>
        <p:spPr>
          <a:xfrm>
            <a:off x="3607308" y="4951476"/>
            <a:ext cx="2578608" cy="685800"/>
          </a:xfrm>
          <a:prstGeom prst="roundRect">
            <a:avLst>
              <a:gd name="adj" fmla="val 20000"/>
            </a:avLst>
          </a:prstGeom>
          <a:solidFill>
            <a:srgbClr val="084B4D"/>
          </a:solidFill>
          <a:ln w="13334">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07308" y="5143500"/>
            <a:ext cx="2578608" cy="411479"/>
          </a:xfrm>
          <a:prstGeom prst="rect">
            <a:avLst/>
          </a:prstGeom>
          <a:noFill/>
        </p:spPr>
        <p:txBody>
          <a:bodyPr wrap="square" lIns="0" rIns="0" tIns="0" bIns="0">
            <a:spAutoFit/>
          </a:bodyPr>
          <a:lstStyle/>
          <a:p>
            <a:pPr algn="ctr">
              <a:lnSpc>
                <a:spcPct val="115000"/>
              </a:lnSpc>
            </a:pPr>
            <a:r>
              <a:rPr sz="1500">
                <a:solidFill>
                  <a:srgbClr val="F4EAD8"/>
                </a:solidFill>
                <a:latin typeface="TT Commons Pro"/>
              </a:rPr>
              <a:t>businesses</a:t>
            </a:r>
          </a:p>
        </p:txBody>
      </p:sp>
      <p:sp>
        <p:nvSpPr>
          <p:cNvPr id="23" name="Rounded Rectangle 22"/>
          <p:cNvSpPr/>
          <p:nvPr/>
        </p:nvSpPr>
        <p:spPr>
          <a:xfrm>
            <a:off x="6391655" y="4951476"/>
            <a:ext cx="2578608" cy="685800"/>
          </a:xfrm>
          <a:prstGeom prst="roundRect">
            <a:avLst>
              <a:gd name="adj" fmla="val 20000"/>
            </a:avLst>
          </a:prstGeom>
          <a:solidFill>
            <a:srgbClr val="084B4D"/>
          </a:solidFill>
          <a:ln w="13334">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91655" y="5143500"/>
            <a:ext cx="2578608" cy="411479"/>
          </a:xfrm>
          <a:prstGeom prst="rect">
            <a:avLst/>
          </a:prstGeom>
          <a:noFill/>
        </p:spPr>
        <p:txBody>
          <a:bodyPr wrap="square" lIns="0" rIns="0" tIns="0" bIns="0">
            <a:spAutoFit/>
          </a:bodyPr>
          <a:lstStyle/>
          <a:p>
            <a:pPr algn="ctr">
              <a:lnSpc>
                <a:spcPct val="115000"/>
              </a:lnSpc>
            </a:pPr>
            <a:r>
              <a:rPr sz="1500">
                <a:solidFill>
                  <a:srgbClr val="F4EAD8"/>
                </a:solidFill>
                <a:latin typeface="TT Commons Pro"/>
              </a:rPr>
              <a:t>products</a:t>
            </a:r>
          </a:p>
        </p:txBody>
      </p:sp>
      <p:sp>
        <p:nvSpPr>
          <p:cNvPr id="25" name="Rounded Rectangle 24"/>
          <p:cNvSpPr/>
          <p:nvPr/>
        </p:nvSpPr>
        <p:spPr>
          <a:xfrm>
            <a:off x="9176004" y="4951476"/>
            <a:ext cx="2578608" cy="685800"/>
          </a:xfrm>
          <a:prstGeom prst="roundRect">
            <a:avLst>
              <a:gd name="adj" fmla="val 20000"/>
            </a:avLst>
          </a:prstGeom>
          <a:solidFill>
            <a:srgbClr val="084B4D"/>
          </a:solidFill>
          <a:ln w="13334">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76004" y="5143500"/>
            <a:ext cx="2578608" cy="411479"/>
          </a:xfrm>
          <a:prstGeom prst="rect">
            <a:avLst/>
          </a:prstGeom>
          <a:noFill/>
        </p:spPr>
        <p:txBody>
          <a:bodyPr wrap="square" lIns="0" rIns="0" tIns="0" bIns="0">
            <a:spAutoFit/>
          </a:bodyPr>
          <a:lstStyle/>
          <a:p>
            <a:pPr algn="ctr">
              <a:lnSpc>
                <a:spcPct val="115000"/>
              </a:lnSpc>
            </a:pPr>
            <a:r>
              <a:rPr sz="1500">
                <a:solidFill>
                  <a:srgbClr val="F4EAD8"/>
                </a:solidFill>
                <a:latin typeface="TT Commons Pro"/>
              </a:rPr>
              <a:t>services</a:t>
            </a:r>
          </a:p>
        </p:txBody>
      </p:sp>
      <p:sp>
        <p:nvSpPr>
          <p:cNvPr id="27" name="Rounded Rectangle 26"/>
          <p:cNvSpPr/>
          <p:nvPr/>
        </p:nvSpPr>
        <p:spPr>
          <a:xfrm>
            <a:off x="11960351" y="4951476"/>
            <a:ext cx="2578608" cy="685800"/>
          </a:xfrm>
          <a:prstGeom prst="roundRect">
            <a:avLst>
              <a:gd name="adj" fmla="val 20000"/>
            </a:avLst>
          </a:prstGeom>
          <a:solidFill>
            <a:srgbClr val="084B4D"/>
          </a:solidFill>
          <a:ln w="13334">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1960351" y="5143500"/>
            <a:ext cx="2578608" cy="411479"/>
          </a:xfrm>
          <a:prstGeom prst="rect">
            <a:avLst/>
          </a:prstGeom>
          <a:noFill/>
        </p:spPr>
        <p:txBody>
          <a:bodyPr wrap="square" lIns="0" rIns="0" tIns="0" bIns="0">
            <a:spAutoFit/>
          </a:bodyPr>
          <a:lstStyle/>
          <a:p>
            <a:pPr algn="ctr">
              <a:lnSpc>
                <a:spcPct val="115000"/>
              </a:lnSpc>
            </a:pPr>
            <a:r>
              <a:rPr sz="1500">
                <a:solidFill>
                  <a:srgbClr val="F4EAD8"/>
                </a:solidFill>
                <a:latin typeface="TT Commons Pro"/>
              </a:rPr>
              <a:t>jobs</a:t>
            </a:r>
          </a:p>
        </p:txBody>
      </p:sp>
      <p:sp>
        <p:nvSpPr>
          <p:cNvPr id="29" name="Rounded Rectangle 28"/>
          <p:cNvSpPr/>
          <p:nvPr/>
        </p:nvSpPr>
        <p:spPr>
          <a:xfrm>
            <a:off x="14744699" y="4951476"/>
            <a:ext cx="2578608" cy="685800"/>
          </a:xfrm>
          <a:prstGeom prst="roundRect">
            <a:avLst>
              <a:gd name="adj" fmla="val 20000"/>
            </a:avLst>
          </a:prstGeom>
          <a:solidFill>
            <a:srgbClr val="084B4D"/>
          </a:solidFill>
          <a:ln w="13334">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744699" y="5143500"/>
            <a:ext cx="2578608" cy="411479"/>
          </a:xfrm>
          <a:prstGeom prst="rect">
            <a:avLst/>
          </a:prstGeom>
          <a:noFill/>
        </p:spPr>
        <p:txBody>
          <a:bodyPr wrap="square" lIns="0" rIns="0" tIns="0" bIns="0">
            <a:spAutoFit/>
          </a:bodyPr>
          <a:lstStyle/>
          <a:p>
            <a:pPr algn="ctr">
              <a:lnSpc>
                <a:spcPct val="115000"/>
              </a:lnSpc>
            </a:pPr>
            <a:r>
              <a:rPr sz="1500">
                <a:solidFill>
                  <a:srgbClr val="F4EAD8"/>
                </a:solidFill>
                <a:latin typeface="TT Commons Pro"/>
              </a:rPr>
              <a:t>local discovery</a:t>
            </a:r>
          </a:p>
        </p:txBody>
      </p:sp>
      <p:sp>
        <p:nvSpPr>
          <p:cNvPr id="31" name="Down Arrow 30"/>
          <p:cNvSpPr/>
          <p:nvPr/>
        </p:nvSpPr>
        <p:spPr>
          <a:xfrm>
            <a:off x="8915400" y="6103620"/>
            <a:ext cx="411479" cy="576072"/>
          </a:xfrm>
          <a:prstGeom prst="downArrow">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59" y="6926579"/>
            <a:ext cx="15773400" cy="411479"/>
          </a:xfrm>
          <a:prstGeom prst="rect">
            <a:avLst/>
          </a:prstGeom>
          <a:noFill/>
        </p:spPr>
        <p:txBody>
          <a:bodyPr wrap="none" lIns="0" rIns="0" tIns="0" bIns="0">
            <a:spAutoFit/>
          </a:bodyPr>
          <a:lstStyle/>
          <a:p>
            <a:pPr algn="l">
              <a:lnSpc>
                <a:spcPct val="115000"/>
              </a:lnSpc>
            </a:pPr>
            <a:r>
              <a:rPr sz="1800" spc="180">
                <a:solidFill>
                  <a:srgbClr val="EBCF9E"/>
                </a:solidFill>
                <a:latin typeface="Todes 1"/>
              </a:rPr>
              <a:t>WHAT IT RUNS ON — COORDINATION INFRASTRUCTURE</a:t>
            </a:r>
          </a:p>
        </p:txBody>
      </p:sp>
      <p:sp>
        <p:nvSpPr>
          <p:cNvPr id="33" name="Rounded Rectangle 32"/>
          <p:cNvSpPr/>
          <p:nvPr/>
        </p:nvSpPr>
        <p:spPr>
          <a:xfrm>
            <a:off x="822959" y="7475220"/>
            <a:ext cx="16664940" cy="1165860"/>
          </a:xfrm>
          <a:prstGeom prst="roundRect">
            <a:avLst>
              <a:gd name="adj" fmla="val 6000"/>
            </a:avLst>
          </a:prstGeom>
          <a:solidFill>
            <a:srgbClr val="0D3E40"/>
          </a:solidFill>
          <a:ln w="20955">
            <a:solidFill>
              <a:srgbClr val="F0CC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234440" y="7708392"/>
            <a:ext cx="15910559" cy="685800"/>
          </a:xfrm>
          <a:prstGeom prst="rect">
            <a:avLst/>
          </a:prstGeom>
          <a:noFill/>
        </p:spPr>
        <p:txBody>
          <a:bodyPr wrap="square" lIns="0" rIns="0" tIns="0" bIns="0">
            <a:spAutoFit/>
          </a:bodyPr>
          <a:lstStyle/>
          <a:p>
            <a:pPr algn="ctr">
              <a:lnSpc>
                <a:spcPct val="115000"/>
              </a:lnSpc>
            </a:pPr>
            <a:r>
              <a:rPr sz="1800">
                <a:solidFill>
                  <a:srgbClr val="F2ECDD"/>
                </a:solidFill>
                <a:latin typeface="TT Commons Pro"/>
              </a:rPr>
              <a:t>agreements · roles · tasks · scheduling · shared records · treasury · governance · payments · attestation</a:t>
            </a:r>
          </a:p>
        </p:txBody>
      </p:sp>
      <p:sp>
        <p:nvSpPr>
          <p:cNvPr id="35" name="TextBox 34"/>
          <p:cNvSpPr txBox="1"/>
          <p:nvPr/>
        </p:nvSpPr>
        <p:spPr>
          <a:xfrm>
            <a:off x="822959" y="8983980"/>
            <a:ext cx="16596359" cy="1097280"/>
          </a:xfrm>
          <a:prstGeom prst="rect">
            <a:avLst/>
          </a:prstGeom>
          <a:noFill/>
        </p:spPr>
        <p:txBody>
          <a:bodyPr wrap="square" lIns="0" rIns="0" tIns="0" bIns="0">
            <a:spAutoFit/>
          </a:bodyPr>
          <a:lstStyle/>
          <a:p>
            <a:pPr algn="ctr">
              <a:lnSpc>
                <a:spcPct val="140000"/>
              </a:lnSpc>
            </a:pPr>
            <a:r>
              <a:rPr sz="1875">
                <a:solidFill>
                  <a:srgbClr val="F2ECDD"/>
                </a:solidFill>
                <a:latin typeface="TT Commons Pro"/>
              </a:rPr>
              <a:t>Rivr should still feel alive and social. </a:t>
            </a:r>
            <a:r>
              <a:rPr sz="2025" spc="20">
                <a:solidFill>
                  <a:srgbClr val="EBCF9E"/>
                </a:solidFill>
                <a:latin typeface="Alike Italics"/>
              </a:rPr>
              <a:t>Economic relationships often begin as human relationships.</a:t>
            </a:r>
          </a:p>
        </p:txBody>
      </p:sp>
      <p:pic>
        <p:nvPicPr>
          <p:cNvPr id="36" name="Picture 35" descr="rivr-symbol-light.png"/>
          <p:cNvPicPr>
            <a:picLocks noChangeAspect="1"/>
          </p:cNvPicPr>
          <p:nvPr/>
        </p:nvPicPr>
        <p:blipFill>
          <a:blip r:embed="rId4"/>
          <a:stretch>
            <a:fillRect/>
          </a:stretch>
        </p:blipFill>
        <p:spPr>
          <a:xfrm>
            <a:off x="576072" y="9518904"/>
            <a:ext cx="521208" cy="521208"/>
          </a:xfrm>
          <a:prstGeom prst="rect">
            <a:avLst/>
          </a:prstGeom>
        </p:spPr>
      </p:pic>
      <p:sp>
        <p:nvSpPr>
          <p:cNvPr id="37" name="TextBox 36"/>
          <p:cNvSpPr txBox="1"/>
          <p:nvPr/>
        </p:nvSpPr>
        <p:spPr>
          <a:xfrm>
            <a:off x="1371600" y="9724644"/>
            <a:ext cx="5486400" cy="301752"/>
          </a:xfrm>
          <a:prstGeom prst="rect">
            <a:avLst/>
          </a:prstGeom>
          <a:noFill/>
        </p:spPr>
        <p:txBody>
          <a:bodyPr wrap="none" lIns="0" rIns="0" tIns="0" bIns="0">
            <a:spAutoFit/>
          </a:bodyPr>
          <a:lstStyle/>
          <a:p>
            <a:pPr algn="l">
              <a:lnSpc>
                <a:spcPct val="115000"/>
              </a:lnSpc>
            </a:pPr>
            <a:r>
              <a:rPr sz="1350" spc="150">
                <a:solidFill>
                  <a:srgbClr val="AFC4C2"/>
                </a:solidFill>
                <a:latin typeface="TT Commons Pro"/>
              </a:rPr>
              <a:t>Rivr · Seed Round 2026</a:t>
            </a:r>
          </a:p>
        </p:txBody>
      </p:sp>
      <p:sp>
        <p:nvSpPr>
          <p:cNvPr id="38" name="TextBox 37"/>
          <p:cNvSpPr txBox="1"/>
          <p:nvPr/>
        </p:nvSpPr>
        <p:spPr>
          <a:xfrm>
            <a:off x="16870680" y="9724644"/>
            <a:ext cx="960119" cy="301752"/>
          </a:xfrm>
          <a:prstGeom prst="rect">
            <a:avLst/>
          </a:prstGeom>
          <a:noFill/>
        </p:spPr>
        <p:txBody>
          <a:bodyPr wrap="none" lIns="0" rIns="0" tIns="0" bIns="0">
            <a:spAutoFit/>
          </a:bodyPr>
          <a:lstStyle/>
          <a:p>
            <a:pPr algn="r">
              <a:lnSpc>
                <a:spcPct val="115000"/>
              </a:lnSpc>
            </a:pPr>
            <a:r>
              <a:rPr sz="1350" spc="150">
                <a:solidFill>
                  <a:srgbClr val="AFC4C2"/>
                </a:solidFill>
                <a:latin typeface="TT Commons Pro"/>
              </a:rPr>
              <a:t>09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3333"/>
        </a:solidFill>
        <a:effectLst/>
      </p:bgPr>
    </p:bg>
    <p:spTree>
      <p:nvGrpSpPr>
        <p:cNvPr id="1" name=""/>
        <p:cNvGrpSpPr/>
        <p:nvPr/>
      </p:nvGrpSpPr>
      <p:grpSpPr/>
      <p:pic>
        <p:nvPicPr>
          <p:cNvPr id="2" name="Picture 1" descr="bg_c08.jpg"/>
          <p:cNvPicPr>
            <a:picLocks noChangeAspect="1"/>
          </p:cNvPicPr>
          <p:nvPr/>
        </p:nvPicPr>
        <p:blipFill>
          <a:blip r:embed="rId2"/>
          <a:stretch>
            <a:fillRect/>
          </a:stretch>
        </p:blipFill>
        <p:spPr>
          <a:xfrm>
            <a:off x="0" y="0"/>
            <a:ext cx="18287542" cy="10287000"/>
          </a:xfrm>
          <a:prstGeom prst="rect">
            <a:avLst/>
          </a:prstGeom>
        </p:spPr>
      </p:pic>
      <p:sp>
        <p:nvSpPr>
          <p:cNvPr id="3" name="TextBox 2"/>
          <p:cNvSpPr txBox="1"/>
          <p:nvPr/>
        </p:nvSpPr>
        <p:spPr>
          <a:xfrm>
            <a:off x="822959" y="822959"/>
            <a:ext cx="16733519" cy="384048"/>
          </a:xfrm>
          <a:prstGeom prst="rect">
            <a:avLst/>
          </a:prstGeom>
          <a:noFill/>
        </p:spPr>
        <p:txBody>
          <a:bodyPr wrap="none" lIns="0" rIns="0" tIns="0" bIns="0">
            <a:spAutoFit/>
          </a:bodyPr>
          <a:lstStyle/>
          <a:p>
            <a:pPr algn="l">
              <a:lnSpc>
                <a:spcPct val="115000"/>
              </a:lnSpc>
            </a:pPr>
            <a:r>
              <a:rPr sz="1650" spc="330">
                <a:solidFill>
                  <a:srgbClr val="9FE8DC"/>
                </a:solidFill>
                <a:latin typeface="Todes 1"/>
              </a:rPr>
              <a:t>USEFUL DISCOVERY</a:t>
            </a:r>
          </a:p>
        </p:txBody>
      </p:sp>
      <p:sp>
        <p:nvSpPr>
          <p:cNvPr id="4" name="TextBox 3"/>
          <p:cNvSpPr txBox="1"/>
          <p:nvPr/>
        </p:nvSpPr>
        <p:spPr>
          <a:xfrm>
            <a:off x="822959" y="1717852"/>
            <a:ext cx="3533774" cy="1108214"/>
          </a:xfrm>
          <a:prstGeom prst="rect">
            <a:avLst/>
          </a:prstGeom>
          <a:noFill/>
        </p:spPr>
        <p:txBody>
          <a:bodyPr wrap="none" lIns="0" rIns="0" tIns="0" bIns="0">
            <a:spAutoFit/>
          </a:bodyPr>
          <a:lstStyle/>
          <a:p>
            <a:pPr algn="l">
              <a:lnSpc>
                <a:spcPct val="115000"/>
              </a:lnSpc>
            </a:pPr>
            <a:r>
              <a:rPr sz="6017" spc="-81">
                <a:solidFill>
                  <a:srgbClr val="F4EAD8"/>
                </a:solidFill>
                <a:latin typeface="Todes 1"/>
              </a:rPr>
              <a:t>Useful </a:t>
            </a:r>
          </a:p>
        </p:txBody>
      </p:sp>
      <p:sp>
        <p:nvSpPr>
          <p:cNvPr id="5" name="TextBox 4"/>
          <p:cNvSpPr txBox="1"/>
          <p:nvPr/>
        </p:nvSpPr>
        <p:spPr>
          <a:xfrm>
            <a:off x="3485388" y="1645919"/>
            <a:ext cx="5253990" cy="1238592"/>
          </a:xfrm>
          <a:prstGeom prst="rect">
            <a:avLst/>
          </a:prstGeom>
          <a:noFill/>
        </p:spPr>
        <p:txBody>
          <a:bodyPr wrap="none" lIns="0" rIns="0" tIns="0" bIns="0">
            <a:spAutoFit/>
          </a:bodyPr>
          <a:lstStyle/>
          <a:p>
            <a:pPr algn="l">
              <a:lnSpc>
                <a:spcPct val="115000"/>
              </a:lnSpc>
            </a:pPr>
            <a:r>
              <a:rPr sz="6725" spc="-75">
                <a:solidFill>
                  <a:srgbClr val="EBCF9E"/>
                </a:solidFill>
                <a:latin typeface="Ibarra Real Nova Italics"/>
              </a:rPr>
              <a:t>serendipity.</a:t>
            </a:r>
          </a:p>
        </p:txBody>
      </p:sp>
      <p:cxnSp>
        <p:nvCxnSpPr>
          <p:cNvPr id="6" name="Connector 5"/>
          <p:cNvCxnSpPr/>
          <p:nvPr/>
        </p:nvCxnSpPr>
        <p:spPr>
          <a:xfrm>
            <a:off x="4526279" y="6172200"/>
            <a:ext cx="9326880" cy="0"/>
          </a:xfrm>
          <a:prstGeom prst="line">
            <a:avLst/>
          </a:prstGeom>
          <a:ln w="11430">
            <a:solidFill>
              <a:srgbClr val="084B4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9189719" y="4320540"/>
            <a:ext cx="0" cy="3703319"/>
          </a:xfrm>
          <a:prstGeom prst="line">
            <a:avLst/>
          </a:prstGeom>
          <a:ln w="11430">
            <a:solidFill>
              <a:srgbClr val="084B4D"/>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26279" y="8435340"/>
            <a:ext cx="9326880" cy="411479"/>
          </a:xfrm>
          <a:prstGeom prst="rect">
            <a:avLst/>
          </a:prstGeom>
          <a:noFill/>
        </p:spPr>
        <p:txBody>
          <a:bodyPr wrap="none" lIns="0" rIns="0" tIns="0" bIns="0">
            <a:spAutoFit/>
          </a:bodyPr>
          <a:lstStyle/>
          <a:p>
            <a:pPr algn="ctr">
              <a:lnSpc>
                <a:spcPct val="115000"/>
              </a:lnSpc>
            </a:pPr>
            <a:r>
              <a:rPr sz="1350" spc="330">
                <a:solidFill>
                  <a:srgbClr val="AFC4C2"/>
                </a:solidFill>
                <a:latin typeface="Todes 1"/>
              </a:rPr>
              <a:t>WHAT I KNOW I NEED   →   WHAT I DIDN'T KNOW EXISTED</a:t>
            </a:r>
          </a:p>
        </p:txBody>
      </p:sp>
      <p:sp>
        <p:nvSpPr>
          <p:cNvPr id="9" name="TextBox 8"/>
          <p:cNvSpPr txBox="1"/>
          <p:nvPr/>
        </p:nvSpPr>
        <p:spPr>
          <a:xfrm>
            <a:off x="6583679" y="3744468"/>
            <a:ext cx="5212079" cy="411479"/>
          </a:xfrm>
          <a:prstGeom prst="rect">
            <a:avLst/>
          </a:prstGeom>
          <a:noFill/>
        </p:spPr>
        <p:txBody>
          <a:bodyPr wrap="none" lIns="0" rIns="0" tIns="0" bIns="0">
            <a:spAutoFit/>
          </a:bodyPr>
          <a:lstStyle/>
          <a:p>
            <a:pPr algn="ctr">
              <a:lnSpc>
                <a:spcPct val="115000"/>
              </a:lnSpc>
            </a:pPr>
            <a:r>
              <a:rPr sz="1350" spc="330">
                <a:solidFill>
                  <a:srgbClr val="AFC4C2"/>
                </a:solidFill>
                <a:latin typeface="Todes 1"/>
              </a:rPr>
              <a:t>USEFUL TO ME</a:t>
            </a:r>
          </a:p>
        </p:txBody>
      </p:sp>
      <p:sp>
        <p:nvSpPr>
          <p:cNvPr id="10" name="Oval 9"/>
          <p:cNvSpPr/>
          <p:nvPr/>
        </p:nvSpPr>
        <p:spPr>
          <a:xfrm>
            <a:off x="5895136" y="4937760"/>
            <a:ext cx="246888" cy="246888"/>
          </a:xfrm>
          <a:prstGeom prst="ellipse">
            <a:avLst/>
          </a:prstGeom>
          <a:solidFill>
            <a:srgbClr val="6E8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72660" y="5308092"/>
            <a:ext cx="3291839" cy="411479"/>
          </a:xfrm>
          <a:prstGeom prst="rect">
            <a:avLst/>
          </a:prstGeom>
          <a:noFill/>
        </p:spPr>
        <p:txBody>
          <a:bodyPr wrap="square" lIns="0" rIns="0" tIns="0" bIns="0">
            <a:spAutoFit/>
          </a:bodyPr>
          <a:lstStyle/>
          <a:p>
            <a:pPr algn="ctr">
              <a:lnSpc>
                <a:spcPct val="115000"/>
              </a:lnSpc>
            </a:pPr>
            <a:r>
              <a:rPr sz="1350" spc="150">
                <a:solidFill>
                  <a:srgbClr val="AFC4C2"/>
                </a:solidFill>
                <a:latin typeface="TT Commons Pro"/>
              </a:rPr>
              <a:t>a service tonight</a:t>
            </a:r>
          </a:p>
        </p:txBody>
      </p:sp>
      <p:sp>
        <p:nvSpPr>
          <p:cNvPr id="12" name="Oval 11"/>
          <p:cNvSpPr/>
          <p:nvPr/>
        </p:nvSpPr>
        <p:spPr>
          <a:xfrm>
            <a:off x="7014362" y="5604357"/>
            <a:ext cx="246888" cy="246888"/>
          </a:xfrm>
          <a:prstGeom prst="ellipse">
            <a:avLst/>
          </a:prstGeom>
          <a:solidFill>
            <a:srgbClr val="6E8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91886" y="5974689"/>
            <a:ext cx="3291839" cy="411479"/>
          </a:xfrm>
          <a:prstGeom prst="rect">
            <a:avLst/>
          </a:prstGeom>
          <a:noFill/>
        </p:spPr>
        <p:txBody>
          <a:bodyPr wrap="square" lIns="0" rIns="0" tIns="0" bIns="0">
            <a:spAutoFit/>
          </a:bodyPr>
          <a:lstStyle/>
          <a:p>
            <a:pPr algn="ctr">
              <a:lnSpc>
                <a:spcPct val="115000"/>
              </a:lnSpc>
            </a:pPr>
            <a:r>
              <a:rPr sz="1350" spc="150">
                <a:solidFill>
                  <a:srgbClr val="AFC4C2"/>
                </a:solidFill>
                <a:latin typeface="TT Commons Pro"/>
              </a:rPr>
              <a:t>a venue</a:t>
            </a:r>
          </a:p>
        </p:txBody>
      </p:sp>
      <p:sp>
        <p:nvSpPr>
          <p:cNvPr id="14" name="Oval 13"/>
          <p:cNvSpPr/>
          <p:nvPr/>
        </p:nvSpPr>
        <p:spPr>
          <a:xfrm>
            <a:off x="6268212" y="6270955"/>
            <a:ext cx="246888" cy="246888"/>
          </a:xfrm>
          <a:prstGeom prst="ellipse">
            <a:avLst/>
          </a:prstGeom>
          <a:solidFill>
            <a:srgbClr val="6E8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45736" y="6641287"/>
            <a:ext cx="3291839" cy="411479"/>
          </a:xfrm>
          <a:prstGeom prst="rect">
            <a:avLst/>
          </a:prstGeom>
          <a:noFill/>
        </p:spPr>
        <p:txBody>
          <a:bodyPr wrap="square" lIns="0" rIns="0" tIns="0" bIns="0">
            <a:spAutoFit/>
          </a:bodyPr>
          <a:lstStyle/>
          <a:p>
            <a:pPr algn="ctr">
              <a:lnSpc>
                <a:spcPct val="115000"/>
              </a:lnSpc>
            </a:pPr>
            <a:r>
              <a:rPr sz="1350" spc="150">
                <a:solidFill>
                  <a:srgbClr val="AFC4C2"/>
                </a:solidFill>
                <a:latin typeface="TT Commons Pro"/>
              </a:rPr>
              <a:t>a person with the skill</a:t>
            </a:r>
          </a:p>
        </p:txBody>
      </p:sp>
      <p:sp>
        <p:nvSpPr>
          <p:cNvPr id="16" name="Oval 15"/>
          <p:cNvSpPr/>
          <p:nvPr/>
        </p:nvSpPr>
        <p:spPr>
          <a:xfrm>
            <a:off x="11249863" y="4956962"/>
            <a:ext cx="356616" cy="356616"/>
          </a:xfrm>
          <a:prstGeom prst="ellipse">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2251" y="5382158"/>
            <a:ext cx="3291839" cy="411479"/>
          </a:xfrm>
          <a:prstGeom prst="rect">
            <a:avLst/>
          </a:prstGeom>
          <a:noFill/>
        </p:spPr>
        <p:txBody>
          <a:bodyPr wrap="square" lIns="0" rIns="0" tIns="0" bIns="0">
            <a:spAutoFit/>
          </a:bodyPr>
          <a:lstStyle/>
          <a:p>
            <a:pPr algn="ctr">
              <a:lnSpc>
                <a:spcPct val="115000"/>
              </a:lnSpc>
            </a:pPr>
            <a:r>
              <a:rPr sz="1350" spc="150">
                <a:solidFill>
                  <a:srgbClr val="AFC4C2"/>
                </a:solidFill>
                <a:latin typeface="TT Commons Pro"/>
              </a:rPr>
              <a:t>a project to join</a:t>
            </a:r>
          </a:p>
        </p:txBody>
      </p:sp>
      <p:sp>
        <p:nvSpPr>
          <p:cNvPr id="18" name="Oval 17"/>
          <p:cNvSpPr/>
          <p:nvPr/>
        </p:nvSpPr>
        <p:spPr>
          <a:xfrm>
            <a:off x="12182551" y="5808726"/>
            <a:ext cx="356616" cy="356616"/>
          </a:xfrm>
          <a:prstGeom prst="ellipse">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714939" y="6233922"/>
            <a:ext cx="3291839" cy="411479"/>
          </a:xfrm>
          <a:prstGeom prst="rect">
            <a:avLst/>
          </a:prstGeom>
          <a:noFill/>
        </p:spPr>
        <p:txBody>
          <a:bodyPr wrap="square" lIns="0" rIns="0" tIns="0" bIns="0">
            <a:spAutoFit/>
          </a:bodyPr>
          <a:lstStyle/>
          <a:p>
            <a:pPr algn="ctr">
              <a:lnSpc>
                <a:spcPct val="115000"/>
              </a:lnSpc>
            </a:pPr>
            <a:r>
              <a:rPr sz="1350" spc="150">
                <a:solidFill>
                  <a:srgbClr val="AFC4C2"/>
                </a:solidFill>
                <a:latin typeface="TT Commons Pro"/>
              </a:rPr>
              <a:t>a nearby collaborator</a:t>
            </a:r>
          </a:p>
        </p:txBody>
      </p:sp>
      <p:sp>
        <p:nvSpPr>
          <p:cNvPr id="20" name="Oval 19"/>
          <p:cNvSpPr/>
          <p:nvPr/>
        </p:nvSpPr>
        <p:spPr>
          <a:xfrm>
            <a:off x="10690250" y="6512356"/>
            <a:ext cx="356616" cy="356616"/>
          </a:xfrm>
          <a:prstGeom prst="ellipse">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22638" y="6937552"/>
            <a:ext cx="3291839" cy="411479"/>
          </a:xfrm>
          <a:prstGeom prst="rect">
            <a:avLst/>
          </a:prstGeom>
          <a:noFill/>
        </p:spPr>
        <p:txBody>
          <a:bodyPr wrap="square" lIns="0" rIns="0" tIns="0" bIns="0">
            <a:spAutoFit/>
          </a:bodyPr>
          <a:lstStyle/>
          <a:p>
            <a:pPr algn="ctr">
              <a:lnSpc>
                <a:spcPct val="115000"/>
              </a:lnSpc>
            </a:pPr>
            <a:r>
              <a:rPr sz="1350" spc="150">
                <a:solidFill>
                  <a:srgbClr val="AFC4C2"/>
                </a:solidFill>
                <a:latin typeface="TT Commons Pro"/>
              </a:rPr>
              <a:t>an opportunity</a:t>
            </a:r>
          </a:p>
        </p:txBody>
      </p:sp>
      <p:sp>
        <p:nvSpPr>
          <p:cNvPr id="22" name="Oval 21"/>
          <p:cNvSpPr/>
          <p:nvPr/>
        </p:nvSpPr>
        <p:spPr>
          <a:xfrm>
            <a:off x="9252813" y="7530083"/>
            <a:ext cx="246888" cy="246888"/>
          </a:xfrm>
          <a:prstGeom prst="ellipse">
            <a:avLst/>
          </a:prstGeom>
          <a:solidFill>
            <a:srgbClr val="6E8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30337" y="7900416"/>
            <a:ext cx="3291839" cy="411479"/>
          </a:xfrm>
          <a:prstGeom prst="rect">
            <a:avLst/>
          </a:prstGeom>
          <a:noFill/>
        </p:spPr>
        <p:txBody>
          <a:bodyPr wrap="square" lIns="0" rIns="0" tIns="0" bIns="0">
            <a:spAutoFit/>
          </a:bodyPr>
          <a:lstStyle/>
          <a:p>
            <a:pPr algn="ctr">
              <a:lnSpc>
                <a:spcPct val="115000"/>
              </a:lnSpc>
            </a:pPr>
            <a:r>
              <a:rPr sz="1350" spc="150">
                <a:solidFill>
                  <a:srgbClr val="AFC4C2"/>
                </a:solidFill>
                <a:latin typeface="TT Commons Pro"/>
              </a:rPr>
              <a:t>paid placement</a:t>
            </a:r>
          </a:p>
        </p:txBody>
      </p:sp>
      <p:sp>
        <p:nvSpPr>
          <p:cNvPr id="24" name="TextBox 23"/>
          <p:cNvSpPr txBox="1"/>
          <p:nvPr/>
        </p:nvSpPr>
        <p:spPr>
          <a:xfrm>
            <a:off x="822959" y="8778240"/>
            <a:ext cx="16596359" cy="1097280"/>
          </a:xfrm>
          <a:prstGeom prst="rect">
            <a:avLst/>
          </a:prstGeom>
          <a:noFill/>
        </p:spPr>
        <p:txBody>
          <a:bodyPr wrap="square" lIns="0" rIns="0" tIns="0" bIns="0">
            <a:spAutoFit/>
          </a:bodyPr>
          <a:lstStyle/>
          <a:p>
            <a:pPr algn="ctr">
              <a:lnSpc>
                <a:spcPct val="140000"/>
              </a:lnSpc>
            </a:pPr>
            <a:r>
              <a:rPr sz="1875">
                <a:solidFill>
                  <a:srgbClr val="F2ECDD"/>
                </a:solidFill>
                <a:latin typeface="TT Commons Pro"/>
              </a:rPr>
              <a:t>Not random noise. Not whoever paid to be inserted into the feed.</a:t>
            </a:r>
          </a:p>
          <a:p>
            <a:pPr algn="ctr">
              <a:lnSpc>
                <a:spcPct val="140000"/>
              </a:lnSpc>
            </a:pPr>
            <a:r>
              <a:rPr sz="2100" spc="20">
                <a:solidFill>
                  <a:srgbClr val="9FE8DC"/>
                </a:solidFill>
                <a:latin typeface="Alike Italics"/>
              </a:rPr>
              <a:t>Discovery optimized for the user's world — not advertiser demand.</a:t>
            </a:r>
          </a:p>
        </p:txBody>
      </p:sp>
      <p:pic>
        <p:nvPicPr>
          <p:cNvPr id="25" name="Picture 24" descr="rivr-symbol-light.png"/>
          <p:cNvPicPr>
            <a:picLocks noChangeAspect="1"/>
          </p:cNvPicPr>
          <p:nvPr/>
        </p:nvPicPr>
        <p:blipFill>
          <a:blip r:embed="rId4"/>
          <a:stretch>
            <a:fillRect/>
          </a:stretch>
        </p:blipFill>
        <p:spPr>
          <a:xfrm>
            <a:off x="576072" y="9518904"/>
            <a:ext cx="521208" cy="521208"/>
          </a:xfrm>
          <a:prstGeom prst="rect">
            <a:avLst/>
          </a:prstGeom>
        </p:spPr>
      </p:pic>
      <p:sp>
        <p:nvSpPr>
          <p:cNvPr id="26" name="TextBox 25"/>
          <p:cNvSpPr txBox="1"/>
          <p:nvPr/>
        </p:nvSpPr>
        <p:spPr>
          <a:xfrm>
            <a:off x="1371600" y="9724644"/>
            <a:ext cx="5486400" cy="301752"/>
          </a:xfrm>
          <a:prstGeom prst="rect">
            <a:avLst/>
          </a:prstGeom>
          <a:noFill/>
        </p:spPr>
        <p:txBody>
          <a:bodyPr wrap="none" lIns="0" rIns="0" tIns="0" bIns="0">
            <a:spAutoFit/>
          </a:bodyPr>
          <a:lstStyle/>
          <a:p>
            <a:pPr algn="l">
              <a:lnSpc>
                <a:spcPct val="115000"/>
              </a:lnSpc>
            </a:pPr>
            <a:r>
              <a:rPr sz="1350" spc="150">
                <a:solidFill>
                  <a:srgbClr val="AFC4C2"/>
                </a:solidFill>
                <a:latin typeface="TT Commons Pro"/>
              </a:rPr>
              <a:t>Rivr · Seed Round 2026</a:t>
            </a:r>
          </a:p>
        </p:txBody>
      </p:sp>
      <p:sp>
        <p:nvSpPr>
          <p:cNvPr id="27" name="TextBox 26"/>
          <p:cNvSpPr txBox="1"/>
          <p:nvPr/>
        </p:nvSpPr>
        <p:spPr>
          <a:xfrm>
            <a:off x="16870680" y="9724644"/>
            <a:ext cx="960119" cy="301752"/>
          </a:xfrm>
          <a:prstGeom prst="rect">
            <a:avLst/>
          </a:prstGeom>
          <a:noFill/>
        </p:spPr>
        <p:txBody>
          <a:bodyPr wrap="none" lIns="0" rIns="0" tIns="0" bIns="0">
            <a:spAutoFit/>
          </a:bodyPr>
          <a:lstStyle/>
          <a:p>
            <a:pPr algn="r">
              <a:lnSpc>
                <a:spcPct val="115000"/>
              </a:lnSpc>
            </a:pPr>
            <a:r>
              <a:rPr sz="1350" spc="150">
                <a:solidFill>
                  <a:srgbClr val="AFC4C2"/>
                </a:solidFill>
                <a:latin typeface="TT Commons Pro"/>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3333"/>
        </a:solidFill>
        <a:effectLst/>
      </p:bgPr>
    </p:bg>
    <p:spTree>
      <p:nvGrpSpPr>
        <p:cNvPr id="1" name=""/>
        <p:cNvGrpSpPr/>
        <p:nvPr/>
      </p:nvGrpSpPr>
      <p:grpSpPr/>
      <p:pic>
        <p:nvPicPr>
          <p:cNvPr id="2" name="Picture 1" descr="bg_c09.jpg"/>
          <p:cNvPicPr>
            <a:picLocks noChangeAspect="1"/>
          </p:cNvPicPr>
          <p:nvPr/>
        </p:nvPicPr>
        <p:blipFill>
          <a:blip r:embed="rId2"/>
          <a:stretch>
            <a:fillRect/>
          </a:stretch>
        </p:blipFill>
        <p:spPr>
          <a:xfrm>
            <a:off x="0" y="0"/>
            <a:ext cx="18287542" cy="10287000"/>
          </a:xfrm>
          <a:prstGeom prst="rect">
            <a:avLst/>
          </a:prstGeom>
        </p:spPr>
      </p:pic>
      <p:sp>
        <p:nvSpPr>
          <p:cNvPr id="3" name="TextBox 2"/>
          <p:cNvSpPr txBox="1"/>
          <p:nvPr/>
        </p:nvSpPr>
        <p:spPr>
          <a:xfrm>
            <a:off x="822959" y="822959"/>
            <a:ext cx="16733519" cy="384048"/>
          </a:xfrm>
          <a:prstGeom prst="rect">
            <a:avLst/>
          </a:prstGeom>
          <a:noFill/>
        </p:spPr>
        <p:txBody>
          <a:bodyPr wrap="none" lIns="0" rIns="0" tIns="0" bIns="0">
            <a:spAutoFit/>
          </a:bodyPr>
          <a:lstStyle/>
          <a:p>
            <a:pPr algn="l">
              <a:lnSpc>
                <a:spcPct val="115000"/>
              </a:lnSpc>
            </a:pPr>
            <a:r>
              <a:rPr sz="1650" spc="330">
                <a:solidFill>
                  <a:srgbClr val="9FE8DC"/>
                </a:solidFill>
                <a:latin typeface="Todes 1"/>
              </a:rPr>
              <a:t>DISCOVERY BECOMES PARTICIPATION</a:t>
            </a:r>
          </a:p>
        </p:txBody>
      </p:sp>
      <p:sp>
        <p:nvSpPr>
          <p:cNvPr id="4" name="TextBox 3"/>
          <p:cNvSpPr txBox="1"/>
          <p:nvPr/>
        </p:nvSpPr>
        <p:spPr>
          <a:xfrm>
            <a:off x="822959" y="1699869"/>
            <a:ext cx="12487989" cy="977836"/>
          </a:xfrm>
          <a:prstGeom prst="rect">
            <a:avLst/>
          </a:prstGeom>
          <a:noFill/>
        </p:spPr>
        <p:txBody>
          <a:bodyPr wrap="none" lIns="0" rIns="0" tIns="0" bIns="0">
            <a:spAutoFit/>
          </a:bodyPr>
          <a:lstStyle/>
          <a:p>
            <a:pPr algn="l">
              <a:lnSpc>
                <a:spcPct val="115000"/>
              </a:lnSpc>
            </a:pPr>
            <a:r>
              <a:rPr sz="5309" spc="-72">
                <a:solidFill>
                  <a:srgbClr val="F4EAD8"/>
                </a:solidFill>
                <a:latin typeface="Todes 1"/>
              </a:rPr>
              <a:t>Finding one another is only </a:t>
            </a:r>
          </a:p>
        </p:txBody>
      </p:sp>
      <p:sp>
        <p:nvSpPr>
          <p:cNvPr id="5" name="TextBox 4"/>
          <p:cNvSpPr txBox="1"/>
          <p:nvPr/>
        </p:nvSpPr>
        <p:spPr>
          <a:xfrm>
            <a:off x="10648759" y="1645919"/>
            <a:ext cx="5515927" cy="1075620"/>
          </a:xfrm>
          <a:prstGeom prst="rect">
            <a:avLst/>
          </a:prstGeom>
          <a:noFill/>
        </p:spPr>
        <p:txBody>
          <a:bodyPr wrap="none" lIns="0" rIns="0" tIns="0" bIns="0">
            <a:spAutoFit/>
          </a:bodyPr>
          <a:lstStyle/>
          <a:p>
            <a:pPr algn="l">
              <a:lnSpc>
                <a:spcPct val="115000"/>
              </a:lnSpc>
            </a:pPr>
            <a:r>
              <a:rPr sz="5841" spc="-75">
                <a:solidFill>
                  <a:srgbClr val="99E6D9"/>
                </a:solidFill>
                <a:latin typeface="Ibarra Real Nova Italics"/>
              </a:rPr>
              <a:t>the beginning.</a:t>
            </a:r>
          </a:p>
        </p:txBody>
      </p:sp>
      <p:cxnSp>
        <p:nvCxnSpPr>
          <p:cNvPr id="6" name="Connector 5"/>
          <p:cNvCxnSpPr/>
          <p:nvPr/>
        </p:nvCxnSpPr>
        <p:spPr>
          <a:xfrm flipV="1">
            <a:off x="1577339" y="5487817"/>
            <a:ext cx="2155372" cy="684383"/>
          </a:xfrm>
          <a:prstGeom prst="line">
            <a:avLst/>
          </a:prstGeom>
          <a:ln w="1397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3732711" y="4938985"/>
            <a:ext cx="2155371" cy="548832"/>
          </a:xfrm>
          <a:prstGeom prst="line">
            <a:avLst/>
          </a:prstGeom>
          <a:ln w="1397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5888082" y="4634407"/>
            <a:ext cx="2155372" cy="304578"/>
          </a:xfrm>
          <a:prstGeom prst="line">
            <a:avLst/>
          </a:prstGeom>
          <a:ln w="1397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8043454" y="4634407"/>
            <a:ext cx="2155371" cy="0"/>
          </a:xfrm>
          <a:prstGeom prst="line">
            <a:avLst/>
          </a:prstGeom>
          <a:ln w="1397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0198825" y="4634407"/>
            <a:ext cx="2155372" cy="304578"/>
          </a:xfrm>
          <a:prstGeom prst="line">
            <a:avLst/>
          </a:prstGeom>
          <a:ln w="1397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2354197" y="4938985"/>
            <a:ext cx="2155371" cy="548832"/>
          </a:xfrm>
          <a:prstGeom prst="line">
            <a:avLst/>
          </a:prstGeom>
          <a:ln w="1397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4509568" y="5487817"/>
            <a:ext cx="2155372" cy="684383"/>
          </a:xfrm>
          <a:prstGeom prst="line">
            <a:avLst/>
          </a:prstGeom>
          <a:ln w="13970">
            <a:solidFill>
              <a:srgbClr val="99E6D9"/>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261872" y="5856731"/>
            <a:ext cx="630936" cy="630936"/>
          </a:xfrm>
          <a:prstGeom prst="ellipse">
            <a:avLst/>
          </a:prstGeom>
          <a:solidFill>
            <a:srgbClr val="084B4D"/>
          </a:solidFill>
          <a:ln w="1397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319" y="5321808"/>
            <a:ext cx="2606039" cy="411479"/>
          </a:xfrm>
          <a:prstGeom prst="rect">
            <a:avLst/>
          </a:prstGeom>
          <a:noFill/>
        </p:spPr>
        <p:txBody>
          <a:bodyPr wrap="none" lIns="0" rIns="0" tIns="0" bIns="0">
            <a:spAutoFit/>
          </a:bodyPr>
          <a:lstStyle/>
          <a:p>
            <a:pPr algn="ctr">
              <a:lnSpc>
                <a:spcPct val="115000"/>
              </a:lnSpc>
            </a:pPr>
            <a:r>
              <a:rPr sz="1350" spc="330">
                <a:solidFill>
                  <a:srgbClr val="EBCF9E"/>
                </a:solidFill>
                <a:latin typeface="Todes 1"/>
              </a:rPr>
              <a:t>01</a:t>
            </a:r>
          </a:p>
        </p:txBody>
      </p:sp>
      <p:sp>
        <p:nvSpPr>
          <p:cNvPr id="15" name="TextBox 14"/>
          <p:cNvSpPr txBox="1"/>
          <p:nvPr/>
        </p:nvSpPr>
        <p:spPr>
          <a:xfrm>
            <a:off x="205739" y="6611112"/>
            <a:ext cx="2743200" cy="411479"/>
          </a:xfrm>
          <a:prstGeom prst="rect">
            <a:avLst/>
          </a:prstGeom>
          <a:noFill/>
        </p:spPr>
        <p:txBody>
          <a:bodyPr wrap="square" lIns="0" rIns="0" tIns="0" bIns="0">
            <a:spAutoFit/>
          </a:bodyPr>
          <a:lstStyle/>
          <a:p>
            <a:pPr algn="ctr">
              <a:lnSpc>
                <a:spcPct val="115000"/>
              </a:lnSpc>
            </a:pPr>
            <a:r>
              <a:rPr sz="1575">
                <a:solidFill>
                  <a:srgbClr val="F2ECDD"/>
                </a:solidFill>
                <a:latin typeface="TT Commons Pro"/>
              </a:rPr>
              <a:t>discover</a:t>
            </a:r>
          </a:p>
        </p:txBody>
      </p:sp>
      <p:sp>
        <p:nvSpPr>
          <p:cNvPr id="16" name="Oval 15"/>
          <p:cNvSpPr/>
          <p:nvPr/>
        </p:nvSpPr>
        <p:spPr>
          <a:xfrm>
            <a:off x="3417243" y="5172349"/>
            <a:ext cx="630936" cy="630936"/>
          </a:xfrm>
          <a:prstGeom prst="ellipse">
            <a:avLst/>
          </a:prstGeom>
          <a:solidFill>
            <a:srgbClr val="084B4D"/>
          </a:solidFill>
          <a:ln w="1397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429691" y="4637425"/>
            <a:ext cx="2606039" cy="411479"/>
          </a:xfrm>
          <a:prstGeom prst="rect">
            <a:avLst/>
          </a:prstGeom>
          <a:noFill/>
        </p:spPr>
        <p:txBody>
          <a:bodyPr wrap="none" lIns="0" rIns="0" tIns="0" bIns="0">
            <a:spAutoFit/>
          </a:bodyPr>
          <a:lstStyle/>
          <a:p>
            <a:pPr algn="ctr">
              <a:lnSpc>
                <a:spcPct val="115000"/>
              </a:lnSpc>
            </a:pPr>
            <a:r>
              <a:rPr sz="1350" spc="330">
                <a:solidFill>
                  <a:srgbClr val="EBCF9E"/>
                </a:solidFill>
                <a:latin typeface="Todes 1"/>
              </a:rPr>
              <a:t>02</a:t>
            </a:r>
          </a:p>
        </p:txBody>
      </p:sp>
      <p:sp>
        <p:nvSpPr>
          <p:cNvPr id="18" name="TextBox 17"/>
          <p:cNvSpPr txBox="1"/>
          <p:nvPr/>
        </p:nvSpPr>
        <p:spPr>
          <a:xfrm>
            <a:off x="2361111" y="5926729"/>
            <a:ext cx="2743200" cy="411479"/>
          </a:xfrm>
          <a:prstGeom prst="rect">
            <a:avLst/>
          </a:prstGeom>
          <a:noFill/>
        </p:spPr>
        <p:txBody>
          <a:bodyPr wrap="square" lIns="0" rIns="0" tIns="0" bIns="0">
            <a:spAutoFit/>
          </a:bodyPr>
          <a:lstStyle/>
          <a:p>
            <a:pPr algn="ctr">
              <a:lnSpc>
                <a:spcPct val="115000"/>
              </a:lnSpc>
            </a:pPr>
            <a:r>
              <a:rPr sz="1575">
                <a:solidFill>
                  <a:srgbClr val="F2ECDD"/>
                </a:solidFill>
                <a:latin typeface="TT Commons Pro"/>
              </a:rPr>
              <a:t>trust</a:t>
            </a:r>
          </a:p>
        </p:txBody>
      </p:sp>
      <p:sp>
        <p:nvSpPr>
          <p:cNvPr id="19" name="Oval 18"/>
          <p:cNvSpPr/>
          <p:nvPr/>
        </p:nvSpPr>
        <p:spPr>
          <a:xfrm>
            <a:off x="5572614" y="4623517"/>
            <a:ext cx="630936" cy="630936"/>
          </a:xfrm>
          <a:prstGeom prst="ellipse">
            <a:avLst/>
          </a:prstGeom>
          <a:solidFill>
            <a:srgbClr val="084B4D"/>
          </a:solidFill>
          <a:ln w="1397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85062" y="4088593"/>
            <a:ext cx="2606039" cy="411479"/>
          </a:xfrm>
          <a:prstGeom prst="rect">
            <a:avLst/>
          </a:prstGeom>
          <a:noFill/>
        </p:spPr>
        <p:txBody>
          <a:bodyPr wrap="none" lIns="0" rIns="0" tIns="0" bIns="0">
            <a:spAutoFit/>
          </a:bodyPr>
          <a:lstStyle/>
          <a:p>
            <a:pPr algn="ctr">
              <a:lnSpc>
                <a:spcPct val="115000"/>
              </a:lnSpc>
            </a:pPr>
            <a:r>
              <a:rPr sz="1350" spc="330">
                <a:solidFill>
                  <a:srgbClr val="EBCF9E"/>
                </a:solidFill>
                <a:latin typeface="Todes 1"/>
              </a:rPr>
              <a:t>03</a:t>
            </a:r>
          </a:p>
        </p:txBody>
      </p:sp>
      <p:sp>
        <p:nvSpPr>
          <p:cNvPr id="21" name="TextBox 20"/>
          <p:cNvSpPr txBox="1"/>
          <p:nvPr/>
        </p:nvSpPr>
        <p:spPr>
          <a:xfrm>
            <a:off x="4516482" y="5377897"/>
            <a:ext cx="2743200" cy="411479"/>
          </a:xfrm>
          <a:prstGeom prst="rect">
            <a:avLst/>
          </a:prstGeom>
          <a:noFill/>
        </p:spPr>
        <p:txBody>
          <a:bodyPr wrap="square" lIns="0" rIns="0" tIns="0" bIns="0">
            <a:spAutoFit/>
          </a:bodyPr>
          <a:lstStyle/>
          <a:p>
            <a:pPr algn="ctr">
              <a:lnSpc>
                <a:spcPct val="115000"/>
              </a:lnSpc>
            </a:pPr>
            <a:r>
              <a:rPr sz="1575">
                <a:solidFill>
                  <a:srgbClr val="F2ECDD"/>
                </a:solidFill>
                <a:latin typeface="TT Commons Pro"/>
              </a:rPr>
              <a:t>agree</a:t>
            </a:r>
          </a:p>
        </p:txBody>
      </p:sp>
      <p:sp>
        <p:nvSpPr>
          <p:cNvPr id="22" name="Oval 21"/>
          <p:cNvSpPr/>
          <p:nvPr/>
        </p:nvSpPr>
        <p:spPr>
          <a:xfrm>
            <a:off x="7727986" y="4318939"/>
            <a:ext cx="630936" cy="630936"/>
          </a:xfrm>
          <a:prstGeom prst="ellipse">
            <a:avLst/>
          </a:prstGeom>
          <a:solidFill>
            <a:srgbClr val="084B4D"/>
          </a:solidFill>
          <a:ln w="1397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40434" y="3784015"/>
            <a:ext cx="2606039" cy="411479"/>
          </a:xfrm>
          <a:prstGeom prst="rect">
            <a:avLst/>
          </a:prstGeom>
          <a:noFill/>
        </p:spPr>
        <p:txBody>
          <a:bodyPr wrap="none" lIns="0" rIns="0" tIns="0" bIns="0">
            <a:spAutoFit/>
          </a:bodyPr>
          <a:lstStyle/>
          <a:p>
            <a:pPr algn="ctr">
              <a:lnSpc>
                <a:spcPct val="115000"/>
              </a:lnSpc>
            </a:pPr>
            <a:r>
              <a:rPr sz="1350" spc="330">
                <a:solidFill>
                  <a:srgbClr val="EBCF9E"/>
                </a:solidFill>
                <a:latin typeface="Todes 1"/>
              </a:rPr>
              <a:t>04</a:t>
            </a:r>
          </a:p>
        </p:txBody>
      </p:sp>
      <p:sp>
        <p:nvSpPr>
          <p:cNvPr id="24" name="TextBox 23"/>
          <p:cNvSpPr txBox="1"/>
          <p:nvPr/>
        </p:nvSpPr>
        <p:spPr>
          <a:xfrm>
            <a:off x="6671854" y="5073319"/>
            <a:ext cx="2743200" cy="411479"/>
          </a:xfrm>
          <a:prstGeom prst="rect">
            <a:avLst/>
          </a:prstGeom>
          <a:noFill/>
        </p:spPr>
        <p:txBody>
          <a:bodyPr wrap="square" lIns="0" rIns="0" tIns="0" bIns="0">
            <a:spAutoFit/>
          </a:bodyPr>
          <a:lstStyle/>
          <a:p>
            <a:pPr algn="ctr">
              <a:lnSpc>
                <a:spcPct val="115000"/>
              </a:lnSpc>
            </a:pPr>
            <a:r>
              <a:rPr sz="1575">
                <a:solidFill>
                  <a:srgbClr val="F2ECDD"/>
                </a:solidFill>
                <a:latin typeface="TT Commons Pro"/>
              </a:rPr>
              <a:t>organize</a:t>
            </a:r>
          </a:p>
        </p:txBody>
      </p:sp>
      <p:sp>
        <p:nvSpPr>
          <p:cNvPr id="25" name="Oval 24"/>
          <p:cNvSpPr/>
          <p:nvPr/>
        </p:nvSpPr>
        <p:spPr>
          <a:xfrm>
            <a:off x="9883357" y="4318939"/>
            <a:ext cx="630936" cy="630936"/>
          </a:xfrm>
          <a:prstGeom prst="ellipse">
            <a:avLst/>
          </a:prstGeom>
          <a:solidFill>
            <a:srgbClr val="084B4D"/>
          </a:solidFill>
          <a:ln w="1397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95805" y="3784015"/>
            <a:ext cx="2606039" cy="411479"/>
          </a:xfrm>
          <a:prstGeom prst="rect">
            <a:avLst/>
          </a:prstGeom>
          <a:noFill/>
        </p:spPr>
        <p:txBody>
          <a:bodyPr wrap="none" lIns="0" rIns="0" tIns="0" bIns="0">
            <a:spAutoFit/>
          </a:bodyPr>
          <a:lstStyle/>
          <a:p>
            <a:pPr algn="ctr">
              <a:lnSpc>
                <a:spcPct val="115000"/>
              </a:lnSpc>
            </a:pPr>
            <a:r>
              <a:rPr sz="1350" spc="330">
                <a:solidFill>
                  <a:srgbClr val="EBCF9E"/>
                </a:solidFill>
                <a:latin typeface="Todes 1"/>
              </a:rPr>
              <a:t>05</a:t>
            </a:r>
          </a:p>
        </p:txBody>
      </p:sp>
      <p:sp>
        <p:nvSpPr>
          <p:cNvPr id="27" name="TextBox 26"/>
          <p:cNvSpPr txBox="1"/>
          <p:nvPr/>
        </p:nvSpPr>
        <p:spPr>
          <a:xfrm>
            <a:off x="8827225" y="5073319"/>
            <a:ext cx="2743200" cy="411479"/>
          </a:xfrm>
          <a:prstGeom prst="rect">
            <a:avLst/>
          </a:prstGeom>
          <a:noFill/>
        </p:spPr>
        <p:txBody>
          <a:bodyPr wrap="square" lIns="0" rIns="0" tIns="0" bIns="0">
            <a:spAutoFit/>
          </a:bodyPr>
          <a:lstStyle/>
          <a:p>
            <a:pPr algn="ctr">
              <a:lnSpc>
                <a:spcPct val="115000"/>
              </a:lnSpc>
            </a:pPr>
            <a:r>
              <a:rPr sz="1575">
                <a:solidFill>
                  <a:srgbClr val="F2ECDD"/>
                </a:solidFill>
                <a:latin typeface="TT Commons Pro"/>
              </a:rPr>
              <a:t>act</a:t>
            </a:r>
          </a:p>
        </p:txBody>
      </p:sp>
      <p:sp>
        <p:nvSpPr>
          <p:cNvPr id="28" name="Oval 27"/>
          <p:cNvSpPr/>
          <p:nvPr/>
        </p:nvSpPr>
        <p:spPr>
          <a:xfrm>
            <a:off x="12038729" y="4623517"/>
            <a:ext cx="630936" cy="630936"/>
          </a:xfrm>
          <a:prstGeom prst="ellipse">
            <a:avLst/>
          </a:prstGeom>
          <a:solidFill>
            <a:srgbClr val="084B4D"/>
          </a:solidFill>
          <a:ln w="1397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051177" y="4088593"/>
            <a:ext cx="2606039" cy="411479"/>
          </a:xfrm>
          <a:prstGeom prst="rect">
            <a:avLst/>
          </a:prstGeom>
          <a:noFill/>
        </p:spPr>
        <p:txBody>
          <a:bodyPr wrap="none" lIns="0" rIns="0" tIns="0" bIns="0">
            <a:spAutoFit/>
          </a:bodyPr>
          <a:lstStyle/>
          <a:p>
            <a:pPr algn="ctr">
              <a:lnSpc>
                <a:spcPct val="115000"/>
              </a:lnSpc>
            </a:pPr>
            <a:r>
              <a:rPr sz="1350" spc="330">
                <a:solidFill>
                  <a:srgbClr val="EBCF9E"/>
                </a:solidFill>
                <a:latin typeface="Todes 1"/>
              </a:rPr>
              <a:t>06</a:t>
            </a:r>
          </a:p>
        </p:txBody>
      </p:sp>
      <p:sp>
        <p:nvSpPr>
          <p:cNvPr id="30" name="TextBox 29"/>
          <p:cNvSpPr txBox="1"/>
          <p:nvPr/>
        </p:nvSpPr>
        <p:spPr>
          <a:xfrm>
            <a:off x="10982597" y="5377897"/>
            <a:ext cx="2743200" cy="411479"/>
          </a:xfrm>
          <a:prstGeom prst="rect">
            <a:avLst/>
          </a:prstGeom>
          <a:noFill/>
        </p:spPr>
        <p:txBody>
          <a:bodyPr wrap="square" lIns="0" rIns="0" tIns="0" bIns="0">
            <a:spAutoFit/>
          </a:bodyPr>
          <a:lstStyle/>
          <a:p>
            <a:pPr algn="ctr">
              <a:lnSpc>
                <a:spcPct val="115000"/>
              </a:lnSpc>
            </a:pPr>
            <a:r>
              <a:rPr sz="1575">
                <a:solidFill>
                  <a:srgbClr val="F2ECDD"/>
                </a:solidFill>
                <a:latin typeface="TT Commons Pro"/>
              </a:rPr>
              <a:t>verify</a:t>
            </a:r>
          </a:p>
        </p:txBody>
      </p:sp>
      <p:sp>
        <p:nvSpPr>
          <p:cNvPr id="31" name="Oval 30"/>
          <p:cNvSpPr/>
          <p:nvPr/>
        </p:nvSpPr>
        <p:spPr>
          <a:xfrm>
            <a:off x="14194100" y="5172349"/>
            <a:ext cx="630936" cy="630936"/>
          </a:xfrm>
          <a:prstGeom prst="ellipse">
            <a:avLst/>
          </a:prstGeom>
          <a:solidFill>
            <a:srgbClr val="084B4D"/>
          </a:solidFill>
          <a:ln w="1397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3206548" y="4637425"/>
            <a:ext cx="2606039" cy="411479"/>
          </a:xfrm>
          <a:prstGeom prst="rect">
            <a:avLst/>
          </a:prstGeom>
          <a:noFill/>
        </p:spPr>
        <p:txBody>
          <a:bodyPr wrap="none" lIns="0" rIns="0" tIns="0" bIns="0">
            <a:spAutoFit/>
          </a:bodyPr>
          <a:lstStyle/>
          <a:p>
            <a:pPr algn="ctr">
              <a:lnSpc>
                <a:spcPct val="115000"/>
              </a:lnSpc>
            </a:pPr>
            <a:r>
              <a:rPr sz="1350" spc="330">
                <a:solidFill>
                  <a:srgbClr val="EBCF9E"/>
                </a:solidFill>
                <a:latin typeface="Todes 1"/>
              </a:rPr>
              <a:t>07</a:t>
            </a:r>
          </a:p>
        </p:txBody>
      </p:sp>
      <p:sp>
        <p:nvSpPr>
          <p:cNvPr id="33" name="TextBox 32"/>
          <p:cNvSpPr txBox="1"/>
          <p:nvPr/>
        </p:nvSpPr>
        <p:spPr>
          <a:xfrm>
            <a:off x="13137968" y="5926729"/>
            <a:ext cx="2743200" cy="411479"/>
          </a:xfrm>
          <a:prstGeom prst="rect">
            <a:avLst/>
          </a:prstGeom>
          <a:noFill/>
        </p:spPr>
        <p:txBody>
          <a:bodyPr wrap="square" lIns="0" rIns="0" tIns="0" bIns="0">
            <a:spAutoFit/>
          </a:bodyPr>
          <a:lstStyle/>
          <a:p>
            <a:pPr algn="ctr">
              <a:lnSpc>
                <a:spcPct val="115000"/>
              </a:lnSpc>
            </a:pPr>
            <a:r>
              <a:rPr sz="1575">
                <a:solidFill>
                  <a:srgbClr val="F2ECDD"/>
                </a:solidFill>
                <a:latin typeface="TT Commons Pro"/>
              </a:rPr>
              <a:t>account</a:t>
            </a:r>
          </a:p>
        </p:txBody>
      </p:sp>
      <p:sp>
        <p:nvSpPr>
          <p:cNvPr id="34" name="Oval 33"/>
          <p:cNvSpPr/>
          <p:nvPr/>
        </p:nvSpPr>
        <p:spPr>
          <a:xfrm>
            <a:off x="16349472" y="5856731"/>
            <a:ext cx="630936" cy="630936"/>
          </a:xfrm>
          <a:prstGeom prst="ellipse">
            <a:avLst/>
          </a:prstGeom>
          <a:solidFill>
            <a:srgbClr val="084B4D"/>
          </a:solidFill>
          <a:ln w="1397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5361920" y="5321808"/>
            <a:ext cx="2606039" cy="411479"/>
          </a:xfrm>
          <a:prstGeom prst="rect">
            <a:avLst/>
          </a:prstGeom>
          <a:noFill/>
        </p:spPr>
        <p:txBody>
          <a:bodyPr wrap="none" lIns="0" rIns="0" tIns="0" bIns="0">
            <a:spAutoFit/>
          </a:bodyPr>
          <a:lstStyle/>
          <a:p>
            <a:pPr algn="ctr">
              <a:lnSpc>
                <a:spcPct val="115000"/>
              </a:lnSpc>
            </a:pPr>
            <a:r>
              <a:rPr sz="1350" spc="330">
                <a:solidFill>
                  <a:srgbClr val="EBCF9E"/>
                </a:solidFill>
                <a:latin typeface="Todes 1"/>
              </a:rPr>
              <a:t>08</a:t>
            </a:r>
          </a:p>
        </p:txBody>
      </p:sp>
      <p:sp>
        <p:nvSpPr>
          <p:cNvPr id="36" name="TextBox 35"/>
          <p:cNvSpPr txBox="1"/>
          <p:nvPr/>
        </p:nvSpPr>
        <p:spPr>
          <a:xfrm>
            <a:off x="15293340" y="6611112"/>
            <a:ext cx="2743200" cy="411479"/>
          </a:xfrm>
          <a:prstGeom prst="rect">
            <a:avLst/>
          </a:prstGeom>
          <a:noFill/>
        </p:spPr>
        <p:txBody>
          <a:bodyPr wrap="square" lIns="0" rIns="0" tIns="0" bIns="0">
            <a:spAutoFit/>
          </a:bodyPr>
          <a:lstStyle/>
          <a:p>
            <a:pPr algn="ctr">
              <a:lnSpc>
                <a:spcPct val="115000"/>
              </a:lnSpc>
            </a:pPr>
            <a:r>
              <a:rPr sz="1575">
                <a:solidFill>
                  <a:srgbClr val="F2ECDD"/>
                </a:solidFill>
                <a:latin typeface="TT Commons Pro"/>
              </a:rPr>
              <a:t>compensate</a:t>
            </a:r>
          </a:p>
        </p:txBody>
      </p:sp>
      <p:sp>
        <p:nvSpPr>
          <p:cNvPr id="37" name="TextBox 36"/>
          <p:cNvSpPr txBox="1"/>
          <p:nvPr/>
        </p:nvSpPr>
        <p:spPr>
          <a:xfrm>
            <a:off x="822959" y="8641080"/>
            <a:ext cx="16596359" cy="1097280"/>
          </a:xfrm>
          <a:prstGeom prst="rect">
            <a:avLst/>
          </a:prstGeom>
          <a:noFill/>
        </p:spPr>
        <p:txBody>
          <a:bodyPr wrap="square" lIns="0" rIns="0" tIns="0" bIns="0">
            <a:spAutoFit/>
          </a:bodyPr>
          <a:lstStyle/>
          <a:p>
            <a:pPr algn="ctr">
              <a:lnSpc>
                <a:spcPct val="140000"/>
              </a:lnSpc>
            </a:pPr>
            <a:r>
              <a:rPr sz="1875">
                <a:solidFill>
                  <a:srgbClr val="F2ECDD"/>
                </a:solidFill>
                <a:latin typeface="TT Commons Pro"/>
              </a:rPr>
              <a:t>A person finds a project. The project creates a role. The role has tasks. Value moves. The organization sees what happened.</a:t>
            </a:r>
          </a:p>
          <a:p>
            <a:pPr algn="ctr">
              <a:lnSpc>
                <a:spcPct val="140000"/>
              </a:lnSpc>
            </a:pPr>
            <a:r>
              <a:rPr sz="1950">
                <a:solidFill>
                  <a:srgbClr val="EBCF9E"/>
                </a:solidFill>
                <a:latin typeface="TT Commons Pro Bold"/>
              </a:rPr>
              <a:t>The person builds a history of real participation.</a:t>
            </a:r>
          </a:p>
        </p:txBody>
      </p:sp>
      <p:pic>
        <p:nvPicPr>
          <p:cNvPr id="38" name="Picture 37" descr="rivr-symbol-light.png"/>
          <p:cNvPicPr>
            <a:picLocks noChangeAspect="1"/>
          </p:cNvPicPr>
          <p:nvPr/>
        </p:nvPicPr>
        <p:blipFill>
          <a:blip r:embed="rId4"/>
          <a:stretch>
            <a:fillRect/>
          </a:stretch>
        </p:blipFill>
        <p:spPr>
          <a:xfrm>
            <a:off x="576072" y="9518904"/>
            <a:ext cx="521208" cy="521208"/>
          </a:xfrm>
          <a:prstGeom prst="rect">
            <a:avLst/>
          </a:prstGeom>
        </p:spPr>
      </p:pic>
      <p:sp>
        <p:nvSpPr>
          <p:cNvPr id="39" name="TextBox 38"/>
          <p:cNvSpPr txBox="1"/>
          <p:nvPr/>
        </p:nvSpPr>
        <p:spPr>
          <a:xfrm>
            <a:off x="1371600" y="9724644"/>
            <a:ext cx="5486400" cy="301752"/>
          </a:xfrm>
          <a:prstGeom prst="rect">
            <a:avLst/>
          </a:prstGeom>
          <a:noFill/>
        </p:spPr>
        <p:txBody>
          <a:bodyPr wrap="none" lIns="0" rIns="0" tIns="0" bIns="0">
            <a:spAutoFit/>
          </a:bodyPr>
          <a:lstStyle/>
          <a:p>
            <a:pPr algn="l">
              <a:lnSpc>
                <a:spcPct val="115000"/>
              </a:lnSpc>
            </a:pPr>
            <a:r>
              <a:rPr sz="1350" spc="150">
                <a:solidFill>
                  <a:srgbClr val="AFC4C2"/>
                </a:solidFill>
                <a:latin typeface="TT Commons Pro"/>
              </a:rPr>
              <a:t>Rivr · Seed Round 2026</a:t>
            </a:r>
          </a:p>
        </p:txBody>
      </p:sp>
      <p:sp>
        <p:nvSpPr>
          <p:cNvPr id="40" name="TextBox 39"/>
          <p:cNvSpPr txBox="1"/>
          <p:nvPr/>
        </p:nvSpPr>
        <p:spPr>
          <a:xfrm>
            <a:off x="16870680" y="9724644"/>
            <a:ext cx="960119" cy="301752"/>
          </a:xfrm>
          <a:prstGeom prst="rect">
            <a:avLst/>
          </a:prstGeom>
          <a:noFill/>
        </p:spPr>
        <p:txBody>
          <a:bodyPr wrap="none" lIns="0" rIns="0" tIns="0" bIns="0">
            <a:spAutoFit/>
          </a:bodyPr>
          <a:lstStyle/>
          <a:p>
            <a:pPr algn="r">
              <a:lnSpc>
                <a:spcPct val="115000"/>
              </a:lnSpc>
            </a:pPr>
            <a:r>
              <a:rPr sz="1350" spc="150">
                <a:solidFill>
                  <a:srgbClr val="AFC4C2"/>
                </a:solidFill>
                <a:latin typeface="TT Commons Pro"/>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3333"/>
        </a:solidFill>
        <a:effectLst/>
      </p:bgPr>
    </p:bg>
    <p:spTree>
      <p:nvGrpSpPr>
        <p:cNvPr id="1" name=""/>
        <p:cNvGrpSpPr/>
        <p:nvPr/>
      </p:nvGrpSpPr>
      <p:grpSpPr/>
      <p:pic>
        <p:nvPicPr>
          <p:cNvPr id="2" name="Picture 1" descr="bg_c10.jpg"/>
          <p:cNvPicPr>
            <a:picLocks noChangeAspect="1"/>
          </p:cNvPicPr>
          <p:nvPr/>
        </p:nvPicPr>
        <p:blipFill>
          <a:blip r:embed="rId2"/>
          <a:stretch>
            <a:fillRect/>
          </a:stretch>
        </p:blipFill>
        <p:spPr>
          <a:xfrm>
            <a:off x="0" y="0"/>
            <a:ext cx="18287542" cy="10287000"/>
          </a:xfrm>
          <a:prstGeom prst="rect">
            <a:avLst/>
          </a:prstGeom>
        </p:spPr>
      </p:pic>
      <p:sp>
        <p:nvSpPr>
          <p:cNvPr id="3" name="TextBox 2"/>
          <p:cNvSpPr txBox="1"/>
          <p:nvPr/>
        </p:nvSpPr>
        <p:spPr>
          <a:xfrm>
            <a:off x="822959" y="822959"/>
            <a:ext cx="16733519" cy="384048"/>
          </a:xfrm>
          <a:prstGeom prst="rect">
            <a:avLst/>
          </a:prstGeom>
          <a:noFill/>
        </p:spPr>
        <p:txBody>
          <a:bodyPr wrap="none" lIns="0" rIns="0" tIns="0" bIns="0">
            <a:spAutoFit/>
          </a:bodyPr>
          <a:lstStyle/>
          <a:p>
            <a:pPr algn="l">
              <a:lnSpc>
                <a:spcPct val="115000"/>
              </a:lnSpc>
            </a:pPr>
            <a:r>
              <a:rPr sz="1650" spc="330">
                <a:solidFill>
                  <a:srgbClr val="9FE8DC"/>
                </a:solidFill>
                <a:latin typeface="Todes 1"/>
              </a:rPr>
              <a:t>CONTRIBUTION OVER POPULARITY</a:t>
            </a:r>
          </a:p>
        </p:txBody>
      </p:sp>
      <p:sp>
        <p:nvSpPr>
          <p:cNvPr id="4" name="TextBox 3"/>
          <p:cNvSpPr txBox="1"/>
          <p:nvPr/>
        </p:nvSpPr>
        <p:spPr>
          <a:xfrm>
            <a:off x="822959" y="1699869"/>
            <a:ext cx="15556468" cy="880052"/>
          </a:xfrm>
          <a:prstGeom prst="rect">
            <a:avLst/>
          </a:prstGeom>
          <a:noFill/>
        </p:spPr>
        <p:txBody>
          <a:bodyPr wrap="none" lIns="0" rIns="0" tIns="0" bIns="0">
            <a:spAutoFit/>
          </a:bodyPr>
          <a:lstStyle/>
          <a:p>
            <a:pPr algn="l">
              <a:lnSpc>
                <a:spcPct val="115000"/>
              </a:lnSpc>
            </a:pPr>
            <a:r>
              <a:rPr sz="4779" spc="-65">
                <a:solidFill>
                  <a:srgbClr val="F4EAD8"/>
                </a:solidFill>
                <a:latin typeface="Todes 1"/>
              </a:rPr>
              <a:t>Contribution can become more visible </a:t>
            </a:r>
          </a:p>
        </p:txBody>
      </p:sp>
      <p:sp>
        <p:nvSpPr>
          <p:cNvPr id="5" name="TextBox 4"/>
          <p:cNvSpPr txBox="1"/>
          <p:nvPr/>
        </p:nvSpPr>
        <p:spPr>
          <a:xfrm>
            <a:off x="13103542" y="1645919"/>
            <a:ext cx="5783818" cy="977836"/>
          </a:xfrm>
          <a:prstGeom prst="rect">
            <a:avLst/>
          </a:prstGeom>
          <a:noFill/>
        </p:spPr>
        <p:txBody>
          <a:bodyPr wrap="none" lIns="0" rIns="0" tIns="0" bIns="0">
            <a:spAutoFit/>
          </a:bodyPr>
          <a:lstStyle/>
          <a:p>
            <a:pPr algn="l">
              <a:lnSpc>
                <a:spcPct val="115000"/>
              </a:lnSpc>
            </a:pPr>
            <a:r>
              <a:rPr sz="5309" spc="-75">
                <a:solidFill>
                  <a:srgbClr val="EBCF9E"/>
                </a:solidFill>
                <a:latin typeface="Ibarra Real Nova Italics"/>
              </a:rPr>
              <a:t>than popularity.</a:t>
            </a:r>
          </a:p>
        </p:txBody>
      </p:sp>
      <p:sp>
        <p:nvSpPr>
          <p:cNvPr id="6" name="TextBox 5"/>
          <p:cNvSpPr txBox="1"/>
          <p:nvPr/>
        </p:nvSpPr>
        <p:spPr>
          <a:xfrm>
            <a:off x="822959" y="3566160"/>
            <a:ext cx="7680959" cy="411479"/>
          </a:xfrm>
          <a:prstGeom prst="rect">
            <a:avLst/>
          </a:prstGeom>
          <a:noFill/>
        </p:spPr>
        <p:txBody>
          <a:bodyPr wrap="none" lIns="0" rIns="0" tIns="0" bIns="0">
            <a:spAutoFit/>
          </a:bodyPr>
          <a:lstStyle/>
          <a:p>
            <a:pPr algn="l">
              <a:lnSpc>
                <a:spcPct val="115000"/>
              </a:lnSpc>
            </a:pPr>
            <a:r>
              <a:rPr sz="1500" spc="330">
                <a:solidFill>
                  <a:srgbClr val="D3B7A5"/>
                </a:solidFill>
                <a:latin typeface="Todes 1"/>
              </a:rPr>
              <a:t>MOST PLATFORMS MEASURE</a:t>
            </a:r>
          </a:p>
        </p:txBody>
      </p:sp>
      <p:sp>
        <p:nvSpPr>
          <p:cNvPr id="7" name="TextBox 6"/>
          <p:cNvSpPr txBox="1"/>
          <p:nvPr/>
        </p:nvSpPr>
        <p:spPr>
          <a:xfrm>
            <a:off x="822959" y="4210812"/>
            <a:ext cx="2606039" cy="411479"/>
          </a:xfrm>
          <a:prstGeom prst="rect">
            <a:avLst/>
          </a:prstGeom>
          <a:noFill/>
        </p:spPr>
        <p:txBody>
          <a:bodyPr wrap="square" lIns="0" rIns="0" tIns="0" bIns="0">
            <a:spAutoFit/>
          </a:bodyPr>
          <a:lstStyle/>
          <a:p>
            <a:pPr algn="l">
              <a:lnSpc>
                <a:spcPct val="115000"/>
              </a:lnSpc>
            </a:pPr>
            <a:r>
              <a:rPr sz="1500">
                <a:solidFill>
                  <a:srgbClr val="AFC4C2"/>
                </a:solidFill>
                <a:latin typeface="TT Commons Pro"/>
              </a:rPr>
              <a:t>followers</a:t>
            </a:r>
          </a:p>
        </p:txBody>
      </p:sp>
      <p:sp>
        <p:nvSpPr>
          <p:cNvPr id="8" name="Rounded Rectangle 7"/>
          <p:cNvSpPr/>
          <p:nvPr/>
        </p:nvSpPr>
        <p:spPr>
          <a:xfrm>
            <a:off x="3429000" y="4114800"/>
            <a:ext cx="3429000" cy="493776"/>
          </a:xfrm>
          <a:prstGeom prst="roundRect">
            <a:avLst>
              <a:gd name="adj" fmla="val 18000"/>
            </a:avLst>
          </a:prstGeom>
          <a:solidFill>
            <a:srgbClr val="084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77456" y="4197096"/>
            <a:ext cx="1920239" cy="411479"/>
          </a:xfrm>
          <a:prstGeom prst="rect">
            <a:avLst/>
          </a:prstGeom>
          <a:noFill/>
        </p:spPr>
        <p:txBody>
          <a:bodyPr wrap="none" lIns="0" rIns="0" tIns="0" bIns="0">
            <a:spAutoFit/>
          </a:bodyPr>
          <a:lstStyle/>
          <a:p>
            <a:pPr algn="l">
              <a:lnSpc>
                <a:spcPct val="115000"/>
              </a:lnSpc>
            </a:pPr>
            <a:r>
              <a:rPr sz="1350" spc="330">
                <a:solidFill>
                  <a:srgbClr val="D3B7A5"/>
                </a:solidFill>
                <a:latin typeface="Todes 1"/>
              </a:rPr>
              <a:t/>
            </a:r>
          </a:p>
        </p:txBody>
      </p:sp>
      <p:sp>
        <p:nvSpPr>
          <p:cNvPr id="10" name="TextBox 9"/>
          <p:cNvSpPr txBox="1"/>
          <p:nvPr/>
        </p:nvSpPr>
        <p:spPr>
          <a:xfrm>
            <a:off x="822959" y="4924044"/>
            <a:ext cx="2606039" cy="411479"/>
          </a:xfrm>
          <a:prstGeom prst="rect">
            <a:avLst/>
          </a:prstGeom>
          <a:noFill/>
        </p:spPr>
        <p:txBody>
          <a:bodyPr wrap="square" lIns="0" rIns="0" tIns="0" bIns="0">
            <a:spAutoFit/>
          </a:bodyPr>
          <a:lstStyle/>
          <a:p>
            <a:pPr algn="l">
              <a:lnSpc>
                <a:spcPct val="115000"/>
              </a:lnSpc>
            </a:pPr>
            <a:r>
              <a:rPr sz="1500">
                <a:solidFill>
                  <a:srgbClr val="AFC4C2"/>
                </a:solidFill>
                <a:latin typeface="TT Commons Pro"/>
              </a:rPr>
              <a:t>likes</a:t>
            </a:r>
          </a:p>
        </p:txBody>
      </p:sp>
      <p:sp>
        <p:nvSpPr>
          <p:cNvPr id="11" name="Rounded Rectangle 10"/>
          <p:cNvSpPr/>
          <p:nvPr/>
        </p:nvSpPr>
        <p:spPr>
          <a:xfrm>
            <a:off x="3429000" y="4828032"/>
            <a:ext cx="2887578" cy="493776"/>
          </a:xfrm>
          <a:prstGeom prst="roundRect">
            <a:avLst>
              <a:gd name="adj" fmla="val 18000"/>
            </a:avLst>
          </a:prstGeom>
          <a:solidFill>
            <a:srgbClr val="084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6034" y="4910328"/>
            <a:ext cx="1920239" cy="411479"/>
          </a:xfrm>
          <a:prstGeom prst="rect">
            <a:avLst/>
          </a:prstGeom>
          <a:noFill/>
        </p:spPr>
        <p:txBody>
          <a:bodyPr wrap="none" lIns="0" rIns="0" tIns="0" bIns="0">
            <a:spAutoFit/>
          </a:bodyPr>
          <a:lstStyle/>
          <a:p>
            <a:pPr algn="l">
              <a:lnSpc>
                <a:spcPct val="115000"/>
              </a:lnSpc>
            </a:pPr>
            <a:r>
              <a:rPr sz="1350" spc="330">
                <a:solidFill>
                  <a:srgbClr val="D3B7A5"/>
                </a:solidFill>
                <a:latin typeface="Todes 1"/>
              </a:rPr>
              <a:t/>
            </a:r>
          </a:p>
        </p:txBody>
      </p:sp>
      <p:sp>
        <p:nvSpPr>
          <p:cNvPr id="13" name="TextBox 12"/>
          <p:cNvSpPr txBox="1"/>
          <p:nvPr/>
        </p:nvSpPr>
        <p:spPr>
          <a:xfrm>
            <a:off x="822959" y="5637275"/>
            <a:ext cx="2606039" cy="411479"/>
          </a:xfrm>
          <a:prstGeom prst="rect">
            <a:avLst/>
          </a:prstGeom>
          <a:noFill/>
        </p:spPr>
        <p:txBody>
          <a:bodyPr wrap="square" lIns="0" rIns="0" tIns="0" bIns="0">
            <a:spAutoFit/>
          </a:bodyPr>
          <a:lstStyle/>
          <a:p>
            <a:pPr algn="l">
              <a:lnSpc>
                <a:spcPct val="115000"/>
              </a:lnSpc>
            </a:pPr>
            <a:r>
              <a:rPr sz="1500">
                <a:solidFill>
                  <a:srgbClr val="AFC4C2"/>
                </a:solidFill>
                <a:latin typeface="TT Commons Pro"/>
              </a:rPr>
              <a:t>views</a:t>
            </a:r>
          </a:p>
        </p:txBody>
      </p:sp>
      <p:sp>
        <p:nvSpPr>
          <p:cNvPr id="14" name="Rounded Rectangle 13"/>
          <p:cNvSpPr/>
          <p:nvPr/>
        </p:nvSpPr>
        <p:spPr>
          <a:xfrm>
            <a:off x="3429000" y="5541264"/>
            <a:ext cx="2526631" cy="493776"/>
          </a:xfrm>
          <a:prstGeom prst="roundRect">
            <a:avLst>
              <a:gd name="adj" fmla="val 18000"/>
            </a:avLst>
          </a:prstGeom>
          <a:solidFill>
            <a:srgbClr val="084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75087" y="5623559"/>
            <a:ext cx="1920239" cy="411479"/>
          </a:xfrm>
          <a:prstGeom prst="rect">
            <a:avLst/>
          </a:prstGeom>
          <a:noFill/>
        </p:spPr>
        <p:txBody>
          <a:bodyPr wrap="none" lIns="0" rIns="0" tIns="0" bIns="0">
            <a:spAutoFit/>
          </a:bodyPr>
          <a:lstStyle/>
          <a:p>
            <a:pPr algn="l">
              <a:lnSpc>
                <a:spcPct val="115000"/>
              </a:lnSpc>
            </a:pPr>
            <a:r>
              <a:rPr sz="1350" spc="330">
                <a:solidFill>
                  <a:srgbClr val="D3B7A5"/>
                </a:solidFill>
                <a:latin typeface="Todes 1"/>
              </a:rPr>
              <a:t/>
            </a:r>
          </a:p>
        </p:txBody>
      </p:sp>
      <p:sp>
        <p:nvSpPr>
          <p:cNvPr id="16" name="TextBox 15"/>
          <p:cNvSpPr txBox="1"/>
          <p:nvPr/>
        </p:nvSpPr>
        <p:spPr>
          <a:xfrm>
            <a:off x="822959" y="6350508"/>
            <a:ext cx="2606039" cy="411479"/>
          </a:xfrm>
          <a:prstGeom prst="rect">
            <a:avLst/>
          </a:prstGeom>
          <a:noFill/>
        </p:spPr>
        <p:txBody>
          <a:bodyPr wrap="square" lIns="0" rIns="0" tIns="0" bIns="0">
            <a:spAutoFit/>
          </a:bodyPr>
          <a:lstStyle/>
          <a:p>
            <a:pPr algn="l">
              <a:lnSpc>
                <a:spcPct val="115000"/>
              </a:lnSpc>
            </a:pPr>
            <a:r>
              <a:rPr sz="1500">
                <a:solidFill>
                  <a:srgbClr val="AFC4C2"/>
                </a:solidFill>
                <a:latin typeface="TT Commons Pro"/>
              </a:rPr>
              <a:t>engagement</a:t>
            </a:r>
          </a:p>
        </p:txBody>
      </p:sp>
      <p:sp>
        <p:nvSpPr>
          <p:cNvPr id="17" name="Rounded Rectangle 16"/>
          <p:cNvSpPr/>
          <p:nvPr/>
        </p:nvSpPr>
        <p:spPr>
          <a:xfrm>
            <a:off x="3429000" y="6254496"/>
            <a:ext cx="2165684" cy="493776"/>
          </a:xfrm>
          <a:prstGeom prst="roundRect">
            <a:avLst>
              <a:gd name="adj" fmla="val 18000"/>
            </a:avLst>
          </a:prstGeom>
          <a:solidFill>
            <a:srgbClr val="084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14140" y="6336792"/>
            <a:ext cx="1920239" cy="411479"/>
          </a:xfrm>
          <a:prstGeom prst="rect">
            <a:avLst/>
          </a:prstGeom>
          <a:noFill/>
        </p:spPr>
        <p:txBody>
          <a:bodyPr wrap="none" lIns="0" rIns="0" tIns="0" bIns="0">
            <a:spAutoFit/>
          </a:bodyPr>
          <a:lstStyle/>
          <a:p>
            <a:pPr algn="l">
              <a:lnSpc>
                <a:spcPct val="115000"/>
              </a:lnSpc>
            </a:pPr>
            <a:r>
              <a:rPr sz="1350" spc="330">
                <a:solidFill>
                  <a:srgbClr val="D3B7A5"/>
                </a:solidFill>
                <a:latin typeface="Todes 1"/>
              </a:rPr>
              <a:t/>
            </a:r>
          </a:p>
        </p:txBody>
      </p:sp>
      <p:sp>
        <p:nvSpPr>
          <p:cNvPr id="19" name="TextBox 18"/>
          <p:cNvSpPr txBox="1"/>
          <p:nvPr/>
        </p:nvSpPr>
        <p:spPr>
          <a:xfrm>
            <a:off x="822959" y="7338059"/>
            <a:ext cx="8092440" cy="822959"/>
          </a:xfrm>
          <a:prstGeom prst="rect">
            <a:avLst/>
          </a:prstGeom>
          <a:noFill/>
        </p:spPr>
        <p:txBody>
          <a:bodyPr wrap="square" lIns="0" rIns="0" tIns="0" bIns="0">
            <a:spAutoFit/>
          </a:bodyPr>
          <a:lstStyle/>
          <a:p>
            <a:pPr algn="l">
              <a:lnSpc>
                <a:spcPct val="115000"/>
              </a:lnSpc>
            </a:pPr>
            <a:r>
              <a:rPr sz="1725">
                <a:solidFill>
                  <a:srgbClr val="AFC4C2"/>
                </a:solidFill>
                <a:latin typeface="TT Commons Pro"/>
              </a:rPr>
              <a:t>A popularity score — tuned to keep people performing for the feed.</a:t>
            </a:r>
          </a:p>
        </p:txBody>
      </p:sp>
      <p:sp>
        <p:nvSpPr>
          <p:cNvPr id="20" name="TextBox 19"/>
          <p:cNvSpPr txBox="1"/>
          <p:nvPr/>
        </p:nvSpPr>
        <p:spPr>
          <a:xfrm>
            <a:off x="9532620" y="3566160"/>
            <a:ext cx="7680959" cy="411479"/>
          </a:xfrm>
          <a:prstGeom prst="rect">
            <a:avLst/>
          </a:prstGeom>
          <a:noFill/>
        </p:spPr>
        <p:txBody>
          <a:bodyPr wrap="none" lIns="0" rIns="0" tIns="0" bIns="0">
            <a:spAutoFit/>
          </a:bodyPr>
          <a:lstStyle/>
          <a:p>
            <a:pPr algn="l">
              <a:lnSpc>
                <a:spcPct val="115000"/>
              </a:lnSpc>
            </a:pPr>
            <a:r>
              <a:rPr sz="1500" spc="330">
                <a:solidFill>
                  <a:srgbClr val="EBCF9E"/>
                </a:solidFill>
                <a:latin typeface="Todes 1"/>
              </a:rPr>
              <a:t>RIVR CAN MEASURE</a:t>
            </a:r>
          </a:p>
        </p:txBody>
      </p:sp>
      <p:sp>
        <p:nvSpPr>
          <p:cNvPr id="21" name="TextBox 20"/>
          <p:cNvSpPr txBox="1"/>
          <p:nvPr/>
        </p:nvSpPr>
        <p:spPr>
          <a:xfrm>
            <a:off x="9532620" y="4210812"/>
            <a:ext cx="3154679" cy="411479"/>
          </a:xfrm>
          <a:prstGeom prst="rect">
            <a:avLst/>
          </a:prstGeom>
          <a:noFill/>
        </p:spPr>
        <p:txBody>
          <a:bodyPr wrap="square" lIns="0" rIns="0" tIns="0" bIns="0">
            <a:spAutoFit/>
          </a:bodyPr>
          <a:lstStyle/>
          <a:p>
            <a:pPr algn="l">
              <a:lnSpc>
                <a:spcPct val="115000"/>
              </a:lnSpc>
            </a:pPr>
            <a:r>
              <a:rPr sz="1500">
                <a:solidFill>
                  <a:srgbClr val="F2ECDD"/>
                </a:solidFill>
                <a:latin typeface="TT Commons Pro"/>
              </a:rPr>
              <a:t>projects helped</a:t>
            </a:r>
          </a:p>
        </p:txBody>
      </p:sp>
      <p:sp>
        <p:nvSpPr>
          <p:cNvPr id="22" name="Rounded Rectangle 21"/>
          <p:cNvSpPr/>
          <p:nvPr/>
        </p:nvSpPr>
        <p:spPr>
          <a:xfrm>
            <a:off x="12687300" y="4114800"/>
            <a:ext cx="2743200" cy="493776"/>
          </a:xfrm>
          <a:prstGeom prst="roundRect">
            <a:avLst>
              <a:gd name="adj" fmla="val 18000"/>
            </a:avLst>
          </a:prstGeom>
          <a:solidFill>
            <a:srgbClr val="99E6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649956" y="4197096"/>
            <a:ext cx="1920239" cy="411479"/>
          </a:xfrm>
          <a:prstGeom prst="rect">
            <a:avLst/>
          </a:prstGeom>
          <a:noFill/>
        </p:spPr>
        <p:txBody>
          <a:bodyPr wrap="none" lIns="0" rIns="0" tIns="0" bIns="0">
            <a:spAutoFit/>
          </a:bodyPr>
          <a:lstStyle/>
          <a:p>
            <a:pPr algn="l">
              <a:lnSpc>
                <a:spcPct val="115000"/>
              </a:lnSpc>
            </a:pPr>
            <a:r>
              <a:rPr sz="1350" spc="330">
                <a:solidFill>
                  <a:srgbClr val="EBCF9E"/>
                </a:solidFill>
                <a:latin typeface="Todes 1"/>
              </a:rPr>
              <a:t/>
            </a:r>
          </a:p>
        </p:txBody>
      </p:sp>
      <p:sp>
        <p:nvSpPr>
          <p:cNvPr id="24" name="TextBox 23"/>
          <p:cNvSpPr txBox="1"/>
          <p:nvPr/>
        </p:nvSpPr>
        <p:spPr>
          <a:xfrm>
            <a:off x="9532620" y="4924044"/>
            <a:ext cx="3154679" cy="411479"/>
          </a:xfrm>
          <a:prstGeom prst="rect">
            <a:avLst/>
          </a:prstGeom>
          <a:noFill/>
        </p:spPr>
        <p:txBody>
          <a:bodyPr wrap="square" lIns="0" rIns="0" tIns="0" bIns="0">
            <a:spAutoFit/>
          </a:bodyPr>
          <a:lstStyle/>
          <a:p>
            <a:pPr algn="l">
              <a:lnSpc>
                <a:spcPct val="115000"/>
              </a:lnSpc>
            </a:pPr>
            <a:r>
              <a:rPr sz="1500">
                <a:solidFill>
                  <a:srgbClr val="F2ECDD"/>
                </a:solidFill>
                <a:latin typeface="TT Commons Pro"/>
              </a:rPr>
              <a:t>work completed</a:t>
            </a:r>
          </a:p>
        </p:txBody>
      </p:sp>
      <p:sp>
        <p:nvSpPr>
          <p:cNvPr id="25" name="Rounded Rectangle 24"/>
          <p:cNvSpPr/>
          <p:nvPr/>
        </p:nvSpPr>
        <p:spPr>
          <a:xfrm>
            <a:off x="12687300" y="4828032"/>
            <a:ext cx="2590799" cy="493776"/>
          </a:xfrm>
          <a:prstGeom prst="roundRect">
            <a:avLst>
              <a:gd name="adj" fmla="val 18000"/>
            </a:avLst>
          </a:prstGeom>
          <a:solidFill>
            <a:srgbClr val="99E6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5497556" y="4910328"/>
            <a:ext cx="1920239" cy="411479"/>
          </a:xfrm>
          <a:prstGeom prst="rect">
            <a:avLst/>
          </a:prstGeom>
          <a:noFill/>
        </p:spPr>
        <p:txBody>
          <a:bodyPr wrap="none" lIns="0" rIns="0" tIns="0" bIns="0">
            <a:spAutoFit/>
          </a:bodyPr>
          <a:lstStyle/>
          <a:p>
            <a:pPr algn="l">
              <a:lnSpc>
                <a:spcPct val="115000"/>
              </a:lnSpc>
            </a:pPr>
            <a:r>
              <a:rPr sz="1350" spc="330">
                <a:solidFill>
                  <a:srgbClr val="EBCF9E"/>
                </a:solidFill>
                <a:latin typeface="Todes 1"/>
              </a:rPr>
              <a:t/>
            </a:r>
          </a:p>
        </p:txBody>
      </p:sp>
      <p:sp>
        <p:nvSpPr>
          <p:cNvPr id="27" name="TextBox 26"/>
          <p:cNvSpPr txBox="1"/>
          <p:nvPr/>
        </p:nvSpPr>
        <p:spPr>
          <a:xfrm>
            <a:off x="9532620" y="5637275"/>
            <a:ext cx="3154679" cy="411479"/>
          </a:xfrm>
          <a:prstGeom prst="rect">
            <a:avLst/>
          </a:prstGeom>
          <a:noFill/>
        </p:spPr>
        <p:txBody>
          <a:bodyPr wrap="square" lIns="0" rIns="0" tIns="0" bIns="0">
            <a:spAutoFit/>
          </a:bodyPr>
          <a:lstStyle/>
          <a:p>
            <a:pPr algn="l">
              <a:lnSpc>
                <a:spcPct val="115000"/>
              </a:lnSpc>
            </a:pPr>
            <a:r>
              <a:rPr sz="1500">
                <a:solidFill>
                  <a:srgbClr val="F2ECDD"/>
                </a:solidFill>
                <a:latin typeface="TT Commons Pro"/>
              </a:rPr>
              <a:t>skills offered</a:t>
            </a:r>
          </a:p>
        </p:txBody>
      </p:sp>
      <p:sp>
        <p:nvSpPr>
          <p:cNvPr id="28" name="Rounded Rectangle 27"/>
          <p:cNvSpPr/>
          <p:nvPr/>
        </p:nvSpPr>
        <p:spPr>
          <a:xfrm>
            <a:off x="12687300" y="5541264"/>
            <a:ext cx="2133599" cy="493776"/>
          </a:xfrm>
          <a:prstGeom prst="roundRect">
            <a:avLst>
              <a:gd name="adj" fmla="val 18000"/>
            </a:avLst>
          </a:prstGeom>
          <a:solidFill>
            <a:srgbClr val="99E6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5040356" y="5623559"/>
            <a:ext cx="1920239" cy="411479"/>
          </a:xfrm>
          <a:prstGeom prst="rect">
            <a:avLst/>
          </a:prstGeom>
          <a:noFill/>
        </p:spPr>
        <p:txBody>
          <a:bodyPr wrap="none" lIns="0" rIns="0" tIns="0" bIns="0">
            <a:spAutoFit/>
          </a:bodyPr>
          <a:lstStyle/>
          <a:p>
            <a:pPr algn="l">
              <a:lnSpc>
                <a:spcPct val="115000"/>
              </a:lnSpc>
            </a:pPr>
            <a:r>
              <a:rPr sz="1350" spc="330">
                <a:solidFill>
                  <a:srgbClr val="EBCF9E"/>
                </a:solidFill>
                <a:latin typeface="Todes 1"/>
              </a:rPr>
              <a:t/>
            </a:r>
          </a:p>
        </p:txBody>
      </p:sp>
      <p:sp>
        <p:nvSpPr>
          <p:cNvPr id="30" name="TextBox 29"/>
          <p:cNvSpPr txBox="1"/>
          <p:nvPr/>
        </p:nvSpPr>
        <p:spPr>
          <a:xfrm>
            <a:off x="9532620" y="6350508"/>
            <a:ext cx="3154679" cy="411479"/>
          </a:xfrm>
          <a:prstGeom prst="rect">
            <a:avLst/>
          </a:prstGeom>
          <a:noFill/>
        </p:spPr>
        <p:txBody>
          <a:bodyPr wrap="square" lIns="0" rIns="0" tIns="0" bIns="0">
            <a:spAutoFit/>
          </a:bodyPr>
          <a:lstStyle/>
          <a:p>
            <a:pPr algn="l">
              <a:lnSpc>
                <a:spcPct val="115000"/>
              </a:lnSpc>
            </a:pPr>
            <a:r>
              <a:rPr sz="1500">
                <a:solidFill>
                  <a:srgbClr val="F2ECDD"/>
                </a:solidFill>
                <a:latin typeface="TT Commons Pro"/>
              </a:rPr>
              <a:t>people supported</a:t>
            </a:r>
          </a:p>
        </p:txBody>
      </p:sp>
      <p:sp>
        <p:nvSpPr>
          <p:cNvPr id="31" name="Rounded Rectangle 30"/>
          <p:cNvSpPr/>
          <p:nvPr/>
        </p:nvSpPr>
        <p:spPr>
          <a:xfrm>
            <a:off x="12687300" y="6254496"/>
            <a:ext cx="1981199" cy="493776"/>
          </a:xfrm>
          <a:prstGeom prst="roundRect">
            <a:avLst>
              <a:gd name="adj" fmla="val 18000"/>
            </a:avLst>
          </a:prstGeom>
          <a:solidFill>
            <a:srgbClr val="99E6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4887956" y="6336792"/>
            <a:ext cx="1920239" cy="411479"/>
          </a:xfrm>
          <a:prstGeom prst="rect">
            <a:avLst/>
          </a:prstGeom>
          <a:noFill/>
        </p:spPr>
        <p:txBody>
          <a:bodyPr wrap="none" lIns="0" rIns="0" tIns="0" bIns="0">
            <a:spAutoFit/>
          </a:bodyPr>
          <a:lstStyle/>
          <a:p>
            <a:pPr algn="l">
              <a:lnSpc>
                <a:spcPct val="115000"/>
              </a:lnSpc>
            </a:pPr>
            <a:r>
              <a:rPr sz="1350" spc="330">
                <a:solidFill>
                  <a:srgbClr val="EBCF9E"/>
                </a:solidFill>
                <a:latin typeface="Todes 1"/>
              </a:rPr>
              <a:t/>
            </a:r>
          </a:p>
        </p:txBody>
      </p:sp>
      <p:sp>
        <p:nvSpPr>
          <p:cNvPr id="33" name="TextBox 32"/>
          <p:cNvSpPr txBox="1"/>
          <p:nvPr/>
        </p:nvSpPr>
        <p:spPr>
          <a:xfrm>
            <a:off x="9532620" y="7338059"/>
            <a:ext cx="7955279" cy="822959"/>
          </a:xfrm>
          <a:prstGeom prst="rect">
            <a:avLst/>
          </a:prstGeom>
          <a:noFill/>
        </p:spPr>
        <p:txBody>
          <a:bodyPr wrap="square" lIns="0" rIns="0" tIns="0" bIns="0">
            <a:spAutoFit/>
          </a:bodyPr>
          <a:lstStyle/>
          <a:p>
            <a:pPr algn="l">
              <a:lnSpc>
                <a:spcPct val="115000"/>
              </a:lnSpc>
            </a:pPr>
            <a:r>
              <a:rPr sz="1725">
                <a:solidFill>
                  <a:srgbClr val="F2ECDD"/>
                </a:solidFill>
                <a:latin typeface="TT Commons Pro"/>
              </a:rPr>
              <a:t>Context for trust, qualification, reputation, compensation, and stake.</a:t>
            </a:r>
          </a:p>
        </p:txBody>
      </p:sp>
      <p:sp>
        <p:nvSpPr>
          <p:cNvPr id="34" name="TextBox 33"/>
          <p:cNvSpPr txBox="1"/>
          <p:nvPr/>
        </p:nvSpPr>
        <p:spPr>
          <a:xfrm>
            <a:off x="822959" y="8915400"/>
            <a:ext cx="16596359" cy="1097280"/>
          </a:xfrm>
          <a:prstGeom prst="rect">
            <a:avLst/>
          </a:prstGeom>
          <a:noFill/>
        </p:spPr>
        <p:txBody>
          <a:bodyPr wrap="square" lIns="0" rIns="0" tIns="0" bIns="0">
            <a:spAutoFit/>
          </a:bodyPr>
          <a:lstStyle/>
          <a:p>
            <a:pPr algn="ctr">
              <a:lnSpc>
                <a:spcPct val="140000"/>
              </a:lnSpc>
            </a:pPr>
            <a:r>
              <a:rPr sz="2100" spc="20">
                <a:solidFill>
                  <a:srgbClr val="9FE8DC"/>
                </a:solidFill>
                <a:latin typeface="Alike Italics"/>
              </a:rPr>
              <a:t>Trust grows through real participation, not follower counts.</a:t>
            </a:r>
          </a:p>
        </p:txBody>
      </p:sp>
      <p:pic>
        <p:nvPicPr>
          <p:cNvPr id="35" name="Picture 34" descr="rivr-symbol-light.png"/>
          <p:cNvPicPr>
            <a:picLocks noChangeAspect="1"/>
          </p:cNvPicPr>
          <p:nvPr/>
        </p:nvPicPr>
        <p:blipFill>
          <a:blip r:embed="rId4"/>
          <a:stretch>
            <a:fillRect/>
          </a:stretch>
        </p:blipFill>
        <p:spPr>
          <a:xfrm>
            <a:off x="576072" y="9518904"/>
            <a:ext cx="521208" cy="521208"/>
          </a:xfrm>
          <a:prstGeom prst="rect">
            <a:avLst/>
          </a:prstGeom>
        </p:spPr>
      </p:pic>
      <p:sp>
        <p:nvSpPr>
          <p:cNvPr id="36" name="TextBox 35"/>
          <p:cNvSpPr txBox="1"/>
          <p:nvPr/>
        </p:nvSpPr>
        <p:spPr>
          <a:xfrm>
            <a:off x="1371600" y="9724644"/>
            <a:ext cx="5486400" cy="301752"/>
          </a:xfrm>
          <a:prstGeom prst="rect">
            <a:avLst/>
          </a:prstGeom>
          <a:noFill/>
        </p:spPr>
        <p:txBody>
          <a:bodyPr wrap="none" lIns="0" rIns="0" tIns="0" bIns="0">
            <a:spAutoFit/>
          </a:bodyPr>
          <a:lstStyle/>
          <a:p>
            <a:pPr algn="l">
              <a:lnSpc>
                <a:spcPct val="115000"/>
              </a:lnSpc>
            </a:pPr>
            <a:r>
              <a:rPr sz="1350" spc="150">
                <a:solidFill>
                  <a:srgbClr val="AFC4C2"/>
                </a:solidFill>
                <a:latin typeface="TT Commons Pro"/>
              </a:rPr>
              <a:t>Rivr · Seed Round 2026</a:t>
            </a:r>
          </a:p>
        </p:txBody>
      </p:sp>
      <p:sp>
        <p:nvSpPr>
          <p:cNvPr id="37" name="TextBox 36"/>
          <p:cNvSpPr txBox="1"/>
          <p:nvPr/>
        </p:nvSpPr>
        <p:spPr>
          <a:xfrm>
            <a:off x="16870680" y="9724644"/>
            <a:ext cx="960119" cy="301752"/>
          </a:xfrm>
          <a:prstGeom prst="rect">
            <a:avLst/>
          </a:prstGeom>
          <a:noFill/>
        </p:spPr>
        <p:txBody>
          <a:bodyPr wrap="none" lIns="0" rIns="0" tIns="0" bIns="0">
            <a:spAutoFit/>
          </a:bodyPr>
          <a:lstStyle/>
          <a:p>
            <a:pPr algn="r">
              <a:lnSpc>
                <a:spcPct val="115000"/>
              </a:lnSpc>
            </a:pPr>
            <a:r>
              <a:rPr sz="1350" spc="150">
                <a:solidFill>
                  <a:srgbClr val="AFC4C2"/>
                </a:solidFill>
                <a:latin typeface="TT Commons Pro"/>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03333"/>
        </a:solidFill>
        <a:effectLst/>
      </p:bgPr>
    </p:bg>
    <p:spTree>
      <p:nvGrpSpPr>
        <p:cNvPr id="1" name=""/>
        <p:cNvGrpSpPr/>
        <p:nvPr/>
      </p:nvGrpSpPr>
      <p:grpSpPr/>
      <p:pic>
        <p:nvPicPr>
          <p:cNvPr id="2" name="Picture 1" descr="bg_c11.jpg"/>
          <p:cNvPicPr>
            <a:picLocks noChangeAspect="1"/>
          </p:cNvPicPr>
          <p:nvPr/>
        </p:nvPicPr>
        <p:blipFill>
          <a:blip r:embed="rId2"/>
          <a:stretch>
            <a:fillRect/>
          </a:stretch>
        </p:blipFill>
        <p:spPr>
          <a:xfrm>
            <a:off x="0" y="0"/>
            <a:ext cx="18287542" cy="10287000"/>
          </a:xfrm>
          <a:prstGeom prst="rect">
            <a:avLst/>
          </a:prstGeom>
        </p:spPr>
      </p:pic>
      <p:sp>
        <p:nvSpPr>
          <p:cNvPr id="3" name="TextBox 2"/>
          <p:cNvSpPr txBox="1"/>
          <p:nvPr/>
        </p:nvSpPr>
        <p:spPr>
          <a:xfrm>
            <a:off x="822959" y="822959"/>
            <a:ext cx="16733519" cy="384048"/>
          </a:xfrm>
          <a:prstGeom prst="rect">
            <a:avLst/>
          </a:prstGeom>
          <a:noFill/>
        </p:spPr>
        <p:txBody>
          <a:bodyPr wrap="none" lIns="0" rIns="0" tIns="0" bIns="0">
            <a:spAutoFit/>
          </a:bodyPr>
          <a:lstStyle/>
          <a:p>
            <a:pPr algn="l">
              <a:lnSpc>
                <a:spcPct val="115000"/>
              </a:lnSpc>
            </a:pPr>
            <a:r>
              <a:rPr sz="1650" spc="330">
                <a:solidFill>
                  <a:srgbClr val="9FE8DC"/>
                </a:solidFill>
                <a:latin typeface="Todes 1"/>
              </a:rPr>
              <a:t>TRUST</a:t>
            </a:r>
          </a:p>
        </p:txBody>
      </p:sp>
      <p:sp>
        <p:nvSpPr>
          <p:cNvPr id="4" name="TextBox 3"/>
          <p:cNvSpPr txBox="1"/>
          <p:nvPr/>
        </p:nvSpPr>
        <p:spPr>
          <a:xfrm>
            <a:off x="822959" y="1717852"/>
            <a:ext cx="7762875" cy="1108214"/>
          </a:xfrm>
          <a:prstGeom prst="rect">
            <a:avLst/>
          </a:prstGeom>
          <a:noFill/>
        </p:spPr>
        <p:txBody>
          <a:bodyPr wrap="none" lIns="0" rIns="0" tIns="0" bIns="0">
            <a:spAutoFit/>
          </a:bodyPr>
          <a:lstStyle/>
          <a:p>
            <a:pPr algn="l">
              <a:lnSpc>
                <a:spcPct val="115000"/>
              </a:lnSpc>
            </a:pPr>
            <a:r>
              <a:rPr sz="6017" spc="-81">
                <a:solidFill>
                  <a:srgbClr val="F4EAD8"/>
                </a:solidFill>
                <a:latin typeface="Todes 1"/>
              </a:rPr>
              <a:t>Trust is part of </a:t>
            </a:r>
          </a:p>
        </p:txBody>
      </p:sp>
      <p:sp>
        <p:nvSpPr>
          <p:cNvPr id="5" name="TextBox 4"/>
          <p:cNvSpPr txBox="1"/>
          <p:nvPr/>
        </p:nvSpPr>
        <p:spPr>
          <a:xfrm>
            <a:off x="6868667" y="1645919"/>
            <a:ext cx="6021943" cy="1238592"/>
          </a:xfrm>
          <a:prstGeom prst="rect">
            <a:avLst/>
          </a:prstGeom>
          <a:noFill/>
        </p:spPr>
        <p:txBody>
          <a:bodyPr wrap="none" lIns="0" rIns="0" tIns="0" bIns="0">
            <a:spAutoFit/>
          </a:bodyPr>
          <a:lstStyle/>
          <a:p>
            <a:pPr algn="l">
              <a:lnSpc>
                <a:spcPct val="115000"/>
              </a:lnSpc>
            </a:pPr>
            <a:r>
              <a:rPr sz="6725" spc="-75">
                <a:solidFill>
                  <a:srgbClr val="99E6D9"/>
                </a:solidFill>
                <a:latin typeface="Ibarra Real Nova Italics"/>
              </a:rPr>
              <a:t>coordination.</a:t>
            </a:r>
          </a:p>
        </p:txBody>
      </p:sp>
      <p:cxnSp>
        <p:nvCxnSpPr>
          <p:cNvPr id="6" name="Connector 5"/>
          <p:cNvCxnSpPr/>
          <p:nvPr/>
        </p:nvCxnSpPr>
        <p:spPr>
          <a:xfrm>
            <a:off x="4732020" y="4114800"/>
            <a:ext cx="7722108" cy="1851659"/>
          </a:xfrm>
          <a:prstGeom prst="line">
            <a:avLst/>
          </a:prstGeom>
          <a:ln w="10160">
            <a:solidFill>
              <a:srgbClr val="1E5A58"/>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1028700" y="3813048"/>
            <a:ext cx="3703320" cy="603504"/>
          </a:xfrm>
          <a:prstGeom prst="roundRect">
            <a:avLst>
              <a:gd name="adj" fmla="val 30000"/>
            </a:avLst>
          </a:prstGeom>
          <a:solidFill>
            <a:srgbClr val="0D3E40"/>
          </a:solidFill>
          <a:ln w="1143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93292" y="3950208"/>
            <a:ext cx="3374136" cy="411479"/>
          </a:xfrm>
          <a:prstGeom prst="rect">
            <a:avLst/>
          </a:prstGeom>
          <a:noFill/>
        </p:spPr>
        <p:txBody>
          <a:bodyPr wrap="none" lIns="0" rIns="0" tIns="0" bIns="0">
            <a:spAutoFit/>
          </a:bodyPr>
          <a:lstStyle/>
          <a:p>
            <a:pPr algn="l">
              <a:lnSpc>
                <a:spcPct val="115000"/>
              </a:lnSpc>
            </a:pPr>
            <a:r>
              <a:rPr sz="1650">
                <a:solidFill>
                  <a:srgbClr val="F2ECDD"/>
                </a:solidFill>
                <a:latin typeface="TT Commons Pro"/>
              </a:rPr>
              <a:t>relationships</a:t>
            </a:r>
          </a:p>
        </p:txBody>
      </p:sp>
      <p:cxnSp>
        <p:nvCxnSpPr>
          <p:cNvPr id="9" name="Connector 8"/>
          <p:cNvCxnSpPr/>
          <p:nvPr/>
        </p:nvCxnSpPr>
        <p:spPr>
          <a:xfrm>
            <a:off x="4732020" y="4882896"/>
            <a:ext cx="7722108" cy="1083563"/>
          </a:xfrm>
          <a:prstGeom prst="line">
            <a:avLst/>
          </a:prstGeom>
          <a:ln w="10160">
            <a:solidFill>
              <a:srgbClr val="1E5A58"/>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1028700" y="4581144"/>
            <a:ext cx="3703320" cy="603504"/>
          </a:xfrm>
          <a:prstGeom prst="roundRect">
            <a:avLst>
              <a:gd name="adj" fmla="val 30000"/>
            </a:avLst>
          </a:prstGeom>
          <a:solidFill>
            <a:srgbClr val="0D3E40"/>
          </a:solidFill>
          <a:ln w="1143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93292" y="4718304"/>
            <a:ext cx="3374136" cy="411479"/>
          </a:xfrm>
          <a:prstGeom prst="rect">
            <a:avLst/>
          </a:prstGeom>
          <a:noFill/>
        </p:spPr>
        <p:txBody>
          <a:bodyPr wrap="none" lIns="0" rIns="0" tIns="0" bIns="0">
            <a:spAutoFit/>
          </a:bodyPr>
          <a:lstStyle/>
          <a:p>
            <a:pPr algn="l">
              <a:lnSpc>
                <a:spcPct val="115000"/>
              </a:lnSpc>
            </a:pPr>
            <a:r>
              <a:rPr sz="1650">
                <a:solidFill>
                  <a:srgbClr val="F2ECDD"/>
                </a:solidFill>
                <a:latin typeface="TT Commons Pro"/>
              </a:rPr>
              <a:t>history</a:t>
            </a:r>
          </a:p>
        </p:txBody>
      </p:sp>
      <p:cxnSp>
        <p:nvCxnSpPr>
          <p:cNvPr id="12" name="Connector 11"/>
          <p:cNvCxnSpPr/>
          <p:nvPr/>
        </p:nvCxnSpPr>
        <p:spPr>
          <a:xfrm>
            <a:off x="4732020" y="5650992"/>
            <a:ext cx="7722108" cy="315467"/>
          </a:xfrm>
          <a:prstGeom prst="line">
            <a:avLst/>
          </a:prstGeom>
          <a:ln w="10160">
            <a:solidFill>
              <a:srgbClr val="1E5A58"/>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1028700" y="5349240"/>
            <a:ext cx="3703320" cy="603504"/>
          </a:xfrm>
          <a:prstGeom prst="roundRect">
            <a:avLst>
              <a:gd name="adj" fmla="val 30000"/>
            </a:avLst>
          </a:prstGeom>
          <a:solidFill>
            <a:srgbClr val="0D3E40"/>
          </a:solidFill>
          <a:ln w="1143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93292" y="5486400"/>
            <a:ext cx="3374136" cy="411479"/>
          </a:xfrm>
          <a:prstGeom prst="rect">
            <a:avLst/>
          </a:prstGeom>
          <a:noFill/>
        </p:spPr>
        <p:txBody>
          <a:bodyPr wrap="none" lIns="0" rIns="0" tIns="0" bIns="0">
            <a:spAutoFit/>
          </a:bodyPr>
          <a:lstStyle/>
          <a:p>
            <a:pPr algn="l">
              <a:lnSpc>
                <a:spcPct val="115000"/>
              </a:lnSpc>
            </a:pPr>
            <a:r>
              <a:rPr sz="1650">
                <a:solidFill>
                  <a:srgbClr val="F2ECDD"/>
                </a:solidFill>
                <a:latin typeface="TT Commons Pro"/>
              </a:rPr>
              <a:t>qualifications</a:t>
            </a:r>
          </a:p>
        </p:txBody>
      </p:sp>
      <p:cxnSp>
        <p:nvCxnSpPr>
          <p:cNvPr id="15" name="Connector 14"/>
          <p:cNvCxnSpPr/>
          <p:nvPr/>
        </p:nvCxnSpPr>
        <p:spPr>
          <a:xfrm flipV="1">
            <a:off x="4732020" y="5966459"/>
            <a:ext cx="7722108" cy="452629"/>
          </a:xfrm>
          <a:prstGeom prst="line">
            <a:avLst/>
          </a:prstGeom>
          <a:ln w="10160">
            <a:solidFill>
              <a:srgbClr val="1E5A58"/>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1028700" y="6117336"/>
            <a:ext cx="3703320" cy="603504"/>
          </a:xfrm>
          <a:prstGeom prst="roundRect">
            <a:avLst>
              <a:gd name="adj" fmla="val 30000"/>
            </a:avLst>
          </a:prstGeom>
          <a:solidFill>
            <a:srgbClr val="0D3E40"/>
          </a:solidFill>
          <a:ln w="1143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93292" y="6254496"/>
            <a:ext cx="3374136" cy="411479"/>
          </a:xfrm>
          <a:prstGeom prst="rect">
            <a:avLst/>
          </a:prstGeom>
          <a:noFill/>
        </p:spPr>
        <p:txBody>
          <a:bodyPr wrap="none" lIns="0" rIns="0" tIns="0" bIns="0">
            <a:spAutoFit/>
          </a:bodyPr>
          <a:lstStyle/>
          <a:p>
            <a:pPr algn="l">
              <a:lnSpc>
                <a:spcPct val="115000"/>
              </a:lnSpc>
            </a:pPr>
            <a:r>
              <a:rPr sz="1650">
                <a:solidFill>
                  <a:srgbClr val="F2ECDD"/>
                </a:solidFill>
                <a:latin typeface="TT Commons Pro"/>
              </a:rPr>
              <a:t>references</a:t>
            </a:r>
          </a:p>
        </p:txBody>
      </p:sp>
      <p:cxnSp>
        <p:nvCxnSpPr>
          <p:cNvPr id="18" name="Connector 17"/>
          <p:cNvCxnSpPr/>
          <p:nvPr/>
        </p:nvCxnSpPr>
        <p:spPr>
          <a:xfrm flipV="1">
            <a:off x="4732020" y="5966459"/>
            <a:ext cx="7722108" cy="1220725"/>
          </a:xfrm>
          <a:prstGeom prst="line">
            <a:avLst/>
          </a:prstGeom>
          <a:ln w="10160">
            <a:solidFill>
              <a:srgbClr val="1E5A58"/>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1028700" y="6885432"/>
            <a:ext cx="3703320" cy="603504"/>
          </a:xfrm>
          <a:prstGeom prst="roundRect">
            <a:avLst>
              <a:gd name="adj" fmla="val 30000"/>
            </a:avLst>
          </a:prstGeom>
          <a:solidFill>
            <a:srgbClr val="0D3E40"/>
          </a:solidFill>
          <a:ln w="1143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93292" y="7022592"/>
            <a:ext cx="3374136" cy="411479"/>
          </a:xfrm>
          <a:prstGeom prst="rect">
            <a:avLst/>
          </a:prstGeom>
          <a:noFill/>
        </p:spPr>
        <p:txBody>
          <a:bodyPr wrap="none" lIns="0" rIns="0" tIns="0" bIns="0">
            <a:spAutoFit/>
          </a:bodyPr>
          <a:lstStyle/>
          <a:p>
            <a:pPr algn="l">
              <a:lnSpc>
                <a:spcPct val="115000"/>
              </a:lnSpc>
            </a:pPr>
            <a:r>
              <a:rPr sz="1650">
                <a:solidFill>
                  <a:srgbClr val="F2ECDD"/>
                </a:solidFill>
                <a:latin typeface="TT Commons Pro"/>
              </a:rPr>
              <a:t>verified claims</a:t>
            </a:r>
          </a:p>
        </p:txBody>
      </p:sp>
      <p:cxnSp>
        <p:nvCxnSpPr>
          <p:cNvPr id="21" name="Connector 20"/>
          <p:cNvCxnSpPr/>
          <p:nvPr/>
        </p:nvCxnSpPr>
        <p:spPr>
          <a:xfrm flipV="1">
            <a:off x="4732020" y="5966459"/>
            <a:ext cx="7722108" cy="1988821"/>
          </a:xfrm>
          <a:prstGeom prst="line">
            <a:avLst/>
          </a:prstGeom>
          <a:ln w="10160">
            <a:solidFill>
              <a:srgbClr val="1E5A58"/>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1028700" y="7653528"/>
            <a:ext cx="3703320" cy="603504"/>
          </a:xfrm>
          <a:prstGeom prst="roundRect">
            <a:avLst>
              <a:gd name="adj" fmla="val 30000"/>
            </a:avLst>
          </a:prstGeom>
          <a:solidFill>
            <a:srgbClr val="0D3E40"/>
          </a:solidFill>
          <a:ln w="1143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93292" y="7790688"/>
            <a:ext cx="3374136" cy="411479"/>
          </a:xfrm>
          <a:prstGeom prst="rect">
            <a:avLst/>
          </a:prstGeom>
          <a:noFill/>
        </p:spPr>
        <p:txBody>
          <a:bodyPr wrap="none" lIns="0" rIns="0" tIns="0" bIns="0">
            <a:spAutoFit/>
          </a:bodyPr>
          <a:lstStyle/>
          <a:p>
            <a:pPr algn="l">
              <a:lnSpc>
                <a:spcPct val="115000"/>
              </a:lnSpc>
            </a:pPr>
            <a:r>
              <a:rPr sz="1650">
                <a:solidFill>
                  <a:srgbClr val="F2ECDD"/>
                </a:solidFill>
                <a:latin typeface="TT Commons Pro"/>
              </a:rPr>
              <a:t>contribution</a:t>
            </a:r>
          </a:p>
        </p:txBody>
      </p:sp>
      <p:sp>
        <p:nvSpPr>
          <p:cNvPr id="24" name="Oval 23"/>
          <p:cNvSpPr/>
          <p:nvPr/>
        </p:nvSpPr>
        <p:spPr>
          <a:xfrm>
            <a:off x="11864340" y="4663440"/>
            <a:ext cx="2606039" cy="2606039"/>
          </a:xfrm>
          <a:prstGeom prst="ellipse">
            <a:avLst/>
          </a:prstGeom>
          <a:solidFill>
            <a:srgbClr val="084B4D"/>
          </a:solidFill>
          <a:ln w="1778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864340" y="5554979"/>
            <a:ext cx="2606039" cy="960119"/>
          </a:xfrm>
          <a:prstGeom prst="rect">
            <a:avLst/>
          </a:prstGeom>
          <a:noFill/>
        </p:spPr>
        <p:txBody>
          <a:bodyPr wrap="square" lIns="0" rIns="0" tIns="0" bIns="0">
            <a:spAutoFit/>
          </a:bodyPr>
          <a:lstStyle/>
          <a:p>
            <a:pPr algn="ctr">
              <a:lnSpc>
                <a:spcPct val="115000"/>
              </a:lnSpc>
            </a:pPr>
            <a:r>
              <a:rPr sz="1650" spc="330">
                <a:solidFill>
                  <a:srgbClr val="EBCF9E"/>
                </a:solidFill>
                <a:latin typeface="Todes 1"/>
              </a:rPr>
              <a:t>ENOUGH
CONTEXT
TO ACT</a:t>
            </a:r>
          </a:p>
        </p:txBody>
      </p:sp>
      <p:sp>
        <p:nvSpPr>
          <p:cNvPr id="26" name="TextBox 25"/>
          <p:cNvSpPr txBox="1"/>
          <p:nvPr/>
        </p:nvSpPr>
        <p:spPr>
          <a:xfrm>
            <a:off x="5692140" y="3566160"/>
            <a:ext cx="6309359" cy="411479"/>
          </a:xfrm>
          <a:prstGeom prst="rect">
            <a:avLst/>
          </a:prstGeom>
          <a:noFill/>
        </p:spPr>
        <p:txBody>
          <a:bodyPr wrap="none" lIns="0" rIns="0" tIns="0" bIns="0">
            <a:spAutoFit/>
          </a:bodyPr>
          <a:lstStyle/>
          <a:p>
            <a:pPr algn="l">
              <a:lnSpc>
                <a:spcPct val="115000"/>
              </a:lnSpc>
            </a:pPr>
            <a:r>
              <a:rPr sz="1425" spc="330">
                <a:solidFill>
                  <a:srgbClr val="9FE8DC"/>
                </a:solidFill>
                <a:latin typeface="Todes 1"/>
              </a:rPr>
              <a:t>WHAT THE NETWORK ALREADY KNOWS</a:t>
            </a:r>
          </a:p>
        </p:txBody>
      </p:sp>
      <p:sp>
        <p:nvSpPr>
          <p:cNvPr id="27" name="TextBox 26"/>
          <p:cNvSpPr txBox="1"/>
          <p:nvPr/>
        </p:nvSpPr>
        <p:spPr>
          <a:xfrm>
            <a:off x="822959" y="8778240"/>
            <a:ext cx="16596359" cy="1097280"/>
          </a:xfrm>
          <a:prstGeom prst="rect">
            <a:avLst/>
          </a:prstGeom>
          <a:noFill/>
        </p:spPr>
        <p:txBody>
          <a:bodyPr wrap="square" lIns="0" rIns="0" tIns="0" bIns="0">
            <a:spAutoFit/>
          </a:bodyPr>
          <a:lstStyle/>
          <a:p>
            <a:pPr algn="ctr">
              <a:lnSpc>
                <a:spcPct val="140000"/>
              </a:lnSpc>
            </a:pPr>
            <a:r>
              <a:rPr sz="2025">
                <a:solidFill>
                  <a:srgbClr val="F4EAD8"/>
                </a:solidFill>
                <a:latin typeface="TT Commons Pro Bold"/>
              </a:rPr>
              <a:t>Finding the resource is not enough — we also need </a:t>
            </a:r>
            <a:r>
              <a:rPr sz="2175" spc="20">
                <a:solidFill>
                  <a:srgbClr val="9FE8DC"/>
                </a:solidFill>
                <a:latin typeface="Alike Italics"/>
              </a:rPr>
              <a:t>enough context to act.</a:t>
            </a:r>
          </a:p>
        </p:txBody>
      </p:sp>
      <p:pic>
        <p:nvPicPr>
          <p:cNvPr id="28" name="Picture 27" descr="rivr-symbol-light.png"/>
          <p:cNvPicPr>
            <a:picLocks noChangeAspect="1"/>
          </p:cNvPicPr>
          <p:nvPr/>
        </p:nvPicPr>
        <p:blipFill>
          <a:blip r:embed="rId4"/>
          <a:stretch>
            <a:fillRect/>
          </a:stretch>
        </p:blipFill>
        <p:spPr>
          <a:xfrm>
            <a:off x="576072" y="9518904"/>
            <a:ext cx="521208" cy="521208"/>
          </a:xfrm>
          <a:prstGeom prst="rect">
            <a:avLst/>
          </a:prstGeom>
        </p:spPr>
      </p:pic>
      <p:sp>
        <p:nvSpPr>
          <p:cNvPr id="29" name="TextBox 28"/>
          <p:cNvSpPr txBox="1"/>
          <p:nvPr/>
        </p:nvSpPr>
        <p:spPr>
          <a:xfrm>
            <a:off x="1371600" y="9724644"/>
            <a:ext cx="5486400" cy="301752"/>
          </a:xfrm>
          <a:prstGeom prst="rect">
            <a:avLst/>
          </a:prstGeom>
          <a:noFill/>
        </p:spPr>
        <p:txBody>
          <a:bodyPr wrap="none" lIns="0" rIns="0" tIns="0" bIns="0">
            <a:spAutoFit/>
          </a:bodyPr>
          <a:lstStyle/>
          <a:p>
            <a:pPr algn="l">
              <a:lnSpc>
                <a:spcPct val="115000"/>
              </a:lnSpc>
            </a:pPr>
            <a:r>
              <a:rPr sz="1350" spc="150">
                <a:solidFill>
                  <a:srgbClr val="AFC4C2"/>
                </a:solidFill>
                <a:latin typeface="TT Commons Pro"/>
              </a:rPr>
              <a:t>Rivr · Seed Round 2026</a:t>
            </a:r>
          </a:p>
        </p:txBody>
      </p:sp>
      <p:sp>
        <p:nvSpPr>
          <p:cNvPr id="30" name="TextBox 29"/>
          <p:cNvSpPr txBox="1"/>
          <p:nvPr/>
        </p:nvSpPr>
        <p:spPr>
          <a:xfrm>
            <a:off x="16870680" y="9724644"/>
            <a:ext cx="960119" cy="301752"/>
          </a:xfrm>
          <a:prstGeom prst="rect">
            <a:avLst/>
          </a:prstGeom>
          <a:noFill/>
        </p:spPr>
        <p:txBody>
          <a:bodyPr wrap="none" lIns="0" rIns="0" tIns="0" bIns="0">
            <a:spAutoFit/>
          </a:bodyPr>
          <a:lstStyle/>
          <a:p>
            <a:pPr algn="r">
              <a:lnSpc>
                <a:spcPct val="115000"/>
              </a:lnSpc>
            </a:pPr>
            <a:r>
              <a:rPr sz="1350" spc="150">
                <a:solidFill>
                  <a:srgbClr val="AFC4C2"/>
                </a:solidFill>
                <a:latin typeface="TT Commons Pro"/>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03333"/>
        </a:solidFill>
        <a:effectLst/>
      </p:bgPr>
    </p:bg>
    <p:spTree>
      <p:nvGrpSpPr>
        <p:cNvPr id="1" name=""/>
        <p:cNvGrpSpPr/>
        <p:nvPr/>
      </p:nvGrpSpPr>
      <p:grpSpPr/>
      <p:pic>
        <p:nvPicPr>
          <p:cNvPr id="2" name="Picture 1" descr="bg_c12.jpg"/>
          <p:cNvPicPr>
            <a:picLocks noChangeAspect="1"/>
          </p:cNvPicPr>
          <p:nvPr/>
        </p:nvPicPr>
        <p:blipFill>
          <a:blip r:embed="rId2"/>
          <a:stretch>
            <a:fillRect/>
          </a:stretch>
        </p:blipFill>
        <p:spPr>
          <a:xfrm>
            <a:off x="0" y="0"/>
            <a:ext cx="18287542" cy="10287000"/>
          </a:xfrm>
          <a:prstGeom prst="rect">
            <a:avLst/>
          </a:prstGeom>
        </p:spPr>
      </p:pic>
      <p:sp>
        <p:nvSpPr>
          <p:cNvPr id="3" name="TextBox 2"/>
          <p:cNvSpPr txBox="1"/>
          <p:nvPr/>
        </p:nvSpPr>
        <p:spPr>
          <a:xfrm>
            <a:off x="822959" y="822959"/>
            <a:ext cx="16733519" cy="384048"/>
          </a:xfrm>
          <a:prstGeom prst="rect">
            <a:avLst/>
          </a:prstGeom>
          <a:noFill/>
        </p:spPr>
        <p:txBody>
          <a:bodyPr wrap="none" lIns="0" rIns="0" tIns="0" bIns="0">
            <a:spAutoFit/>
          </a:bodyPr>
          <a:lstStyle/>
          <a:p>
            <a:pPr algn="l">
              <a:lnSpc>
                <a:spcPct val="115000"/>
              </a:lnSpc>
            </a:pPr>
            <a:r>
              <a:rPr sz="1650" spc="330">
                <a:solidFill>
                  <a:srgbClr val="9FE8DC"/>
                </a:solidFill>
                <a:latin typeface="Todes 1"/>
              </a:rPr>
              <a:t>PRODUCT OVERVIEW</a:t>
            </a:r>
          </a:p>
        </p:txBody>
      </p:sp>
      <p:sp>
        <p:nvSpPr>
          <p:cNvPr id="4" name="TextBox 3"/>
          <p:cNvSpPr txBox="1"/>
          <p:nvPr/>
        </p:nvSpPr>
        <p:spPr>
          <a:xfrm>
            <a:off x="822959" y="1699869"/>
            <a:ext cx="11518820" cy="1043025"/>
          </a:xfrm>
          <a:prstGeom prst="rect">
            <a:avLst/>
          </a:prstGeom>
          <a:noFill/>
        </p:spPr>
        <p:txBody>
          <a:bodyPr wrap="none" lIns="0" rIns="0" tIns="0" bIns="0">
            <a:spAutoFit/>
          </a:bodyPr>
          <a:lstStyle/>
          <a:p>
            <a:pPr algn="l">
              <a:lnSpc>
                <a:spcPct val="115000"/>
              </a:lnSpc>
            </a:pPr>
            <a:r>
              <a:rPr sz="5664" spc="-76">
                <a:solidFill>
                  <a:srgbClr val="F4EAD8"/>
                </a:solidFill>
                <a:latin typeface="Todes 1"/>
              </a:rPr>
              <a:t>Familiar on the surface. </a:t>
            </a:r>
          </a:p>
        </p:txBody>
      </p:sp>
      <p:sp>
        <p:nvSpPr>
          <p:cNvPr id="5" name="TextBox 4"/>
          <p:cNvSpPr txBox="1"/>
          <p:nvPr/>
        </p:nvSpPr>
        <p:spPr>
          <a:xfrm>
            <a:off x="9873424" y="1645919"/>
            <a:ext cx="8909208" cy="1140809"/>
          </a:xfrm>
          <a:prstGeom prst="rect">
            <a:avLst/>
          </a:prstGeom>
          <a:noFill/>
        </p:spPr>
        <p:txBody>
          <a:bodyPr wrap="none" lIns="0" rIns="0" tIns="0" bIns="0">
            <a:spAutoFit/>
          </a:bodyPr>
          <a:lstStyle/>
          <a:p>
            <a:pPr algn="l">
              <a:lnSpc>
                <a:spcPct val="115000"/>
              </a:lnSpc>
            </a:pPr>
            <a:r>
              <a:rPr sz="6195" spc="-75">
                <a:solidFill>
                  <a:srgbClr val="F0CC8B"/>
                </a:solidFill>
                <a:latin typeface="Ibarra Real Nova Italics"/>
              </a:rPr>
              <a:t>Powerful underneath.</a:t>
            </a:r>
          </a:p>
        </p:txBody>
      </p:sp>
      <p:sp>
        <p:nvSpPr>
          <p:cNvPr id="6" name="Rounded Rectangle 5"/>
          <p:cNvSpPr/>
          <p:nvPr/>
        </p:nvSpPr>
        <p:spPr>
          <a:xfrm>
            <a:off x="822959" y="3566160"/>
            <a:ext cx="5376672" cy="4526279"/>
          </a:xfrm>
          <a:prstGeom prst="roundRect">
            <a:avLst>
              <a:gd name="adj" fmla="val 6000"/>
            </a:avLst>
          </a:prstGeom>
          <a:solidFill>
            <a:srgbClr val="0D3E40"/>
          </a:solidFill>
          <a:ln w="19050">
            <a:solidFill>
              <a:srgbClr val="99E6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person.png"/>
          <p:cNvPicPr>
            <a:picLocks noChangeAspect="1"/>
          </p:cNvPicPr>
          <p:nvPr/>
        </p:nvPicPr>
        <p:blipFill>
          <a:blip r:embed="rId4"/>
          <a:stretch>
            <a:fillRect/>
          </a:stretch>
        </p:blipFill>
        <p:spPr>
          <a:xfrm>
            <a:off x="1275588" y="3977639"/>
            <a:ext cx="603504" cy="603504"/>
          </a:xfrm>
          <a:prstGeom prst="rect">
            <a:avLst/>
          </a:prstGeom>
        </p:spPr>
      </p:pic>
      <p:sp>
        <p:nvSpPr>
          <p:cNvPr id="8" name="TextBox 7"/>
          <p:cNvSpPr txBox="1"/>
          <p:nvPr/>
        </p:nvSpPr>
        <p:spPr>
          <a:xfrm>
            <a:off x="2263139" y="4087368"/>
            <a:ext cx="3840479" cy="411479"/>
          </a:xfrm>
          <a:prstGeom prst="rect">
            <a:avLst/>
          </a:prstGeom>
          <a:noFill/>
        </p:spPr>
        <p:txBody>
          <a:bodyPr wrap="none" lIns="0" rIns="0" tIns="0" bIns="0">
            <a:spAutoFit/>
          </a:bodyPr>
          <a:lstStyle/>
          <a:p>
            <a:pPr algn="l">
              <a:lnSpc>
                <a:spcPct val="115000"/>
              </a:lnSpc>
            </a:pPr>
            <a:r>
              <a:rPr sz="1725" spc="330">
                <a:solidFill>
                  <a:srgbClr val="9FE8DC"/>
                </a:solidFill>
                <a:latin typeface="Todes 1"/>
              </a:rPr>
              <a:t>FOR A PERSON</a:t>
            </a:r>
          </a:p>
        </p:txBody>
      </p:sp>
      <p:sp>
        <p:nvSpPr>
          <p:cNvPr id="9" name="TextBox 8"/>
          <p:cNvSpPr txBox="1"/>
          <p:nvPr/>
        </p:nvSpPr>
        <p:spPr>
          <a:xfrm>
            <a:off x="1303019" y="4965192"/>
            <a:ext cx="4526279" cy="2331720"/>
          </a:xfrm>
          <a:prstGeom prst="rect">
            <a:avLst/>
          </a:prstGeom>
          <a:noFill/>
        </p:spPr>
        <p:txBody>
          <a:bodyPr wrap="square" lIns="0" rIns="0" tIns="0" bIns="0">
            <a:spAutoFit/>
          </a:bodyPr>
          <a:lstStyle/>
          <a:p>
            <a:pPr algn="l">
              <a:lnSpc>
                <a:spcPct val="150000"/>
              </a:lnSpc>
            </a:pPr>
            <a:r>
              <a:rPr sz="1800">
                <a:solidFill>
                  <a:srgbClr val="F2ECDD"/>
                </a:solidFill>
                <a:latin typeface="TT Commons Pro"/>
              </a:rPr>
              <a:t>A genuinely useful local</a:t>
            </a:r>
          </a:p>
          <a:p>
            <a:pPr algn="l">
              <a:lnSpc>
                <a:spcPct val="150000"/>
              </a:lnSpc>
            </a:pPr>
            <a:r>
              <a:rPr sz="1800">
                <a:solidFill>
                  <a:srgbClr val="F2ECDD"/>
                </a:solidFill>
                <a:latin typeface="TT Commons Pro"/>
              </a:rPr>
              <a:t>social network — feeds,</a:t>
            </a:r>
          </a:p>
          <a:p>
            <a:pPr algn="l">
              <a:lnSpc>
                <a:spcPct val="150000"/>
              </a:lnSpc>
            </a:pPr>
            <a:r>
              <a:rPr sz="1800">
                <a:solidFill>
                  <a:srgbClr val="F2ECDD"/>
                </a:solidFill>
                <a:latin typeface="TT Commons Pro"/>
              </a:rPr>
              <a:t>profiles, groups, events,</a:t>
            </a:r>
          </a:p>
          <a:p>
            <a:pPr algn="l">
              <a:lnSpc>
                <a:spcPct val="150000"/>
              </a:lnSpc>
            </a:pPr>
            <a:r>
              <a:rPr sz="1800">
                <a:solidFill>
                  <a:srgbClr val="F2ECDD"/>
                </a:solidFill>
                <a:latin typeface="TT Commons Pro"/>
              </a:rPr>
              <a:t>markets, jobs, and local</a:t>
            </a:r>
          </a:p>
          <a:p>
            <a:pPr algn="l">
              <a:lnSpc>
                <a:spcPct val="150000"/>
              </a:lnSpc>
            </a:pPr>
            <a:r>
              <a:rPr sz="1800">
                <a:solidFill>
                  <a:srgbClr val="F2ECDD"/>
                </a:solidFill>
                <a:latin typeface="TT Commons Pro"/>
              </a:rPr>
              <a:t>discovery.</a:t>
            </a:r>
          </a:p>
        </p:txBody>
      </p:sp>
      <p:sp>
        <p:nvSpPr>
          <p:cNvPr id="10" name="Rounded Rectangle 9"/>
          <p:cNvSpPr/>
          <p:nvPr/>
        </p:nvSpPr>
        <p:spPr>
          <a:xfrm>
            <a:off x="6473952" y="3566160"/>
            <a:ext cx="5376672" cy="4526279"/>
          </a:xfrm>
          <a:prstGeom prst="roundRect">
            <a:avLst>
              <a:gd name="adj" fmla="val 6000"/>
            </a:avLst>
          </a:prstGeom>
          <a:solidFill>
            <a:srgbClr val="062A2C"/>
          </a:solidFill>
          <a:ln w="19050">
            <a:solidFill>
              <a:srgbClr val="99E6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org.png"/>
          <p:cNvPicPr>
            <a:picLocks noChangeAspect="1"/>
          </p:cNvPicPr>
          <p:nvPr/>
        </p:nvPicPr>
        <p:blipFill>
          <a:blip r:embed="rId5"/>
          <a:stretch>
            <a:fillRect/>
          </a:stretch>
        </p:blipFill>
        <p:spPr>
          <a:xfrm>
            <a:off x="6926579" y="3977639"/>
            <a:ext cx="603504" cy="603504"/>
          </a:xfrm>
          <a:prstGeom prst="rect">
            <a:avLst/>
          </a:prstGeom>
        </p:spPr>
      </p:pic>
      <p:sp>
        <p:nvSpPr>
          <p:cNvPr id="12" name="TextBox 11"/>
          <p:cNvSpPr txBox="1"/>
          <p:nvPr/>
        </p:nvSpPr>
        <p:spPr>
          <a:xfrm>
            <a:off x="7914131" y="4087368"/>
            <a:ext cx="3840479" cy="411479"/>
          </a:xfrm>
          <a:prstGeom prst="rect">
            <a:avLst/>
          </a:prstGeom>
          <a:noFill/>
        </p:spPr>
        <p:txBody>
          <a:bodyPr wrap="none" lIns="0" rIns="0" tIns="0" bIns="0">
            <a:spAutoFit/>
          </a:bodyPr>
          <a:lstStyle/>
          <a:p>
            <a:pPr algn="l">
              <a:lnSpc>
                <a:spcPct val="115000"/>
              </a:lnSpc>
            </a:pPr>
            <a:r>
              <a:rPr sz="1725" spc="330">
                <a:solidFill>
                  <a:srgbClr val="9FE8DC"/>
                </a:solidFill>
                <a:latin typeface="Todes 1"/>
              </a:rPr>
              <a:t>FOR AN ORGANIZATION</a:t>
            </a:r>
          </a:p>
        </p:txBody>
      </p:sp>
      <p:sp>
        <p:nvSpPr>
          <p:cNvPr id="13" name="TextBox 12"/>
          <p:cNvSpPr txBox="1"/>
          <p:nvPr/>
        </p:nvSpPr>
        <p:spPr>
          <a:xfrm>
            <a:off x="6954011" y="4965192"/>
            <a:ext cx="4526279" cy="2798064"/>
          </a:xfrm>
          <a:prstGeom prst="rect">
            <a:avLst/>
          </a:prstGeom>
          <a:noFill/>
        </p:spPr>
        <p:txBody>
          <a:bodyPr wrap="square" lIns="0" rIns="0" tIns="0" bIns="0">
            <a:spAutoFit/>
          </a:bodyPr>
          <a:lstStyle/>
          <a:p>
            <a:pPr algn="l">
              <a:lnSpc>
                <a:spcPct val="150000"/>
              </a:lnSpc>
            </a:pPr>
            <a:r>
              <a:rPr sz="1800">
                <a:solidFill>
                  <a:srgbClr val="F2ECDD"/>
                </a:solidFill>
                <a:latin typeface="TT Commons Pro"/>
              </a:rPr>
              <a:t>Tools for coordinating</a:t>
            </a:r>
          </a:p>
          <a:p>
            <a:pPr algn="l">
              <a:lnSpc>
                <a:spcPct val="150000"/>
              </a:lnSpc>
            </a:pPr>
            <a:r>
              <a:rPr sz="1800">
                <a:solidFill>
                  <a:srgbClr val="F2ECDD"/>
                </a:solidFill>
                <a:latin typeface="TT Commons Pro"/>
              </a:rPr>
              <a:t>people, work, resources,</a:t>
            </a:r>
          </a:p>
          <a:p>
            <a:pPr algn="l">
              <a:lnSpc>
                <a:spcPct val="150000"/>
              </a:lnSpc>
            </a:pPr>
            <a:r>
              <a:rPr sz="1800">
                <a:solidFill>
                  <a:srgbClr val="F2ECDD"/>
                </a:solidFill>
                <a:latin typeface="TT Commons Pro"/>
              </a:rPr>
              <a:t>and exchange — projects,</a:t>
            </a:r>
          </a:p>
          <a:p>
            <a:pPr algn="l">
              <a:lnSpc>
                <a:spcPct val="150000"/>
              </a:lnSpc>
            </a:pPr>
            <a:r>
              <a:rPr sz="1800">
                <a:solidFill>
                  <a:srgbClr val="F2ECDD"/>
                </a:solidFill>
                <a:latin typeface="TT Commons Pro"/>
              </a:rPr>
              <a:t>roles, tasks, scheduling,</a:t>
            </a:r>
          </a:p>
          <a:p>
            <a:pPr algn="l">
              <a:lnSpc>
                <a:spcPct val="150000"/>
              </a:lnSpc>
            </a:pPr>
            <a:r>
              <a:rPr sz="1800">
                <a:solidFill>
                  <a:srgbClr val="F2ECDD"/>
                </a:solidFill>
                <a:latin typeface="TT Commons Pro"/>
              </a:rPr>
              <a:t>payments, documents,</a:t>
            </a:r>
          </a:p>
          <a:p>
            <a:pPr algn="l">
              <a:lnSpc>
                <a:spcPct val="150000"/>
              </a:lnSpc>
            </a:pPr>
            <a:r>
              <a:rPr sz="1800">
                <a:solidFill>
                  <a:srgbClr val="F2ECDD"/>
                </a:solidFill>
                <a:latin typeface="TT Commons Pro"/>
              </a:rPr>
              <a:t>governance, inventory.</a:t>
            </a:r>
          </a:p>
        </p:txBody>
      </p:sp>
      <p:sp>
        <p:nvSpPr>
          <p:cNvPr id="14" name="Rounded Rectangle 13"/>
          <p:cNvSpPr/>
          <p:nvPr/>
        </p:nvSpPr>
        <p:spPr>
          <a:xfrm>
            <a:off x="12124944" y="3566160"/>
            <a:ext cx="5376672" cy="4526279"/>
          </a:xfrm>
          <a:prstGeom prst="roundRect">
            <a:avLst>
              <a:gd name="adj" fmla="val 6000"/>
            </a:avLst>
          </a:prstGeom>
          <a:solidFill>
            <a:srgbClr val="0D3E40"/>
          </a:solidFill>
          <a:ln w="21907">
            <a:solidFill>
              <a:srgbClr val="F0CC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group.png"/>
          <p:cNvPicPr>
            <a:picLocks noChangeAspect="1"/>
          </p:cNvPicPr>
          <p:nvPr/>
        </p:nvPicPr>
        <p:blipFill>
          <a:blip r:embed="rId6"/>
          <a:stretch>
            <a:fillRect/>
          </a:stretch>
        </p:blipFill>
        <p:spPr>
          <a:xfrm>
            <a:off x="12577572" y="3977639"/>
            <a:ext cx="603504" cy="603504"/>
          </a:xfrm>
          <a:prstGeom prst="rect">
            <a:avLst/>
          </a:prstGeom>
        </p:spPr>
      </p:pic>
      <p:sp>
        <p:nvSpPr>
          <p:cNvPr id="16" name="TextBox 15"/>
          <p:cNvSpPr txBox="1"/>
          <p:nvPr/>
        </p:nvSpPr>
        <p:spPr>
          <a:xfrm>
            <a:off x="13565124" y="4087368"/>
            <a:ext cx="3840479" cy="411479"/>
          </a:xfrm>
          <a:prstGeom prst="rect">
            <a:avLst/>
          </a:prstGeom>
          <a:noFill/>
        </p:spPr>
        <p:txBody>
          <a:bodyPr wrap="none" lIns="0" rIns="0" tIns="0" bIns="0">
            <a:spAutoFit/>
          </a:bodyPr>
          <a:lstStyle/>
          <a:p>
            <a:pPr algn="l">
              <a:lnSpc>
                <a:spcPct val="115000"/>
              </a:lnSpc>
            </a:pPr>
            <a:r>
              <a:rPr sz="1725" spc="330">
                <a:solidFill>
                  <a:srgbClr val="EBCF9E"/>
                </a:solidFill>
                <a:latin typeface="Todes 1"/>
              </a:rPr>
              <a:t>FOR A COMMUNITY</a:t>
            </a:r>
          </a:p>
        </p:txBody>
      </p:sp>
      <p:sp>
        <p:nvSpPr>
          <p:cNvPr id="17" name="TextBox 16"/>
          <p:cNvSpPr txBox="1"/>
          <p:nvPr/>
        </p:nvSpPr>
        <p:spPr>
          <a:xfrm>
            <a:off x="12605004" y="4965192"/>
            <a:ext cx="4526279" cy="1399032"/>
          </a:xfrm>
          <a:prstGeom prst="rect">
            <a:avLst/>
          </a:prstGeom>
          <a:noFill/>
        </p:spPr>
        <p:txBody>
          <a:bodyPr wrap="square" lIns="0" rIns="0" tIns="0" bIns="0">
            <a:spAutoFit/>
          </a:bodyPr>
          <a:lstStyle/>
          <a:p>
            <a:pPr algn="l">
              <a:lnSpc>
                <a:spcPct val="150000"/>
              </a:lnSpc>
            </a:pPr>
            <a:r>
              <a:rPr sz="1800">
                <a:solidFill>
                  <a:srgbClr val="F2ECDD"/>
                </a:solidFill>
                <a:latin typeface="TT Commons Pro"/>
              </a:rPr>
              <a:t>A living map of what that</a:t>
            </a:r>
          </a:p>
          <a:p>
            <a:pPr algn="l">
              <a:lnSpc>
                <a:spcPct val="150000"/>
              </a:lnSpc>
            </a:pPr>
            <a:r>
              <a:rPr sz="1800">
                <a:solidFill>
                  <a:srgbClr val="F2ECDD"/>
                </a:solidFill>
                <a:latin typeface="TT Commons Pro"/>
              </a:rPr>
              <a:t>place has, needs, knows,</a:t>
            </a:r>
          </a:p>
          <a:p>
            <a:pPr algn="l">
              <a:lnSpc>
                <a:spcPct val="150000"/>
              </a:lnSpc>
            </a:pPr>
            <a:r>
              <a:rPr sz="1800">
                <a:solidFill>
                  <a:srgbClr val="F2ECDD"/>
                </a:solidFill>
                <a:latin typeface="TT Commons Pro"/>
              </a:rPr>
              <a:t>makes, and can do.</a:t>
            </a:r>
          </a:p>
        </p:txBody>
      </p:sp>
      <p:sp>
        <p:nvSpPr>
          <p:cNvPr id="18" name="TextBox 17"/>
          <p:cNvSpPr txBox="1"/>
          <p:nvPr/>
        </p:nvSpPr>
        <p:spPr>
          <a:xfrm>
            <a:off x="822959" y="8709659"/>
            <a:ext cx="16596359" cy="1097280"/>
          </a:xfrm>
          <a:prstGeom prst="rect">
            <a:avLst/>
          </a:prstGeom>
          <a:noFill/>
        </p:spPr>
        <p:txBody>
          <a:bodyPr wrap="square" lIns="0" rIns="0" tIns="0" bIns="0">
            <a:spAutoFit/>
          </a:bodyPr>
          <a:lstStyle/>
          <a:p>
            <a:pPr algn="ctr">
              <a:lnSpc>
                <a:spcPct val="140000"/>
              </a:lnSpc>
            </a:pPr>
            <a:r>
              <a:rPr sz="1875">
                <a:solidFill>
                  <a:srgbClr val="F2ECDD"/>
                </a:solidFill>
                <a:latin typeface="TT Commons Pro"/>
              </a:rPr>
              <a:t>Today these functions live across many disconnected products. </a:t>
            </a:r>
            <a:r>
              <a:rPr sz="1875">
                <a:solidFill>
                  <a:srgbClr val="F4EAD8"/>
                </a:solidFill>
                <a:latin typeface="TT Commons Pro Bold"/>
              </a:rPr>
              <a:t>Rivr brings them into one connected ecosystem.</a:t>
            </a:r>
          </a:p>
        </p:txBody>
      </p:sp>
      <p:pic>
        <p:nvPicPr>
          <p:cNvPr id="19" name="Picture 18" descr="rivr-symbol-light.png"/>
          <p:cNvPicPr>
            <a:picLocks noChangeAspect="1"/>
          </p:cNvPicPr>
          <p:nvPr/>
        </p:nvPicPr>
        <p:blipFill>
          <a:blip r:embed="rId7"/>
          <a:stretch>
            <a:fillRect/>
          </a:stretch>
        </p:blipFill>
        <p:spPr>
          <a:xfrm>
            <a:off x="576072" y="9518904"/>
            <a:ext cx="521208" cy="521208"/>
          </a:xfrm>
          <a:prstGeom prst="rect">
            <a:avLst/>
          </a:prstGeom>
        </p:spPr>
      </p:pic>
      <p:sp>
        <p:nvSpPr>
          <p:cNvPr id="20" name="TextBox 19"/>
          <p:cNvSpPr txBox="1"/>
          <p:nvPr/>
        </p:nvSpPr>
        <p:spPr>
          <a:xfrm>
            <a:off x="1371600" y="9724644"/>
            <a:ext cx="5486400" cy="301752"/>
          </a:xfrm>
          <a:prstGeom prst="rect">
            <a:avLst/>
          </a:prstGeom>
          <a:noFill/>
        </p:spPr>
        <p:txBody>
          <a:bodyPr wrap="none" lIns="0" rIns="0" tIns="0" bIns="0">
            <a:spAutoFit/>
          </a:bodyPr>
          <a:lstStyle/>
          <a:p>
            <a:pPr algn="l">
              <a:lnSpc>
                <a:spcPct val="115000"/>
              </a:lnSpc>
            </a:pPr>
            <a:r>
              <a:rPr sz="1350" spc="150">
                <a:solidFill>
                  <a:srgbClr val="AFC4C2"/>
                </a:solidFill>
                <a:latin typeface="TT Commons Pro"/>
              </a:rPr>
              <a:t>Rivr · Seed Round 2026</a:t>
            </a:r>
          </a:p>
        </p:txBody>
      </p:sp>
      <p:sp>
        <p:nvSpPr>
          <p:cNvPr id="21" name="TextBox 20"/>
          <p:cNvSpPr txBox="1"/>
          <p:nvPr/>
        </p:nvSpPr>
        <p:spPr>
          <a:xfrm>
            <a:off x="16870680" y="9724644"/>
            <a:ext cx="960119" cy="301752"/>
          </a:xfrm>
          <a:prstGeom prst="rect">
            <a:avLst/>
          </a:prstGeom>
          <a:noFill/>
        </p:spPr>
        <p:txBody>
          <a:bodyPr wrap="none" lIns="0" rIns="0" tIns="0" bIns="0">
            <a:spAutoFit/>
          </a:bodyPr>
          <a:lstStyle/>
          <a:p>
            <a:pPr algn="r">
              <a:lnSpc>
                <a:spcPct val="115000"/>
              </a:lnSpc>
            </a:pPr>
            <a:r>
              <a:rPr sz="1350" spc="150">
                <a:solidFill>
                  <a:srgbClr val="AFC4C2"/>
                </a:solidFill>
                <a:latin typeface="TT Commons Pro"/>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03333"/>
        </a:solidFill>
        <a:effectLst/>
      </p:bgPr>
    </p:bg>
    <p:spTree>
      <p:nvGrpSpPr>
        <p:cNvPr id="1" name=""/>
        <p:cNvGrpSpPr/>
        <p:nvPr/>
      </p:nvGrpSpPr>
      <p:grpSpPr/>
      <p:pic>
        <p:nvPicPr>
          <p:cNvPr id="2" name="Picture 1" descr="bg_p02.jpg"/>
          <p:cNvPicPr>
            <a:picLocks noChangeAspect="1"/>
          </p:cNvPicPr>
          <p:nvPr/>
        </p:nvPicPr>
        <p:blipFill>
          <a:blip r:embed="rId2"/>
          <a:stretch>
            <a:fillRect/>
          </a:stretch>
        </p:blipFill>
        <p:spPr>
          <a:xfrm>
            <a:off x="0" y="0"/>
            <a:ext cx="18287542" cy="10287000"/>
          </a:xfrm>
          <a:prstGeom prst="rect">
            <a:avLst/>
          </a:prstGeom>
        </p:spPr>
      </p:pic>
      <p:sp>
        <p:nvSpPr>
          <p:cNvPr id="3" name="TextBox 2"/>
          <p:cNvSpPr txBox="1"/>
          <p:nvPr/>
        </p:nvSpPr>
        <p:spPr>
          <a:xfrm>
            <a:off x="822959" y="822959"/>
            <a:ext cx="16733519" cy="384048"/>
          </a:xfrm>
          <a:prstGeom prst="rect">
            <a:avLst/>
          </a:prstGeom>
          <a:noFill/>
        </p:spPr>
        <p:txBody>
          <a:bodyPr wrap="none" lIns="0" rIns="0" tIns="0" bIns="0">
            <a:spAutoFit/>
          </a:bodyPr>
          <a:lstStyle/>
          <a:p>
            <a:pPr algn="l">
              <a:lnSpc>
                <a:spcPct val="115000"/>
              </a:lnSpc>
            </a:pPr>
            <a:r>
              <a:rPr sz="1650" spc="330">
                <a:solidFill>
                  <a:srgbClr val="9FE8DC"/>
                </a:solidFill>
                <a:latin typeface="Todes 1"/>
              </a:rPr>
              <a:t>EVERYDAY LIFE</a:t>
            </a:r>
          </a:p>
        </p:txBody>
      </p:sp>
      <p:sp>
        <p:nvSpPr>
          <p:cNvPr id="4" name="TextBox 3"/>
          <p:cNvSpPr txBox="1"/>
          <p:nvPr/>
        </p:nvSpPr>
        <p:spPr>
          <a:xfrm>
            <a:off x="1234440" y="3017520"/>
            <a:ext cx="15773400" cy="1920239"/>
          </a:xfrm>
          <a:prstGeom prst="rect">
            <a:avLst/>
          </a:prstGeom>
          <a:noFill/>
        </p:spPr>
        <p:txBody>
          <a:bodyPr wrap="square" lIns="0" rIns="0" tIns="0" bIns="0">
            <a:spAutoFit/>
          </a:bodyPr>
          <a:lstStyle/>
          <a:p>
            <a:pPr algn="ctr">
              <a:lnSpc>
                <a:spcPct val="140000"/>
              </a:lnSpc>
            </a:pPr>
            <a:r>
              <a:rPr sz="4200" spc="-75">
                <a:solidFill>
                  <a:srgbClr val="F4EAD8"/>
                </a:solidFill>
                <a:latin typeface="Ibarra Real Nova Italics"/>
              </a:rPr>
              <a:t>Resilience is built partly through</a:t>
            </a:r>
          </a:p>
          <a:p>
            <a:pPr algn="ctr">
              <a:lnSpc>
                <a:spcPct val="140000"/>
              </a:lnSpc>
            </a:pPr>
            <a:r>
              <a:rPr sz="4500" spc="-75">
                <a:solidFill>
                  <a:srgbClr val="EBCF9E"/>
                </a:solidFill>
                <a:latin typeface="Ibarra Real Nova Italics"/>
              </a:rPr>
              <a:t>ordinary life.</a:t>
            </a:r>
          </a:p>
        </p:txBody>
      </p:sp>
      <p:sp>
        <p:nvSpPr>
          <p:cNvPr id="5" name="Rounded Rectangle 4"/>
          <p:cNvSpPr/>
          <p:nvPr/>
        </p:nvSpPr>
        <p:spPr>
          <a:xfrm>
            <a:off x="996467" y="5692140"/>
            <a:ext cx="3017520" cy="1851660"/>
          </a:xfrm>
          <a:prstGeom prst="roundRect">
            <a:avLst>
              <a:gd name="adj" fmla="val 6000"/>
            </a:avLst>
          </a:prstGeom>
          <a:solidFill>
            <a:srgbClr val="0D3E40"/>
          </a:solidFill>
          <a:ln w="17145">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ood.png"/>
          <p:cNvPicPr>
            <a:picLocks noChangeAspect="1"/>
          </p:cNvPicPr>
          <p:nvPr/>
        </p:nvPicPr>
        <p:blipFill>
          <a:blip r:embed="rId4"/>
          <a:stretch>
            <a:fillRect/>
          </a:stretch>
        </p:blipFill>
        <p:spPr>
          <a:xfrm>
            <a:off x="2258339" y="6062472"/>
            <a:ext cx="493776" cy="493776"/>
          </a:xfrm>
          <a:prstGeom prst="rect">
            <a:avLst/>
          </a:prstGeom>
        </p:spPr>
      </p:pic>
      <p:sp>
        <p:nvSpPr>
          <p:cNvPr id="7" name="TextBox 6"/>
          <p:cNvSpPr txBox="1"/>
          <p:nvPr/>
        </p:nvSpPr>
        <p:spPr>
          <a:xfrm>
            <a:off x="996467" y="6885431"/>
            <a:ext cx="3017520" cy="411479"/>
          </a:xfrm>
          <a:prstGeom prst="rect">
            <a:avLst/>
          </a:prstGeom>
          <a:noFill/>
        </p:spPr>
        <p:txBody>
          <a:bodyPr wrap="square" lIns="0" rIns="0" tIns="0" bIns="0">
            <a:spAutoFit/>
          </a:bodyPr>
          <a:lstStyle/>
          <a:p>
            <a:pPr algn="ctr">
              <a:lnSpc>
                <a:spcPct val="115000"/>
              </a:lnSpc>
            </a:pPr>
            <a:r>
              <a:rPr sz="1650">
                <a:solidFill>
                  <a:srgbClr val="F2ECDD"/>
                </a:solidFill>
                <a:latin typeface="TT Commons Pro"/>
              </a:rPr>
              <a:t>extra food</a:t>
            </a:r>
          </a:p>
        </p:txBody>
      </p:sp>
      <p:sp>
        <p:nvSpPr>
          <p:cNvPr id="8" name="Rounded Rectangle 7"/>
          <p:cNvSpPr/>
          <p:nvPr/>
        </p:nvSpPr>
        <p:spPr>
          <a:xfrm>
            <a:off x="4315739" y="5692140"/>
            <a:ext cx="3017520" cy="1851660"/>
          </a:xfrm>
          <a:prstGeom prst="roundRect">
            <a:avLst>
              <a:gd name="adj" fmla="val 6000"/>
            </a:avLst>
          </a:prstGeom>
          <a:solidFill>
            <a:srgbClr val="0D3E40"/>
          </a:solidFill>
          <a:ln w="17145">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ool.png"/>
          <p:cNvPicPr>
            <a:picLocks noChangeAspect="1"/>
          </p:cNvPicPr>
          <p:nvPr/>
        </p:nvPicPr>
        <p:blipFill>
          <a:blip r:embed="rId5"/>
          <a:stretch>
            <a:fillRect/>
          </a:stretch>
        </p:blipFill>
        <p:spPr>
          <a:xfrm>
            <a:off x="5577611" y="6062472"/>
            <a:ext cx="493776" cy="493776"/>
          </a:xfrm>
          <a:prstGeom prst="rect">
            <a:avLst/>
          </a:prstGeom>
        </p:spPr>
      </p:pic>
      <p:sp>
        <p:nvSpPr>
          <p:cNvPr id="10" name="TextBox 9"/>
          <p:cNvSpPr txBox="1"/>
          <p:nvPr/>
        </p:nvSpPr>
        <p:spPr>
          <a:xfrm>
            <a:off x="4315739" y="6885431"/>
            <a:ext cx="3017520" cy="411479"/>
          </a:xfrm>
          <a:prstGeom prst="rect">
            <a:avLst/>
          </a:prstGeom>
          <a:noFill/>
        </p:spPr>
        <p:txBody>
          <a:bodyPr wrap="square" lIns="0" rIns="0" tIns="0" bIns="0">
            <a:spAutoFit/>
          </a:bodyPr>
          <a:lstStyle/>
          <a:p>
            <a:pPr algn="ctr">
              <a:lnSpc>
                <a:spcPct val="115000"/>
              </a:lnSpc>
            </a:pPr>
            <a:r>
              <a:rPr sz="1650">
                <a:solidFill>
                  <a:srgbClr val="F2ECDD"/>
                </a:solidFill>
                <a:latin typeface="TT Commons Pro"/>
              </a:rPr>
              <a:t>the ladder</a:t>
            </a:r>
          </a:p>
        </p:txBody>
      </p:sp>
      <p:sp>
        <p:nvSpPr>
          <p:cNvPr id="11" name="Rounded Rectangle 10"/>
          <p:cNvSpPr/>
          <p:nvPr/>
        </p:nvSpPr>
        <p:spPr>
          <a:xfrm>
            <a:off x="7635011" y="5692140"/>
            <a:ext cx="3017520" cy="1851660"/>
          </a:xfrm>
          <a:prstGeom prst="roundRect">
            <a:avLst>
              <a:gd name="adj" fmla="val 6000"/>
            </a:avLst>
          </a:prstGeom>
          <a:solidFill>
            <a:srgbClr val="0D3E40"/>
          </a:solidFill>
          <a:ln w="17145">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are.png"/>
          <p:cNvPicPr>
            <a:picLocks noChangeAspect="1"/>
          </p:cNvPicPr>
          <p:nvPr/>
        </p:nvPicPr>
        <p:blipFill>
          <a:blip r:embed="rId6"/>
          <a:stretch>
            <a:fillRect/>
          </a:stretch>
        </p:blipFill>
        <p:spPr>
          <a:xfrm>
            <a:off x="8896883" y="6062472"/>
            <a:ext cx="493776" cy="493776"/>
          </a:xfrm>
          <a:prstGeom prst="rect">
            <a:avLst/>
          </a:prstGeom>
        </p:spPr>
      </p:pic>
      <p:sp>
        <p:nvSpPr>
          <p:cNvPr id="13" name="TextBox 12"/>
          <p:cNvSpPr txBox="1"/>
          <p:nvPr/>
        </p:nvSpPr>
        <p:spPr>
          <a:xfrm>
            <a:off x="7635011" y="6885431"/>
            <a:ext cx="3017520" cy="411479"/>
          </a:xfrm>
          <a:prstGeom prst="rect">
            <a:avLst/>
          </a:prstGeom>
          <a:noFill/>
        </p:spPr>
        <p:txBody>
          <a:bodyPr wrap="square" lIns="0" rIns="0" tIns="0" bIns="0">
            <a:spAutoFit/>
          </a:bodyPr>
          <a:lstStyle/>
          <a:p>
            <a:pPr algn="ctr">
              <a:lnSpc>
                <a:spcPct val="115000"/>
              </a:lnSpc>
            </a:pPr>
            <a:r>
              <a:rPr sz="1650">
                <a:solidFill>
                  <a:srgbClr val="F2ECDD"/>
                </a:solidFill>
                <a:latin typeface="TT Commons Pro"/>
              </a:rPr>
              <a:t>childcare</a:t>
            </a:r>
          </a:p>
        </p:txBody>
      </p:sp>
      <p:sp>
        <p:nvSpPr>
          <p:cNvPr id="14" name="Rounded Rectangle 13"/>
          <p:cNvSpPr/>
          <p:nvPr/>
        </p:nvSpPr>
        <p:spPr>
          <a:xfrm>
            <a:off x="10954283" y="5692140"/>
            <a:ext cx="3017520" cy="1851660"/>
          </a:xfrm>
          <a:prstGeom prst="roundRect">
            <a:avLst>
              <a:gd name="adj" fmla="val 6000"/>
            </a:avLst>
          </a:prstGeom>
          <a:solidFill>
            <a:srgbClr val="0D3E40"/>
          </a:solidFill>
          <a:ln w="17145">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group.png"/>
          <p:cNvPicPr>
            <a:picLocks noChangeAspect="1"/>
          </p:cNvPicPr>
          <p:nvPr/>
        </p:nvPicPr>
        <p:blipFill>
          <a:blip r:embed="rId7"/>
          <a:stretch>
            <a:fillRect/>
          </a:stretch>
        </p:blipFill>
        <p:spPr>
          <a:xfrm>
            <a:off x="12216155" y="6062472"/>
            <a:ext cx="493776" cy="493776"/>
          </a:xfrm>
          <a:prstGeom prst="rect">
            <a:avLst/>
          </a:prstGeom>
        </p:spPr>
      </p:pic>
      <p:sp>
        <p:nvSpPr>
          <p:cNvPr id="16" name="TextBox 15"/>
          <p:cNvSpPr txBox="1"/>
          <p:nvPr/>
        </p:nvSpPr>
        <p:spPr>
          <a:xfrm>
            <a:off x="10954283" y="6885431"/>
            <a:ext cx="3017520" cy="411479"/>
          </a:xfrm>
          <a:prstGeom prst="rect">
            <a:avLst/>
          </a:prstGeom>
          <a:noFill/>
        </p:spPr>
        <p:txBody>
          <a:bodyPr wrap="square" lIns="0" rIns="0" tIns="0" bIns="0">
            <a:spAutoFit/>
          </a:bodyPr>
          <a:lstStyle/>
          <a:p>
            <a:pPr algn="ctr">
              <a:lnSpc>
                <a:spcPct val="115000"/>
              </a:lnSpc>
            </a:pPr>
            <a:r>
              <a:rPr sz="1650">
                <a:solidFill>
                  <a:srgbClr val="F2ECDD"/>
                </a:solidFill>
                <a:latin typeface="TT Commons Pro"/>
              </a:rPr>
              <a:t>a work party</a:t>
            </a:r>
          </a:p>
        </p:txBody>
      </p:sp>
      <p:sp>
        <p:nvSpPr>
          <p:cNvPr id="17" name="Rounded Rectangle 16"/>
          <p:cNvSpPr/>
          <p:nvPr/>
        </p:nvSpPr>
        <p:spPr>
          <a:xfrm>
            <a:off x="14273555" y="5692140"/>
            <a:ext cx="3017520" cy="1851660"/>
          </a:xfrm>
          <a:prstGeom prst="roundRect">
            <a:avLst>
              <a:gd name="adj" fmla="val 6000"/>
            </a:avLst>
          </a:prstGeom>
          <a:solidFill>
            <a:srgbClr val="0D3E40"/>
          </a:solidFill>
          <a:ln w="17145">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money.png"/>
          <p:cNvPicPr>
            <a:picLocks noChangeAspect="1"/>
          </p:cNvPicPr>
          <p:nvPr/>
        </p:nvPicPr>
        <p:blipFill>
          <a:blip r:embed="rId8"/>
          <a:stretch>
            <a:fillRect/>
          </a:stretch>
        </p:blipFill>
        <p:spPr>
          <a:xfrm>
            <a:off x="15535427" y="6062472"/>
            <a:ext cx="493776" cy="493776"/>
          </a:xfrm>
          <a:prstGeom prst="rect">
            <a:avLst/>
          </a:prstGeom>
        </p:spPr>
      </p:pic>
      <p:sp>
        <p:nvSpPr>
          <p:cNvPr id="19" name="TextBox 18"/>
          <p:cNvSpPr txBox="1"/>
          <p:nvPr/>
        </p:nvSpPr>
        <p:spPr>
          <a:xfrm>
            <a:off x="14273555" y="6885431"/>
            <a:ext cx="3017520" cy="411479"/>
          </a:xfrm>
          <a:prstGeom prst="rect">
            <a:avLst/>
          </a:prstGeom>
          <a:noFill/>
        </p:spPr>
        <p:txBody>
          <a:bodyPr wrap="square" lIns="0" rIns="0" tIns="0" bIns="0">
            <a:spAutoFit/>
          </a:bodyPr>
          <a:lstStyle/>
          <a:p>
            <a:pPr algn="ctr">
              <a:lnSpc>
                <a:spcPct val="115000"/>
              </a:lnSpc>
            </a:pPr>
            <a:r>
              <a:rPr sz="1650">
                <a:solidFill>
                  <a:srgbClr val="F2ECDD"/>
                </a:solidFill>
                <a:latin typeface="TT Commons Pro"/>
              </a:rPr>
              <a:t>shared purchases</a:t>
            </a:r>
          </a:p>
        </p:txBody>
      </p:sp>
      <p:sp>
        <p:nvSpPr>
          <p:cNvPr id="20" name="TextBox 19"/>
          <p:cNvSpPr txBox="1"/>
          <p:nvPr/>
        </p:nvSpPr>
        <p:spPr>
          <a:xfrm>
            <a:off x="822959" y="8366759"/>
            <a:ext cx="16596359" cy="1097280"/>
          </a:xfrm>
          <a:prstGeom prst="rect">
            <a:avLst/>
          </a:prstGeom>
          <a:noFill/>
        </p:spPr>
        <p:txBody>
          <a:bodyPr wrap="square" lIns="0" rIns="0" tIns="0" bIns="0">
            <a:spAutoFit/>
          </a:bodyPr>
          <a:lstStyle/>
          <a:p>
            <a:pPr algn="ctr">
              <a:lnSpc>
                <a:spcPct val="140000"/>
              </a:lnSpc>
            </a:pPr>
            <a:r>
              <a:rPr sz="2250" spc="20">
                <a:solidFill>
                  <a:srgbClr val="9FE8DC"/>
                </a:solidFill>
                <a:latin typeface="Alike Italics"/>
              </a:rPr>
              <a:t>Rivr is not only for formal organizations.</a:t>
            </a:r>
          </a:p>
        </p:txBody>
      </p:sp>
      <p:pic>
        <p:nvPicPr>
          <p:cNvPr id="21" name="Picture 20" descr="rivr-symbol-light.png"/>
          <p:cNvPicPr>
            <a:picLocks noChangeAspect="1"/>
          </p:cNvPicPr>
          <p:nvPr/>
        </p:nvPicPr>
        <p:blipFill>
          <a:blip r:embed="rId9"/>
          <a:stretch>
            <a:fillRect/>
          </a:stretch>
        </p:blipFill>
        <p:spPr>
          <a:xfrm>
            <a:off x="576072" y="9518904"/>
            <a:ext cx="521208" cy="521208"/>
          </a:xfrm>
          <a:prstGeom prst="rect">
            <a:avLst/>
          </a:prstGeom>
        </p:spPr>
      </p:pic>
      <p:sp>
        <p:nvSpPr>
          <p:cNvPr id="22" name="TextBox 21"/>
          <p:cNvSpPr txBox="1"/>
          <p:nvPr/>
        </p:nvSpPr>
        <p:spPr>
          <a:xfrm>
            <a:off x="1371600" y="9724644"/>
            <a:ext cx="5486400" cy="301752"/>
          </a:xfrm>
          <a:prstGeom prst="rect">
            <a:avLst/>
          </a:prstGeom>
          <a:noFill/>
        </p:spPr>
        <p:txBody>
          <a:bodyPr wrap="none" lIns="0" rIns="0" tIns="0" bIns="0">
            <a:spAutoFit/>
          </a:bodyPr>
          <a:lstStyle/>
          <a:p>
            <a:pPr algn="l">
              <a:lnSpc>
                <a:spcPct val="115000"/>
              </a:lnSpc>
            </a:pPr>
            <a:r>
              <a:rPr sz="1350" spc="150">
                <a:solidFill>
                  <a:srgbClr val="AFC4C2"/>
                </a:solidFill>
                <a:latin typeface="TT Commons Pro"/>
              </a:rPr>
              <a:t>Rivr · Seed Round 2026</a:t>
            </a:r>
          </a:p>
        </p:txBody>
      </p:sp>
      <p:sp>
        <p:nvSpPr>
          <p:cNvPr id="23" name="TextBox 22"/>
          <p:cNvSpPr txBox="1"/>
          <p:nvPr/>
        </p:nvSpPr>
        <p:spPr>
          <a:xfrm>
            <a:off x="16870680" y="9724644"/>
            <a:ext cx="960119" cy="301752"/>
          </a:xfrm>
          <a:prstGeom prst="rect">
            <a:avLst/>
          </a:prstGeom>
          <a:noFill/>
        </p:spPr>
        <p:txBody>
          <a:bodyPr wrap="none" lIns="0" rIns="0" tIns="0" bIns="0">
            <a:spAutoFit/>
          </a:bodyPr>
          <a:lstStyle/>
          <a:p>
            <a:pPr algn="r">
              <a:lnSpc>
                <a:spcPct val="115000"/>
              </a:lnSpc>
            </a:pPr>
            <a:r>
              <a:rPr sz="1350" spc="150">
                <a:solidFill>
                  <a:srgbClr val="AFC4C2"/>
                </a:solidFill>
                <a:latin typeface="TT Commons Pro"/>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03333"/>
        </a:solidFill>
        <a:effectLst/>
      </p:bgPr>
    </p:bg>
    <p:spTree>
      <p:nvGrpSpPr>
        <p:cNvPr id="1" name=""/>
        <p:cNvGrpSpPr/>
        <p:nvPr/>
      </p:nvGrpSpPr>
      <p:grpSpPr/>
      <p:pic>
        <p:nvPicPr>
          <p:cNvPr id="2" name="Picture 1" descr="bg_c13.jpg"/>
          <p:cNvPicPr>
            <a:picLocks noChangeAspect="1"/>
          </p:cNvPicPr>
          <p:nvPr/>
        </p:nvPicPr>
        <p:blipFill>
          <a:blip r:embed="rId2"/>
          <a:stretch>
            <a:fillRect/>
          </a:stretch>
        </p:blipFill>
        <p:spPr>
          <a:xfrm>
            <a:off x="0" y="0"/>
            <a:ext cx="18287542" cy="10287000"/>
          </a:xfrm>
          <a:prstGeom prst="rect">
            <a:avLst/>
          </a:prstGeom>
        </p:spPr>
      </p:pic>
      <p:sp>
        <p:nvSpPr>
          <p:cNvPr id="3" name="TextBox 2"/>
          <p:cNvSpPr txBox="1"/>
          <p:nvPr/>
        </p:nvSpPr>
        <p:spPr>
          <a:xfrm>
            <a:off x="822959" y="822959"/>
            <a:ext cx="16733519" cy="384048"/>
          </a:xfrm>
          <a:prstGeom prst="rect">
            <a:avLst/>
          </a:prstGeom>
          <a:noFill/>
        </p:spPr>
        <p:txBody>
          <a:bodyPr wrap="none" lIns="0" rIns="0" tIns="0" bIns="0">
            <a:spAutoFit/>
          </a:bodyPr>
          <a:lstStyle/>
          <a:p>
            <a:pPr algn="l">
              <a:lnSpc>
                <a:spcPct val="115000"/>
              </a:lnSpc>
            </a:pPr>
            <a:r>
              <a:rPr sz="1650" spc="330">
                <a:solidFill>
                  <a:srgbClr val="9FE8DC"/>
                </a:solidFill>
                <a:latin typeface="Todes 1"/>
              </a:rPr>
              <a:t>ORGANIZATIONS NEED MORE THAN A FEED</a:t>
            </a:r>
          </a:p>
        </p:txBody>
      </p:sp>
      <p:sp>
        <p:nvSpPr>
          <p:cNvPr id="4" name="TextBox 3"/>
          <p:cNvSpPr txBox="1"/>
          <p:nvPr/>
        </p:nvSpPr>
        <p:spPr>
          <a:xfrm>
            <a:off x="822959" y="1699869"/>
            <a:ext cx="15238888" cy="912647"/>
          </a:xfrm>
          <a:prstGeom prst="rect">
            <a:avLst/>
          </a:prstGeom>
          <a:noFill/>
        </p:spPr>
        <p:txBody>
          <a:bodyPr wrap="none" lIns="0" rIns="0" tIns="0" bIns="0">
            <a:spAutoFit/>
          </a:bodyPr>
          <a:lstStyle/>
          <a:p>
            <a:pPr algn="l">
              <a:lnSpc>
                <a:spcPct val="115000"/>
              </a:lnSpc>
            </a:pPr>
            <a:r>
              <a:rPr sz="4956" spc="-67">
                <a:solidFill>
                  <a:srgbClr val="F4EAD8"/>
                </a:solidFill>
                <a:latin typeface="Todes 1"/>
              </a:rPr>
              <a:t>A place where the organization can </a:t>
            </a:r>
          </a:p>
        </p:txBody>
      </p:sp>
      <p:sp>
        <p:nvSpPr>
          <p:cNvPr id="5" name="TextBox 4"/>
          <p:cNvSpPr txBox="1"/>
          <p:nvPr/>
        </p:nvSpPr>
        <p:spPr>
          <a:xfrm>
            <a:off x="12849479" y="1645919"/>
            <a:ext cx="5896927" cy="1010431"/>
          </a:xfrm>
          <a:prstGeom prst="rect">
            <a:avLst/>
          </a:prstGeom>
          <a:noFill/>
        </p:spPr>
        <p:txBody>
          <a:bodyPr wrap="none" lIns="0" rIns="0" tIns="0" bIns="0">
            <a:spAutoFit/>
          </a:bodyPr>
          <a:lstStyle/>
          <a:p>
            <a:pPr algn="l">
              <a:lnSpc>
                <a:spcPct val="115000"/>
              </a:lnSpc>
            </a:pPr>
            <a:r>
              <a:rPr sz="5487" spc="-75">
                <a:solidFill>
                  <a:srgbClr val="99E6D9"/>
                </a:solidFill>
                <a:latin typeface="Ibarra Real Nova Italics"/>
              </a:rPr>
              <a:t>actually operate.</a:t>
            </a:r>
          </a:p>
        </p:txBody>
      </p:sp>
      <p:sp>
        <p:nvSpPr>
          <p:cNvPr id="6" name="TextBox 5"/>
          <p:cNvSpPr txBox="1"/>
          <p:nvPr/>
        </p:nvSpPr>
        <p:spPr>
          <a:xfrm>
            <a:off x="822959" y="3429000"/>
            <a:ext cx="15773400" cy="411479"/>
          </a:xfrm>
          <a:prstGeom prst="rect">
            <a:avLst/>
          </a:prstGeom>
          <a:noFill/>
        </p:spPr>
        <p:txBody>
          <a:bodyPr wrap="none" lIns="0" rIns="0" tIns="0" bIns="0">
            <a:spAutoFit/>
          </a:bodyPr>
          <a:lstStyle/>
          <a:p>
            <a:pPr algn="l">
              <a:lnSpc>
                <a:spcPct val="115000"/>
              </a:lnSpc>
            </a:pPr>
            <a:r>
              <a:rPr sz="1800" spc="180">
                <a:solidFill>
                  <a:srgbClr val="9FE8DC"/>
                </a:solidFill>
                <a:latin typeface="Todes 1"/>
              </a:rPr>
              <a:t>NOT ANOTHER GROUP CHAT ABOUT THE ORGANIZATION —</a:t>
            </a:r>
          </a:p>
        </p:txBody>
      </p:sp>
      <p:sp>
        <p:nvSpPr>
          <p:cNvPr id="7" name="Rounded Rectangle 6"/>
          <p:cNvSpPr/>
          <p:nvPr/>
        </p:nvSpPr>
        <p:spPr>
          <a:xfrm>
            <a:off x="822959" y="4046220"/>
            <a:ext cx="2221992" cy="1714500"/>
          </a:xfrm>
          <a:prstGeom prst="roundRect">
            <a:avLst>
              <a:gd name="adj" fmla="val 12000"/>
            </a:avLst>
          </a:prstGeom>
          <a:solidFill>
            <a:srgbClr val="0D3E40"/>
          </a:solidFill>
          <a:ln w="1524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doc.png"/>
          <p:cNvPicPr>
            <a:picLocks noChangeAspect="1"/>
          </p:cNvPicPr>
          <p:nvPr/>
        </p:nvPicPr>
        <p:blipFill>
          <a:blip r:embed="rId4"/>
          <a:stretch>
            <a:fillRect/>
          </a:stretch>
        </p:blipFill>
        <p:spPr>
          <a:xfrm>
            <a:off x="1700784" y="4416552"/>
            <a:ext cx="466344" cy="466344"/>
          </a:xfrm>
          <a:prstGeom prst="rect">
            <a:avLst/>
          </a:prstGeom>
        </p:spPr>
      </p:pic>
      <p:sp>
        <p:nvSpPr>
          <p:cNvPr id="9" name="TextBox 8"/>
          <p:cNvSpPr txBox="1"/>
          <p:nvPr/>
        </p:nvSpPr>
        <p:spPr>
          <a:xfrm>
            <a:off x="822959" y="5116068"/>
            <a:ext cx="2221992" cy="411479"/>
          </a:xfrm>
          <a:prstGeom prst="rect">
            <a:avLst/>
          </a:prstGeom>
          <a:noFill/>
        </p:spPr>
        <p:txBody>
          <a:bodyPr wrap="square" lIns="0" rIns="0" tIns="0" bIns="0">
            <a:spAutoFit/>
          </a:bodyPr>
          <a:lstStyle/>
          <a:p>
            <a:pPr algn="ctr">
              <a:lnSpc>
                <a:spcPct val="115000"/>
              </a:lnSpc>
            </a:pPr>
            <a:r>
              <a:rPr sz="1425">
                <a:solidFill>
                  <a:srgbClr val="F2ECDD"/>
                </a:solidFill>
                <a:latin typeface="TT Commons Pro"/>
              </a:rPr>
              <a:t>documents</a:t>
            </a:r>
          </a:p>
        </p:txBody>
      </p:sp>
      <p:sp>
        <p:nvSpPr>
          <p:cNvPr id="10" name="Rounded Rectangle 9"/>
          <p:cNvSpPr/>
          <p:nvPr/>
        </p:nvSpPr>
        <p:spPr>
          <a:xfrm>
            <a:off x="3236976" y="4046220"/>
            <a:ext cx="2221992" cy="1714500"/>
          </a:xfrm>
          <a:prstGeom prst="roundRect">
            <a:avLst>
              <a:gd name="adj" fmla="val 12000"/>
            </a:avLst>
          </a:prstGeom>
          <a:solidFill>
            <a:srgbClr val="062A2C"/>
          </a:solidFill>
          <a:ln w="1524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roject.png"/>
          <p:cNvPicPr>
            <a:picLocks noChangeAspect="1"/>
          </p:cNvPicPr>
          <p:nvPr/>
        </p:nvPicPr>
        <p:blipFill>
          <a:blip r:embed="rId5"/>
          <a:stretch>
            <a:fillRect/>
          </a:stretch>
        </p:blipFill>
        <p:spPr>
          <a:xfrm>
            <a:off x="4114800" y="4416552"/>
            <a:ext cx="466344" cy="466344"/>
          </a:xfrm>
          <a:prstGeom prst="rect">
            <a:avLst/>
          </a:prstGeom>
        </p:spPr>
      </p:pic>
      <p:sp>
        <p:nvSpPr>
          <p:cNvPr id="12" name="TextBox 11"/>
          <p:cNvSpPr txBox="1"/>
          <p:nvPr/>
        </p:nvSpPr>
        <p:spPr>
          <a:xfrm>
            <a:off x="3236976" y="5116068"/>
            <a:ext cx="2221992" cy="411479"/>
          </a:xfrm>
          <a:prstGeom prst="rect">
            <a:avLst/>
          </a:prstGeom>
          <a:noFill/>
        </p:spPr>
        <p:txBody>
          <a:bodyPr wrap="square" lIns="0" rIns="0" tIns="0" bIns="0">
            <a:spAutoFit/>
          </a:bodyPr>
          <a:lstStyle/>
          <a:p>
            <a:pPr algn="ctr">
              <a:lnSpc>
                <a:spcPct val="115000"/>
              </a:lnSpc>
            </a:pPr>
            <a:r>
              <a:rPr sz="1425">
                <a:solidFill>
                  <a:srgbClr val="F2ECDD"/>
                </a:solidFill>
                <a:latin typeface="TT Commons Pro"/>
              </a:rPr>
              <a:t>projects</a:t>
            </a:r>
          </a:p>
        </p:txBody>
      </p:sp>
      <p:sp>
        <p:nvSpPr>
          <p:cNvPr id="13" name="Rounded Rectangle 12"/>
          <p:cNvSpPr/>
          <p:nvPr/>
        </p:nvSpPr>
        <p:spPr>
          <a:xfrm>
            <a:off x="5650992" y="4046220"/>
            <a:ext cx="2221992" cy="1714500"/>
          </a:xfrm>
          <a:prstGeom prst="roundRect">
            <a:avLst>
              <a:gd name="adj" fmla="val 12000"/>
            </a:avLst>
          </a:prstGeom>
          <a:solidFill>
            <a:srgbClr val="0D3E40"/>
          </a:solidFill>
          <a:ln w="1524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project.png"/>
          <p:cNvPicPr>
            <a:picLocks noChangeAspect="1"/>
          </p:cNvPicPr>
          <p:nvPr/>
        </p:nvPicPr>
        <p:blipFill>
          <a:blip r:embed="rId5"/>
          <a:stretch>
            <a:fillRect/>
          </a:stretch>
        </p:blipFill>
        <p:spPr>
          <a:xfrm>
            <a:off x="6528816" y="4416552"/>
            <a:ext cx="466344" cy="466344"/>
          </a:xfrm>
          <a:prstGeom prst="rect">
            <a:avLst/>
          </a:prstGeom>
        </p:spPr>
      </p:pic>
      <p:sp>
        <p:nvSpPr>
          <p:cNvPr id="15" name="TextBox 14"/>
          <p:cNvSpPr txBox="1"/>
          <p:nvPr/>
        </p:nvSpPr>
        <p:spPr>
          <a:xfrm>
            <a:off x="5650992" y="5116068"/>
            <a:ext cx="2221992" cy="411479"/>
          </a:xfrm>
          <a:prstGeom prst="rect">
            <a:avLst/>
          </a:prstGeom>
          <a:noFill/>
        </p:spPr>
        <p:txBody>
          <a:bodyPr wrap="square" lIns="0" rIns="0" tIns="0" bIns="0">
            <a:spAutoFit/>
          </a:bodyPr>
          <a:lstStyle/>
          <a:p>
            <a:pPr algn="ctr">
              <a:lnSpc>
                <a:spcPct val="115000"/>
              </a:lnSpc>
            </a:pPr>
            <a:r>
              <a:rPr sz="1425">
                <a:solidFill>
                  <a:srgbClr val="F2ECDD"/>
                </a:solidFill>
                <a:latin typeface="TT Commons Pro"/>
              </a:rPr>
              <a:t>jobs</a:t>
            </a:r>
          </a:p>
        </p:txBody>
      </p:sp>
      <p:sp>
        <p:nvSpPr>
          <p:cNvPr id="16" name="Rounded Rectangle 15"/>
          <p:cNvSpPr/>
          <p:nvPr/>
        </p:nvSpPr>
        <p:spPr>
          <a:xfrm>
            <a:off x="8065008" y="4046220"/>
            <a:ext cx="2221992" cy="1714500"/>
          </a:xfrm>
          <a:prstGeom prst="roundRect">
            <a:avLst>
              <a:gd name="adj" fmla="val 12000"/>
            </a:avLst>
          </a:prstGeom>
          <a:solidFill>
            <a:srgbClr val="062A2C"/>
          </a:solidFill>
          <a:ln w="1524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task.png"/>
          <p:cNvPicPr>
            <a:picLocks noChangeAspect="1"/>
          </p:cNvPicPr>
          <p:nvPr/>
        </p:nvPicPr>
        <p:blipFill>
          <a:blip r:embed="rId6"/>
          <a:stretch>
            <a:fillRect/>
          </a:stretch>
        </p:blipFill>
        <p:spPr>
          <a:xfrm>
            <a:off x="8942832" y="4416552"/>
            <a:ext cx="466344" cy="466344"/>
          </a:xfrm>
          <a:prstGeom prst="rect">
            <a:avLst/>
          </a:prstGeom>
        </p:spPr>
      </p:pic>
      <p:sp>
        <p:nvSpPr>
          <p:cNvPr id="18" name="TextBox 17"/>
          <p:cNvSpPr txBox="1"/>
          <p:nvPr/>
        </p:nvSpPr>
        <p:spPr>
          <a:xfrm>
            <a:off x="8065008" y="5116068"/>
            <a:ext cx="2221992" cy="411479"/>
          </a:xfrm>
          <a:prstGeom prst="rect">
            <a:avLst/>
          </a:prstGeom>
          <a:noFill/>
        </p:spPr>
        <p:txBody>
          <a:bodyPr wrap="square" lIns="0" rIns="0" tIns="0" bIns="0">
            <a:spAutoFit/>
          </a:bodyPr>
          <a:lstStyle/>
          <a:p>
            <a:pPr algn="ctr">
              <a:lnSpc>
                <a:spcPct val="115000"/>
              </a:lnSpc>
            </a:pPr>
            <a:r>
              <a:rPr sz="1425">
                <a:solidFill>
                  <a:srgbClr val="F2ECDD"/>
                </a:solidFill>
                <a:latin typeface="TT Commons Pro"/>
              </a:rPr>
              <a:t>tasks</a:t>
            </a:r>
          </a:p>
        </p:txBody>
      </p:sp>
      <p:sp>
        <p:nvSpPr>
          <p:cNvPr id="19" name="Rounded Rectangle 18"/>
          <p:cNvSpPr/>
          <p:nvPr/>
        </p:nvSpPr>
        <p:spPr>
          <a:xfrm>
            <a:off x="10479024" y="4046220"/>
            <a:ext cx="2221992" cy="1714500"/>
          </a:xfrm>
          <a:prstGeom prst="roundRect">
            <a:avLst>
              <a:gd name="adj" fmla="val 12000"/>
            </a:avLst>
          </a:prstGeom>
          <a:solidFill>
            <a:srgbClr val="0D3E40"/>
          </a:solidFill>
          <a:ln w="1524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badge.png"/>
          <p:cNvPicPr>
            <a:picLocks noChangeAspect="1"/>
          </p:cNvPicPr>
          <p:nvPr/>
        </p:nvPicPr>
        <p:blipFill>
          <a:blip r:embed="rId7"/>
          <a:stretch>
            <a:fillRect/>
          </a:stretch>
        </p:blipFill>
        <p:spPr>
          <a:xfrm>
            <a:off x="11356847" y="4416552"/>
            <a:ext cx="466344" cy="466344"/>
          </a:xfrm>
          <a:prstGeom prst="rect">
            <a:avLst/>
          </a:prstGeom>
        </p:spPr>
      </p:pic>
      <p:sp>
        <p:nvSpPr>
          <p:cNvPr id="21" name="TextBox 20"/>
          <p:cNvSpPr txBox="1"/>
          <p:nvPr/>
        </p:nvSpPr>
        <p:spPr>
          <a:xfrm>
            <a:off x="10479024" y="5116068"/>
            <a:ext cx="2221992" cy="411479"/>
          </a:xfrm>
          <a:prstGeom prst="rect">
            <a:avLst/>
          </a:prstGeom>
          <a:noFill/>
        </p:spPr>
        <p:txBody>
          <a:bodyPr wrap="square" lIns="0" rIns="0" tIns="0" bIns="0">
            <a:spAutoFit/>
          </a:bodyPr>
          <a:lstStyle/>
          <a:p>
            <a:pPr algn="ctr">
              <a:lnSpc>
                <a:spcPct val="115000"/>
              </a:lnSpc>
            </a:pPr>
            <a:r>
              <a:rPr sz="1425">
                <a:solidFill>
                  <a:srgbClr val="F2ECDD"/>
                </a:solidFill>
                <a:latin typeface="TT Commons Pro"/>
              </a:rPr>
              <a:t>qualifications</a:t>
            </a:r>
          </a:p>
        </p:txBody>
      </p:sp>
      <p:sp>
        <p:nvSpPr>
          <p:cNvPr id="22" name="Rounded Rectangle 21"/>
          <p:cNvSpPr/>
          <p:nvPr/>
        </p:nvSpPr>
        <p:spPr>
          <a:xfrm>
            <a:off x="12893040" y="4046220"/>
            <a:ext cx="2221992" cy="1714500"/>
          </a:xfrm>
          <a:prstGeom prst="roundRect">
            <a:avLst>
              <a:gd name="adj" fmla="val 12000"/>
            </a:avLst>
          </a:prstGeom>
          <a:solidFill>
            <a:srgbClr val="062A2C"/>
          </a:solidFill>
          <a:ln w="1524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role.png"/>
          <p:cNvPicPr>
            <a:picLocks noChangeAspect="1"/>
          </p:cNvPicPr>
          <p:nvPr/>
        </p:nvPicPr>
        <p:blipFill>
          <a:blip r:embed="rId8"/>
          <a:stretch>
            <a:fillRect/>
          </a:stretch>
        </p:blipFill>
        <p:spPr>
          <a:xfrm>
            <a:off x="13770864" y="4416552"/>
            <a:ext cx="466344" cy="466344"/>
          </a:xfrm>
          <a:prstGeom prst="rect">
            <a:avLst/>
          </a:prstGeom>
        </p:spPr>
      </p:pic>
      <p:sp>
        <p:nvSpPr>
          <p:cNvPr id="24" name="TextBox 23"/>
          <p:cNvSpPr txBox="1"/>
          <p:nvPr/>
        </p:nvSpPr>
        <p:spPr>
          <a:xfrm>
            <a:off x="12893040" y="5116068"/>
            <a:ext cx="2221992" cy="411479"/>
          </a:xfrm>
          <a:prstGeom prst="rect">
            <a:avLst/>
          </a:prstGeom>
          <a:noFill/>
        </p:spPr>
        <p:txBody>
          <a:bodyPr wrap="square" lIns="0" rIns="0" tIns="0" bIns="0">
            <a:spAutoFit/>
          </a:bodyPr>
          <a:lstStyle/>
          <a:p>
            <a:pPr algn="ctr">
              <a:lnSpc>
                <a:spcPct val="115000"/>
              </a:lnSpc>
            </a:pPr>
            <a:r>
              <a:rPr sz="1425">
                <a:solidFill>
                  <a:srgbClr val="F2ECDD"/>
                </a:solidFill>
                <a:latin typeface="TT Commons Pro"/>
              </a:rPr>
              <a:t>roles</a:t>
            </a:r>
          </a:p>
        </p:txBody>
      </p:sp>
      <p:sp>
        <p:nvSpPr>
          <p:cNvPr id="25" name="Rounded Rectangle 24"/>
          <p:cNvSpPr/>
          <p:nvPr/>
        </p:nvSpPr>
        <p:spPr>
          <a:xfrm>
            <a:off x="15307056" y="4046220"/>
            <a:ext cx="2221992" cy="1714500"/>
          </a:xfrm>
          <a:prstGeom prst="roundRect">
            <a:avLst>
              <a:gd name="adj" fmla="val 12000"/>
            </a:avLst>
          </a:prstGeom>
          <a:solidFill>
            <a:srgbClr val="0D3E40"/>
          </a:solidFill>
          <a:ln w="1524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verify.png"/>
          <p:cNvPicPr>
            <a:picLocks noChangeAspect="1"/>
          </p:cNvPicPr>
          <p:nvPr/>
        </p:nvPicPr>
        <p:blipFill>
          <a:blip r:embed="rId9"/>
          <a:stretch>
            <a:fillRect/>
          </a:stretch>
        </p:blipFill>
        <p:spPr>
          <a:xfrm>
            <a:off x="16184880" y="4416552"/>
            <a:ext cx="466344" cy="466344"/>
          </a:xfrm>
          <a:prstGeom prst="rect">
            <a:avLst/>
          </a:prstGeom>
        </p:spPr>
      </p:pic>
      <p:sp>
        <p:nvSpPr>
          <p:cNvPr id="27" name="TextBox 26"/>
          <p:cNvSpPr txBox="1"/>
          <p:nvPr/>
        </p:nvSpPr>
        <p:spPr>
          <a:xfrm>
            <a:off x="15307056" y="5116068"/>
            <a:ext cx="2221992" cy="411479"/>
          </a:xfrm>
          <a:prstGeom prst="rect">
            <a:avLst/>
          </a:prstGeom>
          <a:noFill/>
        </p:spPr>
        <p:txBody>
          <a:bodyPr wrap="square" lIns="0" rIns="0" tIns="0" bIns="0">
            <a:spAutoFit/>
          </a:bodyPr>
          <a:lstStyle/>
          <a:p>
            <a:pPr algn="ctr">
              <a:lnSpc>
                <a:spcPct val="115000"/>
              </a:lnSpc>
            </a:pPr>
            <a:r>
              <a:rPr sz="1425">
                <a:solidFill>
                  <a:srgbClr val="F2ECDD"/>
                </a:solidFill>
                <a:latin typeface="TT Commons Pro"/>
              </a:rPr>
              <a:t>contributions</a:t>
            </a:r>
          </a:p>
        </p:txBody>
      </p:sp>
      <p:sp>
        <p:nvSpPr>
          <p:cNvPr id="28" name="Rounded Rectangle 27"/>
          <p:cNvSpPr/>
          <p:nvPr/>
        </p:nvSpPr>
        <p:spPr>
          <a:xfrm>
            <a:off x="822959" y="6103620"/>
            <a:ext cx="2221992" cy="1714500"/>
          </a:xfrm>
          <a:prstGeom prst="roundRect">
            <a:avLst>
              <a:gd name="adj" fmla="val 12000"/>
            </a:avLst>
          </a:prstGeom>
          <a:solidFill>
            <a:srgbClr val="0D3E40"/>
          </a:solidFill>
          <a:ln w="1524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governance.png"/>
          <p:cNvPicPr>
            <a:picLocks noChangeAspect="1"/>
          </p:cNvPicPr>
          <p:nvPr/>
        </p:nvPicPr>
        <p:blipFill>
          <a:blip r:embed="rId10"/>
          <a:stretch>
            <a:fillRect/>
          </a:stretch>
        </p:blipFill>
        <p:spPr>
          <a:xfrm>
            <a:off x="1700784" y="6473952"/>
            <a:ext cx="466344" cy="466344"/>
          </a:xfrm>
          <a:prstGeom prst="rect">
            <a:avLst/>
          </a:prstGeom>
        </p:spPr>
      </p:pic>
      <p:sp>
        <p:nvSpPr>
          <p:cNvPr id="30" name="TextBox 29"/>
          <p:cNvSpPr txBox="1"/>
          <p:nvPr/>
        </p:nvSpPr>
        <p:spPr>
          <a:xfrm>
            <a:off x="822959" y="7173468"/>
            <a:ext cx="2221992" cy="411479"/>
          </a:xfrm>
          <a:prstGeom prst="rect">
            <a:avLst/>
          </a:prstGeom>
          <a:noFill/>
        </p:spPr>
        <p:txBody>
          <a:bodyPr wrap="square" lIns="0" rIns="0" tIns="0" bIns="0">
            <a:spAutoFit/>
          </a:bodyPr>
          <a:lstStyle/>
          <a:p>
            <a:pPr algn="ctr">
              <a:lnSpc>
                <a:spcPct val="115000"/>
              </a:lnSpc>
            </a:pPr>
            <a:r>
              <a:rPr sz="1425">
                <a:solidFill>
                  <a:srgbClr val="F2ECDD"/>
                </a:solidFill>
                <a:latin typeface="TT Commons Pro"/>
              </a:rPr>
              <a:t>governance</a:t>
            </a:r>
          </a:p>
        </p:txBody>
      </p:sp>
      <p:sp>
        <p:nvSpPr>
          <p:cNvPr id="31" name="Rounded Rectangle 30"/>
          <p:cNvSpPr/>
          <p:nvPr/>
        </p:nvSpPr>
        <p:spPr>
          <a:xfrm>
            <a:off x="3236976" y="6103620"/>
            <a:ext cx="2221992" cy="1714500"/>
          </a:xfrm>
          <a:prstGeom prst="roundRect">
            <a:avLst>
              <a:gd name="adj" fmla="val 12000"/>
            </a:avLst>
          </a:prstGeom>
          <a:solidFill>
            <a:srgbClr val="062A2C"/>
          </a:solidFill>
          <a:ln w="1524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role.png"/>
          <p:cNvPicPr>
            <a:picLocks noChangeAspect="1"/>
          </p:cNvPicPr>
          <p:nvPr/>
        </p:nvPicPr>
        <p:blipFill>
          <a:blip r:embed="rId8"/>
          <a:stretch>
            <a:fillRect/>
          </a:stretch>
        </p:blipFill>
        <p:spPr>
          <a:xfrm>
            <a:off x="4114800" y="6473952"/>
            <a:ext cx="466344" cy="466344"/>
          </a:xfrm>
          <a:prstGeom prst="rect">
            <a:avLst/>
          </a:prstGeom>
        </p:spPr>
      </p:pic>
      <p:sp>
        <p:nvSpPr>
          <p:cNvPr id="33" name="TextBox 32"/>
          <p:cNvSpPr txBox="1"/>
          <p:nvPr/>
        </p:nvSpPr>
        <p:spPr>
          <a:xfrm>
            <a:off x="3236976" y="7173468"/>
            <a:ext cx="2221992" cy="411479"/>
          </a:xfrm>
          <a:prstGeom prst="rect">
            <a:avLst/>
          </a:prstGeom>
          <a:noFill/>
        </p:spPr>
        <p:txBody>
          <a:bodyPr wrap="square" lIns="0" rIns="0" tIns="0" bIns="0">
            <a:spAutoFit/>
          </a:bodyPr>
          <a:lstStyle/>
          <a:p>
            <a:pPr algn="ctr">
              <a:lnSpc>
                <a:spcPct val="115000"/>
              </a:lnSpc>
            </a:pPr>
            <a:r>
              <a:rPr sz="1425">
                <a:solidFill>
                  <a:srgbClr val="F2ECDD"/>
                </a:solidFill>
                <a:latin typeface="TT Commons Pro"/>
              </a:rPr>
              <a:t>permissions</a:t>
            </a:r>
          </a:p>
        </p:txBody>
      </p:sp>
      <p:sp>
        <p:nvSpPr>
          <p:cNvPr id="34" name="Rounded Rectangle 33"/>
          <p:cNvSpPr/>
          <p:nvPr/>
        </p:nvSpPr>
        <p:spPr>
          <a:xfrm>
            <a:off x="5650992" y="6103620"/>
            <a:ext cx="2221992" cy="1714500"/>
          </a:xfrm>
          <a:prstGeom prst="roundRect">
            <a:avLst>
              <a:gd name="adj" fmla="val 12000"/>
            </a:avLst>
          </a:prstGeom>
          <a:solidFill>
            <a:srgbClr val="0D3E40"/>
          </a:solidFill>
          <a:ln w="1524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treasury.png"/>
          <p:cNvPicPr>
            <a:picLocks noChangeAspect="1"/>
          </p:cNvPicPr>
          <p:nvPr/>
        </p:nvPicPr>
        <p:blipFill>
          <a:blip r:embed="rId11"/>
          <a:stretch>
            <a:fillRect/>
          </a:stretch>
        </p:blipFill>
        <p:spPr>
          <a:xfrm>
            <a:off x="6528816" y="6473952"/>
            <a:ext cx="466344" cy="466344"/>
          </a:xfrm>
          <a:prstGeom prst="rect">
            <a:avLst/>
          </a:prstGeom>
        </p:spPr>
      </p:pic>
      <p:sp>
        <p:nvSpPr>
          <p:cNvPr id="36" name="TextBox 35"/>
          <p:cNvSpPr txBox="1"/>
          <p:nvPr/>
        </p:nvSpPr>
        <p:spPr>
          <a:xfrm>
            <a:off x="5650992" y="7173468"/>
            <a:ext cx="2221992" cy="411479"/>
          </a:xfrm>
          <a:prstGeom prst="rect">
            <a:avLst/>
          </a:prstGeom>
          <a:noFill/>
        </p:spPr>
        <p:txBody>
          <a:bodyPr wrap="square" lIns="0" rIns="0" tIns="0" bIns="0">
            <a:spAutoFit/>
          </a:bodyPr>
          <a:lstStyle/>
          <a:p>
            <a:pPr algn="ctr">
              <a:lnSpc>
                <a:spcPct val="115000"/>
              </a:lnSpc>
            </a:pPr>
            <a:r>
              <a:rPr sz="1425">
                <a:solidFill>
                  <a:srgbClr val="F2ECDD"/>
                </a:solidFill>
                <a:latin typeface="TT Commons Pro"/>
              </a:rPr>
              <a:t>treasury</a:t>
            </a:r>
          </a:p>
        </p:txBody>
      </p:sp>
      <p:sp>
        <p:nvSpPr>
          <p:cNvPr id="37" name="Rounded Rectangle 36"/>
          <p:cNvSpPr/>
          <p:nvPr/>
        </p:nvSpPr>
        <p:spPr>
          <a:xfrm>
            <a:off x="8065008" y="6103620"/>
            <a:ext cx="2221992" cy="1714500"/>
          </a:xfrm>
          <a:prstGeom prst="roundRect">
            <a:avLst>
              <a:gd name="adj" fmla="val 12000"/>
            </a:avLst>
          </a:prstGeom>
          <a:solidFill>
            <a:srgbClr val="062A2C"/>
          </a:solidFill>
          <a:ln w="1524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money.png"/>
          <p:cNvPicPr>
            <a:picLocks noChangeAspect="1"/>
          </p:cNvPicPr>
          <p:nvPr/>
        </p:nvPicPr>
        <p:blipFill>
          <a:blip r:embed="rId12"/>
          <a:stretch>
            <a:fillRect/>
          </a:stretch>
        </p:blipFill>
        <p:spPr>
          <a:xfrm>
            <a:off x="8942832" y="6473952"/>
            <a:ext cx="466344" cy="466344"/>
          </a:xfrm>
          <a:prstGeom prst="rect">
            <a:avLst/>
          </a:prstGeom>
        </p:spPr>
      </p:pic>
      <p:sp>
        <p:nvSpPr>
          <p:cNvPr id="39" name="TextBox 38"/>
          <p:cNvSpPr txBox="1"/>
          <p:nvPr/>
        </p:nvSpPr>
        <p:spPr>
          <a:xfrm>
            <a:off x="8065008" y="7173468"/>
            <a:ext cx="2221992" cy="411479"/>
          </a:xfrm>
          <a:prstGeom prst="rect">
            <a:avLst/>
          </a:prstGeom>
          <a:noFill/>
        </p:spPr>
        <p:txBody>
          <a:bodyPr wrap="square" lIns="0" rIns="0" tIns="0" bIns="0">
            <a:spAutoFit/>
          </a:bodyPr>
          <a:lstStyle/>
          <a:p>
            <a:pPr algn="ctr">
              <a:lnSpc>
                <a:spcPct val="115000"/>
              </a:lnSpc>
            </a:pPr>
            <a:r>
              <a:rPr sz="1425">
                <a:solidFill>
                  <a:srgbClr val="F2ECDD"/>
                </a:solidFill>
                <a:latin typeface="TT Commons Pro"/>
              </a:rPr>
              <a:t>payments</a:t>
            </a:r>
          </a:p>
        </p:txBody>
      </p:sp>
      <p:sp>
        <p:nvSpPr>
          <p:cNvPr id="40" name="Rounded Rectangle 39"/>
          <p:cNvSpPr/>
          <p:nvPr/>
        </p:nvSpPr>
        <p:spPr>
          <a:xfrm>
            <a:off x="10479024" y="6103620"/>
            <a:ext cx="2221992" cy="1714500"/>
          </a:xfrm>
          <a:prstGeom prst="roundRect">
            <a:avLst>
              <a:gd name="adj" fmla="val 12000"/>
            </a:avLst>
          </a:prstGeom>
          <a:solidFill>
            <a:srgbClr val="0D3E40"/>
          </a:solidFill>
          <a:ln w="1524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person.png"/>
          <p:cNvPicPr>
            <a:picLocks noChangeAspect="1"/>
          </p:cNvPicPr>
          <p:nvPr/>
        </p:nvPicPr>
        <p:blipFill>
          <a:blip r:embed="rId13"/>
          <a:stretch>
            <a:fillRect/>
          </a:stretch>
        </p:blipFill>
        <p:spPr>
          <a:xfrm>
            <a:off x="11356847" y="6473952"/>
            <a:ext cx="466344" cy="466344"/>
          </a:xfrm>
          <a:prstGeom prst="rect">
            <a:avLst/>
          </a:prstGeom>
        </p:spPr>
      </p:pic>
      <p:sp>
        <p:nvSpPr>
          <p:cNvPr id="42" name="TextBox 41"/>
          <p:cNvSpPr txBox="1"/>
          <p:nvPr/>
        </p:nvSpPr>
        <p:spPr>
          <a:xfrm>
            <a:off x="10479024" y="7173468"/>
            <a:ext cx="2221992" cy="411479"/>
          </a:xfrm>
          <a:prstGeom prst="rect">
            <a:avLst/>
          </a:prstGeom>
          <a:noFill/>
        </p:spPr>
        <p:txBody>
          <a:bodyPr wrap="square" lIns="0" rIns="0" tIns="0" bIns="0">
            <a:spAutoFit/>
          </a:bodyPr>
          <a:lstStyle/>
          <a:p>
            <a:pPr algn="ctr">
              <a:lnSpc>
                <a:spcPct val="115000"/>
              </a:lnSpc>
            </a:pPr>
            <a:r>
              <a:rPr sz="1425">
                <a:solidFill>
                  <a:srgbClr val="F2ECDD"/>
                </a:solidFill>
                <a:latin typeface="TT Commons Pro"/>
              </a:rPr>
              <a:t>membership</a:t>
            </a:r>
          </a:p>
        </p:txBody>
      </p:sp>
      <p:sp>
        <p:nvSpPr>
          <p:cNvPr id="43" name="Rounded Rectangle 42"/>
          <p:cNvSpPr/>
          <p:nvPr/>
        </p:nvSpPr>
        <p:spPr>
          <a:xfrm>
            <a:off x="12893040" y="6103620"/>
            <a:ext cx="2221992" cy="1714500"/>
          </a:xfrm>
          <a:prstGeom prst="roundRect">
            <a:avLst>
              <a:gd name="adj" fmla="val 12000"/>
            </a:avLst>
          </a:prstGeom>
          <a:solidFill>
            <a:srgbClr val="062A2C"/>
          </a:solidFill>
          <a:ln w="1524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event.png"/>
          <p:cNvPicPr>
            <a:picLocks noChangeAspect="1"/>
          </p:cNvPicPr>
          <p:nvPr/>
        </p:nvPicPr>
        <p:blipFill>
          <a:blip r:embed="rId14"/>
          <a:stretch>
            <a:fillRect/>
          </a:stretch>
        </p:blipFill>
        <p:spPr>
          <a:xfrm>
            <a:off x="13770864" y="6473952"/>
            <a:ext cx="466344" cy="466344"/>
          </a:xfrm>
          <a:prstGeom prst="rect">
            <a:avLst/>
          </a:prstGeom>
        </p:spPr>
      </p:pic>
      <p:sp>
        <p:nvSpPr>
          <p:cNvPr id="45" name="TextBox 44"/>
          <p:cNvSpPr txBox="1"/>
          <p:nvPr/>
        </p:nvSpPr>
        <p:spPr>
          <a:xfrm>
            <a:off x="12893040" y="7173468"/>
            <a:ext cx="2221992" cy="411479"/>
          </a:xfrm>
          <a:prstGeom prst="rect">
            <a:avLst/>
          </a:prstGeom>
          <a:noFill/>
        </p:spPr>
        <p:txBody>
          <a:bodyPr wrap="square" lIns="0" rIns="0" tIns="0" bIns="0">
            <a:spAutoFit/>
          </a:bodyPr>
          <a:lstStyle/>
          <a:p>
            <a:pPr algn="ctr">
              <a:lnSpc>
                <a:spcPct val="115000"/>
              </a:lnSpc>
            </a:pPr>
            <a:r>
              <a:rPr sz="1425">
                <a:solidFill>
                  <a:srgbClr val="F2ECDD"/>
                </a:solidFill>
                <a:latin typeface="TT Commons Pro"/>
              </a:rPr>
              <a:t>events</a:t>
            </a:r>
          </a:p>
        </p:txBody>
      </p:sp>
      <p:sp>
        <p:nvSpPr>
          <p:cNvPr id="46" name="Rounded Rectangle 45"/>
          <p:cNvSpPr/>
          <p:nvPr/>
        </p:nvSpPr>
        <p:spPr>
          <a:xfrm>
            <a:off x="15307056" y="6103620"/>
            <a:ext cx="2221992" cy="1714500"/>
          </a:xfrm>
          <a:prstGeom prst="roundRect">
            <a:avLst>
              <a:gd name="adj" fmla="val 12000"/>
            </a:avLst>
          </a:prstGeom>
          <a:solidFill>
            <a:srgbClr val="0D3E40"/>
          </a:solidFill>
          <a:ln w="1524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message.png"/>
          <p:cNvPicPr>
            <a:picLocks noChangeAspect="1"/>
          </p:cNvPicPr>
          <p:nvPr/>
        </p:nvPicPr>
        <p:blipFill>
          <a:blip r:embed="rId15"/>
          <a:stretch>
            <a:fillRect/>
          </a:stretch>
        </p:blipFill>
        <p:spPr>
          <a:xfrm>
            <a:off x="16184880" y="6473952"/>
            <a:ext cx="466344" cy="466344"/>
          </a:xfrm>
          <a:prstGeom prst="rect">
            <a:avLst/>
          </a:prstGeom>
        </p:spPr>
      </p:pic>
      <p:sp>
        <p:nvSpPr>
          <p:cNvPr id="48" name="TextBox 47"/>
          <p:cNvSpPr txBox="1"/>
          <p:nvPr/>
        </p:nvSpPr>
        <p:spPr>
          <a:xfrm>
            <a:off x="15307056" y="7173468"/>
            <a:ext cx="2221992" cy="411479"/>
          </a:xfrm>
          <a:prstGeom prst="rect">
            <a:avLst/>
          </a:prstGeom>
          <a:noFill/>
        </p:spPr>
        <p:txBody>
          <a:bodyPr wrap="square" lIns="0" rIns="0" tIns="0" bIns="0">
            <a:spAutoFit/>
          </a:bodyPr>
          <a:lstStyle/>
          <a:p>
            <a:pPr algn="ctr">
              <a:lnSpc>
                <a:spcPct val="115000"/>
              </a:lnSpc>
            </a:pPr>
            <a:r>
              <a:rPr sz="1425">
                <a:solidFill>
                  <a:srgbClr val="F2ECDD"/>
                </a:solidFill>
                <a:latin typeface="TT Commons Pro"/>
              </a:rPr>
              <a:t>communications</a:t>
            </a:r>
          </a:p>
        </p:txBody>
      </p:sp>
      <p:sp>
        <p:nvSpPr>
          <p:cNvPr id="49" name="TextBox 48"/>
          <p:cNvSpPr txBox="1"/>
          <p:nvPr/>
        </p:nvSpPr>
        <p:spPr>
          <a:xfrm>
            <a:off x="822959" y="8709659"/>
            <a:ext cx="16596359" cy="1097280"/>
          </a:xfrm>
          <a:prstGeom prst="rect">
            <a:avLst/>
          </a:prstGeom>
          <a:noFill/>
        </p:spPr>
        <p:txBody>
          <a:bodyPr wrap="square" lIns="0" rIns="0" tIns="0" bIns="0">
            <a:spAutoFit/>
          </a:bodyPr>
          <a:lstStyle/>
          <a:p>
            <a:pPr algn="ctr">
              <a:lnSpc>
                <a:spcPct val="140000"/>
              </a:lnSpc>
            </a:pPr>
            <a:r>
              <a:rPr sz="1875">
                <a:solidFill>
                  <a:srgbClr val="F2ECDD"/>
                </a:solidFill>
                <a:latin typeface="TT Commons Pro"/>
              </a:rPr>
              <a:t>Today those functions live across many different products. </a:t>
            </a:r>
            <a:r>
              <a:rPr sz="1950">
                <a:solidFill>
                  <a:srgbClr val="EBCF9E"/>
                </a:solidFill>
                <a:latin typeface="TT Commons Pro Bold"/>
              </a:rPr>
              <a:t>Rivr brings them into one shared relational environment.</a:t>
            </a:r>
          </a:p>
        </p:txBody>
      </p:sp>
      <p:pic>
        <p:nvPicPr>
          <p:cNvPr id="50" name="Picture 49" descr="rivr-symbol-light.png"/>
          <p:cNvPicPr>
            <a:picLocks noChangeAspect="1"/>
          </p:cNvPicPr>
          <p:nvPr/>
        </p:nvPicPr>
        <p:blipFill>
          <a:blip r:embed="rId16"/>
          <a:stretch>
            <a:fillRect/>
          </a:stretch>
        </p:blipFill>
        <p:spPr>
          <a:xfrm>
            <a:off x="576072" y="9518904"/>
            <a:ext cx="521208" cy="521208"/>
          </a:xfrm>
          <a:prstGeom prst="rect">
            <a:avLst/>
          </a:prstGeom>
        </p:spPr>
      </p:pic>
      <p:sp>
        <p:nvSpPr>
          <p:cNvPr id="51" name="TextBox 50"/>
          <p:cNvSpPr txBox="1"/>
          <p:nvPr/>
        </p:nvSpPr>
        <p:spPr>
          <a:xfrm>
            <a:off x="1371600" y="9724644"/>
            <a:ext cx="5486400" cy="301752"/>
          </a:xfrm>
          <a:prstGeom prst="rect">
            <a:avLst/>
          </a:prstGeom>
          <a:noFill/>
        </p:spPr>
        <p:txBody>
          <a:bodyPr wrap="none" lIns="0" rIns="0" tIns="0" bIns="0">
            <a:spAutoFit/>
          </a:bodyPr>
          <a:lstStyle/>
          <a:p>
            <a:pPr algn="l">
              <a:lnSpc>
                <a:spcPct val="115000"/>
              </a:lnSpc>
            </a:pPr>
            <a:r>
              <a:rPr sz="1350" spc="150">
                <a:solidFill>
                  <a:srgbClr val="AFC4C2"/>
                </a:solidFill>
                <a:latin typeface="TT Commons Pro"/>
              </a:rPr>
              <a:t>Rivr · Seed Round 2026</a:t>
            </a:r>
          </a:p>
        </p:txBody>
      </p:sp>
      <p:sp>
        <p:nvSpPr>
          <p:cNvPr id="52" name="TextBox 51"/>
          <p:cNvSpPr txBox="1"/>
          <p:nvPr/>
        </p:nvSpPr>
        <p:spPr>
          <a:xfrm>
            <a:off x="16870680" y="9724644"/>
            <a:ext cx="960119" cy="301752"/>
          </a:xfrm>
          <a:prstGeom prst="rect">
            <a:avLst/>
          </a:prstGeom>
          <a:noFill/>
        </p:spPr>
        <p:txBody>
          <a:bodyPr wrap="none" lIns="0" rIns="0" tIns="0" bIns="0">
            <a:spAutoFit/>
          </a:bodyPr>
          <a:lstStyle/>
          <a:p>
            <a:pPr algn="r">
              <a:lnSpc>
                <a:spcPct val="115000"/>
              </a:lnSpc>
            </a:pPr>
            <a:r>
              <a:rPr sz="1350" spc="150">
                <a:solidFill>
                  <a:srgbClr val="AFC4C2"/>
                </a:solidFill>
                <a:latin typeface="TT Commons Pro"/>
              </a:rPr>
              <a:t>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03333"/>
        </a:solidFill>
        <a:effectLst/>
      </p:bgPr>
    </p:bg>
    <p:spTree>
      <p:nvGrpSpPr>
        <p:cNvPr id="1" name=""/>
        <p:cNvGrpSpPr/>
        <p:nvPr/>
      </p:nvGrpSpPr>
      <p:grpSpPr/>
      <p:pic>
        <p:nvPicPr>
          <p:cNvPr id="2" name="Picture 1" descr="bg_c14.jpg"/>
          <p:cNvPicPr>
            <a:picLocks noChangeAspect="1"/>
          </p:cNvPicPr>
          <p:nvPr/>
        </p:nvPicPr>
        <p:blipFill>
          <a:blip r:embed="rId2"/>
          <a:stretch>
            <a:fillRect/>
          </a:stretch>
        </p:blipFill>
        <p:spPr>
          <a:xfrm>
            <a:off x="0" y="0"/>
            <a:ext cx="18287542" cy="10287000"/>
          </a:xfrm>
          <a:prstGeom prst="rect">
            <a:avLst/>
          </a:prstGeom>
        </p:spPr>
      </p:pic>
      <p:sp>
        <p:nvSpPr>
          <p:cNvPr id="3" name="TextBox 2"/>
          <p:cNvSpPr txBox="1"/>
          <p:nvPr/>
        </p:nvSpPr>
        <p:spPr>
          <a:xfrm>
            <a:off x="822959" y="822959"/>
            <a:ext cx="16733519" cy="384048"/>
          </a:xfrm>
          <a:prstGeom prst="rect">
            <a:avLst/>
          </a:prstGeom>
          <a:noFill/>
        </p:spPr>
        <p:txBody>
          <a:bodyPr wrap="none" lIns="0" rIns="0" tIns="0" bIns="0">
            <a:spAutoFit/>
          </a:bodyPr>
          <a:lstStyle/>
          <a:p>
            <a:pPr algn="l">
              <a:lnSpc>
                <a:spcPct val="115000"/>
              </a:lnSpc>
            </a:pPr>
            <a:r>
              <a:rPr sz="1650" spc="330">
                <a:solidFill>
                  <a:srgbClr val="9FE8DC"/>
                </a:solidFill>
                <a:latin typeface="Todes 1"/>
              </a:rPr>
              <a:t>SHARED RECORDS</a:t>
            </a:r>
          </a:p>
        </p:txBody>
      </p:sp>
      <p:sp>
        <p:nvSpPr>
          <p:cNvPr id="4" name="TextBox 3"/>
          <p:cNvSpPr txBox="1"/>
          <p:nvPr/>
        </p:nvSpPr>
        <p:spPr>
          <a:xfrm>
            <a:off x="822959" y="1699869"/>
            <a:ext cx="15225236" cy="945241"/>
          </a:xfrm>
          <a:prstGeom prst="rect">
            <a:avLst/>
          </a:prstGeom>
          <a:noFill/>
        </p:spPr>
        <p:txBody>
          <a:bodyPr wrap="none" lIns="0" rIns="0" tIns="0" bIns="0">
            <a:spAutoFit/>
          </a:bodyPr>
          <a:lstStyle/>
          <a:p>
            <a:pPr algn="l">
              <a:lnSpc>
                <a:spcPct val="115000"/>
              </a:lnSpc>
            </a:pPr>
            <a:r>
              <a:rPr sz="5133" spc="-69">
                <a:solidFill>
                  <a:srgbClr val="F4EAD8"/>
                </a:solidFill>
                <a:latin typeface="Todes 1"/>
              </a:rPr>
              <a:t>Shared records make cooperation </a:t>
            </a:r>
          </a:p>
        </p:txBody>
      </p:sp>
      <p:sp>
        <p:nvSpPr>
          <p:cNvPr id="5" name="TextBox 4"/>
          <p:cNvSpPr txBox="1"/>
          <p:nvPr/>
        </p:nvSpPr>
        <p:spPr>
          <a:xfrm>
            <a:off x="12838557" y="1645919"/>
            <a:ext cx="3944302" cy="1043025"/>
          </a:xfrm>
          <a:prstGeom prst="rect">
            <a:avLst/>
          </a:prstGeom>
          <a:noFill/>
        </p:spPr>
        <p:txBody>
          <a:bodyPr wrap="none" lIns="0" rIns="0" tIns="0" bIns="0">
            <a:spAutoFit/>
          </a:bodyPr>
          <a:lstStyle/>
          <a:p>
            <a:pPr algn="l">
              <a:lnSpc>
                <a:spcPct val="115000"/>
              </a:lnSpc>
            </a:pPr>
            <a:r>
              <a:rPr sz="5664" spc="-75">
                <a:solidFill>
                  <a:srgbClr val="EBCF9E"/>
                </a:solidFill>
                <a:latin typeface="Ibarra Real Nova Italics"/>
              </a:rPr>
              <a:t>less messy.</a:t>
            </a:r>
          </a:p>
        </p:txBody>
      </p:sp>
      <p:sp>
        <p:nvSpPr>
          <p:cNvPr id="6" name="TextBox 5"/>
          <p:cNvSpPr txBox="1"/>
          <p:nvPr/>
        </p:nvSpPr>
        <p:spPr>
          <a:xfrm>
            <a:off x="822959" y="3593592"/>
            <a:ext cx="5486400" cy="411479"/>
          </a:xfrm>
          <a:prstGeom prst="rect">
            <a:avLst/>
          </a:prstGeom>
          <a:noFill/>
        </p:spPr>
        <p:txBody>
          <a:bodyPr wrap="none" lIns="0" rIns="0" tIns="0" bIns="0">
            <a:spAutoFit/>
          </a:bodyPr>
          <a:lstStyle/>
          <a:p>
            <a:pPr algn="l">
              <a:lnSpc>
                <a:spcPct val="115000"/>
              </a:lnSpc>
            </a:pPr>
            <a:r>
              <a:rPr sz="1425" spc="330">
                <a:solidFill>
                  <a:srgbClr val="9FE8DC"/>
                </a:solidFill>
                <a:latin typeface="Todes 1"/>
              </a:rPr>
              <a:t>COMMITMENT</a:t>
            </a:r>
          </a:p>
        </p:txBody>
      </p:sp>
      <p:sp>
        <p:nvSpPr>
          <p:cNvPr id="7" name="TextBox 6"/>
          <p:cNvSpPr txBox="1"/>
          <p:nvPr/>
        </p:nvSpPr>
        <p:spPr>
          <a:xfrm>
            <a:off x="6446520" y="3593592"/>
            <a:ext cx="2743200" cy="411479"/>
          </a:xfrm>
          <a:prstGeom prst="rect">
            <a:avLst/>
          </a:prstGeom>
          <a:noFill/>
        </p:spPr>
        <p:txBody>
          <a:bodyPr wrap="none" lIns="0" rIns="0" tIns="0" bIns="0">
            <a:spAutoFit/>
          </a:bodyPr>
          <a:lstStyle/>
          <a:p>
            <a:pPr algn="l">
              <a:lnSpc>
                <a:spcPct val="115000"/>
              </a:lnSpc>
            </a:pPr>
            <a:r>
              <a:rPr sz="1425" spc="330">
                <a:solidFill>
                  <a:srgbClr val="9FE8DC"/>
                </a:solidFill>
                <a:latin typeface="Todes 1"/>
              </a:rPr>
              <a:t>WHO</a:t>
            </a:r>
          </a:p>
        </p:txBody>
      </p:sp>
      <p:sp>
        <p:nvSpPr>
          <p:cNvPr id="8" name="TextBox 7"/>
          <p:cNvSpPr txBox="1"/>
          <p:nvPr/>
        </p:nvSpPr>
        <p:spPr>
          <a:xfrm>
            <a:off x="9326880" y="3593592"/>
            <a:ext cx="2743200" cy="411479"/>
          </a:xfrm>
          <a:prstGeom prst="rect">
            <a:avLst/>
          </a:prstGeom>
          <a:noFill/>
        </p:spPr>
        <p:txBody>
          <a:bodyPr wrap="none" lIns="0" rIns="0" tIns="0" bIns="0">
            <a:spAutoFit/>
          </a:bodyPr>
          <a:lstStyle/>
          <a:p>
            <a:pPr algn="l">
              <a:lnSpc>
                <a:spcPct val="115000"/>
              </a:lnSpc>
            </a:pPr>
            <a:r>
              <a:rPr sz="1425" spc="330">
                <a:solidFill>
                  <a:srgbClr val="9FE8DC"/>
                </a:solidFill>
                <a:latin typeface="Todes 1"/>
              </a:rPr>
              <a:t>STATUS</a:t>
            </a:r>
          </a:p>
        </p:txBody>
      </p:sp>
      <p:sp>
        <p:nvSpPr>
          <p:cNvPr id="9" name="TextBox 8"/>
          <p:cNvSpPr txBox="1"/>
          <p:nvPr/>
        </p:nvSpPr>
        <p:spPr>
          <a:xfrm>
            <a:off x="12207240" y="3593592"/>
            <a:ext cx="2468880" cy="411479"/>
          </a:xfrm>
          <a:prstGeom prst="rect">
            <a:avLst/>
          </a:prstGeom>
          <a:noFill/>
        </p:spPr>
        <p:txBody>
          <a:bodyPr wrap="none" lIns="0" rIns="0" tIns="0" bIns="0">
            <a:spAutoFit/>
          </a:bodyPr>
          <a:lstStyle/>
          <a:p>
            <a:pPr algn="l">
              <a:lnSpc>
                <a:spcPct val="115000"/>
              </a:lnSpc>
            </a:pPr>
            <a:r>
              <a:rPr sz="1425" spc="330">
                <a:solidFill>
                  <a:srgbClr val="9FE8DC"/>
                </a:solidFill>
                <a:latin typeface="Todes 1"/>
              </a:rPr>
              <a:t>VERIFIED</a:t>
            </a:r>
          </a:p>
        </p:txBody>
      </p:sp>
      <p:sp>
        <p:nvSpPr>
          <p:cNvPr id="10" name="TextBox 9"/>
          <p:cNvSpPr txBox="1"/>
          <p:nvPr/>
        </p:nvSpPr>
        <p:spPr>
          <a:xfrm>
            <a:off x="14813280" y="3593592"/>
            <a:ext cx="2674620" cy="411479"/>
          </a:xfrm>
          <a:prstGeom prst="rect">
            <a:avLst/>
          </a:prstGeom>
          <a:noFill/>
        </p:spPr>
        <p:txBody>
          <a:bodyPr wrap="none" lIns="0" rIns="0" tIns="0" bIns="0">
            <a:spAutoFit/>
          </a:bodyPr>
          <a:lstStyle/>
          <a:p>
            <a:pPr algn="l">
              <a:lnSpc>
                <a:spcPct val="115000"/>
              </a:lnSpc>
            </a:pPr>
            <a:r>
              <a:rPr sz="1425" spc="330">
                <a:solidFill>
                  <a:srgbClr val="9FE8DC"/>
                </a:solidFill>
                <a:latin typeface="Todes 1"/>
              </a:rPr>
              <a:t>VALUE</a:t>
            </a:r>
          </a:p>
        </p:txBody>
      </p:sp>
      <p:cxnSp>
        <p:nvCxnSpPr>
          <p:cNvPr id="11" name="Connector 10"/>
          <p:cNvCxnSpPr/>
          <p:nvPr/>
        </p:nvCxnSpPr>
        <p:spPr>
          <a:xfrm>
            <a:off x="822959" y="4087368"/>
            <a:ext cx="16664941" cy="0"/>
          </a:xfrm>
          <a:prstGeom prst="line">
            <a:avLst/>
          </a:prstGeom>
          <a:ln w="12700">
            <a:solidFill>
              <a:srgbClr val="084B4D"/>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22959" y="4320540"/>
            <a:ext cx="5486400" cy="411479"/>
          </a:xfrm>
          <a:prstGeom prst="rect">
            <a:avLst/>
          </a:prstGeom>
          <a:noFill/>
        </p:spPr>
        <p:txBody>
          <a:bodyPr wrap="none" lIns="0" rIns="0" tIns="0" bIns="0">
            <a:spAutoFit/>
          </a:bodyPr>
          <a:lstStyle/>
          <a:p>
            <a:pPr algn="l">
              <a:lnSpc>
                <a:spcPct val="115000"/>
              </a:lnSpc>
            </a:pPr>
            <a:r>
              <a:rPr sz="1725">
                <a:solidFill>
                  <a:srgbClr val="F2ECDD"/>
                </a:solidFill>
                <a:latin typeface="TT Commons Pro"/>
              </a:rPr>
              <a:t>build the greenhouse beds</a:t>
            </a:r>
          </a:p>
        </p:txBody>
      </p:sp>
      <p:sp>
        <p:nvSpPr>
          <p:cNvPr id="13" name="TextBox 12"/>
          <p:cNvSpPr txBox="1"/>
          <p:nvPr/>
        </p:nvSpPr>
        <p:spPr>
          <a:xfrm>
            <a:off x="6446520" y="4320540"/>
            <a:ext cx="2743200" cy="411479"/>
          </a:xfrm>
          <a:prstGeom prst="rect">
            <a:avLst/>
          </a:prstGeom>
          <a:noFill/>
        </p:spPr>
        <p:txBody>
          <a:bodyPr wrap="none" lIns="0" rIns="0" tIns="0" bIns="0">
            <a:spAutoFit/>
          </a:bodyPr>
          <a:lstStyle/>
          <a:p>
            <a:pPr algn="l">
              <a:lnSpc>
                <a:spcPct val="115000"/>
              </a:lnSpc>
            </a:pPr>
            <a:r>
              <a:rPr sz="1725">
                <a:solidFill>
                  <a:srgbClr val="F2ECDD"/>
                </a:solidFill>
                <a:latin typeface="TT Commons Pro"/>
              </a:rPr>
              <a:t>M. Rivera</a:t>
            </a:r>
          </a:p>
        </p:txBody>
      </p:sp>
      <p:sp>
        <p:nvSpPr>
          <p:cNvPr id="14" name="TextBox 13"/>
          <p:cNvSpPr txBox="1"/>
          <p:nvPr/>
        </p:nvSpPr>
        <p:spPr>
          <a:xfrm>
            <a:off x="9326880" y="4320540"/>
            <a:ext cx="2743200" cy="411479"/>
          </a:xfrm>
          <a:prstGeom prst="rect">
            <a:avLst/>
          </a:prstGeom>
          <a:noFill/>
        </p:spPr>
        <p:txBody>
          <a:bodyPr wrap="none" lIns="0" rIns="0" tIns="0" bIns="0">
            <a:spAutoFit/>
          </a:bodyPr>
          <a:lstStyle/>
          <a:p>
            <a:pPr algn="l">
              <a:lnSpc>
                <a:spcPct val="115000"/>
              </a:lnSpc>
            </a:pPr>
            <a:r>
              <a:rPr sz="1725">
                <a:solidFill>
                  <a:srgbClr val="F2ECDD"/>
                </a:solidFill>
                <a:latin typeface="TT Commons Pro"/>
              </a:rPr>
              <a:t>delivered</a:t>
            </a:r>
          </a:p>
        </p:txBody>
      </p:sp>
      <p:sp>
        <p:nvSpPr>
          <p:cNvPr id="15" name="TextBox 14"/>
          <p:cNvSpPr txBox="1"/>
          <p:nvPr/>
        </p:nvSpPr>
        <p:spPr>
          <a:xfrm>
            <a:off x="12207240" y="4320540"/>
            <a:ext cx="2468880" cy="411479"/>
          </a:xfrm>
          <a:prstGeom prst="rect">
            <a:avLst/>
          </a:prstGeom>
          <a:noFill/>
        </p:spPr>
        <p:txBody>
          <a:bodyPr wrap="none" lIns="0" rIns="0" tIns="0" bIns="0">
            <a:spAutoFit/>
          </a:bodyPr>
          <a:lstStyle/>
          <a:p>
            <a:pPr algn="l">
              <a:lnSpc>
                <a:spcPct val="115000"/>
              </a:lnSpc>
            </a:pPr>
            <a:r>
              <a:rPr sz="1725">
                <a:solidFill>
                  <a:srgbClr val="EBCF9E"/>
                </a:solidFill>
                <a:latin typeface="TT Commons Pro"/>
              </a:rPr>
              <a:t>✓</a:t>
            </a:r>
          </a:p>
        </p:txBody>
      </p:sp>
      <p:sp>
        <p:nvSpPr>
          <p:cNvPr id="16" name="TextBox 15"/>
          <p:cNvSpPr txBox="1"/>
          <p:nvPr/>
        </p:nvSpPr>
        <p:spPr>
          <a:xfrm>
            <a:off x="14813280" y="4320540"/>
            <a:ext cx="2674620" cy="411479"/>
          </a:xfrm>
          <a:prstGeom prst="rect">
            <a:avLst/>
          </a:prstGeom>
          <a:noFill/>
        </p:spPr>
        <p:txBody>
          <a:bodyPr wrap="none" lIns="0" rIns="0" tIns="0" bIns="0">
            <a:spAutoFit/>
          </a:bodyPr>
          <a:lstStyle/>
          <a:p>
            <a:pPr algn="l">
              <a:lnSpc>
                <a:spcPct val="115000"/>
              </a:lnSpc>
            </a:pPr>
            <a:r>
              <a:rPr sz="1725">
                <a:solidFill>
                  <a:srgbClr val="F2ECDD"/>
                </a:solidFill>
                <a:latin typeface="TT Commons Pro"/>
              </a:rPr>
              <a:t>$240</a:t>
            </a:r>
          </a:p>
        </p:txBody>
      </p:sp>
      <p:cxnSp>
        <p:nvCxnSpPr>
          <p:cNvPr id="17" name="Connector 16"/>
          <p:cNvCxnSpPr/>
          <p:nvPr/>
        </p:nvCxnSpPr>
        <p:spPr>
          <a:xfrm>
            <a:off x="822959" y="4924044"/>
            <a:ext cx="16664941" cy="0"/>
          </a:xfrm>
          <a:prstGeom prst="line">
            <a:avLst/>
          </a:prstGeom>
          <a:ln w="7620">
            <a:solidFill>
              <a:srgbClr val="113E4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59" y="5170932"/>
            <a:ext cx="5486400" cy="411479"/>
          </a:xfrm>
          <a:prstGeom prst="rect">
            <a:avLst/>
          </a:prstGeom>
          <a:noFill/>
        </p:spPr>
        <p:txBody>
          <a:bodyPr wrap="none" lIns="0" rIns="0" tIns="0" bIns="0">
            <a:spAutoFit/>
          </a:bodyPr>
          <a:lstStyle/>
          <a:p>
            <a:pPr algn="l">
              <a:lnSpc>
                <a:spcPct val="115000"/>
              </a:lnSpc>
            </a:pPr>
            <a:r>
              <a:rPr sz="1725">
                <a:solidFill>
                  <a:srgbClr val="F2ECDD"/>
                </a:solidFill>
                <a:latin typeface="TT Commons Pro"/>
              </a:rPr>
              <a:t>run Saturday's market stall</a:t>
            </a:r>
          </a:p>
        </p:txBody>
      </p:sp>
      <p:sp>
        <p:nvSpPr>
          <p:cNvPr id="19" name="TextBox 18"/>
          <p:cNvSpPr txBox="1"/>
          <p:nvPr/>
        </p:nvSpPr>
        <p:spPr>
          <a:xfrm>
            <a:off x="6446520" y="5170932"/>
            <a:ext cx="2743200" cy="411479"/>
          </a:xfrm>
          <a:prstGeom prst="rect">
            <a:avLst/>
          </a:prstGeom>
          <a:noFill/>
        </p:spPr>
        <p:txBody>
          <a:bodyPr wrap="none" lIns="0" rIns="0" tIns="0" bIns="0">
            <a:spAutoFit/>
          </a:bodyPr>
          <a:lstStyle/>
          <a:p>
            <a:pPr algn="l">
              <a:lnSpc>
                <a:spcPct val="115000"/>
              </a:lnSpc>
            </a:pPr>
            <a:r>
              <a:rPr sz="1725">
                <a:solidFill>
                  <a:srgbClr val="F2ECDD"/>
                </a:solidFill>
                <a:latin typeface="TT Commons Pro"/>
              </a:rPr>
              <a:t>K. Osei</a:t>
            </a:r>
          </a:p>
        </p:txBody>
      </p:sp>
      <p:sp>
        <p:nvSpPr>
          <p:cNvPr id="20" name="TextBox 19"/>
          <p:cNvSpPr txBox="1"/>
          <p:nvPr/>
        </p:nvSpPr>
        <p:spPr>
          <a:xfrm>
            <a:off x="9326880" y="5170932"/>
            <a:ext cx="2743200" cy="411479"/>
          </a:xfrm>
          <a:prstGeom prst="rect">
            <a:avLst/>
          </a:prstGeom>
          <a:noFill/>
        </p:spPr>
        <p:txBody>
          <a:bodyPr wrap="none" lIns="0" rIns="0" tIns="0" bIns="0">
            <a:spAutoFit/>
          </a:bodyPr>
          <a:lstStyle/>
          <a:p>
            <a:pPr algn="l">
              <a:lnSpc>
                <a:spcPct val="115000"/>
              </a:lnSpc>
            </a:pPr>
            <a:r>
              <a:rPr sz="1725">
                <a:solidFill>
                  <a:srgbClr val="F2ECDD"/>
                </a:solidFill>
                <a:latin typeface="TT Commons Pro"/>
              </a:rPr>
              <a:t>in progress</a:t>
            </a:r>
          </a:p>
        </p:txBody>
      </p:sp>
      <p:sp>
        <p:nvSpPr>
          <p:cNvPr id="21" name="TextBox 20"/>
          <p:cNvSpPr txBox="1"/>
          <p:nvPr/>
        </p:nvSpPr>
        <p:spPr>
          <a:xfrm>
            <a:off x="12207240" y="5170932"/>
            <a:ext cx="2468880" cy="411479"/>
          </a:xfrm>
          <a:prstGeom prst="rect">
            <a:avLst/>
          </a:prstGeom>
          <a:noFill/>
        </p:spPr>
        <p:txBody>
          <a:bodyPr wrap="none" lIns="0" rIns="0" tIns="0" bIns="0">
            <a:spAutoFit/>
          </a:bodyPr>
          <a:lstStyle/>
          <a:p>
            <a:pPr algn="l">
              <a:lnSpc>
                <a:spcPct val="115000"/>
              </a:lnSpc>
            </a:pPr>
            <a:r>
              <a:rPr sz="1725">
                <a:solidFill>
                  <a:srgbClr val="F2ECDD"/>
                </a:solidFill>
                <a:latin typeface="TT Commons Pro"/>
              </a:rPr>
              <a:t>—</a:t>
            </a:r>
          </a:p>
        </p:txBody>
      </p:sp>
      <p:sp>
        <p:nvSpPr>
          <p:cNvPr id="22" name="TextBox 21"/>
          <p:cNvSpPr txBox="1"/>
          <p:nvPr/>
        </p:nvSpPr>
        <p:spPr>
          <a:xfrm>
            <a:off x="14813280" y="5170932"/>
            <a:ext cx="2674620" cy="411479"/>
          </a:xfrm>
          <a:prstGeom prst="rect">
            <a:avLst/>
          </a:prstGeom>
          <a:noFill/>
        </p:spPr>
        <p:txBody>
          <a:bodyPr wrap="none" lIns="0" rIns="0" tIns="0" bIns="0">
            <a:spAutoFit/>
          </a:bodyPr>
          <a:lstStyle/>
          <a:p>
            <a:pPr algn="l">
              <a:lnSpc>
                <a:spcPct val="115000"/>
              </a:lnSpc>
            </a:pPr>
            <a:r>
              <a:rPr sz="1725">
                <a:solidFill>
                  <a:srgbClr val="F2ECDD"/>
                </a:solidFill>
                <a:latin typeface="TT Commons Pro"/>
              </a:rPr>
              <a:t>shared</a:t>
            </a:r>
          </a:p>
        </p:txBody>
      </p:sp>
      <p:cxnSp>
        <p:nvCxnSpPr>
          <p:cNvPr id="23" name="Connector 22"/>
          <p:cNvCxnSpPr/>
          <p:nvPr/>
        </p:nvCxnSpPr>
        <p:spPr>
          <a:xfrm>
            <a:off x="822959" y="5774436"/>
            <a:ext cx="16664941" cy="0"/>
          </a:xfrm>
          <a:prstGeom prst="line">
            <a:avLst/>
          </a:prstGeom>
          <a:ln w="7620">
            <a:solidFill>
              <a:srgbClr val="113E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22959" y="6021323"/>
            <a:ext cx="5486400" cy="411479"/>
          </a:xfrm>
          <a:prstGeom prst="rect">
            <a:avLst/>
          </a:prstGeom>
          <a:noFill/>
        </p:spPr>
        <p:txBody>
          <a:bodyPr wrap="none" lIns="0" rIns="0" tIns="0" bIns="0">
            <a:spAutoFit/>
          </a:bodyPr>
          <a:lstStyle/>
          <a:p>
            <a:pPr algn="l">
              <a:lnSpc>
                <a:spcPct val="115000"/>
              </a:lnSpc>
            </a:pPr>
            <a:r>
              <a:rPr sz="1725">
                <a:solidFill>
                  <a:srgbClr val="F2ECDD"/>
                </a:solidFill>
                <a:latin typeface="TT Commons Pro"/>
              </a:rPr>
              <a:t>repair the shared van</a:t>
            </a:r>
          </a:p>
        </p:txBody>
      </p:sp>
      <p:sp>
        <p:nvSpPr>
          <p:cNvPr id="25" name="TextBox 24"/>
          <p:cNvSpPr txBox="1"/>
          <p:nvPr/>
        </p:nvSpPr>
        <p:spPr>
          <a:xfrm>
            <a:off x="6446520" y="6021323"/>
            <a:ext cx="2743200" cy="411479"/>
          </a:xfrm>
          <a:prstGeom prst="rect">
            <a:avLst/>
          </a:prstGeom>
          <a:noFill/>
        </p:spPr>
        <p:txBody>
          <a:bodyPr wrap="none" lIns="0" rIns="0" tIns="0" bIns="0">
            <a:spAutoFit/>
          </a:bodyPr>
          <a:lstStyle/>
          <a:p>
            <a:pPr algn="l">
              <a:lnSpc>
                <a:spcPct val="115000"/>
              </a:lnSpc>
            </a:pPr>
            <a:r>
              <a:rPr sz="1725">
                <a:solidFill>
                  <a:srgbClr val="F2ECDD"/>
                </a:solidFill>
                <a:latin typeface="TT Commons Pro"/>
              </a:rPr>
              <a:t>T. Lindqvist</a:t>
            </a:r>
          </a:p>
        </p:txBody>
      </p:sp>
      <p:sp>
        <p:nvSpPr>
          <p:cNvPr id="26" name="TextBox 25"/>
          <p:cNvSpPr txBox="1"/>
          <p:nvPr/>
        </p:nvSpPr>
        <p:spPr>
          <a:xfrm>
            <a:off x="9326880" y="6021323"/>
            <a:ext cx="2743200" cy="411479"/>
          </a:xfrm>
          <a:prstGeom prst="rect">
            <a:avLst/>
          </a:prstGeom>
          <a:noFill/>
        </p:spPr>
        <p:txBody>
          <a:bodyPr wrap="none" lIns="0" rIns="0" tIns="0" bIns="0">
            <a:spAutoFit/>
          </a:bodyPr>
          <a:lstStyle/>
          <a:p>
            <a:pPr algn="l">
              <a:lnSpc>
                <a:spcPct val="115000"/>
              </a:lnSpc>
            </a:pPr>
            <a:r>
              <a:rPr sz="1725">
                <a:solidFill>
                  <a:srgbClr val="F2ECDD"/>
                </a:solidFill>
                <a:latin typeface="TT Commons Pro"/>
              </a:rPr>
              <a:t>delivered</a:t>
            </a:r>
          </a:p>
        </p:txBody>
      </p:sp>
      <p:sp>
        <p:nvSpPr>
          <p:cNvPr id="27" name="TextBox 26"/>
          <p:cNvSpPr txBox="1"/>
          <p:nvPr/>
        </p:nvSpPr>
        <p:spPr>
          <a:xfrm>
            <a:off x="12207240" y="6021323"/>
            <a:ext cx="2468880" cy="411479"/>
          </a:xfrm>
          <a:prstGeom prst="rect">
            <a:avLst/>
          </a:prstGeom>
          <a:noFill/>
        </p:spPr>
        <p:txBody>
          <a:bodyPr wrap="none" lIns="0" rIns="0" tIns="0" bIns="0">
            <a:spAutoFit/>
          </a:bodyPr>
          <a:lstStyle/>
          <a:p>
            <a:pPr algn="l">
              <a:lnSpc>
                <a:spcPct val="115000"/>
              </a:lnSpc>
            </a:pPr>
            <a:r>
              <a:rPr sz="1725">
                <a:solidFill>
                  <a:srgbClr val="EBCF9E"/>
                </a:solidFill>
                <a:latin typeface="TT Commons Pro"/>
              </a:rPr>
              <a:t>✓</a:t>
            </a:r>
          </a:p>
        </p:txBody>
      </p:sp>
      <p:sp>
        <p:nvSpPr>
          <p:cNvPr id="28" name="TextBox 27"/>
          <p:cNvSpPr txBox="1"/>
          <p:nvPr/>
        </p:nvSpPr>
        <p:spPr>
          <a:xfrm>
            <a:off x="14813280" y="6021323"/>
            <a:ext cx="2674620" cy="411479"/>
          </a:xfrm>
          <a:prstGeom prst="rect">
            <a:avLst/>
          </a:prstGeom>
          <a:noFill/>
        </p:spPr>
        <p:txBody>
          <a:bodyPr wrap="none" lIns="0" rIns="0" tIns="0" bIns="0">
            <a:spAutoFit/>
          </a:bodyPr>
          <a:lstStyle/>
          <a:p>
            <a:pPr algn="l">
              <a:lnSpc>
                <a:spcPct val="115000"/>
              </a:lnSpc>
            </a:pPr>
            <a:r>
              <a:rPr sz="1725">
                <a:solidFill>
                  <a:srgbClr val="F2ECDD"/>
                </a:solidFill>
                <a:latin typeface="TT Commons Pro"/>
              </a:rPr>
              <a:t>4 hrs credit</a:t>
            </a:r>
          </a:p>
        </p:txBody>
      </p:sp>
      <p:cxnSp>
        <p:nvCxnSpPr>
          <p:cNvPr id="29" name="Connector 28"/>
          <p:cNvCxnSpPr/>
          <p:nvPr/>
        </p:nvCxnSpPr>
        <p:spPr>
          <a:xfrm>
            <a:off x="822959" y="6624828"/>
            <a:ext cx="16664941" cy="0"/>
          </a:xfrm>
          <a:prstGeom prst="line">
            <a:avLst/>
          </a:prstGeom>
          <a:ln w="7620">
            <a:solidFill>
              <a:srgbClr val="113E4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22959" y="6871716"/>
            <a:ext cx="5486400" cy="411479"/>
          </a:xfrm>
          <a:prstGeom prst="rect">
            <a:avLst/>
          </a:prstGeom>
          <a:noFill/>
        </p:spPr>
        <p:txBody>
          <a:bodyPr wrap="none" lIns="0" rIns="0" tIns="0" bIns="0">
            <a:spAutoFit/>
          </a:bodyPr>
          <a:lstStyle/>
          <a:p>
            <a:pPr algn="l">
              <a:lnSpc>
                <a:spcPct val="115000"/>
              </a:lnSpc>
            </a:pPr>
            <a:r>
              <a:rPr sz="1725">
                <a:solidFill>
                  <a:srgbClr val="F2ECDD"/>
                </a:solidFill>
                <a:latin typeface="TT Commons Pro"/>
              </a:rPr>
              <a:t>host the tool library</a:t>
            </a:r>
          </a:p>
        </p:txBody>
      </p:sp>
      <p:sp>
        <p:nvSpPr>
          <p:cNvPr id="31" name="TextBox 30"/>
          <p:cNvSpPr txBox="1"/>
          <p:nvPr/>
        </p:nvSpPr>
        <p:spPr>
          <a:xfrm>
            <a:off x="6446520" y="6871716"/>
            <a:ext cx="2743200" cy="411479"/>
          </a:xfrm>
          <a:prstGeom prst="rect">
            <a:avLst/>
          </a:prstGeom>
          <a:noFill/>
        </p:spPr>
        <p:txBody>
          <a:bodyPr wrap="none" lIns="0" rIns="0" tIns="0" bIns="0">
            <a:spAutoFit/>
          </a:bodyPr>
          <a:lstStyle/>
          <a:p>
            <a:pPr algn="l">
              <a:lnSpc>
                <a:spcPct val="115000"/>
              </a:lnSpc>
            </a:pPr>
            <a:r>
              <a:rPr sz="1725">
                <a:solidFill>
                  <a:srgbClr val="F2ECDD"/>
                </a:solidFill>
                <a:latin typeface="TT Commons Pro"/>
              </a:rPr>
              <a:t>Front Range Commons</a:t>
            </a:r>
          </a:p>
        </p:txBody>
      </p:sp>
      <p:sp>
        <p:nvSpPr>
          <p:cNvPr id="32" name="TextBox 31"/>
          <p:cNvSpPr txBox="1"/>
          <p:nvPr/>
        </p:nvSpPr>
        <p:spPr>
          <a:xfrm>
            <a:off x="9326880" y="6871716"/>
            <a:ext cx="2743200" cy="411479"/>
          </a:xfrm>
          <a:prstGeom prst="rect">
            <a:avLst/>
          </a:prstGeom>
          <a:noFill/>
        </p:spPr>
        <p:txBody>
          <a:bodyPr wrap="none" lIns="0" rIns="0" tIns="0" bIns="0">
            <a:spAutoFit/>
          </a:bodyPr>
          <a:lstStyle/>
          <a:p>
            <a:pPr algn="l">
              <a:lnSpc>
                <a:spcPct val="115000"/>
              </a:lnSpc>
            </a:pPr>
            <a:r>
              <a:rPr sz="1725">
                <a:solidFill>
                  <a:srgbClr val="F2ECDD"/>
                </a:solidFill>
                <a:latin typeface="TT Commons Pro"/>
              </a:rPr>
              <a:t>ongoing</a:t>
            </a:r>
          </a:p>
        </p:txBody>
      </p:sp>
      <p:sp>
        <p:nvSpPr>
          <p:cNvPr id="33" name="TextBox 32"/>
          <p:cNvSpPr txBox="1"/>
          <p:nvPr/>
        </p:nvSpPr>
        <p:spPr>
          <a:xfrm>
            <a:off x="12207240" y="6871716"/>
            <a:ext cx="2468880" cy="411479"/>
          </a:xfrm>
          <a:prstGeom prst="rect">
            <a:avLst/>
          </a:prstGeom>
          <a:noFill/>
        </p:spPr>
        <p:txBody>
          <a:bodyPr wrap="none" lIns="0" rIns="0" tIns="0" bIns="0">
            <a:spAutoFit/>
          </a:bodyPr>
          <a:lstStyle/>
          <a:p>
            <a:pPr algn="l">
              <a:lnSpc>
                <a:spcPct val="115000"/>
              </a:lnSpc>
            </a:pPr>
            <a:r>
              <a:rPr sz="1725">
                <a:solidFill>
                  <a:srgbClr val="EBCF9E"/>
                </a:solidFill>
                <a:latin typeface="TT Commons Pro"/>
              </a:rPr>
              <a:t>✓</a:t>
            </a:r>
          </a:p>
        </p:txBody>
      </p:sp>
      <p:sp>
        <p:nvSpPr>
          <p:cNvPr id="34" name="TextBox 33"/>
          <p:cNvSpPr txBox="1"/>
          <p:nvPr/>
        </p:nvSpPr>
        <p:spPr>
          <a:xfrm>
            <a:off x="14813280" y="6871716"/>
            <a:ext cx="2674620" cy="411479"/>
          </a:xfrm>
          <a:prstGeom prst="rect">
            <a:avLst/>
          </a:prstGeom>
          <a:noFill/>
        </p:spPr>
        <p:txBody>
          <a:bodyPr wrap="none" lIns="0" rIns="0" tIns="0" bIns="0">
            <a:spAutoFit/>
          </a:bodyPr>
          <a:lstStyle/>
          <a:p>
            <a:pPr algn="l">
              <a:lnSpc>
                <a:spcPct val="115000"/>
              </a:lnSpc>
            </a:pPr>
            <a:r>
              <a:rPr sz="1725">
                <a:solidFill>
                  <a:srgbClr val="F2ECDD"/>
                </a:solidFill>
                <a:latin typeface="TT Commons Pro"/>
              </a:rPr>
              <a:t>in-kind</a:t>
            </a:r>
          </a:p>
        </p:txBody>
      </p:sp>
      <p:sp>
        <p:nvSpPr>
          <p:cNvPr id="35" name="Rounded Rectangle 34"/>
          <p:cNvSpPr/>
          <p:nvPr/>
        </p:nvSpPr>
        <p:spPr>
          <a:xfrm>
            <a:off x="822959" y="7886700"/>
            <a:ext cx="8161020" cy="1165860"/>
          </a:xfrm>
          <a:prstGeom prst="roundRect">
            <a:avLst>
              <a:gd name="adj" fmla="val 6000"/>
            </a:avLst>
          </a:prstGeom>
          <a:solidFill>
            <a:srgbClr val="0D3E40"/>
          </a:solidFill>
          <a:ln w="19050">
            <a:solidFill>
              <a:srgbClr val="99E6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234440" y="8161020"/>
            <a:ext cx="7406640" cy="685800"/>
          </a:xfrm>
          <a:prstGeom prst="rect">
            <a:avLst/>
          </a:prstGeom>
          <a:noFill/>
        </p:spPr>
        <p:txBody>
          <a:bodyPr wrap="square" lIns="0" rIns="0" tIns="0" bIns="0">
            <a:spAutoFit/>
          </a:bodyPr>
          <a:lstStyle/>
          <a:p>
            <a:pPr algn="l">
              <a:lnSpc>
                <a:spcPct val="135000"/>
              </a:lnSpc>
            </a:pPr>
            <a:r>
              <a:rPr sz="1725">
                <a:solidFill>
                  <a:srgbClr val="F2ECDD"/>
                </a:solidFill>
                <a:latin typeface="TT Commons Pro"/>
              </a:rPr>
              <a:t>less dependent on memory, chasing people,</a:t>
            </a:r>
          </a:p>
          <a:p>
            <a:pPr algn="l">
              <a:lnSpc>
                <a:spcPct val="135000"/>
              </a:lnSpc>
            </a:pPr>
            <a:r>
              <a:rPr sz="1725">
                <a:solidFill>
                  <a:srgbClr val="F2ECDD"/>
                </a:solidFill>
                <a:latin typeface="TT Commons Pro"/>
              </a:rPr>
              <a:t>repeated coordination, interpersonal conflict</a:t>
            </a:r>
          </a:p>
        </p:txBody>
      </p:sp>
      <p:sp>
        <p:nvSpPr>
          <p:cNvPr id="37" name="Rounded Rectangle 36"/>
          <p:cNvSpPr/>
          <p:nvPr/>
        </p:nvSpPr>
        <p:spPr>
          <a:xfrm>
            <a:off x="9326880" y="7886700"/>
            <a:ext cx="8161020" cy="1165860"/>
          </a:xfrm>
          <a:prstGeom prst="roundRect">
            <a:avLst>
              <a:gd name="adj" fmla="val 6000"/>
            </a:avLst>
          </a:prstGeom>
          <a:solidFill>
            <a:srgbClr val="084B4D"/>
          </a:solidFill>
          <a:ln w="20955">
            <a:solidFill>
              <a:srgbClr val="F0CC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738359" y="8161020"/>
            <a:ext cx="7406640" cy="685800"/>
          </a:xfrm>
          <a:prstGeom prst="rect">
            <a:avLst/>
          </a:prstGeom>
          <a:noFill/>
        </p:spPr>
        <p:txBody>
          <a:bodyPr wrap="square" lIns="0" rIns="0" tIns="0" bIns="0">
            <a:spAutoFit/>
          </a:bodyPr>
          <a:lstStyle/>
          <a:p>
            <a:pPr algn="l">
              <a:lnSpc>
                <a:spcPct val="135000"/>
              </a:lnSpc>
            </a:pPr>
            <a:r>
              <a:rPr sz="1950" spc="20">
                <a:solidFill>
                  <a:srgbClr val="EBCF9E"/>
                </a:solidFill>
                <a:latin typeface="Alike Italics"/>
              </a:rPr>
              <a:t>Clear commitments and visible history</a:t>
            </a:r>
          </a:p>
          <a:p>
            <a:pPr algn="l">
              <a:lnSpc>
                <a:spcPct val="135000"/>
              </a:lnSpc>
            </a:pPr>
            <a:r>
              <a:rPr sz="1950" spc="20">
                <a:solidFill>
                  <a:srgbClr val="EBCF9E"/>
                </a:solidFill>
                <a:latin typeface="Alike Italics"/>
              </a:rPr>
              <a:t>make trust easier.</a:t>
            </a:r>
          </a:p>
        </p:txBody>
      </p:sp>
      <p:pic>
        <p:nvPicPr>
          <p:cNvPr id="39" name="Picture 38" descr="rivr-symbol-light.png"/>
          <p:cNvPicPr>
            <a:picLocks noChangeAspect="1"/>
          </p:cNvPicPr>
          <p:nvPr/>
        </p:nvPicPr>
        <p:blipFill>
          <a:blip r:embed="rId4"/>
          <a:stretch>
            <a:fillRect/>
          </a:stretch>
        </p:blipFill>
        <p:spPr>
          <a:xfrm>
            <a:off x="576072" y="9518904"/>
            <a:ext cx="521208" cy="521208"/>
          </a:xfrm>
          <a:prstGeom prst="rect">
            <a:avLst/>
          </a:prstGeom>
        </p:spPr>
      </p:pic>
      <p:sp>
        <p:nvSpPr>
          <p:cNvPr id="40" name="TextBox 39"/>
          <p:cNvSpPr txBox="1"/>
          <p:nvPr/>
        </p:nvSpPr>
        <p:spPr>
          <a:xfrm>
            <a:off x="1371600" y="9724644"/>
            <a:ext cx="5486400" cy="301752"/>
          </a:xfrm>
          <a:prstGeom prst="rect">
            <a:avLst/>
          </a:prstGeom>
          <a:noFill/>
        </p:spPr>
        <p:txBody>
          <a:bodyPr wrap="none" lIns="0" rIns="0" tIns="0" bIns="0">
            <a:spAutoFit/>
          </a:bodyPr>
          <a:lstStyle/>
          <a:p>
            <a:pPr algn="l">
              <a:lnSpc>
                <a:spcPct val="115000"/>
              </a:lnSpc>
            </a:pPr>
            <a:r>
              <a:rPr sz="1350" spc="150">
                <a:solidFill>
                  <a:srgbClr val="AFC4C2"/>
                </a:solidFill>
                <a:latin typeface="TT Commons Pro"/>
              </a:rPr>
              <a:t>Rivr · Seed Round 2026</a:t>
            </a:r>
          </a:p>
        </p:txBody>
      </p:sp>
      <p:sp>
        <p:nvSpPr>
          <p:cNvPr id="41" name="TextBox 40"/>
          <p:cNvSpPr txBox="1"/>
          <p:nvPr/>
        </p:nvSpPr>
        <p:spPr>
          <a:xfrm>
            <a:off x="16870680" y="9724644"/>
            <a:ext cx="960119" cy="301752"/>
          </a:xfrm>
          <a:prstGeom prst="rect">
            <a:avLst/>
          </a:prstGeom>
          <a:noFill/>
        </p:spPr>
        <p:txBody>
          <a:bodyPr wrap="none" lIns="0" rIns="0" tIns="0" bIns="0">
            <a:spAutoFit/>
          </a:bodyPr>
          <a:lstStyle/>
          <a:p>
            <a:pPr algn="r">
              <a:lnSpc>
                <a:spcPct val="115000"/>
              </a:lnSpc>
            </a:pPr>
            <a:r>
              <a:rPr sz="1350" spc="150">
                <a:solidFill>
                  <a:srgbClr val="AFC4C2"/>
                </a:solidFill>
                <a:latin typeface="TT Commons Pro"/>
              </a:rPr>
              <a:t>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03333"/>
        </a:solidFill>
        <a:effectLst/>
      </p:bgPr>
    </p:bg>
    <p:spTree>
      <p:nvGrpSpPr>
        <p:cNvPr id="1" name=""/>
        <p:cNvGrpSpPr/>
        <p:nvPr/>
      </p:nvGrpSpPr>
      <p:grpSpPr/>
      <p:pic>
        <p:nvPicPr>
          <p:cNvPr id="2" name="Picture 1" descr="bg_c15.jpg"/>
          <p:cNvPicPr>
            <a:picLocks noChangeAspect="1"/>
          </p:cNvPicPr>
          <p:nvPr/>
        </p:nvPicPr>
        <p:blipFill>
          <a:blip r:embed="rId2"/>
          <a:stretch>
            <a:fillRect/>
          </a:stretch>
        </p:blipFill>
        <p:spPr>
          <a:xfrm>
            <a:off x="0" y="0"/>
            <a:ext cx="18287542" cy="10287000"/>
          </a:xfrm>
          <a:prstGeom prst="rect">
            <a:avLst/>
          </a:prstGeom>
        </p:spPr>
      </p:pic>
      <p:sp>
        <p:nvSpPr>
          <p:cNvPr id="3" name="TextBox 2"/>
          <p:cNvSpPr txBox="1"/>
          <p:nvPr/>
        </p:nvSpPr>
        <p:spPr>
          <a:xfrm>
            <a:off x="822959" y="822959"/>
            <a:ext cx="16733519" cy="384048"/>
          </a:xfrm>
          <a:prstGeom prst="rect">
            <a:avLst/>
          </a:prstGeom>
          <a:noFill/>
        </p:spPr>
        <p:txBody>
          <a:bodyPr wrap="none" lIns="0" rIns="0" tIns="0" bIns="0">
            <a:spAutoFit/>
          </a:bodyPr>
          <a:lstStyle/>
          <a:p>
            <a:pPr algn="l">
              <a:lnSpc>
                <a:spcPct val="115000"/>
              </a:lnSpc>
            </a:pPr>
            <a:r>
              <a:rPr sz="1650" spc="330">
                <a:solidFill>
                  <a:srgbClr val="9FE8DC"/>
                </a:solidFill>
                <a:latin typeface="Todes 1"/>
              </a:rPr>
              <a:t>ORGANIZATIONAL KNOW-HOW</a:t>
            </a:r>
          </a:p>
        </p:txBody>
      </p:sp>
      <p:sp>
        <p:nvSpPr>
          <p:cNvPr id="4" name="TextBox 3"/>
          <p:cNvSpPr txBox="1"/>
          <p:nvPr/>
        </p:nvSpPr>
        <p:spPr>
          <a:xfrm>
            <a:off x="822959" y="1698701"/>
            <a:ext cx="17847468" cy="861005"/>
          </a:xfrm>
          <a:prstGeom prst="rect">
            <a:avLst/>
          </a:prstGeom>
          <a:noFill/>
        </p:spPr>
        <p:txBody>
          <a:bodyPr wrap="none" lIns="0" rIns="0" tIns="0" bIns="0">
            <a:spAutoFit/>
          </a:bodyPr>
          <a:lstStyle/>
          <a:p>
            <a:pPr algn="l">
              <a:lnSpc>
                <a:spcPct val="115000"/>
              </a:lnSpc>
            </a:pPr>
            <a:r>
              <a:rPr sz="4675" spc="-63">
                <a:solidFill>
                  <a:srgbClr val="F4EAD8"/>
                </a:solidFill>
                <a:latin typeface="Todes 1"/>
              </a:rPr>
              <a:t>Nobody should have to reinvent cooperation </a:t>
            </a:r>
          </a:p>
        </p:txBody>
      </p:sp>
      <p:sp>
        <p:nvSpPr>
          <p:cNvPr id="5" name="TextBox 4"/>
          <p:cNvSpPr txBox="1"/>
          <p:nvPr/>
        </p:nvSpPr>
        <p:spPr>
          <a:xfrm>
            <a:off x="14936343" y="1645919"/>
            <a:ext cx="3783568" cy="956672"/>
          </a:xfrm>
          <a:prstGeom prst="rect">
            <a:avLst/>
          </a:prstGeom>
          <a:noFill/>
        </p:spPr>
        <p:txBody>
          <a:bodyPr wrap="none" lIns="0" rIns="0" tIns="0" bIns="0">
            <a:spAutoFit/>
          </a:bodyPr>
          <a:lstStyle/>
          <a:p>
            <a:pPr algn="l">
              <a:lnSpc>
                <a:spcPct val="115000"/>
              </a:lnSpc>
            </a:pPr>
            <a:r>
              <a:rPr sz="5195" spc="-75">
                <a:solidFill>
                  <a:srgbClr val="99E6D9"/>
                </a:solidFill>
                <a:latin typeface="Ibarra Real Nova Italics"/>
              </a:rPr>
              <a:t>every time.</a:t>
            </a:r>
          </a:p>
        </p:txBody>
      </p:sp>
      <p:sp>
        <p:nvSpPr>
          <p:cNvPr id="6" name="Rounded Rectangle 5"/>
          <p:cNvSpPr/>
          <p:nvPr/>
        </p:nvSpPr>
        <p:spPr>
          <a:xfrm>
            <a:off x="960119" y="4594860"/>
            <a:ext cx="4114800" cy="2057400"/>
          </a:xfrm>
          <a:prstGeom prst="roundRect">
            <a:avLst>
              <a:gd name="adj" fmla="val 6000"/>
            </a:avLst>
          </a:prstGeom>
          <a:solidFill>
            <a:srgbClr val="084B4D"/>
          </a:solidFill>
          <a:ln w="22859">
            <a:solidFill>
              <a:srgbClr val="F0CC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png"/>
          <p:cNvPicPr>
            <a:picLocks noChangeAspect="1"/>
          </p:cNvPicPr>
          <p:nvPr/>
        </p:nvPicPr>
        <p:blipFill>
          <a:blip r:embed="rId4"/>
          <a:stretch>
            <a:fillRect/>
          </a:stretch>
        </p:blipFill>
        <p:spPr>
          <a:xfrm>
            <a:off x="2743200" y="4910327"/>
            <a:ext cx="548640" cy="548640"/>
          </a:xfrm>
          <a:prstGeom prst="rect">
            <a:avLst/>
          </a:prstGeom>
        </p:spPr>
      </p:pic>
      <p:sp>
        <p:nvSpPr>
          <p:cNvPr id="8" name="TextBox 7"/>
          <p:cNvSpPr txBox="1"/>
          <p:nvPr/>
        </p:nvSpPr>
        <p:spPr>
          <a:xfrm>
            <a:off x="960119" y="5733288"/>
            <a:ext cx="4114800" cy="411479"/>
          </a:xfrm>
          <a:prstGeom prst="rect">
            <a:avLst/>
          </a:prstGeom>
          <a:noFill/>
        </p:spPr>
        <p:txBody>
          <a:bodyPr wrap="none" lIns="0" rIns="0" tIns="0" bIns="0">
            <a:spAutoFit/>
          </a:bodyPr>
          <a:lstStyle/>
          <a:p>
            <a:pPr algn="ctr">
              <a:lnSpc>
                <a:spcPct val="115000"/>
              </a:lnSpc>
            </a:pPr>
            <a:r>
              <a:rPr sz="1650" spc="330">
                <a:solidFill>
                  <a:srgbClr val="EBCF9E"/>
                </a:solidFill>
                <a:latin typeface="Todes 1"/>
              </a:rPr>
              <a:t>ONE TEMPLATE</a:t>
            </a:r>
          </a:p>
        </p:txBody>
      </p:sp>
      <p:sp>
        <p:nvSpPr>
          <p:cNvPr id="9" name="TextBox 8"/>
          <p:cNvSpPr txBox="1"/>
          <p:nvPr/>
        </p:nvSpPr>
        <p:spPr>
          <a:xfrm>
            <a:off x="1165860" y="6144768"/>
            <a:ext cx="3703320" cy="411479"/>
          </a:xfrm>
          <a:prstGeom prst="rect">
            <a:avLst/>
          </a:prstGeom>
          <a:noFill/>
        </p:spPr>
        <p:txBody>
          <a:bodyPr wrap="square" lIns="0" rIns="0" tIns="0" bIns="0">
            <a:spAutoFit/>
          </a:bodyPr>
          <a:lstStyle/>
          <a:p>
            <a:pPr algn="ctr">
              <a:lnSpc>
                <a:spcPct val="115000"/>
              </a:lnSpc>
            </a:pPr>
            <a:r>
              <a:rPr sz="1425">
                <a:solidFill>
                  <a:srgbClr val="F2ECDD"/>
                </a:solidFill>
                <a:latin typeface="TT Commons Pro"/>
              </a:rPr>
              <a:t>roles · workflows · approvals</a:t>
            </a:r>
          </a:p>
        </p:txBody>
      </p:sp>
      <p:cxnSp>
        <p:nvCxnSpPr>
          <p:cNvPr id="10" name="Connector 9"/>
          <p:cNvCxnSpPr/>
          <p:nvPr/>
        </p:nvCxnSpPr>
        <p:spPr>
          <a:xfrm flipV="1">
            <a:off x="5280660" y="4485132"/>
            <a:ext cx="5829299" cy="1138427"/>
          </a:xfrm>
          <a:prstGeom prst="line">
            <a:avLst/>
          </a:prstGeom>
          <a:ln w="11430">
            <a:solidFill>
              <a:srgbClr val="99E6D9"/>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11247119" y="4183379"/>
            <a:ext cx="6240779" cy="850392"/>
          </a:xfrm>
          <a:prstGeom prst="roundRect">
            <a:avLst>
              <a:gd name="adj" fmla="val 22000"/>
            </a:avLst>
          </a:prstGeom>
          <a:solidFill>
            <a:srgbClr val="0D3E40"/>
          </a:solidFill>
          <a:ln w="16192">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590019" y="4402836"/>
            <a:ext cx="5623559" cy="411479"/>
          </a:xfrm>
          <a:prstGeom prst="rect">
            <a:avLst/>
          </a:prstGeom>
          <a:noFill/>
        </p:spPr>
        <p:txBody>
          <a:bodyPr wrap="square" lIns="0" rIns="0" tIns="0" bIns="0">
            <a:spAutoFit/>
          </a:bodyPr>
          <a:lstStyle/>
          <a:p>
            <a:pPr algn="l">
              <a:lnSpc>
                <a:spcPct val="115000"/>
              </a:lnSpc>
            </a:pPr>
            <a:r>
              <a:rPr sz="1800">
                <a:solidFill>
                  <a:srgbClr val="F2ECDD"/>
                </a:solidFill>
                <a:latin typeface="TT Commons Pro"/>
              </a:rPr>
              <a:t>a food co-op</a:t>
            </a:r>
          </a:p>
        </p:txBody>
      </p:sp>
      <p:cxnSp>
        <p:nvCxnSpPr>
          <p:cNvPr id="13" name="Connector 12"/>
          <p:cNvCxnSpPr/>
          <p:nvPr/>
        </p:nvCxnSpPr>
        <p:spPr>
          <a:xfrm flipV="1">
            <a:off x="5280660" y="5582412"/>
            <a:ext cx="5829299" cy="41147"/>
          </a:xfrm>
          <a:prstGeom prst="line">
            <a:avLst/>
          </a:prstGeom>
          <a:ln w="11430">
            <a:solidFill>
              <a:srgbClr val="99E6D9"/>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11247119" y="5280660"/>
            <a:ext cx="6240779" cy="850392"/>
          </a:xfrm>
          <a:prstGeom prst="roundRect">
            <a:avLst>
              <a:gd name="adj" fmla="val 22000"/>
            </a:avLst>
          </a:prstGeom>
          <a:solidFill>
            <a:srgbClr val="0D3E40"/>
          </a:solidFill>
          <a:ln w="16192">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590019" y="5500116"/>
            <a:ext cx="5623559" cy="411479"/>
          </a:xfrm>
          <a:prstGeom prst="rect">
            <a:avLst/>
          </a:prstGeom>
          <a:noFill/>
        </p:spPr>
        <p:txBody>
          <a:bodyPr wrap="square" lIns="0" rIns="0" tIns="0" bIns="0">
            <a:spAutoFit/>
          </a:bodyPr>
          <a:lstStyle/>
          <a:p>
            <a:pPr algn="l">
              <a:lnSpc>
                <a:spcPct val="115000"/>
              </a:lnSpc>
            </a:pPr>
            <a:r>
              <a:rPr sz="1800">
                <a:solidFill>
                  <a:srgbClr val="F2ECDD"/>
                </a:solidFill>
                <a:latin typeface="TT Commons Pro"/>
              </a:rPr>
              <a:t>a repair collective</a:t>
            </a:r>
          </a:p>
        </p:txBody>
      </p:sp>
      <p:cxnSp>
        <p:nvCxnSpPr>
          <p:cNvPr id="16" name="Connector 15"/>
          <p:cNvCxnSpPr/>
          <p:nvPr/>
        </p:nvCxnSpPr>
        <p:spPr>
          <a:xfrm>
            <a:off x="5280660" y="5623559"/>
            <a:ext cx="5829299" cy="1056133"/>
          </a:xfrm>
          <a:prstGeom prst="line">
            <a:avLst/>
          </a:prstGeom>
          <a:ln w="11430">
            <a:solidFill>
              <a:srgbClr val="99E6D9"/>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1247119" y="6377940"/>
            <a:ext cx="6240779" cy="850392"/>
          </a:xfrm>
          <a:prstGeom prst="roundRect">
            <a:avLst>
              <a:gd name="adj" fmla="val 22000"/>
            </a:avLst>
          </a:prstGeom>
          <a:solidFill>
            <a:srgbClr val="0D3E40"/>
          </a:solidFill>
          <a:ln w="16192">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590019" y="6597396"/>
            <a:ext cx="5623559" cy="411479"/>
          </a:xfrm>
          <a:prstGeom prst="rect">
            <a:avLst/>
          </a:prstGeom>
          <a:noFill/>
        </p:spPr>
        <p:txBody>
          <a:bodyPr wrap="square" lIns="0" rIns="0" tIns="0" bIns="0">
            <a:spAutoFit/>
          </a:bodyPr>
          <a:lstStyle/>
          <a:p>
            <a:pPr algn="l">
              <a:lnSpc>
                <a:spcPct val="115000"/>
              </a:lnSpc>
            </a:pPr>
            <a:r>
              <a:rPr sz="1800">
                <a:solidFill>
                  <a:srgbClr val="F2ECDD"/>
                </a:solidFill>
                <a:latin typeface="TT Commons Pro"/>
              </a:rPr>
              <a:t>a housing group</a:t>
            </a:r>
          </a:p>
        </p:txBody>
      </p:sp>
      <p:cxnSp>
        <p:nvCxnSpPr>
          <p:cNvPr id="19" name="Connector 18"/>
          <p:cNvCxnSpPr/>
          <p:nvPr/>
        </p:nvCxnSpPr>
        <p:spPr>
          <a:xfrm>
            <a:off x="5280660" y="5623559"/>
            <a:ext cx="5829299" cy="2153412"/>
          </a:xfrm>
          <a:prstGeom prst="line">
            <a:avLst/>
          </a:prstGeom>
          <a:ln w="11430">
            <a:solidFill>
              <a:srgbClr val="99E6D9"/>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11247119" y="7475220"/>
            <a:ext cx="6240779" cy="850392"/>
          </a:xfrm>
          <a:prstGeom prst="roundRect">
            <a:avLst>
              <a:gd name="adj" fmla="val 22000"/>
            </a:avLst>
          </a:prstGeom>
          <a:solidFill>
            <a:srgbClr val="0D3E40"/>
          </a:solidFill>
          <a:ln w="16192">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590019" y="7694676"/>
            <a:ext cx="5623559" cy="411479"/>
          </a:xfrm>
          <a:prstGeom prst="rect">
            <a:avLst/>
          </a:prstGeom>
          <a:noFill/>
        </p:spPr>
        <p:txBody>
          <a:bodyPr wrap="square" lIns="0" rIns="0" tIns="0" bIns="0">
            <a:spAutoFit/>
          </a:bodyPr>
          <a:lstStyle/>
          <a:p>
            <a:pPr algn="l">
              <a:lnSpc>
                <a:spcPct val="115000"/>
              </a:lnSpc>
            </a:pPr>
            <a:r>
              <a:rPr sz="1800">
                <a:solidFill>
                  <a:srgbClr val="F2ECDD"/>
                </a:solidFill>
                <a:latin typeface="TT Commons Pro"/>
              </a:rPr>
              <a:t>a farmers market</a:t>
            </a:r>
          </a:p>
        </p:txBody>
      </p:sp>
      <p:sp>
        <p:nvSpPr>
          <p:cNvPr id="22" name="TextBox 21"/>
          <p:cNvSpPr txBox="1"/>
          <p:nvPr/>
        </p:nvSpPr>
        <p:spPr>
          <a:xfrm>
            <a:off x="5623559" y="3593592"/>
            <a:ext cx="6309359" cy="411479"/>
          </a:xfrm>
          <a:prstGeom prst="rect">
            <a:avLst/>
          </a:prstGeom>
          <a:noFill/>
        </p:spPr>
        <p:txBody>
          <a:bodyPr wrap="none" lIns="0" rIns="0" tIns="0" bIns="0">
            <a:spAutoFit/>
          </a:bodyPr>
          <a:lstStyle/>
          <a:p>
            <a:pPr algn="l">
              <a:lnSpc>
                <a:spcPct val="115000"/>
              </a:lnSpc>
            </a:pPr>
            <a:r>
              <a:rPr sz="1425" spc="330">
                <a:solidFill>
                  <a:srgbClr val="9FE8DC"/>
                </a:solidFill>
                <a:latin typeface="Todes 1"/>
              </a:rPr>
              <a:t>PICKED UP ON DAY ONE</a:t>
            </a:r>
          </a:p>
        </p:txBody>
      </p:sp>
      <p:sp>
        <p:nvSpPr>
          <p:cNvPr id="23" name="TextBox 22"/>
          <p:cNvSpPr txBox="1"/>
          <p:nvPr/>
        </p:nvSpPr>
        <p:spPr>
          <a:xfrm>
            <a:off x="822959" y="8778240"/>
            <a:ext cx="16596359" cy="1097280"/>
          </a:xfrm>
          <a:prstGeom prst="rect">
            <a:avLst/>
          </a:prstGeom>
          <a:noFill/>
        </p:spPr>
        <p:txBody>
          <a:bodyPr wrap="square" lIns="0" rIns="0" tIns="0" bIns="0">
            <a:spAutoFit/>
          </a:bodyPr>
          <a:lstStyle/>
          <a:p>
            <a:pPr algn="ctr">
              <a:lnSpc>
                <a:spcPct val="140000"/>
              </a:lnSpc>
            </a:pPr>
            <a:r>
              <a:rPr sz="1875">
                <a:solidFill>
                  <a:srgbClr val="F2ECDD"/>
                </a:solidFill>
                <a:latin typeface="TT Commons Pro"/>
              </a:rPr>
              <a:t>Easier organization → more projects → more businesses → more organizations →</a:t>
            </a:r>
          </a:p>
          <a:p>
            <a:pPr algn="ctr">
              <a:lnSpc>
                <a:spcPct val="140000"/>
              </a:lnSpc>
            </a:pPr>
            <a:r>
              <a:rPr sz="1950">
                <a:solidFill>
                  <a:srgbClr val="EBCF9E"/>
                </a:solidFill>
                <a:latin typeface="TT Commons Pro Bold"/>
              </a:rPr>
              <a:t>more economic activity → more local capacity.</a:t>
            </a:r>
          </a:p>
        </p:txBody>
      </p:sp>
      <p:pic>
        <p:nvPicPr>
          <p:cNvPr id="24" name="Picture 23" descr="rivr-symbol-light.png"/>
          <p:cNvPicPr>
            <a:picLocks noChangeAspect="1"/>
          </p:cNvPicPr>
          <p:nvPr/>
        </p:nvPicPr>
        <p:blipFill>
          <a:blip r:embed="rId5"/>
          <a:stretch>
            <a:fillRect/>
          </a:stretch>
        </p:blipFill>
        <p:spPr>
          <a:xfrm>
            <a:off x="576072" y="9518904"/>
            <a:ext cx="521208" cy="521208"/>
          </a:xfrm>
          <a:prstGeom prst="rect">
            <a:avLst/>
          </a:prstGeom>
        </p:spPr>
      </p:pic>
      <p:sp>
        <p:nvSpPr>
          <p:cNvPr id="25" name="TextBox 24"/>
          <p:cNvSpPr txBox="1"/>
          <p:nvPr/>
        </p:nvSpPr>
        <p:spPr>
          <a:xfrm>
            <a:off x="1371600" y="9724644"/>
            <a:ext cx="5486400" cy="301752"/>
          </a:xfrm>
          <a:prstGeom prst="rect">
            <a:avLst/>
          </a:prstGeom>
          <a:noFill/>
        </p:spPr>
        <p:txBody>
          <a:bodyPr wrap="none" lIns="0" rIns="0" tIns="0" bIns="0">
            <a:spAutoFit/>
          </a:bodyPr>
          <a:lstStyle/>
          <a:p>
            <a:pPr algn="l">
              <a:lnSpc>
                <a:spcPct val="115000"/>
              </a:lnSpc>
            </a:pPr>
            <a:r>
              <a:rPr sz="1350" spc="150">
                <a:solidFill>
                  <a:srgbClr val="AFC4C2"/>
                </a:solidFill>
                <a:latin typeface="TT Commons Pro"/>
              </a:rPr>
              <a:t>Rivr · Seed Round 2026</a:t>
            </a:r>
          </a:p>
        </p:txBody>
      </p:sp>
      <p:sp>
        <p:nvSpPr>
          <p:cNvPr id="26" name="TextBox 25"/>
          <p:cNvSpPr txBox="1"/>
          <p:nvPr/>
        </p:nvSpPr>
        <p:spPr>
          <a:xfrm>
            <a:off x="16870680" y="9724644"/>
            <a:ext cx="960119" cy="301752"/>
          </a:xfrm>
          <a:prstGeom prst="rect">
            <a:avLst/>
          </a:prstGeom>
          <a:noFill/>
        </p:spPr>
        <p:txBody>
          <a:bodyPr wrap="none" lIns="0" rIns="0" tIns="0" bIns="0">
            <a:spAutoFit/>
          </a:bodyPr>
          <a:lstStyle/>
          <a:p>
            <a:pPr algn="r">
              <a:lnSpc>
                <a:spcPct val="115000"/>
              </a:lnSpc>
            </a:pPr>
            <a:r>
              <a:rPr sz="1350" spc="150">
                <a:solidFill>
                  <a:srgbClr val="AFC4C2"/>
                </a:solidFill>
                <a:latin typeface="TT Commons Pro"/>
              </a:rPr>
              <a:t>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03333"/>
        </a:solidFill>
        <a:effectLst/>
      </p:bgPr>
    </p:bg>
    <p:spTree>
      <p:nvGrpSpPr>
        <p:cNvPr id="1" name=""/>
        <p:cNvGrpSpPr/>
        <p:nvPr/>
      </p:nvGrpSpPr>
      <p:grpSpPr/>
      <p:pic>
        <p:nvPicPr>
          <p:cNvPr id="2" name="Picture 1" descr="bg_c16.jpg"/>
          <p:cNvPicPr>
            <a:picLocks noChangeAspect="1"/>
          </p:cNvPicPr>
          <p:nvPr/>
        </p:nvPicPr>
        <p:blipFill>
          <a:blip r:embed="rId2"/>
          <a:stretch>
            <a:fillRect/>
          </a:stretch>
        </p:blipFill>
        <p:spPr>
          <a:xfrm>
            <a:off x="0" y="0"/>
            <a:ext cx="18287542" cy="10287000"/>
          </a:xfrm>
          <a:prstGeom prst="rect">
            <a:avLst/>
          </a:prstGeom>
        </p:spPr>
      </p:pic>
      <p:sp>
        <p:nvSpPr>
          <p:cNvPr id="3" name="TextBox 2"/>
          <p:cNvSpPr txBox="1"/>
          <p:nvPr/>
        </p:nvSpPr>
        <p:spPr>
          <a:xfrm>
            <a:off x="822959" y="822959"/>
            <a:ext cx="16733519" cy="384048"/>
          </a:xfrm>
          <a:prstGeom prst="rect">
            <a:avLst/>
          </a:prstGeom>
          <a:noFill/>
        </p:spPr>
        <p:txBody>
          <a:bodyPr wrap="none" lIns="0" rIns="0" tIns="0" bIns="0">
            <a:spAutoFit/>
          </a:bodyPr>
          <a:lstStyle/>
          <a:p>
            <a:pPr algn="l">
              <a:lnSpc>
                <a:spcPct val="115000"/>
              </a:lnSpc>
            </a:pPr>
            <a:r>
              <a:rPr sz="1650" spc="330">
                <a:solidFill>
                  <a:srgbClr val="9FE8DC"/>
                </a:solidFill>
                <a:latin typeface="Todes 1"/>
              </a:rPr>
              <a:t>PLURAL EXCHANGE</a:t>
            </a:r>
          </a:p>
        </p:txBody>
      </p:sp>
      <p:sp>
        <p:nvSpPr>
          <p:cNvPr id="4" name="TextBox 3"/>
          <p:cNvSpPr txBox="1"/>
          <p:nvPr/>
        </p:nvSpPr>
        <p:spPr>
          <a:xfrm>
            <a:off x="822959" y="1699869"/>
            <a:ext cx="15899685" cy="912647"/>
          </a:xfrm>
          <a:prstGeom prst="rect">
            <a:avLst/>
          </a:prstGeom>
          <a:noFill/>
        </p:spPr>
        <p:txBody>
          <a:bodyPr wrap="none" lIns="0" rIns="0" tIns="0" bIns="0">
            <a:spAutoFit/>
          </a:bodyPr>
          <a:lstStyle/>
          <a:p>
            <a:pPr algn="l">
              <a:lnSpc>
                <a:spcPct val="115000"/>
              </a:lnSpc>
            </a:pPr>
            <a:r>
              <a:rPr sz="4956" spc="-67">
                <a:solidFill>
                  <a:srgbClr val="F4EAD8"/>
                </a:solidFill>
                <a:latin typeface="Todes 1"/>
              </a:rPr>
              <a:t>Not every exchange begins and ends </a:t>
            </a:r>
          </a:p>
        </p:txBody>
      </p:sp>
      <p:sp>
        <p:nvSpPr>
          <p:cNvPr id="5" name="TextBox 4"/>
          <p:cNvSpPr txBox="1"/>
          <p:nvPr/>
        </p:nvSpPr>
        <p:spPr>
          <a:xfrm>
            <a:off x="13378116" y="1645919"/>
            <a:ext cx="4503896" cy="1010431"/>
          </a:xfrm>
          <a:prstGeom prst="rect">
            <a:avLst/>
          </a:prstGeom>
          <a:noFill/>
        </p:spPr>
        <p:txBody>
          <a:bodyPr wrap="none" lIns="0" rIns="0" tIns="0" bIns="0">
            <a:spAutoFit/>
          </a:bodyPr>
          <a:lstStyle/>
          <a:p>
            <a:pPr algn="l">
              <a:lnSpc>
                <a:spcPct val="115000"/>
              </a:lnSpc>
            </a:pPr>
            <a:r>
              <a:rPr sz="5487" spc="-75">
                <a:solidFill>
                  <a:srgbClr val="F0CC8B"/>
                </a:solidFill>
                <a:latin typeface="Ibarra Real Nova Italics"/>
              </a:rPr>
              <a:t>with money.</a:t>
            </a:r>
          </a:p>
        </p:txBody>
      </p:sp>
      <p:sp>
        <p:nvSpPr>
          <p:cNvPr id="6" name="TextBox 5"/>
          <p:cNvSpPr txBox="1"/>
          <p:nvPr/>
        </p:nvSpPr>
        <p:spPr>
          <a:xfrm>
            <a:off x="3703320" y="3881628"/>
            <a:ext cx="2414016" cy="411479"/>
          </a:xfrm>
          <a:prstGeom prst="rect">
            <a:avLst/>
          </a:prstGeom>
          <a:noFill/>
        </p:spPr>
        <p:txBody>
          <a:bodyPr wrap="none" lIns="0" rIns="0" tIns="0" bIns="0">
            <a:spAutoFit/>
          </a:bodyPr>
          <a:lstStyle/>
          <a:p>
            <a:pPr algn="ctr">
              <a:lnSpc>
                <a:spcPct val="115000"/>
              </a:lnSpc>
            </a:pPr>
            <a:r>
              <a:rPr sz="1425">
                <a:solidFill>
                  <a:srgbClr val="9FE8DC"/>
                </a:solidFill>
                <a:latin typeface="TT Commons Pro"/>
              </a:rPr>
              <a:t>sold</a:t>
            </a:r>
          </a:p>
        </p:txBody>
      </p:sp>
      <p:sp>
        <p:nvSpPr>
          <p:cNvPr id="7" name="TextBox 6"/>
          <p:cNvSpPr txBox="1"/>
          <p:nvPr/>
        </p:nvSpPr>
        <p:spPr>
          <a:xfrm>
            <a:off x="5568696" y="3881628"/>
            <a:ext cx="2414016" cy="411479"/>
          </a:xfrm>
          <a:prstGeom prst="rect">
            <a:avLst/>
          </a:prstGeom>
          <a:noFill/>
        </p:spPr>
        <p:txBody>
          <a:bodyPr wrap="none" lIns="0" rIns="0" tIns="0" bIns="0">
            <a:spAutoFit/>
          </a:bodyPr>
          <a:lstStyle/>
          <a:p>
            <a:pPr algn="ctr">
              <a:lnSpc>
                <a:spcPct val="115000"/>
              </a:lnSpc>
            </a:pPr>
            <a:r>
              <a:rPr sz="1425">
                <a:solidFill>
                  <a:srgbClr val="9FE8DC"/>
                </a:solidFill>
                <a:latin typeface="TT Commons Pro"/>
              </a:rPr>
              <a:t>rented</a:t>
            </a:r>
          </a:p>
        </p:txBody>
      </p:sp>
      <p:sp>
        <p:nvSpPr>
          <p:cNvPr id="8" name="TextBox 7"/>
          <p:cNvSpPr txBox="1"/>
          <p:nvPr/>
        </p:nvSpPr>
        <p:spPr>
          <a:xfrm>
            <a:off x="7434071" y="3881628"/>
            <a:ext cx="2414016" cy="411479"/>
          </a:xfrm>
          <a:prstGeom prst="rect">
            <a:avLst/>
          </a:prstGeom>
          <a:noFill/>
        </p:spPr>
        <p:txBody>
          <a:bodyPr wrap="none" lIns="0" rIns="0" tIns="0" bIns="0">
            <a:spAutoFit/>
          </a:bodyPr>
          <a:lstStyle/>
          <a:p>
            <a:pPr algn="ctr">
              <a:lnSpc>
                <a:spcPct val="115000"/>
              </a:lnSpc>
            </a:pPr>
            <a:r>
              <a:rPr sz="1425">
                <a:solidFill>
                  <a:srgbClr val="9FE8DC"/>
                </a:solidFill>
                <a:latin typeface="TT Commons Pro"/>
              </a:rPr>
              <a:t>traded</a:t>
            </a:r>
          </a:p>
        </p:txBody>
      </p:sp>
      <p:sp>
        <p:nvSpPr>
          <p:cNvPr id="9" name="TextBox 8"/>
          <p:cNvSpPr txBox="1"/>
          <p:nvPr/>
        </p:nvSpPr>
        <p:spPr>
          <a:xfrm>
            <a:off x="9299448" y="3881628"/>
            <a:ext cx="2414016" cy="411479"/>
          </a:xfrm>
          <a:prstGeom prst="rect">
            <a:avLst/>
          </a:prstGeom>
          <a:noFill/>
        </p:spPr>
        <p:txBody>
          <a:bodyPr wrap="none" lIns="0" rIns="0" tIns="0" bIns="0">
            <a:spAutoFit/>
          </a:bodyPr>
          <a:lstStyle/>
          <a:p>
            <a:pPr algn="ctr">
              <a:lnSpc>
                <a:spcPct val="115000"/>
              </a:lnSpc>
            </a:pPr>
            <a:r>
              <a:rPr sz="1425">
                <a:solidFill>
                  <a:srgbClr val="9FE8DC"/>
                </a:solidFill>
                <a:latin typeface="TT Commons Pro"/>
              </a:rPr>
              <a:t>lent</a:t>
            </a:r>
          </a:p>
        </p:txBody>
      </p:sp>
      <p:sp>
        <p:nvSpPr>
          <p:cNvPr id="10" name="TextBox 9"/>
          <p:cNvSpPr txBox="1"/>
          <p:nvPr/>
        </p:nvSpPr>
        <p:spPr>
          <a:xfrm>
            <a:off x="11164824" y="3881628"/>
            <a:ext cx="2414016" cy="411479"/>
          </a:xfrm>
          <a:prstGeom prst="rect">
            <a:avLst/>
          </a:prstGeom>
          <a:noFill/>
        </p:spPr>
        <p:txBody>
          <a:bodyPr wrap="none" lIns="0" rIns="0" tIns="0" bIns="0">
            <a:spAutoFit/>
          </a:bodyPr>
          <a:lstStyle/>
          <a:p>
            <a:pPr algn="ctr">
              <a:lnSpc>
                <a:spcPct val="115000"/>
              </a:lnSpc>
            </a:pPr>
            <a:r>
              <a:rPr sz="1425">
                <a:solidFill>
                  <a:srgbClr val="9FE8DC"/>
                </a:solidFill>
                <a:latin typeface="TT Commons Pro"/>
              </a:rPr>
              <a:t>shared</a:t>
            </a:r>
          </a:p>
        </p:txBody>
      </p:sp>
      <p:sp>
        <p:nvSpPr>
          <p:cNvPr id="11" name="TextBox 10"/>
          <p:cNvSpPr txBox="1"/>
          <p:nvPr/>
        </p:nvSpPr>
        <p:spPr>
          <a:xfrm>
            <a:off x="13030200" y="3881628"/>
            <a:ext cx="2414016" cy="411479"/>
          </a:xfrm>
          <a:prstGeom prst="rect">
            <a:avLst/>
          </a:prstGeom>
          <a:noFill/>
        </p:spPr>
        <p:txBody>
          <a:bodyPr wrap="none" lIns="0" rIns="0" tIns="0" bIns="0">
            <a:spAutoFit/>
          </a:bodyPr>
          <a:lstStyle/>
          <a:p>
            <a:pPr algn="ctr">
              <a:lnSpc>
                <a:spcPct val="115000"/>
              </a:lnSpc>
            </a:pPr>
            <a:r>
              <a:rPr sz="1425">
                <a:solidFill>
                  <a:srgbClr val="9FE8DC"/>
                </a:solidFill>
                <a:latin typeface="TT Commons Pro"/>
              </a:rPr>
              <a:t>gifted</a:t>
            </a:r>
          </a:p>
        </p:txBody>
      </p:sp>
      <p:sp>
        <p:nvSpPr>
          <p:cNvPr id="12" name="TextBox 11"/>
          <p:cNvSpPr txBox="1"/>
          <p:nvPr/>
        </p:nvSpPr>
        <p:spPr>
          <a:xfrm>
            <a:off x="14895576" y="3881628"/>
            <a:ext cx="2414016" cy="411479"/>
          </a:xfrm>
          <a:prstGeom prst="rect">
            <a:avLst/>
          </a:prstGeom>
          <a:noFill/>
        </p:spPr>
        <p:txBody>
          <a:bodyPr wrap="none" lIns="0" rIns="0" tIns="0" bIns="0">
            <a:spAutoFit/>
          </a:bodyPr>
          <a:lstStyle/>
          <a:p>
            <a:pPr algn="ctr">
              <a:lnSpc>
                <a:spcPct val="115000"/>
              </a:lnSpc>
            </a:pPr>
            <a:r>
              <a:rPr sz="1425">
                <a:solidFill>
                  <a:srgbClr val="9FE8DC"/>
                </a:solidFill>
                <a:latin typeface="TT Commons Pro"/>
              </a:rPr>
              <a:t>mutual credit</a:t>
            </a:r>
          </a:p>
        </p:txBody>
      </p:sp>
      <p:sp>
        <p:nvSpPr>
          <p:cNvPr id="13" name="TextBox 12"/>
          <p:cNvSpPr txBox="1"/>
          <p:nvPr/>
        </p:nvSpPr>
        <p:spPr>
          <a:xfrm>
            <a:off x="1028700" y="4718304"/>
            <a:ext cx="2743200" cy="411479"/>
          </a:xfrm>
          <a:prstGeom prst="rect">
            <a:avLst/>
          </a:prstGeom>
          <a:noFill/>
        </p:spPr>
        <p:txBody>
          <a:bodyPr wrap="none" lIns="0" rIns="0" tIns="0" bIns="0">
            <a:spAutoFit/>
          </a:bodyPr>
          <a:lstStyle/>
          <a:p>
            <a:pPr algn="l">
              <a:lnSpc>
                <a:spcPct val="115000"/>
              </a:lnSpc>
            </a:pPr>
            <a:r>
              <a:rPr sz="1725">
                <a:solidFill>
                  <a:srgbClr val="F2ECDD"/>
                </a:solidFill>
                <a:latin typeface="TT Commons Pro"/>
              </a:rPr>
              <a:t>time</a:t>
            </a:r>
          </a:p>
        </p:txBody>
      </p:sp>
      <p:sp>
        <p:nvSpPr>
          <p:cNvPr id="14" name="Oval 13"/>
          <p:cNvSpPr/>
          <p:nvPr/>
        </p:nvSpPr>
        <p:spPr>
          <a:xfrm>
            <a:off x="4457700" y="4718304"/>
            <a:ext cx="356616" cy="356616"/>
          </a:xfrm>
          <a:prstGeom prst="ellipse">
            <a:avLst/>
          </a:prstGeom>
          <a:solidFill>
            <a:srgbClr val="99E6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23075" y="4718304"/>
            <a:ext cx="356616" cy="356616"/>
          </a:xfrm>
          <a:prstGeom prst="ellipse">
            <a:avLst/>
          </a:prstGeom>
          <a:solidFill>
            <a:srgbClr val="99E6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284464" y="4814316"/>
            <a:ext cx="164592" cy="164592"/>
          </a:xfrm>
          <a:prstGeom prst="ellipse">
            <a:avLst/>
          </a:prstGeom>
          <a:solidFill>
            <a:srgbClr val="1444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053828" y="4718304"/>
            <a:ext cx="356616" cy="356616"/>
          </a:xfrm>
          <a:prstGeom prst="ellipse">
            <a:avLst/>
          </a:prstGeom>
          <a:solidFill>
            <a:srgbClr val="99E6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919204" y="4718304"/>
            <a:ext cx="356616" cy="356616"/>
          </a:xfrm>
          <a:prstGeom prst="ellipse">
            <a:avLst/>
          </a:prstGeom>
          <a:solidFill>
            <a:srgbClr val="99E6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3880592" y="4814316"/>
            <a:ext cx="164592" cy="164592"/>
          </a:xfrm>
          <a:prstGeom prst="ellipse">
            <a:avLst/>
          </a:prstGeom>
          <a:solidFill>
            <a:srgbClr val="1444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5649956" y="4718304"/>
            <a:ext cx="356616" cy="356616"/>
          </a:xfrm>
          <a:prstGeom prst="ellipse">
            <a:avLst/>
          </a:prstGeom>
          <a:solidFill>
            <a:srgbClr val="99E6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8700" y="5404104"/>
            <a:ext cx="2743200" cy="411479"/>
          </a:xfrm>
          <a:prstGeom prst="rect">
            <a:avLst/>
          </a:prstGeom>
          <a:noFill/>
        </p:spPr>
        <p:txBody>
          <a:bodyPr wrap="none" lIns="0" rIns="0" tIns="0" bIns="0">
            <a:spAutoFit/>
          </a:bodyPr>
          <a:lstStyle/>
          <a:p>
            <a:pPr algn="l">
              <a:lnSpc>
                <a:spcPct val="115000"/>
              </a:lnSpc>
            </a:pPr>
            <a:r>
              <a:rPr sz="1725">
                <a:solidFill>
                  <a:srgbClr val="F2ECDD"/>
                </a:solidFill>
                <a:latin typeface="TT Commons Pro"/>
              </a:rPr>
              <a:t>skills</a:t>
            </a:r>
          </a:p>
        </p:txBody>
      </p:sp>
      <p:sp>
        <p:nvSpPr>
          <p:cNvPr id="22" name="Oval 21"/>
          <p:cNvSpPr/>
          <p:nvPr/>
        </p:nvSpPr>
        <p:spPr>
          <a:xfrm>
            <a:off x="4457700" y="5404104"/>
            <a:ext cx="356616" cy="356616"/>
          </a:xfrm>
          <a:prstGeom prst="ellipse">
            <a:avLst/>
          </a:prstGeom>
          <a:solidFill>
            <a:srgbClr val="99E6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19088" y="5500116"/>
            <a:ext cx="164592" cy="164592"/>
          </a:xfrm>
          <a:prstGeom prst="ellipse">
            <a:avLst/>
          </a:prstGeom>
          <a:solidFill>
            <a:srgbClr val="1444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188452" y="5404104"/>
            <a:ext cx="356616" cy="356616"/>
          </a:xfrm>
          <a:prstGeom prst="ellipse">
            <a:avLst/>
          </a:prstGeom>
          <a:solidFill>
            <a:srgbClr val="99E6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0053828" y="5404104"/>
            <a:ext cx="356616" cy="356616"/>
          </a:xfrm>
          <a:prstGeom prst="ellipse">
            <a:avLst/>
          </a:prstGeom>
          <a:solidFill>
            <a:srgbClr val="99E6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2015216" y="5500116"/>
            <a:ext cx="164592" cy="164592"/>
          </a:xfrm>
          <a:prstGeom prst="ellipse">
            <a:avLst/>
          </a:prstGeom>
          <a:solidFill>
            <a:srgbClr val="1444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3784580" y="5404104"/>
            <a:ext cx="356616" cy="356616"/>
          </a:xfrm>
          <a:prstGeom prst="ellipse">
            <a:avLst/>
          </a:prstGeom>
          <a:solidFill>
            <a:srgbClr val="99E6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5649956" y="5404104"/>
            <a:ext cx="356616" cy="356616"/>
          </a:xfrm>
          <a:prstGeom prst="ellipse">
            <a:avLst/>
          </a:prstGeom>
          <a:solidFill>
            <a:srgbClr val="99E6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8700" y="6089903"/>
            <a:ext cx="2743200" cy="411479"/>
          </a:xfrm>
          <a:prstGeom prst="rect">
            <a:avLst/>
          </a:prstGeom>
          <a:noFill/>
        </p:spPr>
        <p:txBody>
          <a:bodyPr wrap="none" lIns="0" rIns="0" tIns="0" bIns="0">
            <a:spAutoFit/>
          </a:bodyPr>
          <a:lstStyle/>
          <a:p>
            <a:pPr algn="l">
              <a:lnSpc>
                <a:spcPct val="115000"/>
              </a:lnSpc>
            </a:pPr>
            <a:r>
              <a:rPr sz="1725">
                <a:solidFill>
                  <a:srgbClr val="F2ECDD"/>
                </a:solidFill>
                <a:latin typeface="TT Commons Pro"/>
              </a:rPr>
              <a:t>tools</a:t>
            </a:r>
          </a:p>
        </p:txBody>
      </p:sp>
      <p:sp>
        <p:nvSpPr>
          <p:cNvPr id="30" name="Oval 29"/>
          <p:cNvSpPr/>
          <p:nvPr/>
        </p:nvSpPr>
        <p:spPr>
          <a:xfrm>
            <a:off x="4553712" y="6185916"/>
            <a:ext cx="164592" cy="164592"/>
          </a:xfrm>
          <a:prstGeom prst="ellipse">
            <a:avLst/>
          </a:prstGeom>
          <a:solidFill>
            <a:srgbClr val="1444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323075" y="6089903"/>
            <a:ext cx="356616" cy="356616"/>
          </a:xfrm>
          <a:prstGeom prst="ellipse">
            <a:avLst/>
          </a:prstGeom>
          <a:solidFill>
            <a:srgbClr val="99E6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188452" y="6089903"/>
            <a:ext cx="356616" cy="356616"/>
          </a:xfrm>
          <a:prstGeom prst="ellipse">
            <a:avLst/>
          </a:prstGeom>
          <a:solidFill>
            <a:srgbClr val="99E6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149840" y="6185916"/>
            <a:ext cx="164592" cy="164592"/>
          </a:xfrm>
          <a:prstGeom prst="ellipse">
            <a:avLst/>
          </a:prstGeom>
          <a:solidFill>
            <a:srgbClr val="1444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1919204" y="6089903"/>
            <a:ext cx="356616" cy="356616"/>
          </a:xfrm>
          <a:prstGeom prst="ellipse">
            <a:avLst/>
          </a:prstGeom>
          <a:solidFill>
            <a:srgbClr val="99E6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3784580" y="6089903"/>
            <a:ext cx="356616" cy="356616"/>
          </a:xfrm>
          <a:prstGeom prst="ellipse">
            <a:avLst/>
          </a:prstGeom>
          <a:solidFill>
            <a:srgbClr val="99E6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5745967" y="6185916"/>
            <a:ext cx="164592" cy="164592"/>
          </a:xfrm>
          <a:prstGeom prst="ellipse">
            <a:avLst/>
          </a:prstGeom>
          <a:solidFill>
            <a:srgbClr val="1444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28700" y="6775703"/>
            <a:ext cx="2743200" cy="411479"/>
          </a:xfrm>
          <a:prstGeom prst="rect">
            <a:avLst/>
          </a:prstGeom>
          <a:noFill/>
        </p:spPr>
        <p:txBody>
          <a:bodyPr wrap="none" lIns="0" rIns="0" tIns="0" bIns="0">
            <a:spAutoFit/>
          </a:bodyPr>
          <a:lstStyle/>
          <a:p>
            <a:pPr algn="l">
              <a:lnSpc>
                <a:spcPct val="115000"/>
              </a:lnSpc>
            </a:pPr>
            <a:r>
              <a:rPr sz="1725">
                <a:solidFill>
                  <a:srgbClr val="F2ECDD"/>
                </a:solidFill>
                <a:latin typeface="TT Commons Pro"/>
              </a:rPr>
              <a:t>food</a:t>
            </a:r>
          </a:p>
        </p:txBody>
      </p:sp>
      <p:sp>
        <p:nvSpPr>
          <p:cNvPr id="38" name="Oval 37"/>
          <p:cNvSpPr/>
          <p:nvPr/>
        </p:nvSpPr>
        <p:spPr>
          <a:xfrm>
            <a:off x="4457700" y="6775703"/>
            <a:ext cx="356616" cy="356616"/>
          </a:xfrm>
          <a:prstGeom prst="ellipse">
            <a:avLst/>
          </a:prstGeom>
          <a:solidFill>
            <a:srgbClr val="99E6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6323075" y="6775703"/>
            <a:ext cx="356616" cy="356616"/>
          </a:xfrm>
          <a:prstGeom prst="ellipse">
            <a:avLst/>
          </a:prstGeom>
          <a:solidFill>
            <a:srgbClr val="99E6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284464" y="6871716"/>
            <a:ext cx="164592" cy="164592"/>
          </a:xfrm>
          <a:prstGeom prst="ellipse">
            <a:avLst/>
          </a:prstGeom>
          <a:solidFill>
            <a:srgbClr val="1444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10053828" y="6775703"/>
            <a:ext cx="356616" cy="356616"/>
          </a:xfrm>
          <a:prstGeom prst="ellipse">
            <a:avLst/>
          </a:prstGeom>
          <a:solidFill>
            <a:srgbClr val="99E6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11919204" y="6775703"/>
            <a:ext cx="356616" cy="356616"/>
          </a:xfrm>
          <a:prstGeom prst="ellipse">
            <a:avLst/>
          </a:prstGeom>
          <a:solidFill>
            <a:srgbClr val="99E6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13880592" y="6871716"/>
            <a:ext cx="164592" cy="164592"/>
          </a:xfrm>
          <a:prstGeom prst="ellipse">
            <a:avLst/>
          </a:prstGeom>
          <a:solidFill>
            <a:srgbClr val="1444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5649956" y="6775703"/>
            <a:ext cx="356616" cy="356616"/>
          </a:xfrm>
          <a:prstGeom prst="ellipse">
            <a:avLst/>
          </a:prstGeom>
          <a:solidFill>
            <a:srgbClr val="99E6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28700" y="7461504"/>
            <a:ext cx="2743200" cy="411479"/>
          </a:xfrm>
          <a:prstGeom prst="rect">
            <a:avLst/>
          </a:prstGeom>
          <a:noFill/>
        </p:spPr>
        <p:txBody>
          <a:bodyPr wrap="none" lIns="0" rIns="0" tIns="0" bIns="0">
            <a:spAutoFit/>
          </a:bodyPr>
          <a:lstStyle/>
          <a:p>
            <a:pPr algn="l">
              <a:lnSpc>
                <a:spcPct val="115000"/>
              </a:lnSpc>
            </a:pPr>
            <a:r>
              <a:rPr sz="1725">
                <a:solidFill>
                  <a:srgbClr val="F2ECDD"/>
                </a:solidFill>
                <a:latin typeface="TT Commons Pro"/>
              </a:rPr>
              <a:t>space</a:t>
            </a:r>
          </a:p>
        </p:txBody>
      </p:sp>
      <p:sp>
        <p:nvSpPr>
          <p:cNvPr id="46" name="Oval 45"/>
          <p:cNvSpPr/>
          <p:nvPr/>
        </p:nvSpPr>
        <p:spPr>
          <a:xfrm>
            <a:off x="4457700" y="7461504"/>
            <a:ext cx="356616" cy="356616"/>
          </a:xfrm>
          <a:prstGeom prst="ellipse">
            <a:avLst/>
          </a:prstGeom>
          <a:solidFill>
            <a:srgbClr val="99E6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6419088" y="7557516"/>
            <a:ext cx="164592" cy="164592"/>
          </a:xfrm>
          <a:prstGeom prst="ellipse">
            <a:avLst/>
          </a:prstGeom>
          <a:solidFill>
            <a:srgbClr val="1444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8188452" y="7461504"/>
            <a:ext cx="356616" cy="356616"/>
          </a:xfrm>
          <a:prstGeom prst="ellipse">
            <a:avLst/>
          </a:prstGeom>
          <a:solidFill>
            <a:srgbClr val="99E6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0053828" y="7461504"/>
            <a:ext cx="356616" cy="356616"/>
          </a:xfrm>
          <a:prstGeom prst="ellipse">
            <a:avLst/>
          </a:prstGeom>
          <a:solidFill>
            <a:srgbClr val="99E6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12015216" y="7557516"/>
            <a:ext cx="164592" cy="164592"/>
          </a:xfrm>
          <a:prstGeom prst="ellipse">
            <a:avLst/>
          </a:prstGeom>
          <a:solidFill>
            <a:srgbClr val="1444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3784580" y="7461504"/>
            <a:ext cx="356616" cy="356616"/>
          </a:xfrm>
          <a:prstGeom prst="ellipse">
            <a:avLst/>
          </a:prstGeom>
          <a:solidFill>
            <a:srgbClr val="99E6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5649956" y="7461504"/>
            <a:ext cx="356616" cy="356616"/>
          </a:xfrm>
          <a:prstGeom prst="ellipse">
            <a:avLst/>
          </a:prstGeom>
          <a:solidFill>
            <a:srgbClr val="99E6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28700" y="8147304"/>
            <a:ext cx="2743200" cy="411479"/>
          </a:xfrm>
          <a:prstGeom prst="rect">
            <a:avLst/>
          </a:prstGeom>
          <a:noFill/>
        </p:spPr>
        <p:txBody>
          <a:bodyPr wrap="none" lIns="0" rIns="0" tIns="0" bIns="0">
            <a:spAutoFit/>
          </a:bodyPr>
          <a:lstStyle/>
          <a:p>
            <a:pPr algn="l">
              <a:lnSpc>
                <a:spcPct val="115000"/>
              </a:lnSpc>
            </a:pPr>
            <a:r>
              <a:rPr sz="1725">
                <a:solidFill>
                  <a:srgbClr val="F2ECDD"/>
                </a:solidFill>
                <a:latin typeface="TT Commons Pro"/>
              </a:rPr>
              <a:t>knowledge</a:t>
            </a:r>
          </a:p>
        </p:txBody>
      </p:sp>
      <p:sp>
        <p:nvSpPr>
          <p:cNvPr id="54" name="Oval 53"/>
          <p:cNvSpPr/>
          <p:nvPr/>
        </p:nvSpPr>
        <p:spPr>
          <a:xfrm>
            <a:off x="4553712" y="8243316"/>
            <a:ext cx="164592" cy="164592"/>
          </a:xfrm>
          <a:prstGeom prst="ellipse">
            <a:avLst/>
          </a:prstGeom>
          <a:solidFill>
            <a:srgbClr val="1444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6323075" y="8147304"/>
            <a:ext cx="356616" cy="356616"/>
          </a:xfrm>
          <a:prstGeom prst="ellipse">
            <a:avLst/>
          </a:prstGeom>
          <a:solidFill>
            <a:srgbClr val="99E6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8188452" y="8147304"/>
            <a:ext cx="356616" cy="356616"/>
          </a:xfrm>
          <a:prstGeom prst="ellipse">
            <a:avLst/>
          </a:prstGeom>
          <a:solidFill>
            <a:srgbClr val="99E6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0149840" y="8243316"/>
            <a:ext cx="164592" cy="164592"/>
          </a:xfrm>
          <a:prstGeom prst="ellipse">
            <a:avLst/>
          </a:prstGeom>
          <a:solidFill>
            <a:srgbClr val="1444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1919204" y="8147304"/>
            <a:ext cx="356616" cy="356616"/>
          </a:xfrm>
          <a:prstGeom prst="ellipse">
            <a:avLst/>
          </a:prstGeom>
          <a:solidFill>
            <a:srgbClr val="99E6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3784580" y="8147304"/>
            <a:ext cx="356616" cy="356616"/>
          </a:xfrm>
          <a:prstGeom prst="ellipse">
            <a:avLst/>
          </a:prstGeom>
          <a:solidFill>
            <a:srgbClr val="99E6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5745967" y="8243316"/>
            <a:ext cx="164592" cy="164592"/>
          </a:xfrm>
          <a:prstGeom prst="ellipse">
            <a:avLst/>
          </a:prstGeom>
          <a:solidFill>
            <a:srgbClr val="1444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28700" y="3593592"/>
            <a:ext cx="4114800" cy="411479"/>
          </a:xfrm>
          <a:prstGeom prst="rect">
            <a:avLst/>
          </a:prstGeom>
          <a:noFill/>
        </p:spPr>
        <p:txBody>
          <a:bodyPr wrap="none" lIns="0" rIns="0" tIns="0" bIns="0">
            <a:spAutoFit/>
          </a:bodyPr>
          <a:lstStyle/>
          <a:p>
            <a:pPr algn="l">
              <a:lnSpc>
                <a:spcPct val="115000"/>
              </a:lnSpc>
            </a:pPr>
            <a:r>
              <a:rPr sz="1425" spc="330">
                <a:solidFill>
                  <a:srgbClr val="EBCF9E"/>
                </a:solidFill>
                <a:latin typeface="Todes 1"/>
              </a:rPr>
              <a:t>WHAT PEOPLE HAVE</a:t>
            </a:r>
          </a:p>
        </p:txBody>
      </p:sp>
      <p:sp>
        <p:nvSpPr>
          <p:cNvPr id="62" name="TextBox 61"/>
          <p:cNvSpPr txBox="1"/>
          <p:nvPr/>
        </p:nvSpPr>
        <p:spPr>
          <a:xfrm>
            <a:off x="3977639" y="3593592"/>
            <a:ext cx="6858000" cy="411479"/>
          </a:xfrm>
          <a:prstGeom prst="rect">
            <a:avLst/>
          </a:prstGeom>
          <a:noFill/>
        </p:spPr>
        <p:txBody>
          <a:bodyPr wrap="none" lIns="0" rIns="0" tIns="0" bIns="0">
            <a:spAutoFit/>
          </a:bodyPr>
          <a:lstStyle/>
          <a:p>
            <a:pPr algn="l">
              <a:lnSpc>
                <a:spcPct val="115000"/>
              </a:lnSpc>
            </a:pPr>
            <a:r>
              <a:rPr sz="1425" spc="330">
                <a:solidFill>
                  <a:srgbClr val="9FE8DC"/>
                </a:solidFill>
                <a:latin typeface="Todes 1"/>
              </a:rPr>
              <a:t>HOW IT CAN MOVE</a:t>
            </a:r>
          </a:p>
        </p:txBody>
      </p:sp>
      <p:sp>
        <p:nvSpPr>
          <p:cNvPr id="63" name="TextBox 62"/>
          <p:cNvSpPr txBox="1"/>
          <p:nvPr/>
        </p:nvSpPr>
        <p:spPr>
          <a:xfrm>
            <a:off x="822959" y="8915400"/>
            <a:ext cx="16596359" cy="1097280"/>
          </a:xfrm>
          <a:prstGeom prst="rect">
            <a:avLst/>
          </a:prstGeom>
          <a:noFill/>
        </p:spPr>
        <p:txBody>
          <a:bodyPr wrap="square" lIns="0" rIns="0" tIns="0" bIns="0">
            <a:spAutoFit/>
          </a:bodyPr>
          <a:lstStyle/>
          <a:p>
            <a:pPr algn="ctr">
              <a:lnSpc>
                <a:spcPct val="140000"/>
              </a:lnSpc>
            </a:pPr>
            <a:r>
              <a:rPr sz="2025" spc="20">
                <a:solidFill>
                  <a:srgbClr val="EBCF9E"/>
                </a:solidFill>
                <a:latin typeface="Alike Italics"/>
              </a:rPr>
              <a:t>A community contains far more value than the dollars currently circulating through it. </a:t>
            </a:r>
            <a:r>
              <a:rPr sz="1950">
                <a:solidFill>
                  <a:srgbClr val="F4EAD8"/>
                </a:solidFill>
                <a:latin typeface="TT Commons Pro Bold"/>
              </a:rPr>
              <a:t>The aim is useful resource flow.</a:t>
            </a:r>
          </a:p>
        </p:txBody>
      </p:sp>
      <p:pic>
        <p:nvPicPr>
          <p:cNvPr id="64" name="Picture 63" descr="rivr-symbol-light.png"/>
          <p:cNvPicPr>
            <a:picLocks noChangeAspect="1"/>
          </p:cNvPicPr>
          <p:nvPr/>
        </p:nvPicPr>
        <p:blipFill>
          <a:blip r:embed="rId4"/>
          <a:stretch>
            <a:fillRect/>
          </a:stretch>
        </p:blipFill>
        <p:spPr>
          <a:xfrm>
            <a:off x="576072" y="9518904"/>
            <a:ext cx="521208" cy="521208"/>
          </a:xfrm>
          <a:prstGeom prst="rect">
            <a:avLst/>
          </a:prstGeom>
        </p:spPr>
      </p:pic>
      <p:sp>
        <p:nvSpPr>
          <p:cNvPr id="65" name="TextBox 64"/>
          <p:cNvSpPr txBox="1"/>
          <p:nvPr/>
        </p:nvSpPr>
        <p:spPr>
          <a:xfrm>
            <a:off x="1371600" y="9724644"/>
            <a:ext cx="5486400" cy="301752"/>
          </a:xfrm>
          <a:prstGeom prst="rect">
            <a:avLst/>
          </a:prstGeom>
          <a:noFill/>
        </p:spPr>
        <p:txBody>
          <a:bodyPr wrap="none" lIns="0" rIns="0" tIns="0" bIns="0">
            <a:spAutoFit/>
          </a:bodyPr>
          <a:lstStyle/>
          <a:p>
            <a:pPr algn="l">
              <a:lnSpc>
                <a:spcPct val="115000"/>
              </a:lnSpc>
            </a:pPr>
            <a:r>
              <a:rPr sz="1350" spc="150">
                <a:solidFill>
                  <a:srgbClr val="AFC4C2"/>
                </a:solidFill>
                <a:latin typeface="TT Commons Pro"/>
              </a:rPr>
              <a:t>Rivr · Seed Round 2026</a:t>
            </a:r>
          </a:p>
        </p:txBody>
      </p:sp>
      <p:sp>
        <p:nvSpPr>
          <p:cNvPr id="66" name="TextBox 65"/>
          <p:cNvSpPr txBox="1"/>
          <p:nvPr/>
        </p:nvSpPr>
        <p:spPr>
          <a:xfrm>
            <a:off x="16870680" y="9724644"/>
            <a:ext cx="960119" cy="301752"/>
          </a:xfrm>
          <a:prstGeom prst="rect">
            <a:avLst/>
          </a:prstGeom>
          <a:noFill/>
        </p:spPr>
        <p:txBody>
          <a:bodyPr wrap="none" lIns="0" rIns="0" tIns="0" bIns="0">
            <a:spAutoFit/>
          </a:bodyPr>
          <a:lstStyle/>
          <a:p>
            <a:pPr algn="r">
              <a:lnSpc>
                <a:spcPct val="115000"/>
              </a:lnSpc>
            </a:pPr>
            <a:r>
              <a:rPr sz="1350" spc="150">
                <a:solidFill>
                  <a:srgbClr val="AFC4C2"/>
                </a:solidFill>
                <a:latin typeface="TT Commons Pro"/>
              </a:rPr>
              <a:t>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03333"/>
        </a:solidFill>
        <a:effectLst/>
      </p:bgPr>
    </p:bg>
    <p:spTree>
      <p:nvGrpSpPr>
        <p:cNvPr id="1" name=""/>
        <p:cNvGrpSpPr/>
        <p:nvPr/>
      </p:nvGrpSpPr>
      <p:grpSpPr/>
      <p:pic>
        <p:nvPicPr>
          <p:cNvPr id="2" name="Picture 1" descr="bg_c17.jpg"/>
          <p:cNvPicPr>
            <a:picLocks noChangeAspect="1"/>
          </p:cNvPicPr>
          <p:nvPr/>
        </p:nvPicPr>
        <p:blipFill>
          <a:blip r:embed="rId2"/>
          <a:stretch>
            <a:fillRect/>
          </a:stretch>
        </p:blipFill>
        <p:spPr>
          <a:xfrm>
            <a:off x="0" y="0"/>
            <a:ext cx="18287542" cy="10287000"/>
          </a:xfrm>
          <a:prstGeom prst="rect">
            <a:avLst/>
          </a:prstGeom>
        </p:spPr>
      </p:pic>
      <p:sp>
        <p:nvSpPr>
          <p:cNvPr id="3" name="TextBox 2"/>
          <p:cNvSpPr txBox="1"/>
          <p:nvPr/>
        </p:nvSpPr>
        <p:spPr>
          <a:xfrm>
            <a:off x="822959" y="822959"/>
            <a:ext cx="16733519" cy="384048"/>
          </a:xfrm>
          <a:prstGeom prst="rect">
            <a:avLst/>
          </a:prstGeom>
          <a:noFill/>
        </p:spPr>
        <p:txBody>
          <a:bodyPr wrap="none" lIns="0" rIns="0" tIns="0" bIns="0">
            <a:spAutoFit/>
          </a:bodyPr>
          <a:lstStyle/>
          <a:p>
            <a:pPr algn="l">
              <a:lnSpc>
                <a:spcPct val="115000"/>
              </a:lnSpc>
            </a:pPr>
            <a:r>
              <a:rPr sz="1650" spc="330">
                <a:solidFill>
                  <a:srgbClr val="9FE8DC"/>
                </a:solidFill>
                <a:latin typeface="Todes 1"/>
              </a:rPr>
              <a:t>ECONOMIC SOVEREIGNTY</a:t>
            </a:r>
          </a:p>
        </p:txBody>
      </p:sp>
      <p:sp>
        <p:nvSpPr>
          <p:cNvPr id="4" name="TextBox 3"/>
          <p:cNvSpPr txBox="1"/>
          <p:nvPr/>
        </p:nvSpPr>
        <p:spPr>
          <a:xfrm>
            <a:off x="822959" y="1699869"/>
            <a:ext cx="14293215" cy="977836"/>
          </a:xfrm>
          <a:prstGeom prst="rect">
            <a:avLst/>
          </a:prstGeom>
          <a:noFill/>
        </p:spPr>
        <p:txBody>
          <a:bodyPr wrap="none" lIns="0" rIns="0" tIns="0" bIns="0">
            <a:spAutoFit/>
          </a:bodyPr>
          <a:lstStyle/>
          <a:p>
            <a:pPr algn="l">
              <a:lnSpc>
                <a:spcPct val="115000"/>
              </a:lnSpc>
            </a:pPr>
            <a:r>
              <a:rPr sz="5309" spc="-72">
                <a:solidFill>
                  <a:srgbClr val="F4EAD8"/>
                </a:solidFill>
                <a:latin typeface="Todes 1"/>
              </a:rPr>
              <a:t>A lack of cash should not mean </a:t>
            </a:r>
          </a:p>
        </p:txBody>
      </p:sp>
      <p:sp>
        <p:nvSpPr>
          <p:cNvPr id="5" name="TextBox 4"/>
          <p:cNvSpPr txBox="1"/>
          <p:nvPr/>
        </p:nvSpPr>
        <p:spPr>
          <a:xfrm>
            <a:off x="12092940" y="1645919"/>
            <a:ext cx="6682740" cy="1075620"/>
          </a:xfrm>
          <a:prstGeom prst="rect">
            <a:avLst/>
          </a:prstGeom>
          <a:noFill/>
        </p:spPr>
        <p:txBody>
          <a:bodyPr wrap="none" lIns="0" rIns="0" tIns="0" bIns="0">
            <a:spAutoFit/>
          </a:bodyPr>
          <a:lstStyle/>
          <a:p>
            <a:pPr algn="l">
              <a:lnSpc>
                <a:spcPct val="115000"/>
              </a:lnSpc>
            </a:pPr>
            <a:r>
              <a:rPr sz="5841" spc="-75">
                <a:solidFill>
                  <a:srgbClr val="99E6D9"/>
                </a:solidFill>
                <a:latin typeface="Ibarra Real Nova Italics"/>
              </a:rPr>
              <a:t>a lack of capacity.</a:t>
            </a:r>
          </a:p>
        </p:txBody>
      </p:sp>
      <p:sp>
        <p:nvSpPr>
          <p:cNvPr id="6" name="TextBox 5"/>
          <p:cNvSpPr txBox="1"/>
          <p:nvPr/>
        </p:nvSpPr>
        <p:spPr>
          <a:xfrm>
            <a:off x="822959" y="3703320"/>
            <a:ext cx="7680959" cy="411479"/>
          </a:xfrm>
          <a:prstGeom prst="rect">
            <a:avLst/>
          </a:prstGeom>
          <a:noFill/>
        </p:spPr>
        <p:txBody>
          <a:bodyPr wrap="none" lIns="0" rIns="0" tIns="0" bIns="0">
            <a:spAutoFit/>
          </a:bodyPr>
          <a:lstStyle/>
          <a:p>
            <a:pPr algn="l">
              <a:lnSpc>
                <a:spcPct val="115000"/>
              </a:lnSpc>
            </a:pPr>
            <a:r>
              <a:rPr sz="1500" spc="330">
                <a:solidFill>
                  <a:srgbClr val="D3B7A5"/>
                </a:solidFill>
                <a:latin typeface="Todes 1"/>
              </a:rPr>
              <a:t>CASH-ONLY — ONE DOOR</a:t>
            </a:r>
          </a:p>
        </p:txBody>
      </p:sp>
      <p:sp>
        <p:nvSpPr>
          <p:cNvPr id="7" name="Rounded Rectangle 6"/>
          <p:cNvSpPr/>
          <p:nvPr/>
        </p:nvSpPr>
        <p:spPr>
          <a:xfrm>
            <a:off x="822959" y="4251960"/>
            <a:ext cx="8092440" cy="1440180"/>
          </a:xfrm>
          <a:prstGeom prst="roundRect">
            <a:avLst>
              <a:gd name="adj" fmla="val 6000"/>
            </a:avLst>
          </a:prstGeom>
          <a:solidFill>
            <a:srgbClr val="084B4D"/>
          </a:solidFill>
          <a:ln w="17145">
            <a:solidFill>
              <a:srgbClr val="D3B7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34440" y="4690872"/>
            <a:ext cx="7269479" cy="548640"/>
          </a:xfrm>
          <a:prstGeom prst="rect">
            <a:avLst/>
          </a:prstGeom>
          <a:noFill/>
        </p:spPr>
        <p:txBody>
          <a:bodyPr wrap="square" lIns="0" rIns="0" tIns="0" bIns="0">
            <a:spAutoFit/>
          </a:bodyPr>
          <a:lstStyle/>
          <a:p>
            <a:pPr algn="l">
              <a:lnSpc>
                <a:spcPct val="115000"/>
              </a:lnSpc>
            </a:pPr>
            <a:r>
              <a:rPr sz="1950">
                <a:solidFill>
                  <a:srgbClr val="D3B7A5"/>
                </a:solidFill>
                <a:latin typeface="TT Commons Pro"/>
              </a:rPr>
              <a:t>no dollars  →  no participation</a:t>
            </a:r>
          </a:p>
        </p:txBody>
      </p:sp>
      <p:sp>
        <p:nvSpPr>
          <p:cNvPr id="9" name="TextBox 8"/>
          <p:cNvSpPr txBox="1"/>
          <p:nvPr/>
        </p:nvSpPr>
        <p:spPr>
          <a:xfrm>
            <a:off x="9395459" y="3703320"/>
            <a:ext cx="7680959" cy="411479"/>
          </a:xfrm>
          <a:prstGeom prst="rect">
            <a:avLst/>
          </a:prstGeom>
          <a:noFill/>
        </p:spPr>
        <p:txBody>
          <a:bodyPr wrap="none" lIns="0" rIns="0" tIns="0" bIns="0">
            <a:spAutoFit/>
          </a:bodyPr>
          <a:lstStyle/>
          <a:p>
            <a:pPr algn="l">
              <a:lnSpc>
                <a:spcPct val="115000"/>
              </a:lnSpc>
            </a:pPr>
            <a:r>
              <a:rPr sz="1500" spc="330">
                <a:solidFill>
                  <a:srgbClr val="EBCF9E"/>
                </a:solidFill>
                <a:latin typeface="Todes 1"/>
              </a:rPr>
              <a:t>PLURAL — MANY DOORS</a:t>
            </a:r>
          </a:p>
        </p:txBody>
      </p:sp>
      <p:sp>
        <p:nvSpPr>
          <p:cNvPr id="10" name="Rounded Rectangle 9"/>
          <p:cNvSpPr/>
          <p:nvPr/>
        </p:nvSpPr>
        <p:spPr>
          <a:xfrm>
            <a:off x="9395459" y="4251960"/>
            <a:ext cx="1440180" cy="1440180"/>
          </a:xfrm>
          <a:prstGeom prst="roundRect">
            <a:avLst>
              <a:gd name="adj" fmla="val 16000"/>
            </a:avLst>
          </a:prstGeom>
          <a:solidFill>
            <a:srgbClr val="0D3E40"/>
          </a:solidFill>
          <a:ln w="16192">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money.png"/>
          <p:cNvPicPr>
            <a:picLocks noChangeAspect="1"/>
          </p:cNvPicPr>
          <p:nvPr/>
        </p:nvPicPr>
        <p:blipFill>
          <a:blip r:embed="rId4"/>
          <a:stretch>
            <a:fillRect/>
          </a:stretch>
        </p:blipFill>
        <p:spPr>
          <a:xfrm>
            <a:off x="9916667" y="4539996"/>
            <a:ext cx="384048" cy="384048"/>
          </a:xfrm>
          <a:prstGeom prst="rect">
            <a:avLst/>
          </a:prstGeom>
        </p:spPr>
      </p:pic>
      <p:sp>
        <p:nvSpPr>
          <p:cNvPr id="12" name="TextBox 11"/>
          <p:cNvSpPr txBox="1"/>
          <p:nvPr/>
        </p:nvSpPr>
        <p:spPr>
          <a:xfrm>
            <a:off x="9395459" y="5143500"/>
            <a:ext cx="1440180" cy="411479"/>
          </a:xfrm>
          <a:prstGeom prst="rect">
            <a:avLst/>
          </a:prstGeom>
          <a:noFill/>
        </p:spPr>
        <p:txBody>
          <a:bodyPr wrap="square" lIns="0" rIns="0" tIns="0" bIns="0">
            <a:spAutoFit/>
          </a:bodyPr>
          <a:lstStyle/>
          <a:p>
            <a:pPr algn="ctr">
              <a:lnSpc>
                <a:spcPct val="115000"/>
              </a:lnSpc>
            </a:pPr>
            <a:r>
              <a:rPr sz="1350" spc="150">
                <a:solidFill>
                  <a:srgbClr val="F2ECDD"/>
                </a:solidFill>
                <a:latin typeface="TT Commons Pro"/>
              </a:rPr>
              <a:t>dollars</a:t>
            </a:r>
          </a:p>
        </p:txBody>
      </p:sp>
      <p:sp>
        <p:nvSpPr>
          <p:cNvPr id="13" name="Rounded Rectangle 12"/>
          <p:cNvSpPr/>
          <p:nvPr/>
        </p:nvSpPr>
        <p:spPr>
          <a:xfrm>
            <a:off x="11041380" y="4251960"/>
            <a:ext cx="1440180" cy="1440180"/>
          </a:xfrm>
          <a:prstGeom prst="roundRect">
            <a:avLst>
              <a:gd name="adj" fmla="val 16000"/>
            </a:avLst>
          </a:prstGeom>
          <a:solidFill>
            <a:srgbClr val="0D3E40"/>
          </a:solidFill>
          <a:ln w="16192">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time.png"/>
          <p:cNvPicPr>
            <a:picLocks noChangeAspect="1"/>
          </p:cNvPicPr>
          <p:nvPr/>
        </p:nvPicPr>
        <p:blipFill>
          <a:blip r:embed="rId5"/>
          <a:stretch>
            <a:fillRect/>
          </a:stretch>
        </p:blipFill>
        <p:spPr>
          <a:xfrm>
            <a:off x="11562587" y="4539996"/>
            <a:ext cx="384048" cy="384048"/>
          </a:xfrm>
          <a:prstGeom prst="rect">
            <a:avLst/>
          </a:prstGeom>
        </p:spPr>
      </p:pic>
      <p:sp>
        <p:nvSpPr>
          <p:cNvPr id="15" name="TextBox 14"/>
          <p:cNvSpPr txBox="1"/>
          <p:nvPr/>
        </p:nvSpPr>
        <p:spPr>
          <a:xfrm>
            <a:off x="11041380" y="5143500"/>
            <a:ext cx="1440180" cy="411479"/>
          </a:xfrm>
          <a:prstGeom prst="rect">
            <a:avLst/>
          </a:prstGeom>
          <a:noFill/>
        </p:spPr>
        <p:txBody>
          <a:bodyPr wrap="square" lIns="0" rIns="0" tIns="0" bIns="0">
            <a:spAutoFit/>
          </a:bodyPr>
          <a:lstStyle/>
          <a:p>
            <a:pPr algn="ctr">
              <a:lnSpc>
                <a:spcPct val="115000"/>
              </a:lnSpc>
            </a:pPr>
            <a:r>
              <a:rPr sz="1350" spc="150">
                <a:solidFill>
                  <a:srgbClr val="F2ECDD"/>
                </a:solidFill>
                <a:latin typeface="TT Commons Pro"/>
              </a:rPr>
              <a:t>time</a:t>
            </a:r>
          </a:p>
        </p:txBody>
      </p:sp>
      <p:sp>
        <p:nvSpPr>
          <p:cNvPr id="16" name="Rounded Rectangle 15"/>
          <p:cNvSpPr/>
          <p:nvPr/>
        </p:nvSpPr>
        <p:spPr>
          <a:xfrm>
            <a:off x="12687300" y="4251960"/>
            <a:ext cx="1440180" cy="1440180"/>
          </a:xfrm>
          <a:prstGeom prst="roundRect">
            <a:avLst>
              <a:gd name="adj" fmla="val 16000"/>
            </a:avLst>
          </a:prstGeom>
          <a:solidFill>
            <a:srgbClr val="0D3E40"/>
          </a:solidFill>
          <a:ln w="16192">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tool.png"/>
          <p:cNvPicPr>
            <a:picLocks noChangeAspect="1"/>
          </p:cNvPicPr>
          <p:nvPr/>
        </p:nvPicPr>
        <p:blipFill>
          <a:blip r:embed="rId6"/>
          <a:stretch>
            <a:fillRect/>
          </a:stretch>
        </p:blipFill>
        <p:spPr>
          <a:xfrm>
            <a:off x="13208507" y="4539996"/>
            <a:ext cx="384048" cy="384048"/>
          </a:xfrm>
          <a:prstGeom prst="rect">
            <a:avLst/>
          </a:prstGeom>
        </p:spPr>
      </p:pic>
      <p:sp>
        <p:nvSpPr>
          <p:cNvPr id="18" name="TextBox 17"/>
          <p:cNvSpPr txBox="1"/>
          <p:nvPr/>
        </p:nvSpPr>
        <p:spPr>
          <a:xfrm>
            <a:off x="12687300" y="5143500"/>
            <a:ext cx="1440180" cy="411479"/>
          </a:xfrm>
          <a:prstGeom prst="rect">
            <a:avLst/>
          </a:prstGeom>
          <a:noFill/>
        </p:spPr>
        <p:txBody>
          <a:bodyPr wrap="square" lIns="0" rIns="0" tIns="0" bIns="0">
            <a:spAutoFit/>
          </a:bodyPr>
          <a:lstStyle/>
          <a:p>
            <a:pPr algn="ctr">
              <a:lnSpc>
                <a:spcPct val="115000"/>
              </a:lnSpc>
            </a:pPr>
            <a:r>
              <a:rPr sz="1350" spc="150">
                <a:solidFill>
                  <a:srgbClr val="F2ECDD"/>
                </a:solidFill>
                <a:latin typeface="TT Commons Pro"/>
              </a:rPr>
              <a:t>skill</a:t>
            </a:r>
          </a:p>
        </p:txBody>
      </p:sp>
      <p:sp>
        <p:nvSpPr>
          <p:cNvPr id="19" name="Rounded Rectangle 18"/>
          <p:cNvSpPr/>
          <p:nvPr/>
        </p:nvSpPr>
        <p:spPr>
          <a:xfrm>
            <a:off x="14333219" y="4251960"/>
            <a:ext cx="1440180" cy="1440180"/>
          </a:xfrm>
          <a:prstGeom prst="roundRect">
            <a:avLst>
              <a:gd name="adj" fmla="val 16000"/>
            </a:avLst>
          </a:prstGeom>
          <a:solidFill>
            <a:srgbClr val="0D3E40"/>
          </a:solidFill>
          <a:ln w="16192">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work.png"/>
          <p:cNvPicPr>
            <a:picLocks noChangeAspect="1"/>
          </p:cNvPicPr>
          <p:nvPr/>
        </p:nvPicPr>
        <p:blipFill>
          <a:blip r:embed="rId7"/>
          <a:stretch>
            <a:fillRect/>
          </a:stretch>
        </p:blipFill>
        <p:spPr>
          <a:xfrm>
            <a:off x="14854427" y="4539996"/>
            <a:ext cx="384048" cy="384048"/>
          </a:xfrm>
          <a:prstGeom prst="rect">
            <a:avLst/>
          </a:prstGeom>
        </p:spPr>
      </p:pic>
      <p:sp>
        <p:nvSpPr>
          <p:cNvPr id="21" name="TextBox 20"/>
          <p:cNvSpPr txBox="1"/>
          <p:nvPr/>
        </p:nvSpPr>
        <p:spPr>
          <a:xfrm>
            <a:off x="14333219" y="5143500"/>
            <a:ext cx="1440180" cy="411479"/>
          </a:xfrm>
          <a:prstGeom prst="rect">
            <a:avLst/>
          </a:prstGeom>
          <a:noFill/>
        </p:spPr>
        <p:txBody>
          <a:bodyPr wrap="square" lIns="0" rIns="0" tIns="0" bIns="0">
            <a:spAutoFit/>
          </a:bodyPr>
          <a:lstStyle/>
          <a:p>
            <a:pPr algn="ctr">
              <a:lnSpc>
                <a:spcPct val="115000"/>
              </a:lnSpc>
            </a:pPr>
            <a:r>
              <a:rPr sz="1350" spc="150">
                <a:solidFill>
                  <a:srgbClr val="F2ECDD"/>
                </a:solidFill>
                <a:latin typeface="TT Commons Pro"/>
              </a:rPr>
              <a:t>labor</a:t>
            </a:r>
          </a:p>
        </p:txBody>
      </p:sp>
      <p:sp>
        <p:nvSpPr>
          <p:cNvPr id="22" name="Rounded Rectangle 21"/>
          <p:cNvSpPr/>
          <p:nvPr/>
        </p:nvSpPr>
        <p:spPr>
          <a:xfrm>
            <a:off x="15979139" y="4251960"/>
            <a:ext cx="1440180" cy="1440180"/>
          </a:xfrm>
          <a:prstGeom prst="roundRect">
            <a:avLst>
              <a:gd name="adj" fmla="val 16000"/>
            </a:avLst>
          </a:prstGeom>
          <a:solidFill>
            <a:srgbClr val="0D3E40"/>
          </a:solidFill>
          <a:ln w="16192">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doc.png"/>
          <p:cNvPicPr>
            <a:picLocks noChangeAspect="1"/>
          </p:cNvPicPr>
          <p:nvPr/>
        </p:nvPicPr>
        <p:blipFill>
          <a:blip r:embed="rId8"/>
          <a:stretch>
            <a:fillRect/>
          </a:stretch>
        </p:blipFill>
        <p:spPr>
          <a:xfrm>
            <a:off x="16500347" y="4539996"/>
            <a:ext cx="384048" cy="384048"/>
          </a:xfrm>
          <a:prstGeom prst="rect">
            <a:avLst/>
          </a:prstGeom>
        </p:spPr>
      </p:pic>
      <p:sp>
        <p:nvSpPr>
          <p:cNvPr id="24" name="TextBox 23"/>
          <p:cNvSpPr txBox="1"/>
          <p:nvPr/>
        </p:nvSpPr>
        <p:spPr>
          <a:xfrm>
            <a:off x="15979139" y="5143500"/>
            <a:ext cx="1440180" cy="411479"/>
          </a:xfrm>
          <a:prstGeom prst="rect">
            <a:avLst/>
          </a:prstGeom>
          <a:noFill/>
        </p:spPr>
        <p:txBody>
          <a:bodyPr wrap="square" lIns="0" rIns="0" tIns="0" bIns="0">
            <a:spAutoFit/>
          </a:bodyPr>
          <a:lstStyle/>
          <a:p>
            <a:pPr algn="ctr">
              <a:lnSpc>
                <a:spcPct val="115000"/>
              </a:lnSpc>
            </a:pPr>
            <a:r>
              <a:rPr sz="1350" spc="150">
                <a:solidFill>
                  <a:srgbClr val="F2ECDD"/>
                </a:solidFill>
                <a:latin typeface="TT Commons Pro"/>
              </a:rPr>
              <a:t>knowledge</a:t>
            </a:r>
          </a:p>
        </p:txBody>
      </p:sp>
      <p:sp>
        <p:nvSpPr>
          <p:cNvPr id="25" name="TextBox 24"/>
          <p:cNvSpPr txBox="1"/>
          <p:nvPr/>
        </p:nvSpPr>
        <p:spPr>
          <a:xfrm>
            <a:off x="822959" y="6240779"/>
            <a:ext cx="16596359" cy="1645920"/>
          </a:xfrm>
          <a:prstGeom prst="rect">
            <a:avLst/>
          </a:prstGeom>
          <a:noFill/>
        </p:spPr>
        <p:txBody>
          <a:bodyPr wrap="square" lIns="0" rIns="0" tIns="0" bIns="0">
            <a:spAutoFit/>
          </a:bodyPr>
          <a:lstStyle/>
          <a:p>
            <a:pPr algn="l">
              <a:lnSpc>
                <a:spcPct val="155000"/>
              </a:lnSpc>
            </a:pPr>
            <a:r>
              <a:rPr sz="1875" spc="40">
                <a:solidFill>
                  <a:srgbClr val="F2ECDD"/>
                </a:solidFill>
                <a:latin typeface="Todes 1"/>
              </a:rPr>
              <a:t>Economic sovereignty does not mean abandoning existing money.</a:t>
            </a:r>
          </a:p>
          <a:p>
            <a:pPr algn="l">
              <a:lnSpc>
                <a:spcPct val="155000"/>
              </a:lnSpc>
            </a:pPr>
            <a:r>
              <a:rPr sz="1875" spc="40">
                <a:solidFill>
                  <a:srgbClr val="F2ECDD"/>
                </a:solidFill>
                <a:latin typeface="Todes 1"/>
              </a:rPr>
              <a:t>It means having </a:t>
            </a:r>
            <a:r>
              <a:rPr sz="1875" spc="40">
                <a:solidFill>
                  <a:srgbClr val="EBCF9E"/>
                </a:solidFill>
                <a:latin typeface="Todes 1"/>
              </a:rPr>
              <a:t>more than one way to participate.</a:t>
            </a:r>
          </a:p>
          <a:p>
            <a:pPr algn="l">
              <a:lnSpc>
                <a:spcPct val="155000"/>
              </a:lnSpc>
            </a:pPr>
            <a:r>
              <a:rPr sz="1875" spc="40">
                <a:solidFill>
                  <a:srgbClr val="F2ECDD"/>
                </a:solidFill>
                <a:latin typeface="Todes 1"/>
              </a:rPr>
              <a:t>If someone lacks dollars but has time, skill, knowledge, or labor — useful activity does not have to stop.</a:t>
            </a:r>
          </a:p>
        </p:txBody>
      </p:sp>
      <p:sp>
        <p:nvSpPr>
          <p:cNvPr id="26" name="TextBox 25"/>
          <p:cNvSpPr txBox="1"/>
          <p:nvPr/>
        </p:nvSpPr>
        <p:spPr>
          <a:xfrm>
            <a:off x="822959" y="8503920"/>
            <a:ext cx="16596359" cy="1097280"/>
          </a:xfrm>
          <a:prstGeom prst="rect">
            <a:avLst/>
          </a:prstGeom>
          <a:noFill/>
        </p:spPr>
        <p:txBody>
          <a:bodyPr wrap="square" lIns="0" rIns="0" tIns="0" bIns="0">
            <a:spAutoFit/>
          </a:bodyPr>
          <a:lstStyle/>
          <a:p>
            <a:pPr algn="ctr">
              <a:lnSpc>
                <a:spcPct val="140000"/>
              </a:lnSpc>
            </a:pPr>
            <a:r>
              <a:rPr sz="2100" spc="20">
                <a:solidFill>
                  <a:srgbClr val="9FE8DC"/>
                </a:solidFill>
                <a:latin typeface="Alike Italics"/>
              </a:rPr>
              <a:t>A community becomes more resilient when useful exchange can continue</a:t>
            </a:r>
          </a:p>
          <a:p>
            <a:pPr algn="ctr">
              <a:lnSpc>
                <a:spcPct val="140000"/>
              </a:lnSpc>
            </a:pPr>
            <a:r>
              <a:rPr sz="2100" spc="20">
                <a:solidFill>
                  <a:srgbClr val="9FE8DC"/>
                </a:solidFill>
                <a:latin typeface="Alike Italics"/>
              </a:rPr>
              <a:t>through multiple mutually agreed forms.</a:t>
            </a:r>
          </a:p>
        </p:txBody>
      </p:sp>
      <p:pic>
        <p:nvPicPr>
          <p:cNvPr id="27" name="Picture 26" descr="rivr-symbol-light.png"/>
          <p:cNvPicPr>
            <a:picLocks noChangeAspect="1"/>
          </p:cNvPicPr>
          <p:nvPr/>
        </p:nvPicPr>
        <p:blipFill>
          <a:blip r:embed="rId9"/>
          <a:stretch>
            <a:fillRect/>
          </a:stretch>
        </p:blipFill>
        <p:spPr>
          <a:xfrm>
            <a:off x="576072" y="9518904"/>
            <a:ext cx="521208" cy="521208"/>
          </a:xfrm>
          <a:prstGeom prst="rect">
            <a:avLst/>
          </a:prstGeom>
        </p:spPr>
      </p:pic>
      <p:sp>
        <p:nvSpPr>
          <p:cNvPr id="28" name="TextBox 27"/>
          <p:cNvSpPr txBox="1"/>
          <p:nvPr/>
        </p:nvSpPr>
        <p:spPr>
          <a:xfrm>
            <a:off x="1371600" y="9724644"/>
            <a:ext cx="5486400" cy="301752"/>
          </a:xfrm>
          <a:prstGeom prst="rect">
            <a:avLst/>
          </a:prstGeom>
          <a:noFill/>
        </p:spPr>
        <p:txBody>
          <a:bodyPr wrap="none" lIns="0" rIns="0" tIns="0" bIns="0">
            <a:spAutoFit/>
          </a:bodyPr>
          <a:lstStyle/>
          <a:p>
            <a:pPr algn="l">
              <a:lnSpc>
                <a:spcPct val="115000"/>
              </a:lnSpc>
            </a:pPr>
            <a:r>
              <a:rPr sz="1350" spc="150">
                <a:solidFill>
                  <a:srgbClr val="AFC4C2"/>
                </a:solidFill>
                <a:latin typeface="TT Commons Pro"/>
              </a:rPr>
              <a:t>Rivr · Seed Round 2026</a:t>
            </a:r>
          </a:p>
        </p:txBody>
      </p:sp>
      <p:sp>
        <p:nvSpPr>
          <p:cNvPr id="29" name="TextBox 28"/>
          <p:cNvSpPr txBox="1"/>
          <p:nvPr/>
        </p:nvSpPr>
        <p:spPr>
          <a:xfrm>
            <a:off x="16870680" y="9724644"/>
            <a:ext cx="960119" cy="301752"/>
          </a:xfrm>
          <a:prstGeom prst="rect">
            <a:avLst/>
          </a:prstGeom>
          <a:noFill/>
        </p:spPr>
        <p:txBody>
          <a:bodyPr wrap="none" lIns="0" rIns="0" tIns="0" bIns="0">
            <a:spAutoFit/>
          </a:bodyPr>
          <a:lstStyle/>
          <a:p>
            <a:pPr algn="r">
              <a:lnSpc>
                <a:spcPct val="115000"/>
              </a:lnSpc>
            </a:pPr>
            <a:r>
              <a:rPr sz="1350" spc="150">
                <a:solidFill>
                  <a:srgbClr val="AFC4C2"/>
                </a:solidFill>
                <a:latin typeface="TT Commons Pro"/>
              </a:rPr>
              <a:t>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03333"/>
        </a:solidFill>
        <a:effectLst/>
      </p:bgPr>
    </p:bg>
    <p:spTree>
      <p:nvGrpSpPr>
        <p:cNvPr id="1" name=""/>
        <p:cNvGrpSpPr/>
        <p:nvPr/>
      </p:nvGrpSpPr>
      <p:grpSpPr/>
      <p:pic>
        <p:nvPicPr>
          <p:cNvPr id="2" name="Picture 1" descr="bg_c18.jpg"/>
          <p:cNvPicPr>
            <a:picLocks noChangeAspect="1"/>
          </p:cNvPicPr>
          <p:nvPr/>
        </p:nvPicPr>
        <p:blipFill>
          <a:blip r:embed="rId2"/>
          <a:stretch>
            <a:fillRect/>
          </a:stretch>
        </p:blipFill>
        <p:spPr>
          <a:xfrm>
            <a:off x="0" y="0"/>
            <a:ext cx="18287542" cy="10287000"/>
          </a:xfrm>
          <a:prstGeom prst="rect">
            <a:avLst/>
          </a:prstGeom>
        </p:spPr>
      </p:pic>
      <p:sp>
        <p:nvSpPr>
          <p:cNvPr id="3" name="TextBox 2"/>
          <p:cNvSpPr txBox="1"/>
          <p:nvPr/>
        </p:nvSpPr>
        <p:spPr>
          <a:xfrm>
            <a:off x="822959" y="822959"/>
            <a:ext cx="16733519" cy="384048"/>
          </a:xfrm>
          <a:prstGeom prst="rect">
            <a:avLst/>
          </a:prstGeom>
          <a:noFill/>
        </p:spPr>
        <p:txBody>
          <a:bodyPr wrap="none" lIns="0" rIns="0" tIns="0" bIns="0">
            <a:spAutoFit/>
          </a:bodyPr>
          <a:lstStyle/>
          <a:p>
            <a:pPr algn="l">
              <a:lnSpc>
                <a:spcPct val="115000"/>
              </a:lnSpc>
            </a:pPr>
            <a:r>
              <a:rPr sz="1650" spc="330">
                <a:solidFill>
                  <a:srgbClr val="9FE8DC"/>
                </a:solidFill>
                <a:latin typeface="Todes 1"/>
              </a:rPr>
              <a:t>LOCAL CAPACITY LOOP</a:t>
            </a:r>
          </a:p>
        </p:txBody>
      </p:sp>
      <p:sp>
        <p:nvSpPr>
          <p:cNvPr id="4" name="TextBox 3"/>
          <p:cNvSpPr txBox="1"/>
          <p:nvPr/>
        </p:nvSpPr>
        <p:spPr>
          <a:xfrm>
            <a:off x="822959" y="1699869"/>
            <a:ext cx="12608956" cy="945241"/>
          </a:xfrm>
          <a:prstGeom prst="rect">
            <a:avLst/>
          </a:prstGeom>
          <a:noFill/>
        </p:spPr>
        <p:txBody>
          <a:bodyPr wrap="none" lIns="0" rIns="0" tIns="0" bIns="0">
            <a:spAutoFit/>
          </a:bodyPr>
          <a:lstStyle/>
          <a:p>
            <a:pPr algn="l">
              <a:lnSpc>
                <a:spcPct val="115000"/>
              </a:lnSpc>
            </a:pPr>
            <a:r>
              <a:rPr sz="5133" spc="-69">
                <a:solidFill>
                  <a:srgbClr val="F4EAD8"/>
                </a:solidFill>
                <a:latin typeface="Todes 1"/>
              </a:rPr>
              <a:t>Better resource flow creates </a:t>
            </a:r>
          </a:p>
        </p:txBody>
      </p:sp>
      <p:sp>
        <p:nvSpPr>
          <p:cNvPr id="5" name="TextBox 4"/>
          <p:cNvSpPr txBox="1"/>
          <p:nvPr/>
        </p:nvSpPr>
        <p:spPr>
          <a:xfrm>
            <a:off x="10745533" y="1645919"/>
            <a:ext cx="9022318" cy="1043025"/>
          </a:xfrm>
          <a:prstGeom prst="rect">
            <a:avLst/>
          </a:prstGeom>
          <a:noFill/>
        </p:spPr>
        <p:txBody>
          <a:bodyPr wrap="none" lIns="0" rIns="0" tIns="0" bIns="0">
            <a:spAutoFit/>
          </a:bodyPr>
          <a:lstStyle/>
          <a:p>
            <a:pPr algn="l">
              <a:lnSpc>
                <a:spcPct val="115000"/>
              </a:lnSpc>
            </a:pPr>
            <a:r>
              <a:rPr sz="5664" spc="-75">
                <a:solidFill>
                  <a:srgbClr val="F0CC8B"/>
                </a:solidFill>
                <a:latin typeface="Ibarra Real Nova Italics"/>
              </a:rPr>
              <a:t>new productive capacity.</a:t>
            </a:r>
          </a:p>
        </p:txBody>
      </p:sp>
      <p:cxnSp>
        <p:nvCxnSpPr>
          <p:cNvPr id="6" name="Connector 5"/>
          <p:cNvCxnSpPr/>
          <p:nvPr/>
        </p:nvCxnSpPr>
        <p:spPr>
          <a:xfrm>
            <a:off x="9560052" y="3463013"/>
            <a:ext cx="51198" cy="8755"/>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9611250" y="3471768"/>
            <a:ext cx="51019" cy="9748"/>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9662269" y="3481516"/>
            <a:ext cx="50821" cy="10737"/>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9713090" y="3492253"/>
            <a:ext cx="50602" cy="11721"/>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763692" y="3503974"/>
            <a:ext cx="50365" cy="12702"/>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814057" y="3516676"/>
            <a:ext cx="50108" cy="13677"/>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864165" y="3530353"/>
            <a:ext cx="49834" cy="14648"/>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913999" y="3545001"/>
            <a:ext cx="49540" cy="15613"/>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963539" y="3560614"/>
            <a:ext cx="49227" cy="16572"/>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012766" y="3577186"/>
            <a:ext cx="48897" cy="17525"/>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0061663" y="3594711"/>
            <a:ext cx="48546" cy="18471"/>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0110209" y="3613182"/>
            <a:ext cx="48179" cy="19411"/>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158388" y="3632593"/>
            <a:ext cx="47793" cy="20342"/>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0206181" y="3652935"/>
            <a:ext cx="47389" cy="21267"/>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0253570" y="3674202"/>
            <a:ext cx="46967" cy="22183"/>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0300537" y="3696385"/>
            <a:ext cx="46527" cy="23090"/>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0347064" y="3719475"/>
            <a:ext cx="46070" cy="23990"/>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0393134" y="3743465"/>
            <a:ext cx="45595" cy="24880"/>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438729" y="3768345"/>
            <a:ext cx="45104" cy="25761"/>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0483833" y="3794106"/>
            <a:ext cx="44595" cy="26632"/>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528428" y="3820738"/>
            <a:ext cx="44070" cy="27493"/>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0572498" y="3848231"/>
            <a:ext cx="43527" cy="28343"/>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616025" y="3876574"/>
            <a:ext cx="42968" cy="29184"/>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0658993" y="3905758"/>
            <a:ext cx="42394" cy="30012"/>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sp>
        <p:nvSpPr>
          <p:cNvPr id="30" name="Isosceles Triangle 29"/>
          <p:cNvSpPr/>
          <p:nvPr/>
        </p:nvSpPr>
        <p:spPr>
          <a:xfrm rot="6783382">
            <a:off x="10055518" y="3529723"/>
            <a:ext cx="205739" cy="205739"/>
          </a:xfrm>
          <a:prstGeom prst="triangle">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11302705" y="4537088"/>
            <a:ext cx="30012" cy="42394"/>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1332717" y="4579482"/>
            <a:ext cx="29184" cy="42968"/>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1361901" y="4622450"/>
            <a:ext cx="28343" cy="43527"/>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1390244" y="4665977"/>
            <a:ext cx="27493" cy="44070"/>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417737" y="4710047"/>
            <a:ext cx="26632" cy="44595"/>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1444369" y="4754642"/>
            <a:ext cx="25761" cy="45104"/>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1470130" y="4799746"/>
            <a:ext cx="24880" cy="45595"/>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1495010" y="4845341"/>
            <a:ext cx="23990" cy="46070"/>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1519000" y="4891411"/>
            <a:ext cx="23090" cy="46527"/>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1542090" y="4937938"/>
            <a:ext cx="22183" cy="46967"/>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1564273" y="4984905"/>
            <a:ext cx="21267" cy="47389"/>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1585540" y="5032294"/>
            <a:ext cx="20342" cy="47793"/>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1605882" y="5080087"/>
            <a:ext cx="19411" cy="48179"/>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1625293" y="5128266"/>
            <a:ext cx="18471" cy="48546"/>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1643764" y="5176812"/>
            <a:ext cx="17525" cy="48897"/>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1661289" y="5225709"/>
            <a:ext cx="16572" cy="49227"/>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1677861" y="5274936"/>
            <a:ext cx="15613" cy="49540"/>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1693474" y="5324476"/>
            <a:ext cx="14648" cy="49834"/>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11708122" y="5374310"/>
            <a:ext cx="13677" cy="50108"/>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1721799" y="5424418"/>
            <a:ext cx="12702" cy="50365"/>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11734501" y="5474783"/>
            <a:ext cx="11721" cy="50602"/>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1746222" y="5525385"/>
            <a:ext cx="10737" cy="50821"/>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11756959" y="5576206"/>
            <a:ext cx="9748" cy="51019"/>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11766707" y="5627225"/>
            <a:ext cx="8755" cy="51198"/>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sp>
        <p:nvSpPr>
          <p:cNvPr id="55" name="Isosceles Triangle 54"/>
          <p:cNvSpPr/>
          <p:nvPr/>
        </p:nvSpPr>
        <p:spPr>
          <a:xfrm rot="9483382">
            <a:off x="11503012" y="4977217"/>
            <a:ext cx="205739" cy="205739"/>
          </a:xfrm>
          <a:prstGeom prst="triangle">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6" name="Connector 55"/>
          <p:cNvCxnSpPr/>
          <p:nvPr/>
        </p:nvCxnSpPr>
        <p:spPr>
          <a:xfrm flipH="1">
            <a:off x="11766707" y="6528816"/>
            <a:ext cx="8755" cy="51198"/>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a:off x="11756959" y="6580014"/>
            <a:ext cx="9748" cy="51019"/>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a:off x="11746222" y="6631033"/>
            <a:ext cx="10737" cy="50821"/>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a:off x="11734501" y="6681854"/>
            <a:ext cx="11721" cy="50602"/>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a:off x="11721799" y="6732456"/>
            <a:ext cx="12702" cy="50365"/>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a:off x="11708122" y="6782821"/>
            <a:ext cx="13677" cy="50108"/>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a:off x="11693474" y="6832929"/>
            <a:ext cx="14648" cy="49834"/>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a:off x="11677861" y="6882763"/>
            <a:ext cx="15613" cy="49540"/>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a:off x="11661289" y="6932303"/>
            <a:ext cx="16572" cy="49227"/>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a:off x="11643764" y="6981530"/>
            <a:ext cx="17525" cy="48897"/>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a:off x="11625293" y="7030427"/>
            <a:ext cx="18471" cy="48546"/>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a:off x="11605882" y="7078973"/>
            <a:ext cx="19411" cy="48179"/>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11585540" y="7127152"/>
            <a:ext cx="20342" cy="47793"/>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a:off x="11564273" y="7174945"/>
            <a:ext cx="21267" cy="47389"/>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a:off x="11542090" y="7222334"/>
            <a:ext cx="22183" cy="46967"/>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a:off x="11519000" y="7269301"/>
            <a:ext cx="23090" cy="46527"/>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a:off x="11495010" y="7315828"/>
            <a:ext cx="23990" cy="46070"/>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a:off x="11470130" y="7361898"/>
            <a:ext cx="24880" cy="45595"/>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a:off x="11444369" y="7407493"/>
            <a:ext cx="25761" cy="45104"/>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H="1">
            <a:off x="11417737" y="7452597"/>
            <a:ext cx="26632" cy="44595"/>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H="1">
            <a:off x="11390244" y="7497192"/>
            <a:ext cx="27493" cy="44070"/>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H="1">
            <a:off x="11361901" y="7541262"/>
            <a:ext cx="28343" cy="43527"/>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H="1">
            <a:off x="11332717" y="7584789"/>
            <a:ext cx="29184" cy="42968"/>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H="1">
            <a:off x="11302705" y="7627757"/>
            <a:ext cx="30012" cy="42394"/>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sp>
        <p:nvSpPr>
          <p:cNvPr id="80" name="Isosceles Triangle 79"/>
          <p:cNvSpPr/>
          <p:nvPr/>
        </p:nvSpPr>
        <p:spPr>
          <a:xfrm rot="12183382">
            <a:off x="11503012" y="7024282"/>
            <a:ext cx="205739" cy="205739"/>
          </a:xfrm>
          <a:prstGeom prst="triangle">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1" name="Connector 80"/>
          <p:cNvCxnSpPr/>
          <p:nvPr/>
        </p:nvCxnSpPr>
        <p:spPr>
          <a:xfrm flipH="1">
            <a:off x="10658993" y="8271469"/>
            <a:ext cx="42394" cy="30012"/>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H="1">
            <a:off x="10616025" y="8301481"/>
            <a:ext cx="42968" cy="29184"/>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H="1">
            <a:off x="10572498" y="8330665"/>
            <a:ext cx="43527" cy="28343"/>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H="1">
            <a:off x="10528428" y="8359008"/>
            <a:ext cx="44070" cy="27493"/>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H="1">
            <a:off x="10483833" y="8386501"/>
            <a:ext cx="44595" cy="26632"/>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H="1">
            <a:off x="10438729" y="8413133"/>
            <a:ext cx="45104" cy="25761"/>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H="1">
            <a:off x="10393134" y="8438894"/>
            <a:ext cx="45595" cy="24880"/>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H="1">
            <a:off x="10347064" y="8463774"/>
            <a:ext cx="46070" cy="23990"/>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H="1">
            <a:off x="10300537" y="8487764"/>
            <a:ext cx="46527" cy="23090"/>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H="1">
            <a:off x="10253570" y="8510854"/>
            <a:ext cx="46967" cy="22183"/>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H="1">
            <a:off x="10206181" y="8533037"/>
            <a:ext cx="47389" cy="21267"/>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H="1">
            <a:off x="10158388" y="8554304"/>
            <a:ext cx="47793" cy="20342"/>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H="1">
            <a:off x="10110209" y="8574646"/>
            <a:ext cx="48179" cy="19411"/>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H="1">
            <a:off x="10061663" y="8594057"/>
            <a:ext cx="48546" cy="18471"/>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H="1">
            <a:off x="10012766" y="8612528"/>
            <a:ext cx="48897" cy="17525"/>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H="1">
            <a:off x="9963539" y="8630053"/>
            <a:ext cx="49227" cy="16572"/>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H="1">
            <a:off x="9913999" y="8646625"/>
            <a:ext cx="49540" cy="15613"/>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H="1">
            <a:off x="9864165" y="8662238"/>
            <a:ext cx="49834" cy="14648"/>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H="1">
            <a:off x="9814057" y="8676886"/>
            <a:ext cx="50108" cy="13677"/>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H="1">
            <a:off x="9763692" y="8690563"/>
            <a:ext cx="50365" cy="12702"/>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H="1">
            <a:off x="9713090" y="8703265"/>
            <a:ext cx="50602" cy="11721"/>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H="1">
            <a:off x="9662269" y="8714986"/>
            <a:ext cx="50821" cy="10737"/>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H="1">
            <a:off x="9611250" y="8725723"/>
            <a:ext cx="51019" cy="9748"/>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H="1">
            <a:off x="9560052" y="8735471"/>
            <a:ext cx="51198" cy="8755"/>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sp>
        <p:nvSpPr>
          <p:cNvPr id="105" name="Isosceles Triangle 104"/>
          <p:cNvSpPr/>
          <p:nvPr/>
        </p:nvSpPr>
        <p:spPr>
          <a:xfrm rot="14883382">
            <a:off x="10055518" y="8471776"/>
            <a:ext cx="205739" cy="205739"/>
          </a:xfrm>
          <a:prstGeom prst="triangle">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6" name="Connector 105"/>
          <p:cNvCxnSpPr/>
          <p:nvPr/>
        </p:nvCxnSpPr>
        <p:spPr>
          <a:xfrm flipH="1" flipV="1">
            <a:off x="8658461" y="8735471"/>
            <a:ext cx="51199" cy="8755"/>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H="1" flipV="1">
            <a:off x="8607442" y="8725723"/>
            <a:ext cx="51019" cy="9748"/>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H="1" flipV="1">
            <a:off x="8556621" y="8714986"/>
            <a:ext cx="50821" cy="10737"/>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H="1" flipV="1">
            <a:off x="8506019" y="8703265"/>
            <a:ext cx="50602" cy="11721"/>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H="1" flipV="1">
            <a:off x="8455654" y="8690563"/>
            <a:ext cx="50365" cy="12702"/>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H="1" flipV="1">
            <a:off x="8405546" y="8676886"/>
            <a:ext cx="50108" cy="13677"/>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H="1" flipV="1">
            <a:off x="8355712" y="8662238"/>
            <a:ext cx="49834" cy="14648"/>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H="1" flipV="1">
            <a:off x="8306172" y="8646625"/>
            <a:ext cx="49540" cy="15613"/>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H="1" flipV="1">
            <a:off x="8256945" y="8630053"/>
            <a:ext cx="49227" cy="16572"/>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H="1" flipV="1">
            <a:off x="8208048" y="8612528"/>
            <a:ext cx="48897" cy="17525"/>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H="1" flipV="1">
            <a:off x="8159502" y="8594057"/>
            <a:ext cx="48546" cy="18471"/>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H="1" flipV="1">
            <a:off x="8111323" y="8574646"/>
            <a:ext cx="48179" cy="19411"/>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H="1" flipV="1">
            <a:off x="8063530" y="8554304"/>
            <a:ext cx="47793" cy="20342"/>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H="1" flipV="1">
            <a:off x="8016141" y="8533037"/>
            <a:ext cx="47389" cy="21267"/>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H="1" flipV="1">
            <a:off x="7969174" y="8510854"/>
            <a:ext cx="46967" cy="22183"/>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H="1" flipV="1">
            <a:off x="7922647" y="8487764"/>
            <a:ext cx="46527" cy="23090"/>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H="1" flipV="1">
            <a:off x="7876577" y="8463774"/>
            <a:ext cx="46070" cy="23990"/>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H="1" flipV="1">
            <a:off x="7830982" y="8438894"/>
            <a:ext cx="45595" cy="24880"/>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H="1" flipV="1">
            <a:off x="7785878" y="8413133"/>
            <a:ext cx="45104" cy="25761"/>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H="1" flipV="1">
            <a:off x="7741283" y="8386501"/>
            <a:ext cx="44595" cy="26632"/>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H="1" flipV="1">
            <a:off x="7697213" y="8359008"/>
            <a:ext cx="44070" cy="27493"/>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H="1" flipV="1">
            <a:off x="7653686" y="8330665"/>
            <a:ext cx="43527" cy="28343"/>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H="1" flipV="1">
            <a:off x="7610718" y="8301481"/>
            <a:ext cx="42968" cy="29184"/>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H="1" flipV="1">
            <a:off x="7568324" y="8271469"/>
            <a:ext cx="42394" cy="30012"/>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sp>
        <p:nvSpPr>
          <p:cNvPr id="130" name="Isosceles Triangle 129"/>
          <p:cNvSpPr/>
          <p:nvPr/>
        </p:nvSpPr>
        <p:spPr>
          <a:xfrm rot="17583382">
            <a:off x="8008453" y="8471776"/>
            <a:ext cx="205739" cy="205739"/>
          </a:xfrm>
          <a:prstGeom prst="triangle">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1" name="Connector 130"/>
          <p:cNvCxnSpPr/>
          <p:nvPr/>
        </p:nvCxnSpPr>
        <p:spPr>
          <a:xfrm flipH="1" flipV="1">
            <a:off x="6936994" y="7627757"/>
            <a:ext cx="30012" cy="42394"/>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H="1" flipV="1">
            <a:off x="6907810" y="7584789"/>
            <a:ext cx="29184" cy="42968"/>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H="1" flipV="1">
            <a:off x="6879467" y="7541262"/>
            <a:ext cx="28343" cy="43527"/>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H="1" flipV="1">
            <a:off x="6851974" y="7497192"/>
            <a:ext cx="27493" cy="44070"/>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H="1" flipV="1">
            <a:off x="6825342" y="7452597"/>
            <a:ext cx="26632" cy="44595"/>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H="1" flipV="1">
            <a:off x="6799581" y="7407493"/>
            <a:ext cx="25761" cy="45104"/>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H="1" flipV="1">
            <a:off x="6774701" y="7361898"/>
            <a:ext cx="24880" cy="45595"/>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H="1" flipV="1">
            <a:off x="6750711" y="7315828"/>
            <a:ext cx="23990" cy="46070"/>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H="1" flipV="1">
            <a:off x="6727621" y="7269301"/>
            <a:ext cx="23090" cy="46527"/>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H="1" flipV="1">
            <a:off x="6705438" y="7222334"/>
            <a:ext cx="22183" cy="46967"/>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H="1" flipV="1">
            <a:off x="6684171" y="7174945"/>
            <a:ext cx="21267" cy="47389"/>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H="1" flipV="1">
            <a:off x="6663829" y="7127152"/>
            <a:ext cx="20342" cy="47793"/>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H="1" flipV="1">
            <a:off x="6644418" y="7078973"/>
            <a:ext cx="19411" cy="48179"/>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H="1" flipV="1">
            <a:off x="6625947" y="7030427"/>
            <a:ext cx="18471" cy="48546"/>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H="1" flipV="1">
            <a:off x="6608422" y="6981530"/>
            <a:ext cx="17525" cy="48897"/>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H="1" flipV="1">
            <a:off x="6591850" y="6932303"/>
            <a:ext cx="16572" cy="49227"/>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H="1" flipV="1">
            <a:off x="6576237" y="6882763"/>
            <a:ext cx="15613" cy="49540"/>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H="1" flipV="1">
            <a:off x="6561589" y="6832929"/>
            <a:ext cx="14648" cy="49834"/>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H="1" flipV="1">
            <a:off x="6547912" y="6782821"/>
            <a:ext cx="13677" cy="50108"/>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H="1" flipV="1">
            <a:off x="6535210" y="6732456"/>
            <a:ext cx="12702" cy="50365"/>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H="1" flipV="1">
            <a:off x="6523489" y="6681854"/>
            <a:ext cx="11721" cy="50602"/>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H="1" flipV="1">
            <a:off x="6512752" y="6631033"/>
            <a:ext cx="10737" cy="50821"/>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H="1" flipV="1">
            <a:off x="6503004" y="6580014"/>
            <a:ext cx="9748" cy="51019"/>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H="1" flipV="1">
            <a:off x="6494249" y="6528816"/>
            <a:ext cx="8755" cy="51198"/>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sp>
        <p:nvSpPr>
          <p:cNvPr id="155" name="Isosceles Triangle 154"/>
          <p:cNvSpPr/>
          <p:nvPr/>
        </p:nvSpPr>
        <p:spPr>
          <a:xfrm rot="20283382">
            <a:off x="6560959" y="7024282"/>
            <a:ext cx="205739" cy="205739"/>
          </a:xfrm>
          <a:prstGeom prst="triangle">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6" name="Connector 155"/>
          <p:cNvCxnSpPr/>
          <p:nvPr/>
        </p:nvCxnSpPr>
        <p:spPr>
          <a:xfrm flipV="1">
            <a:off x="6494249" y="5627225"/>
            <a:ext cx="8755" cy="51199"/>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6503004" y="5576206"/>
            <a:ext cx="9748" cy="51019"/>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6512752" y="5525385"/>
            <a:ext cx="10737" cy="50821"/>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flipV="1">
            <a:off x="6523489" y="5474783"/>
            <a:ext cx="11721" cy="50602"/>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flipV="1">
            <a:off x="6535210" y="5424418"/>
            <a:ext cx="12702" cy="50365"/>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flipV="1">
            <a:off x="6547912" y="5374310"/>
            <a:ext cx="13677" cy="50108"/>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6561589" y="5324476"/>
            <a:ext cx="14648" cy="49834"/>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6576237" y="5274936"/>
            <a:ext cx="15613" cy="49540"/>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6591850" y="5225709"/>
            <a:ext cx="16572" cy="49227"/>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6608422" y="5176812"/>
            <a:ext cx="17525" cy="48897"/>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6625947" y="5128266"/>
            <a:ext cx="18471" cy="48546"/>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6644418" y="5080087"/>
            <a:ext cx="19411" cy="48179"/>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6663829" y="5032294"/>
            <a:ext cx="20342" cy="47793"/>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6684171" y="4984905"/>
            <a:ext cx="21267" cy="47389"/>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6705438" y="4937938"/>
            <a:ext cx="22183" cy="46967"/>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6727621" y="4891411"/>
            <a:ext cx="23090" cy="46527"/>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6750711" y="4845341"/>
            <a:ext cx="23990" cy="46070"/>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6774701" y="4799746"/>
            <a:ext cx="24880" cy="45595"/>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6799581" y="4754642"/>
            <a:ext cx="25761" cy="45104"/>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6825342" y="4710047"/>
            <a:ext cx="26632" cy="44595"/>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V="1">
            <a:off x="6851974" y="4665977"/>
            <a:ext cx="27493" cy="44070"/>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V="1">
            <a:off x="6879467" y="4622450"/>
            <a:ext cx="28343" cy="43527"/>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6907810" y="4579482"/>
            <a:ext cx="29184" cy="42968"/>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V="1">
            <a:off x="6936994" y="4537088"/>
            <a:ext cx="30012" cy="42394"/>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sp>
        <p:nvSpPr>
          <p:cNvPr id="180" name="Isosceles Triangle 179"/>
          <p:cNvSpPr/>
          <p:nvPr/>
        </p:nvSpPr>
        <p:spPr>
          <a:xfrm rot="1383382">
            <a:off x="6560959" y="4977217"/>
            <a:ext cx="205739" cy="205739"/>
          </a:xfrm>
          <a:prstGeom prst="triangle">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1" name="Connector 180"/>
          <p:cNvCxnSpPr/>
          <p:nvPr/>
        </p:nvCxnSpPr>
        <p:spPr>
          <a:xfrm flipV="1">
            <a:off x="7568324" y="3905758"/>
            <a:ext cx="42394" cy="30012"/>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V="1">
            <a:off x="7610718" y="3876574"/>
            <a:ext cx="42968" cy="29184"/>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V="1">
            <a:off x="7653686" y="3848231"/>
            <a:ext cx="43527" cy="28343"/>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V="1">
            <a:off x="7697213" y="3820738"/>
            <a:ext cx="44070" cy="27493"/>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V="1">
            <a:off x="7741283" y="3794106"/>
            <a:ext cx="44595" cy="26632"/>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V="1">
            <a:off x="7785878" y="3768345"/>
            <a:ext cx="45104" cy="25761"/>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7830982" y="3743465"/>
            <a:ext cx="45595" cy="24880"/>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V="1">
            <a:off x="7876577" y="3719475"/>
            <a:ext cx="46070" cy="23990"/>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V="1">
            <a:off x="7922647" y="3696385"/>
            <a:ext cx="46527" cy="23090"/>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7969174" y="3674202"/>
            <a:ext cx="46967" cy="22183"/>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V="1">
            <a:off x="8016141" y="3652935"/>
            <a:ext cx="47389" cy="21267"/>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8063530" y="3632593"/>
            <a:ext cx="47793" cy="20342"/>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V="1">
            <a:off x="8111323" y="3613182"/>
            <a:ext cx="48179" cy="19411"/>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V="1">
            <a:off x="8159502" y="3594711"/>
            <a:ext cx="48546" cy="18471"/>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V="1">
            <a:off x="8208048" y="3577186"/>
            <a:ext cx="48897" cy="17525"/>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V="1">
            <a:off x="8256945" y="3560614"/>
            <a:ext cx="49227" cy="16572"/>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V="1">
            <a:off x="8306172" y="3545001"/>
            <a:ext cx="49540" cy="15613"/>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8355712" y="3530353"/>
            <a:ext cx="49834" cy="14648"/>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V="1">
            <a:off x="8405546" y="3516676"/>
            <a:ext cx="50108" cy="13677"/>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8455654" y="3503974"/>
            <a:ext cx="50365" cy="12702"/>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V="1">
            <a:off x="8506019" y="3492253"/>
            <a:ext cx="50602" cy="11721"/>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V="1">
            <a:off x="8556621" y="3481516"/>
            <a:ext cx="50821" cy="10737"/>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flipV="1">
            <a:off x="8607442" y="3471768"/>
            <a:ext cx="51019" cy="9748"/>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flipV="1">
            <a:off x="8658461" y="3463013"/>
            <a:ext cx="51198" cy="8755"/>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sp>
        <p:nvSpPr>
          <p:cNvPr id="205" name="Isosceles Triangle 204"/>
          <p:cNvSpPr/>
          <p:nvPr/>
        </p:nvSpPr>
        <p:spPr>
          <a:xfrm rot="4083382">
            <a:off x="8008453" y="3529723"/>
            <a:ext cx="205739" cy="205739"/>
          </a:xfrm>
          <a:prstGeom prst="triangle">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Oval 205"/>
          <p:cNvSpPr/>
          <p:nvPr/>
        </p:nvSpPr>
        <p:spPr>
          <a:xfrm>
            <a:off x="8106156" y="5074920"/>
            <a:ext cx="2057400" cy="2057400"/>
          </a:xfrm>
          <a:prstGeom prst="ellipse">
            <a:avLst/>
          </a:prstGeom>
          <a:solidFill>
            <a:srgbClr val="084B4D"/>
          </a:solidFill>
          <a:ln w="1651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TextBox 206"/>
          <p:cNvSpPr txBox="1"/>
          <p:nvPr/>
        </p:nvSpPr>
        <p:spPr>
          <a:xfrm>
            <a:off x="8106156" y="5884164"/>
            <a:ext cx="2057400" cy="466344"/>
          </a:xfrm>
          <a:prstGeom prst="rect">
            <a:avLst/>
          </a:prstGeom>
          <a:noFill/>
        </p:spPr>
        <p:txBody>
          <a:bodyPr wrap="none" lIns="0" rIns="0" tIns="0" bIns="0">
            <a:spAutoFit/>
          </a:bodyPr>
          <a:lstStyle/>
          <a:p>
            <a:pPr algn="ctr">
              <a:lnSpc>
                <a:spcPct val="115000"/>
              </a:lnSpc>
            </a:pPr>
            <a:r>
              <a:rPr sz="1500" spc="330">
                <a:solidFill>
                  <a:srgbClr val="EBCF9E"/>
                </a:solidFill>
                <a:latin typeface="Todes 1"/>
              </a:rPr>
              <a:t>THE LOOP</a:t>
            </a:r>
          </a:p>
        </p:txBody>
      </p:sp>
      <p:sp>
        <p:nvSpPr>
          <p:cNvPr id="208" name="Oval 207"/>
          <p:cNvSpPr/>
          <p:nvPr/>
        </p:nvSpPr>
        <p:spPr>
          <a:xfrm>
            <a:off x="8449056" y="2743200"/>
            <a:ext cx="1371600" cy="1371600"/>
          </a:xfrm>
          <a:prstGeom prst="ellipse">
            <a:avLst/>
          </a:prstGeom>
          <a:solidFill>
            <a:srgbClr val="0D3E40"/>
          </a:solidFill>
          <a:ln w="1524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9" name="Picture 208" descr="search.png"/>
          <p:cNvPicPr>
            <a:picLocks noChangeAspect="1"/>
          </p:cNvPicPr>
          <p:nvPr/>
        </p:nvPicPr>
        <p:blipFill>
          <a:blip r:embed="rId4"/>
          <a:stretch>
            <a:fillRect/>
          </a:stretch>
        </p:blipFill>
        <p:spPr>
          <a:xfrm>
            <a:off x="8929116" y="3031236"/>
            <a:ext cx="411479" cy="411479"/>
          </a:xfrm>
          <a:prstGeom prst="rect">
            <a:avLst/>
          </a:prstGeom>
        </p:spPr>
      </p:pic>
      <p:sp>
        <p:nvSpPr>
          <p:cNvPr id="210" name="TextBox 209"/>
          <p:cNvSpPr txBox="1"/>
          <p:nvPr/>
        </p:nvSpPr>
        <p:spPr>
          <a:xfrm>
            <a:off x="8106156" y="3511296"/>
            <a:ext cx="2057400" cy="411479"/>
          </a:xfrm>
          <a:prstGeom prst="rect">
            <a:avLst/>
          </a:prstGeom>
          <a:noFill/>
        </p:spPr>
        <p:txBody>
          <a:bodyPr wrap="none" lIns="0" rIns="0" tIns="0" bIns="0">
            <a:spAutoFit/>
          </a:bodyPr>
          <a:lstStyle/>
          <a:p>
            <a:pPr algn="ctr">
              <a:lnSpc>
                <a:spcPct val="115000"/>
              </a:lnSpc>
            </a:pPr>
            <a:r>
              <a:rPr sz="1350" spc="150">
                <a:solidFill>
                  <a:srgbClr val="F2ECDD"/>
                </a:solidFill>
                <a:latin typeface="TT Commons Pro"/>
              </a:rPr>
              <a:t>visibility</a:t>
            </a:r>
          </a:p>
        </p:txBody>
      </p:sp>
      <p:sp>
        <p:nvSpPr>
          <p:cNvPr id="211" name="Oval 210"/>
          <p:cNvSpPr/>
          <p:nvPr/>
        </p:nvSpPr>
        <p:spPr>
          <a:xfrm>
            <a:off x="10340297" y="3526578"/>
            <a:ext cx="1371600" cy="1371600"/>
          </a:xfrm>
          <a:prstGeom prst="ellipse">
            <a:avLst/>
          </a:prstGeom>
          <a:solidFill>
            <a:srgbClr val="0D3E40"/>
          </a:solidFill>
          <a:ln w="1524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2" name="Picture 211" descr="coord.png"/>
          <p:cNvPicPr>
            <a:picLocks noChangeAspect="1"/>
          </p:cNvPicPr>
          <p:nvPr/>
        </p:nvPicPr>
        <p:blipFill>
          <a:blip r:embed="rId5"/>
          <a:stretch>
            <a:fillRect/>
          </a:stretch>
        </p:blipFill>
        <p:spPr>
          <a:xfrm>
            <a:off x="10820357" y="3814614"/>
            <a:ext cx="411479" cy="411479"/>
          </a:xfrm>
          <a:prstGeom prst="rect">
            <a:avLst/>
          </a:prstGeom>
        </p:spPr>
      </p:pic>
      <p:sp>
        <p:nvSpPr>
          <p:cNvPr id="213" name="TextBox 212"/>
          <p:cNvSpPr txBox="1"/>
          <p:nvPr/>
        </p:nvSpPr>
        <p:spPr>
          <a:xfrm>
            <a:off x="9997397" y="4294674"/>
            <a:ext cx="2057400" cy="411479"/>
          </a:xfrm>
          <a:prstGeom prst="rect">
            <a:avLst/>
          </a:prstGeom>
          <a:noFill/>
        </p:spPr>
        <p:txBody>
          <a:bodyPr wrap="none" lIns="0" rIns="0" tIns="0" bIns="0">
            <a:spAutoFit/>
          </a:bodyPr>
          <a:lstStyle/>
          <a:p>
            <a:pPr algn="ctr">
              <a:lnSpc>
                <a:spcPct val="115000"/>
              </a:lnSpc>
            </a:pPr>
            <a:r>
              <a:rPr sz="1350" spc="150">
                <a:solidFill>
                  <a:srgbClr val="F2ECDD"/>
                </a:solidFill>
                <a:latin typeface="TT Commons Pro"/>
              </a:rPr>
              <a:t>coordination</a:t>
            </a:r>
          </a:p>
        </p:txBody>
      </p:sp>
      <p:sp>
        <p:nvSpPr>
          <p:cNvPr id="214" name="Oval 213"/>
          <p:cNvSpPr/>
          <p:nvPr/>
        </p:nvSpPr>
        <p:spPr>
          <a:xfrm>
            <a:off x="11123676" y="5417820"/>
            <a:ext cx="1371600" cy="1371600"/>
          </a:xfrm>
          <a:prstGeom prst="ellipse">
            <a:avLst/>
          </a:prstGeom>
          <a:solidFill>
            <a:srgbClr val="0D3E40"/>
          </a:solidFill>
          <a:ln w="1524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5" name="Picture 214" descr="money.png"/>
          <p:cNvPicPr>
            <a:picLocks noChangeAspect="1"/>
          </p:cNvPicPr>
          <p:nvPr/>
        </p:nvPicPr>
        <p:blipFill>
          <a:blip r:embed="rId6"/>
          <a:stretch>
            <a:fillRect/>
          </a:stretch>
        </p:blipFill>
        <p:spPr>
          <a:xfrm>
            <a:off x="11603735" y="5705856"/>
            <a:ext cx="411479" cy="411479"/>
          </a:xfrm>
          <a:prstGeom prst="rect">
            <a:avLst/>
          </a:prstGeom>
        </p:spPr>
      </p:pic>
      <p:sp>
        <p:nvSpPr>
          <p:cNvPr id="216" name="TextBox 215"/>
          <p:cNvSpPr txBox="1"/>
          <p:nvPr/>
        </p:nvSpPr>
        <p:spPr>
          <a:xfrm>
            <a:off x="10780776" y="6185916"/>
            <a:ext cx="2057400" cy="411479"/>
          </a:xfrm>
          <a:prstGeom prst="rect">
            <a:avLst/>
          </a:prstGeom>
          <a:noFill/>
        </p:spPr>
        <p:txBody>
          <a:bodyPr wrap="none" lIns="0" rIns="0" tIns="0" bIns="0">
            <a:spAutoFit/>
          </a:bodyPr>
          <a:lstStyle/>
          <a:p>
            <a:pPr algn="ctr">
              <a:lnSpc>
                <a:spcPct val="115000"/>
              </a:lnSpc>
            </a:pPr>
            <a:r>
              <a:rPr sz="1350" spc="150">
                <a:solidFill>
                  <a:srgbClr val="F2ECDD"/>
                </a:solidFill>
                <a:latin typeface="TT Commons Pro"/>
              </a:rPr>
              <a:t>exchange</a:t>
            </a:r>
          </a:p>
        </p:txBody>
      </p:sp>
      <p:sp>
        <p:nvSpPr>
          <p:cNvPr id="217" name="Oval 216"/>
          <p:cNvSpPr/>
          <p:nvPr/>
        </p:nvSpPr>
        <p:spPr>
          <a:xfrm>
            <a:off x="10340297" y="7309061"/>
            <a:ext cx="1371600" cy="1371600"/>
          </a:xfrm>
          <a:prstGeom prst="ellipse">
            <a:avLst/>
          </a:prstGeom>
          <a:solidFill>
            <a:srgbClr val="0D3E40"/>
          </a:solidFill>
          <a:ln w="1524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8" name="Picture 217" descr="group.png"/>
          <p:cNvPicPr>
            <a:picLocks noChangeAspect="1"/>
          </p:cNvPicPr>
          <p:nvPr/>
        </p:nvPicPr>
        <p:blipFill>
          <a:blip r:embed="rId7"/>
          <a:stretch>
            <a:fillRect/>
          </a:stretch>
        </p:blipFill>
        <p:spPr>
          <a:xfrm>
            <a:off x="10820357" y="7597097"/>
            <a:ext cx="411479" cy="411479"/>
          </a:xfrm>
          <a:prstGeom prst="rect">
            <a:avLst/>
          </a:prstGeom>
        </p:spPr>
      </p:pic>
      <p:sp>
        <p:nvSpPr>
          <p:cNvPr id="219" name="TextBox 218"/>
          <p:cNvSpPr txBox="1"/>
          <p:nvPr/>
        </p:nvSpPr>
        <p:spPr>
          <a:xfrm>
            <a:off x="9997397" y="8077157"/>
            <a:ext cx="2057400" cy="411479"/>
          </a:xfrm>
          <a:prstGeom prst="rect">
            <a:avLst/>
          </a:prstGeom>
          <a:noFill/>
        </p:spPr>
        <p:txBody>
          <a:bodyPr wrap="none" lIns="0" rIns="0" tIns="0" bIns="0">
            <a:spAutoFit/>
          </a:bodyPr>
          <a:lstStyle/>
          <a:p>
            <a:pPr algn="ctr">
              <a:lnSpc>
                <a:spcPct val="115000"/>
              </a:lnSpc>
            </a:pPr>
            <a:r>
              <a:rPr sz="1350" spc="150">
                <a:solidFill>
                  <a:srgbClr val="F2ECDD"/>
                </a:solidFill>
                <a:latin typeface="TT Commons Pro"/>
              </a:rPr>
              <a:t>relationships</a:t>
            </a:r>
          </a:p>
        </p:txBody>
      </p:sp>
      <p:sp>
        <p:nvSpPr>
          <p:cNvPr id="220" name="Oval 219"/>
          <p:cNvSpPr/>
          <p:nvPr/>
        </p:nvSpPr>
        <p:spPr>
          <a:xfrm>
            <a:off x="8449056" y="8092440"/>
            <a:ext cx="1371600" cy="1371600"/>
          </a:xfrm>
          <a:prstGeom prst="ellipse">
            <a:avLst/>
          </a:prstGeom>
          <a:solidFill>
            <a:srgbClr val="0D3E40"/>
          </a:solidFill>
          <a:ln w="1524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1" name="Picture 220" descr="chart.png"/>
          <p:cNvPicPr>
            <a:picLocks noChangeAspect="1"/>
          </p:cNvPicPr>
          <p:nvPr/>
        </p:nvPicPr>
        <p:blipFill>
          <a:blip r:embed="rId8"/>
          <a:stretch>
            <a:fillRect/>
          </a:stretch>
        </p:blipFill>
        <p:spPr>
          <a:xfrm>
            <a:off x="8929116" y="8380476"/>
            <a:ext cx="411479" cy="411479"/>
          </a:xfrm>
          <a:prstGeom prst="rect">
            <a:avLst/>
          </a:prstGeom>
        </p:spPr>
      </p:pic>
      <p:sp>
        <p:nvSpPr>
          <p:cNvPr id="222" name="TextBox 221"/>
          <p:cNvSpPr txBox="1"/>
          <p:nvPr/>
        </p:nvSpPr>
        <p:spPr>
          <a:xfrm>
            <a:off x="8106156" y="8860536"/>
            <a:ext cx="2057400" cy="411479"/>
          </a:xfrm>
          <a:prstGeom prst="rect">
            <a:avLst/>
          </a:prstGeom>
          <a:noFill/>
        </p:spPr>
        <p:txBody>
          <a:bodyPr wrap="none" lIns="0" rIns="0" tIns="0" bIns="0">
            <a:spAutoFit/>
          </a:bodyPr>
          <a:lstStyle/>
          <a:p>
            <a:pPr algn="ctr">
              <a:lnSpc>
                <a:spcPct val="115000"/>
              </a:lnSpc>
            </a:pPr>
            <a:r>
              <a:rPr sz="1350" spc="150">
                <a:solidFill>
                  <a:srgbClr val="F2ECDD"/>
                </a:solidFill>
                <a:latin typeface="TT Commons Pro"/>
              </a:rPr>
              <a:t>intelligence</a:t>
            </a:r>
          </a:p>
        </p:txBody>
      </p:sp>
      <p:sp>
        <p:nvSpPr>
          <p:cNvPr id="223" name="Oval 222"/>
          <p:cNvSpPr/>
          <p:nvPr/>
        </p:nvSpPr>
        <p:spPr>
          <a:xfrm>
            <a:off x="6557814" y="7309061"/>
            <a:ext cx="1371600" cy="1371600"/>
          </a:xfrm>
          <a:prstGeom prst="ellipse">
            <a:avLst/>
          </a:prstGeom>
          <a:solidFill>
            <a:srgbClr val="0D3E40"/>
          </a:solidFill>
          <a:ln w="1524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4" name="Picture 223" descr="request.png"/>
          <p:cNvPicPr>
            <a:picLocks noChangeAspect="1"/>
          </p:cNvPicPr>
          <p:nvPr/>
        </p:nvPicPr>
        <p:blipFill>
          <a:blip r:embed="rId9"/>
          <a:stretch>
            <a:fillRect/>
          </a:stretch>
        </p:blipFill>
        <p:spPr>
          <a:xfrm>
            <a:off x="7037874" y="7597097"/>
            <a:ext cx="411479" cy="411479"/>
          </a:xfrm>
          <a:prstGeom prst="rect">
            <a:avLst/>
          </a:prstGeom>
        </p:spPr>
      </p:pic>
      <p:sp>
        <p:nvSpPr>
          <p:cNvPr id="225" name="TextBox 224"/>
          <p:cNvSpPr txBox="1"/>
          <p:nvPr/>
        </p:nvSpPr>
        <p:spPr>
          <a:xfrm>
            <a:off x="6214914" y="8077157"/>
            <a:ext cx="2057400" cy="411479"/>
          </a:xfrm>
          <a:prstGeom prst="rect">
            <a:avLst/>
          </a:prstGeom>
          <a:noFill/>
        </p:spPr>
        <p:txBody>
          <a:bodyPr wrap="none" lIns="0" rIns="0" tIns="0" bIns="0">
            <a:spAutoFit/>
          </a:bodyPr>
          <a:lstStyle/>
          <a:p>
            <a:pPr algn="ctr">
              <a:lnSpc>
                <a:spcPct val="115000"/>
              </a:lnSpc>
            </a:pPr>
            <a:r>
              <a:rPr sz="1350" spc="150">
                <a:solidFill>
                  <a:srgbClr val="F2ECDD"/>
                </a:solidFill>
                <a:latin typeface="TT Commons Pro"/>
              </a:rPr>
              <a:t>demand</a:t>
            </a:r>
          </a:p>
        </p:txBody>
      </p:sp>
      <p:sp>
        <p:nvSpPr>
          <p:cNvPr id="226" name="Oval 225"/>
          <p:cNvSpPr/>
          <p:nvPr/>
        </p:nvSpPr>
        <p:spPr>
          <a:xfrm>
            <a:off x="5774436" y="5417820"/>
            <a:ext cx="1371600" cy="1371600"/>
          </a:xfrm>
          <a:prstGeom prst="ellipse">
            <a:avLst/>
          </a:prstGeom>
          <a:solidFill>
            <a:srgbClr val="0D3E40"/>
          </a:solidFill>
          <a:ln w="1524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7" name="Picture 226" descr="org.png"/>
          <p:cNvPicPr>
            <a:picLocks noChangeAspect="1"/>
          </p:cNvPicPr>
          <p:nvPr/>
        </p:nvPicPr>
        <p:blipFill>
          <a:blip r:embed="rId10"/>
          <a:stretch>
            <a:fillRect/>
          </a:stretch>
        </p:blipFill>
        <p:spPr>
          <a:xfrm>
            <a:off x="6254496" y="5705856"/>
            <a:ext cx="411479" cy="411479"/>
          </a:xfrm>
          <a:prstGeom prst="rect">
            <a:avLst/>
          </a:prstGeom>
        </p:spPr>
      </p:pic>
      <p:sp>
        <p:nvSpPr>
          <p:cNvPr id="228" name="TextBox 227"/>
          <p:cNvSpPr txBox="1"/>
          <p:nvPr/>
        </p:nvSpPr>
        <p:spPr>
          <a:xfrm>
            <a:off x="5431536" y="6185916"/>
            <a:ext cx="2057400" cy="411479"/>
          </a:xfrm>
          <a:prstGeom prst="rect">
            <a:avLst/>
          </a:prstGeom>
          <a:noFill/>
        </p:spPr>
        <p:txBody>
          <a:bodyPr wrap="none" lIns="0" rIns="0" tIns="0" bIns="0">
            <a:spAutoFit/>
          </a:bodyPr>
          <a:lstStyle/>
          <a:p>
            <a:pPr algn="ctr">
              <a:lnSpc>
                <a:spcPct val="115000"/>
              </a:lnSpc>
            </a:pPr>
            <a:r>
              <a:rPr sz="1350" spc="150">
                <a:solidFill>
                  <a:srgbClr val="F2ECDD"/>
                </a:solidFill>
                <a:latin typeface="TT Commons Pro"/>
              </a:rPr>
              <a:t>capacity</a:t>
            </a:r>
          </a:p>
        </p:txBody>
      </p:sp>
      <p:sp>
        <p:nvSpPr>
          <p:cNvPr id="229" name="Oval 228"/>
          <p:cNvSpPr/>
          <p:nvPr/>
        </p:nvSpPr>
        <p:spPr>
          <a:xfrm>
            <a:off x="6557814" y="3526578"/>
            <a:ext cx="1371600" cy="1371600"/>
          </a:xfrm>
          <a:prstGeom prst="ellipse">
            <a:avLst/>
          </a:prstGeom>
          <a:solidFill>
            <a:srgbClr val="0D3E40"/>
          </a:solidFill>
          <a:ln w="1524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0" name="Picture 229" descr="verify.png"/>
          <p:cNvPicPr>
            <a:picLocks noChangeAspect="1"/>
          </p:cNvPicPr>
          <p:nvPr/>
        </p:nvPicPr>
        <p:blipFill>
          <a:blip r:embed="rId11"/>
          <a:stretch>
            <a:fillRect/>
          </a:stretch>
        </p:blipFill>
        <p:spPr>
          <a:xfrm>
            <a:off x="7037874" y="3814614"/>
            <a:ext cx="411479" cy="411479"/>
          </a:xfrm>
          <a:prstGeom prst="rect">
            <a:avLst/>
          </a:prstGeom>
        </p:spPr>
      </p:pic>
      <p:sp>
        <p:nvSpPr>
          <p:cNvPr id="231" name="TextBox 230"/>
          <p:cNvSpPr txBox="1"/>
          <p:nvPr/>
        </p:nvSpPr>
        <p:spPr>
          <a:xfrm>
            <a:off x="6214914" y="4294674"/>
            <a:ext cx="2057400" cy="411479"/>
          </a:xfrm>
          <a:prstGeom prst="rect">
            <a:avLst/>
          </a:prstGeom>
          <a:noFill/>
        </p:spPr>
        <p:txBody>
          <a:bodyPr wrap="none" lIns="0" rIns="0" tIns="0" bIns="0">
            <a:spAutoFit/>
          </a:bodyPr>
          <a:lstStyle/>
          <a:p>
            <a:pPr algn="ctr">
              <a:lnSpc>
                <a:spcPct val="115000"/>
              </a:lnSpc>
            </a:pPr>
            <a:r>
              <a:rPr sz="1350" spc="150">
                <a:solidFill>
                  <a:srgbClr val="F2ECDD"/>
                </a:solidFill>
                <a:latin typeface="TT Commons Pro"/>
              </a:rPr>
              <a:t>resilience</a:t>
            </a:r>
          </a:p>
        </p:txBody>
      </p:sp>
      <p:sp>
        <p:nvSpPr>
          <p:cNvPr id="232" name="TextBox 231"/>
          <p:cNvSpPr txBox="1"/>
          <p:nvPr/>
        </p:nvSpPr>
        <p:spPr>
          <a:xfrm>
            <a:off x="822959" y="9162288"/>
            <a:ext cx="16596359" cy="1097280"/>
          </a:xfrm>
          <a:prstGeom prst="rect">
            <a:avLst/>
          </a:prstGeom>
          <a:noFill/>
        </p:spPr>
        <p:txBody>
          <a:bodyPr wrap="square" lIns="0" rIns="0" tIns="0" bIns="0">
            <a:spAutoFit/>
          </a:bodyPr>
          <a:lstStyle/>
          <a:p>
            <a:pPr algn="ctr">
              <a:lnSpc>
                <a:spcPct val="140000"/>
              </a:lnSpc>
            </a:pPr>
            <a:r>
              <a:rPr sz="2100" spc="20">
                <a:solidFill>
                  <a:srgbClr val="9FE8DC"/>
                </a:solidFill>
                <a:latin typeface="Alike Italics"/>
              </a:rPr>
              <a:t>The goal is not simply to circulate what already exists.</a:t>
            </a:r>
          </a:p>
        </p:txBody>
      </p:sp>
      <p:pic>
        <p:nvPicPr>
          <p:cNvPr id="233" name="Picture 232" descr="rivr-symbol-light.png"/>
          <p:cNvPicPr>
            <a:picLocks noChangeAspect="1"/>
          </p:cNvPicPr>
          <p:nvPr/>
        </p:nvPicPr>
        <p:blipFill>
          <a:blip r:embed="rId12"/>
          <a:stretch>
            <a:fillRect/>
          </a:stretch>
        </p:blipFill>
        <p:spPr>
          <a:xfrm>
            <a:off x="576072" y="9518904"/>
            <a:ext cx="521208" cy="521208"/>
          </a:xfrm>
          <a:prstGeom prst="rect">
            <a:avLst/>
          </a:prstGeom>
        </p:spPr>
      </p:pic>
      <p:sp>
        <p:nvSpPr>
          <p:cNvPr id="234" name="TextBox 233"/>
          <p:cNvSpPr txBox="1"/>
          <p:nvPr/>
        </p:nvSpPr>
        <p:spPr>
          <a:xfrm>
            <a:off x="1371600" y="9724644"/>
            <a:ext cx="5486400" cy="301752"/>
          </a:xfrm>
          <a:prstGeom prst="rect">
            <a:avLst/>
          </a:prstGeom>
          <a:noFill/>
        </p:spPr>
        <p:txBody>
          <a:bodyPr wrap="none" lIns="0" rIns="0" tIns="0" bIns="0">
            <a:spAutoFit/>
          </a:bodyPr>
          <a:lstStyle/>
          <a:p>
            <a:pPr algn="l">
              <a:lnSpc>
                <a:spcPct val="115000"/>
              </a:lnSpc>
            </a:pPr>
            <a:r>
              <a:rPr sz="1350" spc="150">
                <a:solidFill>
                  <a:srgbClr val="AFC4C2"/>
                </a:solidFill>
                <a:latin typeface="TT Commons Pro"/>
              </a:rPr>
              <a:t>Rivr · Seed Round 2026</a:t>
            </a:r>
          </a:p>
        </p:txBody>
      </p:sp>
      <p:sp>
        <p:nvSpPr>
          <p:cNvPr id="235" name="TextBox 234"/>
          <p:cNvSpPr txBox="1"/>
          <p:nvPr/>
        </p:nvSpPr>
        <p:spPr>
          <a:xfrm>
            <a:off x="16870680" y="9724644"/>
            <a:ext cx="960119" cy="301752"/>
          </a:xfrm>
          <a:prstGeom prst="rect">
            <a:avLst/>
          </a:prstGeom>
          <a:noFill/>
        </p:spPr>
        <p:txBody>
          <a:bodyPr wrap="none" lIns="0" rIns="0" tIns="0" bIns="0">
            <a:spAutoFit/>
          </a:bodyPr>
          <a:lstStyle/>
          <a:p>
            <a:pPr algn="r">
              <a:lnSpc>
                <a:spcPct val="115000"/>
              </a:lnSpc>
            </a:pPr>
            <a:r>
              <a:rPr sz="1350" spc="150">
                <a:solidFill>
                  <a:srgbClr val="AFC4C2"/>
                </a:solidFill>
                <a:latin typeface="TT Commons Pro"/>
              </a:rPr>
              <a:t>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03333"/>
        </a:solidFill>
        <a:effectLst/>
      </p:bgPr>
    </p:bg>
    <p:spTree>
      <p:nvGrpSpPr>
        <p:cNvPr id="1" name=""/>
        <p:cNvGrpSpPr/>
        <p:nvPr/>
      </p:nvGrpSpPr>
      <p:grpSpPr/>
      <p:pic>
        <p:nvPicPr>
          <p:cNvPr id="2" name="Picture 1" descr="bg_c19.jpg"/>
          <p:cNvPicPr>
            <a:picLocks noChangeAspect="1"/>
          </p:cNvPicPr>
          <p:nvPr/>
        </p:nvPicPr>
        <p:blipFill>
          <a:blip r:embed="rId2"/>
          <a:stretch>
            <a:fillRect/>
          </a:stretch>
        </p:blipFill>
        <p:spPr>
          <a:xfrm>
            <a:off x="0" y="0"/>
            <a:ext cx="18287542" cy="10287000"/>
          </a:xfrm>
          <a:prstGeom prst="rect">
            <a:avLst/>
          </a:prstGeom>
        </p:spPr>
      </p:pic>
      <p:sp>
        <p:nvSpPr>
          <p:cNvPr id="3" name="TextBox 2"/>
          <p:cNvSpPr txBox="1"/>
          <p:nvPr/>
        </p:nvSpPr>
        <p:spPr>
          <a:xfrm>
            <a:off x="822959" y="822959"/>
            <a:ext cx="16733519" cy="384048"/>
          </a:xfrm>
          <a:prstGeom prst="rect">
            <a:avLst/>
          </a:prstGeom>
          <a:noFill/>
        </p:spPr>
        <p:txBody>
          <a:bodyPr wrap="none" lIns="0" rIns="0" tIns="0" bIns="0">
            <a:spAutoFit/>
          </a:bodyPr>
          <a:lstStyle/>
          <a:p>
            <a:pPr algn="l">
              <a:lnSpc>
                <a:spcPct val="115000"/>
              </a:lnSpc>
            </a:pPr>
            <a:r>
              <a:rPr sz="1650" spc="330">
                <a:solidFill>
                  <a:srgbClr val="9FE8DC"/>
                </a:solidFill>
                <a:latin typeface="Todes 1"/>
              </a:rPr>
              <a:t>LOCAL ECONOMIC INTELLIGENCE</a:t>
            </a:r>
          </a:p>
        </p:txBody>
      </p:sp>
      <p:sp>
        <p:nvSpPr>
          <p:cNvPr id="4" name="TextBox 3"/>
          <p:cNvSpPr txBox="1"/>
          <p:nvPr/>
        </p:nvSpPr>
        <p:spPr>
          <a:xfrm>
            <a:off x="822959" y="1717852"/>
            <a:ext cx="14029928" cy="1043025"/>
          </a:xfrm>
          <a:prstGeom prst="rect">
            <a:avLst/>
          </a:prstGeom>
          <a:noFill/>
        </p:spPr>
        <p:txBody>
          <a:bodyPr wrap="none" lIns="0" rIns="0" tIns="0" bIns="0">
            <a:spAutoFit/>
          </a:bodyPr>
          <a:lstStyle/>
          <a:p>
            <a:pPr algn="l">
              <a:lnSpc>
                <a:spcPct val="115000"/>
              </a:lnSpc>
            </a:pPr>
            <a:r>
              <a:rPr sz="5664" spc="-76">
                <a:solidFill>
                  <a:srgbClr val="F4EAD8"/>
                </a:solidFill>
                <a:latin typeface="Todes 1"/>
              </a:rPr>
              <a:t>Better visibility helps a place </a:t>
            </a:r>
          </a:p>
        </p:txBody>
      </p:sp>
      <p:sp>
        <p:nvSpPr>
          <p:cNvPr id="5" name="TextBox 4"/>
          <p:cNvSpPr txBox="1"/>
          <p:nvPr/>
        </p:nvSpPr>
        <p:spPr>
          <a:xfrm>
            <a:off x="11882310" y="1645919"/>
            <a:ext cx="2628661" cy="1173403"/>
          </a:xfrm>
          <a:prstGeom prst="rect">
            <a:avLst/>
          </a:prstGeom>
          <a:noFill/>
        </p:spPr>
        <p:txBody>
          <a:bodyPr wrap="none" lIns="0" rIns="0" tIns="0" bIns="0">
            <a:spAutoFit/>
          </a:bodyPr>
          <a:lstStyle/>
          <a:p>
            <a:pPr algn="l">
              <a:lnSpc>
                <a:spcPct val="115000"/>
              </a:lnSpc>
            </a:pPr>
            <a:r>
              <a:rPr sz="6372" spc="-75">
                <a:solidFill>
                  <a:srgbClr val="EBCF9E"/>
                </a:solidFill>
                <a:latin typeface="Ibarra Real Nova Italics"/>
              </a:rPr>
              <a:t>learn.</a:t>
            </a:r>
          </a:p>
        </p:txBody>
      </p:sp>
      <p:sp>
        <p:nvSpPr>
          <p:cNvPr id="6" name="Freeform 5"/>
          <p:cNvSpPr/>
          <p:nvPr/>
        </p:nvSpPr>
        <p:spPr>
          <a:xfrm>
            <a:off x="1920239" y="4389120"/>
            <a:ext cx="2057400" cy="2057400"/>
          </a:xfrm>
          <a:custGeom>
            <a:avLst/>
            <a:gdLst/>
            <a:ahLst/>
            <a:cxnLst/>
            <a:rect l="l" t="t" r="r" b="b"/>
            <a:pathLst>
              <a:path w="2057400" h="2057400">
                <a:moveTo>
                  <a:pt x="1028700" y="0"/>
                </a:moveTo>
                <a:lnTo>
                  <a:pt x="1162973" y="8800"/>
                </a:lnTo>
                <a:lnTo>
                  <a:pt x="1294948" y="35052"/>
                </a:lnTo>
                <a:lnTo>
                  <a:pt x="1422367" y="78305"/>
                </a:lnTo>
                <a:lnTo>
                  <a:pt x="1543050" y="137819"/>
                </a:lnTo>
                <a:lnTo>
                  <a:pt x="1654933" y="212577"/>
                </a:lnTo>
                <a:lnTo>
                  <a:pt x="1756101" y="301299"/>
                </a:lnTo>
                <a:lnTo>
                  <a:pt x="1844823" y="402467"/>
                </a:lnTo>
                <a:lnTo>
                  <a:pt x="1919581" y="514350"/>
                </a:lnTo>
                <a:lnTo>
                  <a:pt x="1979095" y="635033"/>
                </a:lnTo>
                <a:lnTo>
                  <a:pt x="2022348" y="762452"/>
                </a:lnTo>
                <a:lnTo>
                  <a:pt x="2048600" y="894427"/>
                </a:lnTo>
                <a:lnTo>
                  <a:pt x="2057400" y="1028700"/>
                </a:lnTo>
                <a:lnTo>
                  <a:pt x="2048600" y="1162972"/>
                </a:lnTo>
                <a:lnTo>
                  <a:pt x="2022348" y="1294947"/>
                </a:lnTo>
                <a:lnTo>
                  <a:pt x="1979095" y="1422366"/>
                </a:lnTo>
                <a:lnTo>
                  <a:pt x="1919581" y="1543050"/>
                </a:lnTo>
                <a:lnTo>
                  <a:pt x="1844823" y="1654932"/>
                </a:lnTo>
                <a:lnTo>
                  <a:pt x="1756101" y="1756100"/>
                </a:lnTo>
                <a:lnTo>
                  <a:pt x="1654933" y="1844822"/>
                </a:lnTo>
                <a:lnTo>
                  <a:pt x="1543050" y="1919580"/>
                </a:lnTo>
                <a:lnTo>
                  <a:pt x="1422367" y="1979094"/>
                </a:lnTo>
                <a:lnTo>
                  <a:pt x="1294948" y="2022347"/>
                </a:lnTo>
                <a:lnTo>
                  <a:pt x="1162973" y="2048599"/>
                </a:lnTo>
                <a:lnTo>
                  <a:pt x="1028700" y="2057400"/>
                </a:lnTo>
                <a:lnTo>
                  <a:pt x="894428" y="2048599"/>
                </a:lnTo>
                <a:lnTo>
                  <a:pt x="762453" y="2022347"/>
                </a:lnTo>
                <a:lnTo>
                  <a:pt x="635034" y="1979094"/>
                </a:lnTo>
                <a:lnTo>
                  <a:pt x="514351" y="1919580"/>
                </a:lnTo>
                <a:lnTo>
                  <a:pt x="402468" y="1844822"/>
                </a:lnTo>
                <a:lnTo>
                  <a:pt x="301300" y="1756100"/>
                </a:lnTo>
                <a:lnTo>
                  <a:pt x="212578" y="1654932"/>
                </a:lnTo>
                <a:lnTo>
                  <a:pt x="137820" y="1543050"/>
                </a:lnTo>
                <a:lnTo>
                  <a:pt x="78306" y="1422366"/>
                </a:lnTo>
                <a:lnTo>
                  <a:pt x="35053" y="1294947"/>
                </a:lnTo>
                <a:lnTo>
                  <a:pt x="8801" y="1162972"/>
                </a:lnTo>
                <a:lnTo>
                  <a:pt x="0" y="1028700"/>
                </a:lnTo>
                <a:lnTo>
                  <a:pt x="8801" y="894427"/>
                </a:lnTo>
                <a:lnTo>
                  <a:pt x="35053" y="762452"/>
                </a:lnTo>
                <a:lnTo>
                  <a:pt x="78306" y="635033"/>
                </a:lnTo>
                <a:lnTo>
                  <a:pt x="137820" y="514350"/>
                </a:lnTo>
                <a:lnTo>
                  <a:pt x="212578" y="402467"/>
                </a:lnTo>
                <a:lnTo>
                  <a:pt x="301300" y="301299"/>
                </a:lnTo>
                <a:lnTo>
                  <a:pt x="402468" y="212577"/>
                </a:lnTo>
                <a:lnTo>
                  <a:pt x="514350" y="137819"/>
                </a:lnTo>
                <a:lnTo>
                  <a:pt x="635034" y="78305"/>
                </a:lnTo>
                <a:lnTo>
                  <a:pt x="762453" y="35052"/>
                </a:lnTo>
                <a:lnTo>
                  <a:pt x="894428" y="8800"/>
                </a:lnTo>
                <a:lnTo>
                  <a:pt x="1028700" y="0"/>
                </a:lnTo>
                <a:lnTo>
                  <a:pt x="1028700" y="411480"/>
                </a:lnTo>
                <a:lnTo>
                  <a:pt x="948137" y="416760"/>
                </a:lnTo>
                <a:lnTo>
                  <a:pt x="868952" y="432511"/>
                </a:lnTo>
                <a:lnTo>
                  <a:pt x="792501" y="458463"/>
                </a:lnTo>
                <a:lnTo>
                  <a:pt x="720090" y="494171"/>
                </a:lnTo>
                <a:lnTo>
                  <a:pt x="652961" y="539026"/>
                </a:lnTo>
                <a:lnTo>
                  <a:pt x="592260" y="592259"/>
                </a:lnTo>
                <a:lnTo>
                  <a:pt x="539027" y="652960"/>
                </a:lnTo>
                <a:lnTo>
                  <a:pt x="494172" y="720090"/>
                </a:lnTo>
                <a:lnTo>
                  <a:pt x="458464" y="792500"/>
                </a:lnTo>
                <a:lnTo>
                  <a:pt x="432512" y="868951"/>
                </a:lnTo>
                <a:lnTo>
                  <a:pt x="416761" y="948136"/>
                </a:lnTo>
                <a:lnTo>
                  <a:pt x="411481" y="1028700"/>
                </a:lnTo>
                <a:lnTo>
                  <a:pt x="416761" y="1109263"/>
                </a:lnTo>
                <a:lnTo>
                  <a:pt x="432512" y="1188448"/>
                </a:lnTo>
                <a:lnTo>
                  <a:pt x="458464" y="1264899"/>
                </a:lnTo>
                <a:lnTo>
                  <a:pt x="494172" y="1337309"/>
                </a:lnTo>
                <a:lnTo>
                  <a:pt x="539027" y="1404439"/>
                </a:lnTo>
                <a:lnTo>
                  <a:pt x="592260" y="1465140"/>
                </a:lnTo>
                <a:lnTo>
                  <a:pt x="652961" y="1518373"/>
                </a:lnTo>
                <a:lnTo>
                  <a:pt x="720091" y="1563228"/>
                </a:lnTo>
                <a:lnTo>
                  <a:pt x="792501" y="1598936"/>
                </a:lnTo>
                <a:lnTo>
                  <a:pt x="868952" y="1624888"/>
                </a:lnTo>
                <a:lnTo>
                  <a:pt x="948137" y="1640639"/>
                </a:lnTo>
                <a:lnTo>
                  <a:pt x="1028700" y="1645920"/>
                </a:lnTo>
                <a:lnTo>
                  <a:pt x="1109264" y="1640639"/>
                </a:lnTo>
                <a:lnTo>
                  <a:pt x="1188449" y="1624888"/>
                </a:lnTo>
                <a:lnTo>
                  <a:pt x="1264900" y="1598936"/>
                </a:lnTo>
                <a:lnTo>
                  <a:pt x="1337311" y="1563228"/>
                </a:lnTo>
                <a:lnTo>
                  <a:pt x="1404440" y="1518373"/>
                </a:lnTo>
                <a:lnTo>
                  <a:pt x="1465141" y="1465140"/>
                </a:lnTo>
                <a:lnTo>
                  <a:pt x="1518374" y="1404439"/>
                </a:lnTo>
                <a:lnTo>
                  <a:pt x="1563229" y="1337309"/>
                </a:lnTo>
                <a:lnTo>
                  <a:pt x="1598937" y="1264899"/>
                </a:lnTo>
                <a:lnTo>
                  <a:pt x="1624889" y="1188448"/>
                </a:lnTo>
                <a:lnTo>
                  <a:pt x="1640640" y="1109263"/>
                </a:lnTo>
                <a:lnTo>
                  <a:pt x="1645920" y="1028700"/>
                </a:lnTo>
                <a:lnTo>
                  <a:pt x="1640640" y="948136"/>
                </a:lnTo>
                <a:lnTo>
                  <a:pt x="1624889" y="868951"/>
                </a:lnTo>
                <a:lnTo>
                  <a:pt x="1598937" y="792500"/>
                </a:lnTo>
                <a:lnTo>
                  <a:pt x="1563229" y="720090"/>
                </a:lnTo>
                <a:lnTo>
                  <a:pt x="1518374" y="652960"/>
                </a:lnTo>
                <a:lnTo>
                  <a:pt x="1465141" y="592259"/>
                </a:lnTo>
                <a:lnTo>
                  <a:pt x="1404440" y="539026"/>
                </a:lnTo>
                <a:lnTo>
                  <a:pt x="1337311" y="494171"/>
                </a:lnTo>
                <a:lnTo>
                  <a:pt x="1264900" y="458463"/>
                </a:lnTo>
                <a:lnTo>
                  <a:pt x="1188449" y="432511"/>
                </a:lnTo>
                <a:lnTo>
                  <a:pt x="1109264" y="416760"/>
                </a:lnTo>
                <a:lnTo>
                  <a:pt x="1028700" y="411480"/>
                </a:lnTo>
                <a:close/>
              </a:path>
            </a:pathLst>
          </a:custGeom>
          <a:solidFill>
            <a:srgbClr val="114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Freeform 6"/>
          <p:cNvSpPr/>
          <p:nvPr/>
        </p:nvSpPr>
        <p:spPr>
          <a:xfrm>
            <a:off x="1938461" y="4389120"/>
            <a:ext cx="2038671" cy="2056892"/>
          </a:xfrm>
          <a:custGeom>
            <a:avLst/>
            <a:gdLst/>
            <a:ahLst/>
            <a:cxnLst/>
            <a:rect l="l" t="t" r="r" b="b"/>
            <a:pathLst>
              <a:path w="2038671" h="2056892">
                <a:moveTo>
                  <a:pt x="1010478" y="0"/>
                </a:moveTo>
                <a:lnTo>
                  <a:pt x="1107288" y="4565"/>
                </a:lnTo>
                <a:lnTo>
                  <a:pt x="1203238" y="18221"/>
                </a:lnTo>
                <a:lnTo>
                  <a:pt x="1297477" y="40845"/>
                </a:lnTo>
                <a:lnTo>
                  <a:pt x="1389168" y="72238"/>
                </a:lnTo>
                <a:lnTo>
                  <a:pt x="1477499" y="112121"/>
                </a:lnTo>
                <a:lnTo>
                  <a:pt x="1561684" y="160139"/>
                </a:lnTo>
                <a:lnTo>
                  <a:pt x="1640976" y="215867"/>
                </a:lnTo>
                <a:lnTo>
                  <a:pt x="1714672" y="278809"/>
                </a:lnTo>
                <a:lnTo>
                  <a:pt x="1782118" y="348408"/>
                </a:lnTo>
                <a:lnTo>
                  <a:pt x="1842714" y="424045"/>
                </a:lnTo>
                <a:lnTo>
                  <a:pt x="1895924" y="505049"/>
                </a:lnTo>
                <a:lnTo>
                  <a:pt x="1941274" y="590700"/>
                </a:lnTo>
                <a:lnTo>
                  <a:pt x="1978363" y="680240"/>
                </a:lnTo>
                <a:lnTo>
                  <a:pt x="2006860" y="772872"/>
                </a:lnTo>
                <a:lnTo>
                  <a:pt x="2026513" y="867775"/>
                </a:lnTo>
                <a:lnTo>
                  <a:pt x="2037149" y="964107"/>
                </a:lnTo>
                <a:lnTo>
                  <a:pt x="2038671" y="1061012"/>
                </a:lnTo>
                <a:lnTo>
                  <a:pt x="2031067" y="1157630"/>
                </a:lnTo>
                <a:lnTo>
                  <a:pt x="2014404" y="1253103"/>
                </a:lnTo>
                <a:lnTo>
                  <a:pt x="1988830" y="1346585"/>
                </a:lnTo>
                <a:lnTo>
                  <a:pt x="1954573" y="1437246"/>
                </a:lnTo>
                <a:lnTo>
                  <a:pt x="1911935" y="1524280"/>
                </a:lnTo>
                <a:lnTo>
                  <a:pt x="1861296" y="1606915"/>
                </a:lnTo>
                <a:lnTo>
                  <a:pt x="1803105" y="1684418"/>
                </a:lnTo>
                <a:lnTo>
                  <a:pt x="1737879" y="1756100"/>
                </a:lnTo>
                <a:lnTo>
                  <a:pt x="1666197" y="1821326"/>
                </a:lnTo>
                <a:lnTo>
                  <a:pt x="1588694" y="1879517"/>
                </a:lnTo>
                <a:lnTo>
                  <a:pt x="1506059" y="1930156"/>
                </a:lnTo>
                <a:lnTo>
                  <a:pt x="1419025" y="1972794"/>
                </a:lnTo>
                <a:lnTo>
                  <a:pt x="1328364" y="2007051"/>
                </a:lnTo>
                <a:lnTo>
                  <a:pt x="1234882" y="2032625"/>
                </a:lnTo>
                <a:lnTo>
                  <a:pt x="1139409" y="2049288"/>
                </a:lnTo>
                <a:lnTo>
                  <a:pt x="1042791" y="2056892"/>
                </a:lnTo>
                <a:lnTo>
                  <a:pt x="945886" y="2055370"/>
                </a:lnTo>
                <a:lnTo>
                  <a:pt x="849554" y="2044734"/>
                </a:lnTo>
                <a:lnTo>
                  <a:pt x="754651" y="2025081"/>
                </a:lnTo>
                <a:lnTo>
                  <a:pt x="662019" y="1996584"/>
                </a:lnTo>
                <a:lnTo>
                  <a:pt x="572479" y="1959495"/>
                </a:lnTo>
                <a:lnTo>
                  <a:pt x="486828" y="1914145"/>
                </a:lnTo>
                <a:lnTo>
                  <a:pt x="405824" y="1860935"/>
                </a:lnTo>
                <a:lnTo>
                  <a:pt x="330187" y="1800339"/>
                </a:lnTo>
                <a:lnTo>
                  <a:pt x="260588" y="1732893"/>
                </a:lnTo>
                <a:lnTo>
                  <a:pt x="197646" y="1659197"/>
                </a:lnTo>
                <a:lnTo>
                  <a:pt x="141918" y="1579905"/>
                </a:lnTo>
                <a:lnTo>
                  <a:pt x="93900" y="1495720"/>
                </a:lnTo>
                <a:lnTo>
                  <a:pt x="54017" y="1407389"/>
                </a:lnTo>
                <a:lnTo>
                  <a:pt x="22624" y="1315698"/>
                </a:lnTo>
                <a:lnTo>
                  <a:pt x="0" y="1221459"/>
                </a:lnTo>
                <a:lnTo>
                  <a:pt x="404191" y="1144355"/>
                </a:lnTo>
                <a:lnTo>
                  <a:pt x="417766" y="1200898"/>
                </a:lnTo>
                <a:lnTo>
                  <a:pt x="436602" y="1255913"/>
                </a:lnTo>
                <a:lnTo>
                  <a:pt x="460531" y="1308912"/>
                </a:lnTo>
                <a:lnTo>
                  <a:pt x="489342" y="1359423"/>
                </a:lnTo>
                <a:lnTo>
                  <a:pt x="522779" y="1406998"/>
                </a:lnTo>
                <a:lnTo>
                  <a:pt x="560544" y="1451216"/>
                </a:lnTo>
                <a:lnTo>
                  <a:pt x="602304" y="1491683"/>
                </a:lnTo>
                <a:lnTo>
                  <a:pt x="647686" y="1528041"/>
                </a:lnTo>
                <a:lnTo>
                  <a:pt x="696288" y="1559967"/>
                </a:lnTo>
                <a:lnTo>
                  <a:pt x="747679" y="1587177"/>
                </a:lnTo>
                <a:lnTo>
                  <a:pt x="801403" y="1609430"/>
                </a:lnTo>
                <a:lnTo>
                  <a:pt x="856982" y="1626528"/>
                </a:lnTo>
                <a:lnTo>
                  <a:pt x="913924" y="1638320"/>
                </a:lnTo>
                <a:lnTo>
                  <a:pt x="971723" y="1644702"/>
                </a:lnTo>
                <a:lnTo>
                  <a:pt x="1029866" y="1645615"/>
                </a:lnTo>
                <a:lnTo>
                  <a:pt x="1087837" y="1641053"/>
                </a:lnTo>
                <a:lnTo>
                  <a:pt x="1145121" y="1631055"/>
                </a:lnTo>
                <a:lnTo>
                  <a:pt x="1201210" y="1615711"/>
                </a:lnTo>
                <a:lnTo>
                  <a:pt x="1255606" y="1595156"/>
                </a:lnTo>
                <a:lnTo>
                  <a:pt x="1307827" y="1569574"/>
                </a:lnTo>
                <a:lnTo>
                  <a:pt x="1357408" y="1539190"/>
                </a:lnTo>
                <a:lnTo>
                  <a:pt x="1403909" y="1504276"/>
                </a:lnTo>
                <a:lnTo>
                  <a:pt x="1446919" y="1465140"/>
                </a:lnTo>
                <a:lnTo>
                  <a:pt x="1486055" y="1422130"/>
                </a:lnTo>
                <a:lnTo>
                  <a:pt x="1520969" y="1375629"/>
                </a:lnTo>
                <a:lnTo>
                  <a:pt x="1551353" y="1326048"/>
                </a:lnTo>
                <a:lnTo>
                  <a:pt x="1576935" y="1273827"/>
                </a:lnTo>
                <a:lnTo>
                  <a:pt x="1597490" y="1219431"/>
                </a:lnTo>
                <a:lnTo>
                  <a:pt x="1612834" y="1163342"/>
                </a:lnTo>
                <a:lnTo>
                  <a:pt x="1622832" y="1106058"/>
                </a:lnTo>
                <a:lnTo>
                  <a:pt x="1627394" y="1048087"/>
                </a:lnTo>
                <a:lnTo>
                  <a:pt x="1626481" y="989944"/>
                </a:lnTo>
                <a:lnTo>
                  <a:pt x="1620099" y="932145"/>
                </a:lnTo>
                <a:lnTo>
                  <a:pt x="1608307" y="875203"/>
                </a:lnTo>
                <a:lnTo>
                  <a:pt x="1591209" y="819624"/>
                </a:lnTo>
                <a:lnTo>
                  <a:pt x="1568956" y="765900"/>
                </a:lnTo>
                <a:lnTo>
                  <a:pt x="1541746" y="714509"/>
                </a:lnTo>
                <a:lnTo>
                  <a:pt x="1509820" y="665907"/>
                </a:lnTo>
                <a:lnTo>
                  <a:pt x="1473462" y="620525"/>
                </a:lnTo>
                <a:lnTo>
                  <a:pt x="1432995" y="578765"/>
                </a:lnTo>
                <a:lnTo>
                  <a:pt x="1388777" y="541000"/>
                </a:lnTo>
                <a:lnTo>
                  <a:pt x="1341202" y="507563"/>
                </a:lnTo>
                <a:lnTo>
                  <a:pt x="1290691" y="478752"/>
                </a:lnTo>
                <a:lnTo>
                  <a:pt x="1237692" y="454823"/>
                </a:lnTo>
                <a:lnTo>
                  <a:pt x="1182677" y="435987"/>
                </a:lnTo>
                <a:lnTo>
                  <a:pt x="1126134" y="422412"/>
                </a:lnTo>
                <a:lnTo>
                  <a:pt x="1068564" y="414219"/>
                </a:lnTo>
                <a:lnTo>
                  <a:pt x="1010478" y="411480"/>
                </a:lnTo>
                <a:close/>
              </a:path>
            </a:pathLst>
          </a:cu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920239" y="5184648"/>
            <a:ext cx="2057400" cy="548640"/>
          </a:xfrm>
          <a:prstGeom prst="rect">
            <a:avLst/>
          </a:prstGeom>
          <a:noFill/>
        </p:spPr>
        <p:txBody>
          <a:bodyPr wrap="none" lIns="0" rIns="0" tIns="0" bIns="0">
            <a:spAutoFit/>
          </a:bodyPr>
          <a:lstStyle/>
          <a:p>
            <a:pPr algn="ctr">
              <a:lnSpc>
                <a:spcPct val="115000"/>
              </a:lnSpc>
            </a:pPr>
            <a:r>
              <a:rPr sz="2550">
                <a:solidFill>
                  <a:srgbClr val="F4EAD8"/>
                </a:solidFill>
                <a:latin typeface="TT Commons Pro Bold"/>
              </a:rPr>
              <a:t>72%</a:t>
            </a:r>
          </a:p>
        </p:txBody>
      </p:sp>
      <p:sp>
        <p:nvSpPr>
          <p:cNvPr id="9" name="TextBox 8"/>
          <p:cNvSpPr txBox="1"/>
          <p:nvPr/>
        </p:nvSpPr>
        <p:spPr>
          <a:xfrm>
            <a:off x="1097279" y="6693408"/>
            <a:ext cx="3703320" cy="411479"/>
          </a:xfrm>
          <a:prstGeom prst="rect">
            <a:avLst/>
          </a:prstGeom>
          <a:noFill/>
        </p:spPr>
        <p:txBody>
          <a:bodyPr wrap="square" lIns="0" rIns="0" tIns="0" bIns="0">
            <a:spAutoFit/>
          </a:bodyPr>
          <a:lstStyle/>
          <a:p>
            <a:pPr algn="ctr">
              <a:lnSpc>
                <a:spcPct val="115000"/>
              </a:lnSpc>
            </a:pPr>
            <a:r>
              <a:rPr sz="1725">
                <a:solidFill>
                  <a:srgbClr val="F2ECDD"/>
                </a:solidFill>
                <a:latin typeface="TT Commons Pro"/>
              </a:rPr>
              <a:t>unmet requests</a:t>
            </a:r>
          </a:p>
        </p:txBody>
      </p:sp>
      <p:sp>
        <p:nvSpPr>
          <p:cNvPr id="10" name="TextBox 9"/>
          <p:cNvSpPr txBox="1"/>
          <p:nvPr/>
        </p:nvSpPr>
        <p:spPr>
          <a:xfrm>
            <a:off x="1097279" y="7104888"/>
            <a:ext cx="3703320" cy="411479"/>
          </a:xfrm>
          <a:prstGeom prst="rect">
            <a:avLst/>
          </a:prstGeom>
          <a:noFill/>
        </p:spPr>
        <p:txBody>
          <a:bodyPr wrap="square" lIns="0" rIns="0" tIns="0" bIns="0">
            <a:spAutoFit/>
          </a:bodyPr>
          <a:lstStyle/>
          <a:p>
            <a:pPr algn="ctr">
              <a:lnSpc>
                <a:spcPct val="115000"/>
              </a:lnSpc>
            </a:pPr>
            <a:r>
              <a:rPr sz="1425">
                <a:solidFill>
                  <a:srgbClr val="AFC4C2"/>
                </a:solidFill>
                <a:latin typeface="TT Commons Pro"/>
              </a:rPr>
              <a:t>shortages</a:t>
            </a:r>
          </a:p>
        </p:txBody>
      </p:sp>
      <p:sp>
        <p:nvSpPr>
          <p:cNvPr id="11" name="Freeform 10"/>
          <p:cNvSpPr/>
          <p:nvPr/>
        </p:nvSpPr>
        <p:spPr>
          <a:xfrm>
            <a:off x="6103619" y="4389120"/>
            <a:ext cx="2057400" cy="2057400"/>
          </a:xfrm>
          <a:custGeom>
            <a:avLst/>
            <a:gdLst/>
            <a:ahLst/>
            <a:cxnLst/>
            <a:rect l="l" t="t" r="r" b="b"/>
            <a:pathLst>
              <a:path w="2057400" h="2057400">
                <a:moveTo>
                  <a:pt x="1028700" y="0"/>
                </a:moveTo>
                <a:lnTo>
                  <a:pt x="1162973" y="8800"/>
                </a:lnTo>
                <a:lnTo>
                  <a:pt x="1294948" y="35052"/>
                </a:lnTo>
                <a:lnTo>
                  <a:pt x="1422367" y="78305"/>
                </a:lnTo>
                <a:lnTo>
                  <a:pt x="1543050" y="137819"/>
                </a:lnTo>
                <a:lnTo>
                  <a:pt x="1654933" y="212577"/>
                </a:lnTo>
                <a:lnTo>
                  <a:pt x="1756101" y="301299"/>
                </a:lnTo>
                <a:lnTo>
                  <a:pt x="1844823" y="402467"/>
                </a:lnTo>
                <a:lnTo>
                  <a:pt x="1919581" y="514350"/>
                </a:lnTo>
                <a:lnTo>
                  <a:pt x="1979095" y="635033"/>
                </a:lnTo>
                <a:lnTo>
                  <a:pt x="2022348" y="762452"/>
                </a:lnTo>
                <a:lnTo>
                  <a:pt x="2048600" y="894427"/>
                </a:lnTo>
                <a:lnTo>
                  <a:pt x="2057400" y="1028700"/>
                </a:lnTo>
                <a:lnTo>
                  <a:pt x="2048600" y="1162972"/>
                </a:lnTo>
                <a:lnTo>
                  <a:pt x="2022348" y="1294947"/>
                </a:lnTo>
                <a:lnTo>
                  <a:pt x="1979095" y="1422366"/>
                </a:lnTo>
                <a:lnTo>
                  <a:pt x="1919581" y="1543050"/>
                </a:lnTo>
                <a:lnTo>
                  <a:pt x="1844823" y="1654932"/>
                </a:lnTo>
                <a:lnTo>
                  <a:pt x="1756101" y="1756100"/>
                </a:lnTo>
                <a:lnTo>
                  <a:pt x="1654933" y="1844822"/>
                </a:lnTo>
                <a:lnTo>
                  <a:pt x="1543050" y="1919580"/>
                </a:lnTo>
                <a:lnTo>
                  <a:pt x="1422367" y="1979094"/>
                </a:lnTo>
                <a:lnTo>
                  <a:pt x="1294948" y="2022347"/>
                </a:lnTo>
                <a:lnTo>
                  <a:pt x="1162973" y="2048599"/>
                </a:lnTo>
                <a:lnTo>
                  <a:pt x="1028700" y="2057400"/>
                </a:lnTo>
                <a:lnTo>
                  <a:pt x="894428" y="2048599"/>
                </a:lnTo>
                <a:lnTo>
                  <a:pt x="762453" y="2022347"/>
                </a:lnTo>
                <a:lnTo>
                  <a:pt x="635034" y="1979094"/>
                </a:lnTo>
                <a:lnTo>
                  <a:pt x="514350" y="1919580"/>
                </a:lnTo>
                <a:lnTo>
                  <a:pt x="402468" y="1844822"/>
                </a:lnTo>
                <a:lnTo>
                  <a:pt x="301300" y="1756100"/>
                </a:lnTo>
                <a:lnTo>
                  <a:pt x="212578" y="1654932"/>
                </a:lnTo>
                <a:lnTo>
                  <a:pt x="137820" y="1543050"/>
                </a:lnTo>
                <a:lnTo>
                  <a:pt x="78306" y="1422366"/>
                </a:lnTo>
                <a:lnTo>
                  <a:pt x="35053" y="1294947"/>
                </a:lnTo>
                <a:lnTo>
                  <a:pt x="8801" y="1162972"/>
                </a:lnTo>
                <a:lnTo>
                  <a:pt x="0" y="1028700"/>
                </a:lnTo>
                <a:lnTo>
                  <a:pt x="8801" y="894427"/>
                </a:lnTo>
                <a:lnTo>
                  <a:pt x="35053" y="762452"/>
                </a:lnTo>
                <a:lnTo>
                  <a:pt x="78306" y="635033"/>
                </a:lnTo>
                <a:lnTo>
                  <a:pt x="137820" y="514350"/>
                </a:lnTo>
                <a:lnTo>
                  <a:pt x="212578" y="402467"/>
                </a:lnTo>
                <a:lnTo>
                  <a:pt x="301300" y="301299"/>
                </a:lnTo>
                <a:lnTo>
                  <a:pt x="402468" y="212577"/>
                </a:lnTo>
                <a:lnTo>
                  <a:pt x="514350" y="137819"/>
                </a:lnTo>
                <a:lnTo>
                  <a:pt x="635034" y="78305"/>
                </a:lnTo>
                <a:lnTo>
                  <a:pt x="762453" y="35052"/>
                </a:lnTo>
                <a:lnTo>
                  <a:pt x="894428" y="8800"/>
                </a:lnTo>
                <a:lnTo>
                  <a:pt x="1028700" y="0"/>
                </a:lnTo>
                <a:lnTo>
                  <a:pt x="1028700" y="411480"/>
                </a:lnTo>
                <a:lnTo>
                  <a:pt x="948137" y="416760"/>
                </a:lnTo>
                <a:lnTo>
                  <a:pt x="868952" y="432511"/>
                </a:lnTo>
                <a:lnTo>
                  <a:pt x="792501" y="458463"/>
                </a:lnTo>
                <a:lnTo>
                  <a:pt x="720090" y="494171"/>
                </a:lnTo>
                <a:lnTo>
                  <a:pt x="652961" y="539026"/>
                </a:lnTo>
                <a:lnTo>
                  <a:pt x="592260" y="592259"/>
                </a:lnTo>
                <a:lnTo>
                  <a:pt x="539027" y="652960"/>
                </a:lnTo>
                <a:lnTo>
                  <a:pt x="494172" y="720090"/>
                </a:lnTo>
                <a:lnTo>
                  <a:pt x="458464" y="792500"/>
                </a:lnTo>
                <a:lnTo>
                  <a:pt x="432512" y="868951"/>
                </a:lnTo>
                <a:lnTo>
                  <a:pt x="416761" y="948136"/>
                </a:lnTo>
                <a:lnTo>
                  <a:pt x="411480" y="1028700"/>
                </a:lnTo>
                <a:lnTo>
                  <a:pt x="416761" y="1109263"/>
                </a:lnTo>
                <a:lnTo>
                  <a:pt x="432512" y="1188448"/>
                </a:lnTo>
                <a:lnTo>
                  <a:pt x="458464" y="1264899"/>
                </a:lnTo>
                <a:lnTo>
                  <a:pt x="494172" y="1337309"/>
                </a:lnTo>
                <a:lnTo>
                  <a:pt x="539027" y="1404439"/>
                </a:lnTo>
                <a:lnTo>
                  <a:pt x="592260" y="1465140"/>
                </a:lnTo>
                <a:lnTo>
                  <a:pt x="652961" y="1518373"/>
                </a:lnTo>
                <a:lnTo>
                  <a:pt x="720090" y="1563228"/>
                </a:lnTo>
                <a:lnTo>
                  <a:pt x="792501" y="1598936"/>
                </a:lnTo>
                <a:lnTo>
                  <a:pt x="868952" y="1624888"/>
                </a:lnTo>
                <a:lnTo>
                  <a:pt x="948137" y="1640639"/>
                </a:lnTo>
                <a:lnTo>
                  <a:pt x="1028700" y="1645920"/>
                </a:lnTo>
                <a:lnTo>
                  <a:pt x="1109264" y="1640639"/>
                </a:lnTo>
                <a:lnTo>
                  <a:pt x="1188449" y="1624888"/>
                </a:lnTo>
                <a:lnTo>
                  <a:pt x="1264900" y="1598936"/>
                </a:lnTo>
                <a:lnTo>
                  <a:pt x="1337310" y="1563228"/>
                </a:lnTo>
                <a:lnTo>
                  <a:pt x="1404440" y="1518373"/>
                </a:lnTo>
                <a:lnTo>
                  <a:pt x="1465141" y="1465140"/>
                </a:lnTo>
                <a:lnTo>
                  <a:pt x="1518374" y="1404439"/>
                </a:lnTo>
                <a:lnTo>
                  <a:pt x="1563229" y="1337309"/>
                </a:lnTo>
                <a:lnTo>
                  <a:pt x="1598937" y="1264899"/>
                </a:lnTo>
                <a:lnTo>
                  <a:pt x="1624889" y="1188448"/>
                </a:lnTo>
                <a:lnTo>
                  <a:pt x="1640640" y="1109263"/>
                </a:lnTo>
                <a:lnTo>
                  <a:pt x="1645921" y="1028700"/>
                </a:lnTo>
                <a:lnTo>
                  <a:pt x="1640640" y="948136"/>
                </a:lnTo>
                <a:lnTo>
                  <a:pt x="1624889" y="868951"/>
                </a:lnTo>
                <a:lnTo>
                  <a:pt x="1598937" y="792500"/>
                </a:lnTo>
                <a:lnTo>
                  <a:pt x="1563229" y="720090"/>
                </a:lnTo>
                <a:lnTo>
                  <a:pt x="1518374" y="652960"/>
                </a:lnTo>
                <a:lnTo>
                  <a:pt x="1465141" y="592259"/>
                </a:lnTo>
                <a:lnTo>
                  <a:pt x="1404440" y="539026"/>
                </a:lnTo>
                <a:lnTo>
                  <a:pt x="1337310" y="494171"/>
                </a:lnTo>
                <a:lnTo>
                  <a:pt x="1264900" y="458463"/>
                </a:lnTo>
                <a:lnTo>
                  <a:pt x="1188449" y="432511"/>
                </a:lnTo>
                <a:lnTo>
                  <a:pt x="1109264" y="416760"/>
                </a:lnTo>
                <a:lnTo>
                  <a:pt x="1028700" y="411480"/>
                </a:lnTo>
                <a:close/>
              </a:path>
            </a:pathLst>
          </a:custGeom>
          <a:solidFill>
            <a:srgbClr val="114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7132319" y="4389120"/>
            <a:ext cx="1028594" cy="1897260"/>
          </a:xfrm>
          <a:custGeom>
            <a:avLst/>
            <a:gdLst/>
            <a:ahLst/>
            <a:cxnLst/>
            <a:rect l="l" t="t" r="r" b="b"/>
            <a:pathLst>
              <a:path w="1028594" h="1897260">
                <a:moveTo>
                  <a:pt x="0" y="0"/>
                </a:moveTo>
                <a:lnTo>
                  <a:pt x="55183" y="1481"/>
                </a:lnTo>
                <a:lnTo>
                  <a:pt x="110207" y="5920"/>
                </a:lnTo>
                <a:lnTo>
                  <a:pt x="164913" y="13304"/>
                </a:lnTo>
                <a:lnTo>
                  <a:pt x="219145" y="23613"/>
                </a:lnTo>
                <a:lnTo>
                  <a:pt x="272745" y="36815"/>
                </a:lnTo>
                <a:lnTo>
                  <a:pt x="325560" y="52874"/>
                </a:lnTo>
                <a:lnTo>
                  <a:pt x="377438" y="71744"/>
                </a:lnTo>
                <a:lnTo>
                  <a:pt x="428229" y="93368"/>
                </a:lnTo>
                <a:lnTo>
                  <a:pt x="477786" y="117687"/>
                </a:lnTo>
                <a:lnTo>
                  <a:pt x="525968" y="144628"/>
                </a:lnTo>
                <a:lnTo>
                  <a:pt x="572635" y="174116"/>
                </a:lnTo>
                <a:lnTo>
                  <a:pt x="617653" y="206064"/>
                </a:lnTo>
                <a:lnTo>
                  <a:pt x="660892" y="240381"/>
                </a:lnTo>
                <a:lnTo>
                  <a:pt x="702228" y="276968"/>
                </a:lnTo>
                <a:lnTo>
                  <a:pt x="741543" y="315721"/>
                </a:lnTo>
                <a:lnTo>
                  <a:pt x="778721" y="356526"/>
                </a:lnTo>
                <a:lnTo>
                  <a:pt x="813658" y="399267"/>
                </a:lnTo>
                <a:lnTo>
                  <a:pt x="846251" y="443820"/>
                </a:lnTo>
                <a:lnTo>
                  <a:pt x="876407" y="490058"/>
                </a:lnTo>
                <a:lnTo>
                  <a:pt x="904040" y="537846"/>
                </a:lnTo>
                <a:lnTo>
                  <a:pt x="929069" y="587049"/>
                </a:lnTo>
                <a:lnTo>
                  <a:pt x="951423" y="637523"/>
                </a:lnTo>
                <a:lnTo>
                  <a:pt x="971037" y="689123"/>
                </a:lnTo>
                <a:lnTo>
                  <a:pt x="987855" y="741701"/>
                </a:lnTo>
                <a:lnTo>
                  <a:pt x="1001828" y="795106"/>
                </a:lnTo>
                <a:lnTo>
                  <a:pt x="1012916" y="849184"/>
                </a:lnTo>
                <a:lnTo>
                  <a:pt x="1021087" y="903778"/>
                </a:lnTo>
                <a:lnTo>
                  <a:pt x="1026318" y="958732"/>
                </a:lnTo>
                <a:lnTo>
                  <a:pt x="1028594" y="1013888"/>
                </a:lnTo>
                <a:lnTo>
                  <a:pt x="1027907" y="1069086"/>
                </a:lnTo>
                <a:lnTo>
                  <a:pt x="1024261" y="1124168"/>
                </a:lnTo>
                <a:lnTo>
                  <a:pt x="1017665" y="1178975"/>
                </a:lnTo>
                <a:lnTo>
                  <a:pt x="1008138" y="1233349"/>
                </a:lnTo>
                <a:lnTo>
                  <a:pt x="995709" y="1287134"/>
                </a:lnTo>
                <a:lnTo>
                  <a:pt x="980412" y="1340175"/>
                </a:lnTo>
                <a:lnTo>
                  <a:pt x="962292" y="1392319"/>
                </a:lnTo>
                <a:lnTo>
                  <a:pt x="941401" y="1443416"/>
                </a:lnTo>
                <a:lnTo>
                  <a:pt x="917798" y="1493318"/>
                </a:lnTo>
                <a:lnTo>
                  <a:pt x="891553" y="1541883"/>
                </a:lnTo>
                <a:lnTo>
                  <a:pt x="862741" y="1588970"/>
                </a:lnTo>
                <a:lnTo>
                  <a:pt x="831444" y="1634443"/>
                </a:lnTo>
                <a:lnTo>
                  <a:pt x="797753" y="1678172"/>
                </a:lnTo>
                <a:lnTo>
                  <a:pt x="761765" y="1720031"/>
                </a:lnTo>
                <a:lnTo>
                  <a:pt x="723583" y="1759899"/>
                </a:lnTo>
                <a:lnTo>
                  <a:pt x="683317" y="1797661"/>
                </a:lnTo>
                <a:lnTo>
                  <a:pt x="641084" y="1833209"/>
                </a:lnTo>
                <a:lnTo>
                  <a:pt x="597004" y="1866441"/>
                </a:lnTo>
                <a:lnTo>
                  <a:pt x="551206" y="1897260"/>
                </a:lnTo>
                <a:lnTo>
                  <a:pt x="330724" y="1549836"/>
                </a:lnTo>
                <a:lnTo>
                  <a:pt x="358203" y="1531344"/>
                </a:lnTo>
                <a:lnTo>
                  <a:pt x="384650" y="1511405"/>
                </a:lnTo>
                <a:lnTo>
                  <a:pt x="409990" y="1490077"/>
                </a:lnTo>
                <a:lnTo>
                  <a:pt x="434150" y="1467419"/>
                </a:lnTo>
                <a:lnTo>
                  <a:pt x="457059" y="1443498"/>
                </a:lnTo>
                <a:lnTo>
                  <a:pt x="478652" y="1418383"/>
                </a:lnTo>
                <a:lnTo>
                  <a:pt x="498867" y="1392146"/>
                </a:lnTo>
                <a:lnTo>
                  <a:pt x="517645" y="1364862"/>
                </a:lnTo>
                <a:lnTo>
                  <a:pt x="534932" y="1336610"/>
                </a:lnTo>
                <a:lnTo>
                  <a:pt x="550679" y="1307471"/>
                </a:lnTo>
                <a:lnTo>
                  <a:pt x="564841" y="1277529"/>
                </a:lnTo>
                <a:lnTo>
                  <a:pt x="577375" y="1246871"/>
                </a:lnTo>
                <a:lnTo>
                  <a:pt x="588247" y="1215585"/>
                </a:lnTo>
                <a:lnTo>
                  <a:pt x="597425" y="1183760"/>
                </a:lnTo>
                <a:lnTo>
                  <a:pt x="604883" y="1151489"/>
                </a:lnTo>
                <a:lnTo>
                  <a:pt x="610599" y="1118865"/>
                </a:lnTo>
                <a:lnTo>
                  <a:pt x="614557" y="1085981"/>
                </a:lnTo>
                <a:lnTo>
                  <a:pt x="616745" y="1052931"/>
                </a:lnTo>
                <a:lnTo>
                  <a:pt x="617157" y="1019812"/>
                </a:lnTo>
                <a:lnTo>
                  <a:pt x="615791" y="986719"/>
                </a:lnTo>
                <a:lnTo>
                  <a:pt x="612653" y="953747"/>
                </a:lnTo>
                <a:lnTo>
                  <a:pt x="607750" y="920990"/>
                </a:lnTo>
                <a:lnTo>
                  <a:pt x="601097" y="888543"/>
                </a:lnTo>
                <a:lnTo>
                  <a:pt x="592713" y="856501"/>
                </a:lnTo>
                <a:lnTo>
                  <a:pt x="582622" y="824954"/>
                </a:lnTo>
                <a:lnTo>
                  <a:pt x="570854" y="793993"/>
                </a:lnTo>
                <a:lnTo>
                  <a:pt x="557442" y="763709"/>
                </a:lnTo>
                <a:lnTo>
                  <a:pt x="542424" y="734188"/>
                </a:lnTo>
                <a:lnTo>
                  <a:pt x="525844" y="705514"/>
                </a:lnTo>
                <a:lnTo>
                  <a:pt x="507751" y="677772"/>
                </a:lnTo>
                <a:lnTo>
                  <a:pt x="488195" y="651040"/>
                </a:lnTo>
                <a:lnTo>
                  <a:pt x="467233" y="625395"/>
                </a:lnTo>
                <a:lnTo>
                  <a:pt x="444926" y="600912"/>
                </a:lnTo>
                <a:lnTo>
                  <a:pt x="421337" y="577661"/>
                </a:lnTo>
                <a:lnTo>
                  <a:pt x="396536" y="555708"/>
                </a:lnTo>
                <a:lnTo>
                  <a:pt x="370592" y="535118"/>
                </a:lnTo>
                <a:lnTo>
                  <a:pt x="343581" y="515949"/>
                </a:lnTo>
                <a:lnTo>
                  <a:pt x="315581" y="498257"/>
                </a:lnTo>
                <a:lnTo>
                  <a:pt x="286672" y="482092"/>
                </a:lnTo>
                <a:lnTo>
                  <a:pt x="256937" y="467501"/>
                </a:lnTo>
                <a:lnTo>
                  <a:pt x="226463" y="454526"/>
                </a:lnTo>
                <a:lnTo>
                  <a:pt x="195336" y="443204"/>
                </a:lnTo>
                <a:lnTo>
                  <a:pt x="163647" y="433569"/>
                </a:lnTo>
                <a:lnTo>
                  <a:pt x="131487" y="425647"/>
                </a:lnTo>
                <a:lnTo>
                  <a:pt x="98948" y="419462"/>
                </a:lnTo>
                <a:lnTo>
                  <a:pt x="66124" y="415032"/>
                </a:lnTo>
                <a:lnTo>
                  <a:pt x="33110" y="412368"/>
                </a:lnTo>
                <a:lnTo>
                  <a:pt x="0" y="411480"/>
                </a:lnTo>
                <a:close/>
              </a:path>
            </a:pathLst>
          </a:custGeom>
          <a:solidFill>
            <a:srgbClr val="99E6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03619" y="5184648"/>
            <a:ext cx="2057400" cy="548640"/>
          </a:xfrm>
          <a:prstGeom prst="rect">
            <a:avLst/>
          </a:prstGeom>
          <a:noFill/>
        </p:spPr>
        <p:txBody>
          <a:bodyPr wrap="none" lIns="0" rIns="0" tIns="0" bIns="0">
            <a:spAutoFit/>
          </a:bodyPr>
          <a:lstStyle/>
          <a:p>
            <a:pPr algn="ctr">
              <a:lnSpc>
                <a:spcPct val="115000"/>
              </a:lnSpc>
            </a:pPr>
            <a:r>
              <a:rPr sz="2550">
                <a:solidFill>
                  <a:srgbClr val="F4EAD8"/>
                </a:solidFill>
                <a:latin typeface="TT Commons Pro Bold"/>
              </a:rPr>
              <a:t>41%</a:t>
            </a:r>
          </a:p>
        </p:txBody>
      </p:sp>
      <p:sp>
        <p:nvSpPr>
          <p:cNvPr id="14" name="TextBox 13"/>
          <p:cNvSpPr txBox="1"/>
          <p:nvPr/>
        </p:nvSpPr>
        <p:spPr>
          <a:xfrm>
            <a:off x="5280659" y="6693408"/>
            <a:ext cx="3703320" cy="411479"/>
          </a:xfrm>
          <a:prstGeom prst="rect">
            <a:avLst/>
          </a:prstGeom>
          <a:noFill/>
        </p:spPr>
        <p:txBody>
          <a:bodyPr wrap="square" lIns="0" rIns="0" tIns="0" bIns="0">
            <a:spAutoFit/>
          </a:bodyPr>
          <a:lstStyle/>
          <a:p>
            <a:pPr algn="ctr">
              <a:lnSpc>
                <a:spcPct val="115000"/>
              </a:lnSpc>
            </a:pPr>
            <a:r>
              <a:rPr sz="1725">
                <a:solidFill>
                  <a:srgbClr val="F2ECDD"/>
                </a:solidFill>
                <a:latin typeface="TT Commons Pro"/>
              </a:rPr>
              <a:t>idle resources</a:t>
            </a:r>
          </a:p>
        </p:txBody>
      </p:sp>
      <p:sp>
        <p:nvSpPr>
          <p:cNvPr id="15" name="TextBox 14"/>
          <p:cNvSpPr txBox="1"/>
          <p:nvPr/>
        </p:nvSpPr>
        <p:spPr>
          <a:xfrm>
            <a:off x="5280659" y="7104888"/>
            <a:ext cx="3703320" cy="411479"/>
          </a:xfrm>
          <a:prstGeom prst="rect">
            <a:avLst/>
          </a:prstGeom>
          <a:noFill/>
        </p:spPr>
        <p:txBody>
          <a:bodyPr wrap="square" lIns="0" rIns="0" tIns="0" bIns="0">
            <a:spAutoFit/>
          </a:bodyPr>
          <a:lstStyle/>
          <a:p>
            <a:pPr algn="ctr">
              <a:lnSpc>
                <a:spcPct val="115000"/>
              </a:lnSpc>
            </a:pPr>
            <a:r>
              <a:rPr sz="1425">
                <a:solidFill>
                  <a:srgbClr val="AFC4C2"/>
                </a:solidFill>
                <a:latin typeface="TT Commons Pro"/>
              </a:rPr>
              <a:t>sitting unused</a:t>
            </a:r>
          </a:p>
        </p:txBody>
      </p:sp>
      <p:sp>
        <p:nvSpPr>
          <p:cNvPr id="16" name="Freeform 15"/>
          <p:cNvSpPr/>
          <p:nvPr/>
        </p:nvSpPr>
        <p:spPr>
          <a:xfrm>
            <a:off x="10287000" y="4389120"/>
            <a:ext cx="2057400" cy="2057400"/>
          </a:xfrm>
          <a:custGeom>
            <a:avLst/>
            <a:gdLst/>
            <a:ahLst/>
            <a:cxnLst/>
            <a:rect l="l" t="t" r="r" b="b"/>
            <a:pathLst>
              <a:path w="2057400" h="2057400">
                <a:moveTo>
                  <a:pt x="1028700" y="0"/>
                </a:moveTo>
                <a:lnTo>
                  <a:pt x="1162972" y="8800"/>
                </a:lnTo>
                <a:lnTo>
                  <a:pt x="1294947" y="35052"/>
                </a:lnTo>
                <a:lnTo>
                  <a:pt x="1422366" y="78305"/>
                </a:lnTo>
                <a:lnTo>
                  <a:pt x="1543050" y="137819"/>
                </a:lnTo>
                <a:lnTo>
                  <a:pt x="1654932" y="212577"/>
                </a:lnTo>
                <a:lnTo>
                  <a:pt x="1756100" y="301299"/>
                </a:lnTo>
                <a:lnTo>
                  <a:pt x="1844822" y="402467"/>
                </a:lnTo>
                <a:lnTo>
                  <a:pt x="1919580" y="514350"/>
                </a:lnTo>
                <a:lnTo>
                  <a:pt x="1979094" y="635033"/>
                </a:lnTo>
                <a:lnTo>
                  <a:pt x="2022347" y="762452"/>
                </a:lnTo>
                <a:lnTo>
                  <a:pt x="2048599" y="894427"/>
                </a:lnTo>
                <a:lnTo>
                  <a:pt x="2057400" y="1028700"/>
                </a:lnTo>
                <a:lnTo>
                  <a:pt x="2048599" y="1162972"/>
                </a:lnTo>
                <a:lnTo>
                  <a:pt x="2022347" y="1294947"/>
                </a:lnTo>
                <a:lnTo>
                  <a:pt x="1979094" y="1422366"/>
                </a:lnTo>
                <a:lnTo>
                  <a:pt x="1919580" y="1543050"/>
                </a:lnTo>
                <a:lnTo>
                  <a:pt x="1844822" y="1654932"/>
                </a:lnTo>
                <a:lnTo>
                  <a:pt x="1756100" y="1756100"/>
                </a:lnTo>
                <a:lnTo>
                  <a:pt x="1654932" y="1844822"/>
                </a:lnTo>
                <a:lnTo>
                  <a:pt x="1543050" y="1919580"/>
                </a:lnTo>
                <a:lnTo>
                  <a:pt x="1422366" y="1979094"/>
                </a:lnTo>
                <a:lnTo>
                  <a:pt x="1294947" y="2022347"/>
                </a:lnTo>
                <a:lnTo>
                  <a:pt x="1162972" y="2048599"/>
                </a:lnTo>
                <a:lnTo>
                  <a:pt x="1028700" y="2057400"/>
                </a:lnTo>
                <a:lnTo>
                  <a:pt x="894427" y="2048599"/>
                </a:lnTo>
                <a:lnTo>
                  <a:pt x="762452" y="2022347"/>
                </a:lnTo>
                <a:lnTo>
                  <a:pt x="635033" y="1979094"/>
                </a:lnTo>
                <a:lnTo>
                  <a:pt x="514350" y="1919580"/>
                </a:lnTo>
                <a:lnTo>
                  <a:pt x="402467" y="1844822"/>
                </a:lnTo>
                <a:lnTo>
                  <a:pt x="301299" y="1756100"/>
                </a:lnTo>
                <a:lnTo>
                  <a:pt x="212577" y="1654932"/>
                </a:lnTo>
                <a:lnTo>
                  <a:pt x="137819" y="1543050"/>
                </a:lnTo>
                <a:lnTo>
                  <a:pt x="78305" y="1422366"/>
                </a:lnTo>
                <a:lnTo>
                  <a:pt x="35052" y="1294947"/>
                </a:lnTo>
                <a:lnTo>
                  <a:pt x="8800" y="1162972"/>
                </a:lnTo>
                <a:lnTo>
                  <a:pt x="0" y="1028700"/>
                </a:lnTo>
                <a:lnTo>
                  <a:pt x="8800" y="894427"/>
                </a:lnTo>
                <a:lnTo>
                  <a:pt x="35052" y="762452"/>
                </a:lnTo>
                <a:lnTo>
                  <a:pt x="78305" y="635033"/>
                </a:lnTo>
                <a:lnTo>
                  <a:pt x="137819" y="514350"/>
                </a:lnTo>
                <a:lnTo>
                  <a:pt x="212577" y="402467"/>
                </a:lnTo>
                <a:lnTo>
                  <a:pt x="301299" y="301299"/>
                </a:lnTo>
                <a:lnTo>
                  <a:pt x="402467" y="212577"/>
                </a:lnTo>
                <a:lnTo>
                  <a:pt x="514350" y="137819"/>
                </a:lnTo>
                <a:lnTo>
                  <a:pt x="635033" y="78305"/>
                </a:lnTo>
                <a:lnTo>
                  <a:pt x="762452" y="35052"/>
                </a:lnTo>
                <a:lnTo>
                  <a:pt x="894427" y="8800"/>
                </a:lnTo>
                <a:lnTo>
                  <a:pt x="1028700" y="0"/>
                </a:lnTo>
                <a:lnTo>
                  <a:pt x="1028700" y="411480"/>
                </a:lnTo>
                <a:lnTo>
                  <a:pt x="948136" y="416760"/>
                </a:lnTo>
                <a:lnTo>
                  <a:pt x="868951" y="432511"/>
                </a:lnTo>
                <a:lnTo>
                  <a:pt x="792500" y="458463"/>
                </a:lnTo>
                <a:lnTo>
                  <a:pt x="720090" y="494171"/>
                </a:lnTo>
                <a:lnTo>
                  <a:pt x="652960" y="539026"/>
                </a:lnTo>
                <a:lnTo>
                  <a:pt x="592259" y="592259"/>
                </a:lnTo>
                <a:lnTo>
                  <a:pt x="539026" y="652960"/>
                </a:lnTo>
                <a:lnTo>
                  <a:pt x="494171" y="720090"/>
                </a:lnTo>
                <a:lnTo>
                  <a:pt x="458463" y="792500"/>
                </a:lnTo>
                <a:lnTo>
                  <a:pt x="432511" y="868951"/>
                </a:lnTo>
                <a:lnTo>
                  <a:pt x="416760" y="948136"/>
                </a:lnTo>
                <a:lnTo>
                  <a:pt x="411480" y="1028700"/>
                </a:lnTo>
                <a:lnTo>
                  <a:pt x="416760" y="1109263"/>
                </a:lnTo>
                <a:lnTo>
                  <a:pt x="432511" y="1188448"/>
                </a:lnTo>
                <a:lnTo>
                  <a:pt x="458463" y="1264899"/>
                </a:lnTo>
                <a:lnTo>
                  <a:pt x="494171" y="1337309"/>
                </a:lnTo>
                <a:lnTo>
                  <a:pt x="539026" y="1404439"/>
                </a:lnTo>
                <a:lnTo>
                  <a:pt x="592259" y="1465140"/>
                </a:lnTo>
                <a:lnTo>
                  <a:pt x="652960" y="1518373"/>
                </a:lnTo>
                <a:lnTo>
                  <a:pt x="720090" y="1563228"/>
                </a:lnTo>
                <a:lnTo>
                  <a:pt x="792500" y="1598936"/>
                </a:lnTo>
                <a:lnTo>
                  <a:pt x="868951" y="1624888"/>
                </a:lnTo>
                <a:lnTo>
                  <a:pt x="948136" y="1640639"/>
                </a:lnTo>
                <a:lnTo>
                  <a:pt x="1028700" y="1645920"/>
                </a:lnTo>
                <a:lnTo>
                  <a:pt x="1109263" y="1640639"/>
                </a:lnTo>
                <a:lnTo>
                  <a:pt x="1188448" y="1624888"/>
                </a:lnTo>
                <a:lnTo>
                  <a:pt x="1264899" y="1598936"/>
                </a:lnTo>
                <a:lnTo>
                  <a:pt x="1337309" y="1563228"/>
                </a:lnTo>
                <a:lnTo>
                  <a:pt x="1404439" y="1518373"/>
                </a:lnTo>
                <a:lnTo>
                  <a:pt x="1465140" y="1465140"/>
                </a:lnTo>
                <a:lnTo>
                  <a:pt x="1518373" y="1404439"/>
                </a:lnTo>
                <a:lnTo>
                  <a:pt x="1563228" y="1337309"/>
                </a:lnTo>
                <a:lnTo>
                  <a:pt x="1598936" y="1264899"/>
                </a:lnTo>
                <a:lnTo>
                  <a:pt x="1624888" y="1188448"/>
                </a:lnTo>
                <a:lnTo>
                  <a:pt x="1640639" y="1109263"/>
                </a:lnTo>
                <a:lnTo>
                  <a:pt x="1645919" y="1028700"/>
                </a:lnTo>
                <a:lnTo>
                  <a:pt x="1640639" y="948136"/>
                </a:lnTo>
                <a:lnTo>
                  <a:pt x="1624888" y="868951"/>
                </a:lnTo>
                <a:lnTo>
                  <a:pt x="1598936" y="792500"/>
                </a:lnTo>
                <a:lnTo>
                  <a:pt x="1563228" y="720090"/>
                </a:lnTo>
                <a:lnTo>
                  <a:pt x="1518373" y="652960"/>
                </a:lnTo>
                <a:lnTo>
                  <a:pt x="1465140" y="592259"/>
                </a:lnTo>
                <a:lnTo>
                  <a:pt x="1404439" y="539026"/>
                </a:lnTo>
                <a:lnTo>
                  <a:pt x="1337309" y="494171"/>
                </a:lnTo>
                <a:lnTo>
                  <a:pt x="1264899" y="458463"/>
                </a:lnTo>
                <a:lnTo>
                  <a:pt x="1188448" y="432511"/>
                </a:lnTo>
                <a:lnTo>
                  <a:pt x="1109263" y="416760"/>
                </a:lnTo>
                <a:lnTo>
                  <a:pt x="1028700" y="411480"/>
                </a:lnTo>
                <a:close/>
              </a:path>
            </a:pathLst>
          </a:custGeom>
          <a:solidFill>
            <a:srgbClr val="114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Freeform 16"/>
          <p:cNvSpPr/>
          <p:nvPr/>
        </p:nvSpPr>
        <p:spPr>
          <a:xfrm>
            <a:off x="10820119" y="4389120"/>
            <a:ext cx="1523995" cy="2056973"/>
          </a:xfrm>
          <a:custGeom>
            <a:avLst/>
            <a:gdLst/>
            <a:ahLst/>
            <a:cxnLst/>
            <a:rect l="l" t="t" r="r" b="b"/>
            <a:pathLst>
              <a:path w="1523995" h="2056973">
                <a:moveTo>
                  <a:pt x="495581" y="0"/>
                </a:moveTo>
                <a:lnTo>
                  <a:pt x="573606" y="2963"/>
                </a:lnTo>
                <a:lnTo>
                  <a:pt x="651183" y="11836"/>
                </a:lnTo>
                <a:lnTo>
                  <a:pt x="727862" y="26567"/>
                </a:lnTo>
                <a:lnTo>
                  <a:pt x="803204" y="47072"/>
                </a:lnTo>
                <a:lnTo>
                  <a:pt x="876773" y="73233"/>
                </a:lnTo>
                <a:lnTo>
                  <a:pt x="948146" y="104899"/>
                </a:lnTo>
                <a:lnTo>
                  <a:pt x="1016912" y="141886"/>
                </a:lnTo>
                <a:lnTo>
                  <a:pt x="1082674" y="183983"/>
                </a:lnTo>
                <a:lnTo>
                  <a:pt x="1145053" y="230947"/>
                </a:lnTo>
                <a:lnTo>
                  <a:pt x="1203691" y="282507"/>
                </a:lnTo>
                <a:lnTo>
                  <a:pt x="1258249" y="338366"/>
                </a:lnTo>
                <a:lnTo>
                  <a:pt x="1308413" y="398202"/>
                </a:lnTo>
                <a:lnTo>
                  <a:pt x="1353894" y="461671"/>
                </a:lnTo>
                <a:lnTo>
                  <a:pt x="1394430" y="528406"/>
                </a:lnTo>
                <a:lnTo>
                  <a:pt x="1429787" y="598024"/>
                </a:lnTo>
                <a:lnTo>
                  <a:pt x="1459762" y="670123"/>
                </a:lnTo>
                <a:lnTo>
                  <a:pt x="1484183" y="744289"/>
                </a:lnTo>
                <a:lnTo>
                  <a:pt x="1502907" y="820092"/>
                </a:lnTo>
                <a:lnTo>
                  <a:pt x="1515828" y="897098"/>
                </a:lnTo>
                <a:lnTo>
                  <a:pt x="1522871" y="974862"/>
                </a:lnTo>
                <a:lnTo>
                  <a:pt x="1523995" y="1052935"/>
                </a:lnTo>
                <a:lnTo>
                  <a:pt x="1519194" y="1130870"/>
                </a:lnTo>
                <a:lnTo>
                  <a:pt x="1508496" y="1208215"/>
                </a:lnTo>
                <a:lnTo>
                  <a:pt x="1491962" y="1284527"/>
                </a:lnTo>
                <a:lnTo>
                  <a:pt x="1469688" y="1359364"/>
                </a:lnTo>
                <a:lnTo>
                  <a:pt x="1441801" y="1432297"/>
                </a:lnTo>
                <a:lnTo>
                  <a:pt x="1408463" y="1502904"/>
                </a:lnTo>
                <a:lnTo>
                  <a:pt x="1369865" y="1570779"/>
                </a:lnTo>
                <a:lnTo>
                  <a:pt x="1326230" y="1635531"/>
                </a:lnTo>
                <a:lnTo>
                  <a:pt x="1277810" y="1696787"/>
                </a:lnTo>
                <a:lnTo>
                  <a:pt x="1224883" y="1754193"/>
                </a:lnTo>
                <a:lnTo>
                  <a:pt x="1167754" y="1807420"/>
                </a:lnTo>
                <a:lnTo>
                  <a:pt x="1106753" y="1856161"/>
                </a:lnTo>
                <a:lnTo>
                  <a:pt x="1042230" y="1900134"/>
                </a:lnTo>
                <a:lnTo>
                  <a:pt x="974558" y="1939086"/>
                </a:lnTo>
                <a:lnTo>
                  <a:pt x="904127" y="1972794"/>
                </a:lnTo>
                <a:lnTo>
                  <a:pt x="831341" y="2001062"/>
                </a:lnTo>
                <a:lnTo>
                  <a:pt x="756621" y="2023728"/>
                </a:lnTo>
                <a:lnTo>
                  <a:pt x="680398" y="2040661"/>
                </a:lnTo>
                <a:lnTo>
                  <a:pt x="603109" y="2051764"/>
                </a:lnTo>
                <a:lnTo>
                  <a:pt x="525201" y="2056973"/>
                </a:lnTo>
                <a:lnTo>
                  <a:pt x="447122" y="2056258"/>
                </a:lnTo>
                <a:lnTo>
                  <a:pt x="369323" y="2049622"/>
                </a:lnTo>
                <a:lnTo>
                  <a:pt x="292250" y="2037104"/>
                </a:lnTo>
                <a:lnTo>
                  <a:pt x="216350" y="2018777"/>
                </a:lnTo>
                <a:lnTo>
                  <a:pt x="142058" y="1994746"/>
                </a:lnTo>
                <a:lnTo>
                  <a:pt x="69803" y="1965149"/>
                </a:lnTo>
                <a:lnTo>
                  <a:pt x="0" y="1930156"/>
                </a:lnTo>
                <a:lnTo>
                  <a:pt x="198232" y="1569574"/>
                </a:lnTo>
                <a:lnTo>
                  <a:pt x="240114" y="1590569"/>
                </a:lnTo>
                <a:lnTo>
                  <a:pt x="283467" y="1608327"/>
                </a:lnTo>
                <a:lnTo>
                  <a:pt x="328042" y="1622746"/>
                </a:lnTo>
                <a:lnTo>
                  <a:pt x="373582" y="1633742"/>
                </a:lnTo>
                <a:lnTo>
                  <a:pt x="419826" y="1641253"/>
                </a:lnTo>
                <a:lnTo>
                  <a:pt x="466505" y="1645234"/>
                </a:lnTo>
                <a:lnTo>
                  <a:pt x="513353" y="1645664"/>
                </a:lnTo>
                <a:lnTo>
                  <a:pt x="560098" y="1642538"/>
                </a:lnTo>
                <a:lnTo>
                  <a:pt x="606471" y="1635876"/>
                </a:lnTo>
                <a:lnTo>
                  <a:pt x="652205" y="1625717"/>
                </a:lnTo>
                <a:lnTo>
                  <a:pt x="697037" y="1612117"/>
                </a:lnTo>
                <a:lnTo>
                  <a:pt x="740708" y="1595156"/>
                </a:lnTo>
                <a:lnTo>
                  <a:pt x="782967" y="1574932"/>
                </a:lnTo>
                <a:lnTo>
                  <a:pt x="823570" y="1551560"/>
                </a:lnTo>
                <a:lnTo>
                  <a:pt x="862284" y="1525176"/>
                </a:lnTo>
                <a:lnTo>
                  <a:pt x="898885" y="1495932"/>
                </a:lnTo>
                <a:lnTo>
                  <a:pt x="933162" y="1463996"/>
                </a:lnTo>
                <a:lnTo>
                  <a:pt x="964918" y="1429552"/>
                </a:lnTo>
                <a:lnTo>
                  <a:pt x="993970" y="1392798"/>
                </a:lnTo>
                <a:lnTo>
                  <a:pt x="1020151" y="1353947"/>
                </a:lnTo>
                <a:lnTo>
                  <a:pt x="1043310" y="1313222"/>
                </a:lnTo>
                <a:lnTo>
                  <a:pt x="1063313" y="1270858"/>
                </a:lnTo>
                <a:lnTo>
                  <a:pt x="1080045" y="1227098"/>
                </a:lnTo>
                <a:lnTo>
                  <a:pt x="1093409" y="1182196"/>
                </a:lnTo>
                <a:lnTo>
                  <a:pt x="1103330" y="1136409"/>
                </a:lnTo>
                <a:lnTo>
                  <a:pt x="1109749" y="1090002"/>
                </a:lnTo>
                <a:lnTo>
                  <a:pt x="1112629" y="1043241"/>
                </a:lnTo>
                <a:lnTo>
                  <a:pt x="1111955" y="996397"/>
                </a:lnTo>
                <a:lnTo>
                  <a:pt x="1107729" y="949738"/>
                </a:lnTo>
                <a:lnTo>
                  <a:pt x="1099976" y="903535"/>
                </a:lnTo>
                <a:lnTo>
                  <a:pt x="1088742" y="858053"/>
                </a:lnTo>
                <a:lnTo>
                  <a:pt x="1074090" y="813554"/>
                </a:lnTo>
                <a:lnTo>
                  <a:pt x="1056105" y="770294"/>
                </a:lnTo>
                <a:lnTo>
                  <a:pt x="1034890" y="728524"/>
                </a:lnTo>
                <a:lnTo>
                  <a:pt x="1010569" y="688482"/>
                </a:lnTo>
                <a:lnTo>
                  <a:pt x="983280" y="650401"/>
                </a:lnTo>
                <a:lnTo>
                  <a:pt x="953182" y="614499"/>
                </a:lnTo>
                <a:lnTo>
                  <a:pt x="920447" y="580984"/>
                </a:lnTo>
                <a:lnTo>
                  <a:pt x="885264" y="550048"/>
                </a:lnTo>
                <a:lnTo>
                  <a:pt x="847836" y="521870"/>
                </a:lnTo>
                <a:lnTo>
                  <a:pt x="808379" y="496612"/>
                </a:lnTo>
                <a:lnTo>
                  <a:pt x="767120" y="474419"/>
                </a:lnTo>
                <a:lnTo>
                  <a:pt x="724296" y="455420"/>
                </a:lnTo>
                <a:lnTo>
                  <a:pt x="680154" y="439723"/>
                </a:lnTo>
                <a:lnTo>
                  <a:pt x="634950" y="427420"/>
                </a:lnTo>
                <a:lnTo>
                  <a:pt x="588942" y="418581"/>
                </a:lnTo>
                <a:lnTo>
                  <a:pt x="542396" y="413258"/>
                </a:lnTo>
                <a:lnTo>
                  <a:pt x="495581" y="411480"/>
                </a:lnTo>
                <a:close/>
              </a:path>
            </a:pathLst>
          </a:cu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87000" y="5184648"/>
            <a:ext cx="2057400" cy="548640"/>
          </a:xfrm>
          <a:prstGeom prst="rect">
            <a:avLst/>
          </a:prstGeom>
          <a:noFill/>
        </p:spPr>
        <p:txBody>
          <a:bodyPr wrap="none" lIns="0" rIns="0" tIns="0" bIns="0">
            <a:spAutoFit/>
          </a:bodyPr>
          <a:lstStyle/>
          <a:p>
            <a:pPr algn="ctr">
              <a:lnSpc>
                <a:spcPct val="115000"/>
              </a:lnSpc>
            </a:pPr>
            <a:r>
              <a:rPr sz="2550">
                <a:solidFill>
                  <a:srgbClr val="F4EAD8"/>
                </a:solidFill>
                <a:latin typeface="TT Commons Pro Bold"/>
              </a:rPr>
              <a:t>57%</a:t>
            </a:r>
          </a:p>
        </p:txBody>
      </p:sp>
      <p:sp>
        <p:nvSpPr>
          <p:cNvPr id="19" name="TextBox 18"/>
          <p:cNvSpPr txBox="1"/>
          <p:nvPr/>
        </p:nvSpPr>
        <p:spPr>
          <a:xfrm>
            <a:off x="9464040" y="6693408"/>
            <a:ext cx="3703320" cy="411479"/>
          </a:xfrm>
          <a:prstGeom prst="rect">
            <a:avLst/>
          </a:prstGeom>
          <a:noFill/>
        </p:spPr>
        <p:txBody>
          <a:bodyPr wrap="square" lIns="0" rIns="0" tIns="0" bIns="0">
            <a:spAutoFit/>
          </a:bodyPr>
          <a:lstStyle/>
          <a:p>
            <a:pPr algn="ctr">
              <a:lnSpc>
                <a:spcPct val="115000"/>
              </a:lnSpc>
            </a:pPr>
            <a:r>
              <a:rPr sz="1725">
                <a:solidFill>
                  <a:srgbClr val="F2ECDD"/>
                </a:solidFill>
                <a:latin typeface="TT Commons Pro"/>
              </a:rPr>
              <a:t>sourced elsewhere</a:t>
            </a:r>
          </a:p>
        </p:txBody>
      </p:sp>
      <p:sp>
        <p:nvSpPr>
          <p:cNvPr id="20" name="TextBox 19"/>
          <p:cNvSpPr txBox="1"/>
          <p:nvPr/>
        </p:nvSpPr>
        <p:spPr>
          <a:xfrm>
            <a:off x="9464040" y="7104888"/>
            <a:ext cx="3703320" cy="411479"/>
          </a:xfrm>
          <a:prstGeom prst="rect">
            <a:avLst/>
          </a:prstGeom>
          <a:noFill/>
        </p:spPr>
        <p:txBody>
          <a:bodyPr wrap="square" lIns="0" rIns="0" tIns="0" bIns="0">
            <a:spAutoFit/>
          </a:bodyPr>
          <a:lstStyle/>
          <a:p>
            <a:pPr algn="ctr">
              <a:lnSpc>
                <a:spcPct val="115000"/>
              </a:lnSpc>
            </a:pPr>
            <a:r>
              <a:rPr sz="1425">
                <a:solidFill>
                  <a:srgbClr val="AFC4C2"/>
                </a:solidFill>
                <a:latin typeface="TT Commons Pro"/>
              </a:rPr>
              <a:t>leaving the place</a:t>
            </a:r>
          </a:p>
        </p:txBody>
      </p:sp>
      <p:sp>
        <p:nvSpPr>
          <p:cNvPr id="21" name="Freeform 20"/>
          <p:cNvSpPr/>
          <p:nvPr/>
        </p:nvSpPr>
        <p:spPr>
          <a:xfrm>
            <a:off x="14470380" y="4389120"/>
            <a:ext cx="2057400" cy="2057400"/>
          </a:xfrm>
          <a:custGeom>
            <a:avLst/>
            <a:gdLst/>
            <a:ahLst/>
            <a:cxnLst/>
            <a:rect l="l" t="t" r="r" b="b"/>
            <a:pathLst>
              <a:path w="2057400" h="2057400">
                <a:moveTo>
                  <a:pt x="1028700" y="0"/>
                </a:moveTo>
                <a:lnTo>
                  <a:pt x="1162972" y="8800"/>
                </a:lnTo>
                <a:lnTo>
                  <a:pt x="1294947" y="35052"/>
                </a:lnTo>
                <a:lnTo>
                  <a:pt x="1422366" y="78305"/>
                </a:lnTo>
                <a:lnTo>
                  <a:pt x="1543050" y="137819"/>
                </a:lnTo>
                <a:lnTo>
                  <a:pt x="1654932" y="212577"/>
                </a:lnTo>
                <a:lnTo>
                  <a:pt x="1756100" y="301299"/>
                </a:lnTo>
                <a:lnTo>
                  <a:pt x="1844822" y="402467"/>
                </a:lnTo>
                <a:lnTo>
                  <a:pt x="1919580" y="514350"/>
                </a:lnTo>
                <a:lnTo>
                  <a:pt x="1979094" y="635033"/>
                </a:lnTo>
                <a:lnTo>
                  <a:pt x="2022347" y="762452"/>
                </a:lnTo>
                <a:lnTo>
                  <a:pt x="2048599" y="894427"/>
                </a:lnTo>
                <a:lnTo>
                  <a:pt x="2057400" y="1028700"/>
                </a:lnTo>
                <a:lnTo>
                  <a:pt x="2048599" y="1162972"/>
                </a:lnTo>
                <a:lnTo>
                  <a:pt x="2022347" y="1294947"/>
                </a:lnTo>
                <a:lnTo>
                  <a:pt x="1979094" y="1422366"/>
                </a:lnTo>
                <a:lnTo>
                  <a:pt x="1919580" y="1543050"/>
                </a:lnTo>
                <a:lnTo>
                  <a:pt x="1844822" y="1654932"/>
                </a:lnTo>
                <a:lnTo>
                  <a:pt x="1756100" y="1756100"/>
                </a:lnTo>
                <a:lnTo>
                  <a:pt x="1654932" y="1844822"/>
                </a:lnTo>
                <a:lnTo>
                  <a:pt x="1543050" y="1919580"/>
                </a:lnTo>
                <a:lnTo>
                  <a:pt x="1422366" y="1979094"/>
                </a:lnTo>
                <a:lnTo>
                  <a:pt x="1294947" y="2022347"/>
                </a:lnTo>
                <a:lnTo>
                  <a:pt x="1162972" y="2048599"/>
                </a:lnTo>
                <a:lnTo>
                  <a:pt x="1028700" y="2057400"/>
                </a:lnTo>
                <a:lnTo>
                  <a:pt x="894427" y="2048599"/>
                </a:lnTo>
                <a:lnTo>
                  <a:pt x="762452" y="2022347"/>
                </a:lnTo>
                <a:lnTo>
                  <a:pt x="635033" y="1979094"/>
                </a:lnTo>
                <a:lnTo>
                  <a:pt x="514350" y="1919580"/>
                </a:lnTo>
                <a:lnTo>
                  <a:pt x="402467" y="1844822"/>
                </a:lnTo>
                <a:lnTo>
                  <a:pt x="301299" y="1756100"/>
                </a:lnTo>
                <a:lnTo>
                  <a:pt x="212577" y="1654932"/>
                </a:lnTo>
                <a:lnTo>
                  <a:pt x="137819" y="1543050"/>
                </a:lnTo>
                <a:lnTo>
                  <a:pt x="78305" y="1422366"/>
                </a:lnTo>
                <a:lnTo>
                  <a:pt x="35052" y="1294947"/>
                </a:lnTo>
                <a:lnTo>
                  <a:pt x="8800" y="1162972"/>
                </a:lnTo>
                <a:lnTo>
                  <a:pt x="0" y="1028700"/>
                </a:lnTo>
                <a:lnTo>
                  <a:pt x="8800" y="894427"/>
                </a:lnTo>
                <a:lnTo>
                  <a:pt x="35052" y="762452"/>
                </a:lnTo>
                <a:lnTo>
                  <a:pt x="78305" y="635033"/>
                </a:lnTo>
                <a:lnTo>
                  <a:pt x="137819" y="514350"/>
                </a:lnTo>
                <a:lnTo>
                  <a:pt x="212577" y="402467"/>
                </a:lnTo>
                <a:lnTo>
                  <a:pt x="301299" y="301299"/>
                </a:lnTo>
                <a:lnTo>
                  <a:pt x="402467" y="212577"/>
                </a:lnTo>
                <a:lnTo>
                  <a:pt x="514350" y="137819"/>
                </a:lnTo>
                <a:lnTo>
                  <a:pt x="635033" y="78305"/>
                </a:lnTo>
                <a:lnTo>
                  <a:pt x="762452" y="35052"/>
                </a:lnTo>
                <a:lnTo>
                  <a:pt x="894427" y="8800"/>
                </a:lnTo>
                <a:lnTo>
                  <a:pt x="1028700" y="0"/>
                </a:lnTo>
                <a:lnTo>
                  <a:pt x="1028700" y="411480"/>
                </a:lnTo>
                <a:lnTo>
                  <a:pt x="948136" y="416760"/>
                </a:lnTo>
                <a:lnTo>
                  <a:pt x="868951" y="432511"/>
                </a:lnTo>
                <a:lnTo>
                  <a:pt x="792500" y="458463"/>
                </a:lnTo>
                <a:lnTo>
                  <a:pt x="720089" y="494171"/>
                </a:lnTo>
                <a:lnTo>
                  <a:pt x="652960" y="539026"/>
                </a:lnTo>
                <a:lnTo>
                  <a:pt x="592259" y="592259"/>
                </a:lnTo>
                <a:lnTo>
                  <a:pt x="539026" y="652960"/>
                </a:lnTo>
                <a:lnTo>
                  <a:pt x="494171" y="720090"/>
                </a:lnTo>
                <a:lnTo>
                  <a:pt x="458463" y="792500"/>
                </a:lnTo>
                <a:lnTo>
                  <a:pt x="432511" y="868951"/>
                </a:lnTo>
                <a:lnTo>
                  <a:pt x="416760" y="948136"/>
                </a:lnTo>
                <a:lnTo>
                  <a:pt x="411479" y="1028700"/>
                </a:lnTo>
                <a:lnTo>
                  <a:pt x="416760" y="1109263"/>
                </a:lnTo>
                <a:lnTo>
                  <a:pt x="432511" y="1188448"/>
                </a:lnTo>
                <a:lnTo>
                  <a:pt x="458463" y="1264899"/>
                </a:lnTo>
                <a:lnTo>
                  <a:pt x="494171" y="1337309"/>
                </a:lnTo>
                <a:lnTo>
                  <a:pt x="539026" y="1404439"/>
                </a:lnTo>
                <a:lnTo>
                  <a:pt x="592259" y="1465140"/>
                </a:lnTo>
                <a:lnTo>
                  <a:pt x="652960" y="1518373"/>
                </a:lnTo>
                <a:lnTo>
                  <a:pt x="720089" y="1563228"/>
                </a:lnTo>
                <a:lnTo>
                  <a:pt x="792500" y="1598936"/>
                </a:lnTo>
                <a:lnTo>
                  <a:pt x="868951" y="1624888"/>
                </a:lnTo>
                <a:lnTo>
                  <a:pt x="948136" y="1640639"/>
                </a:lnTo>
                <a:lnTo>
                  <a:pt x="1028700" y="1645920"/>
                </a:lnTo>
                <a:lnTo>
                  <a:pt x="1109263" y="1640639"/>
                </a:lnTo>
                <a:lnTo>
                  <a:pt x="1188448" y="1624888"/>
                </a:lnTo>
                <a:lnTo>
                  <a:pt x="1264899" y="1598936"/>
                </a:lnTo>
                <a:lnTo>
                  <a:pt x="1337309" y="1563228"/>
                </a:lnTo>
                <a:lnTo>
                  <a:pt x="1404439" y="1518373"/>
                </a:lnTo>
                <a:lnTo>
                  <a:pt x="1465140" y="1465140"/>
                </a:lnTo>
                <a:lnTo>
                  <a:pt x="1518373" y="1404439"/>
                </a:lnTo>
                <a:lnTo>
                  <a:pt x="1563228" y="1337309"/>
                </a:lnTo>
                <a:lnTo>
                  <a:pt x="1598936" y="1264899"/>
                </a:lnTo>
                <a:lnTo>
                  <a:pt x="1624888" y="1188448"/>
                </a:lnTo>
                <a:lnTo>
                  <a:pt x="1640639" y="1109263"/>
                </a:lnTo>
                <a:lnTo>
                  <a:pt x="1645919" y="1028700"/>
                </a:lnTo>
                <a:lnTo>
                  <a:pt x="1640639" y="948136"/>
                </a:lnTo>
                <a:lnTo>
                  <a:pt x="1624888" y="868951"/>
                </a:lnTo>
                <a:lnTo>
                  <a:pt x="1598936" y="792500"/>
                </a:lnTo>
                <a:lnTo>
                  <a:pt x="1563228" y="720090"/>
                </a:lnTo>
                <a:lnTo>
                  <a:pt x="1518373" y="652960"/>
                </a:lnTo>
                <a:lnTo>
                  <a:pt x="1465140" y="592259"/>
                </a:lnTo>
                <a:lnTo>
                  <a:pt x="1404439" y="539026"/>
                </a:lnTo>
                <a:lnTo>
                  <a:pt x="1337309" y="494171"/>
                </a:lnTo>
                <a:lnTo>
                  <a:pt x="1264899" y="458463"/>
                </a:lnTo>
                <a:lnTo>
                  <a:pt x="1188448" y="432511"/>
                </a:lnTo>
                <a:lnTo>
                  <a:pt x="1109263" y="416760"/>
                </a:lnTo>
                <a:lnTo>
                  <a:pt x="1028700" y="411480"/>
                </a:lnTo>
                <a:close/>
              </a:path>
            </a:pathLst>
          </a:custGeom>
          <a:solidFill>
            <a:srgbClr val="114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Freeform 21"/>
          <p:cNvSpPr/>
          <p:nvPr/>
        </p:nvSpPr>
        <p:spPr>
          <a:xfrm>
            <a:off x="14470506" y="4389120"/>
            <a:ext cx="2056766" cy="2056258"/>
          </a:xfrm>
          <a:custGeom>
            <a:avLst/>
            <a:gdLst/>
            <a:ahLst/>
            <a:cxnLst/>
            <a:rect l="l" t="t" r="r" b="b"/>
            <a:pathLst>
              <a:path w="2056766" h="2056258">
                <a:moveTo>
                  <a:pt x="1028574" y="0"/>
                </a:moveTo>
                <a:lnTo>
                  <a:pt x="1141457" y="6212"/>
                </a:lnTo>
                <a:lnTo>
                  <a:pt x="1252977" y="24774"/>
                </a:lnTo>
                <a:lnTo>
                  <a:pt x="1361787" y="55461"/>
                </a:lnTo>
                <a:lnTo>
                  <a:pt x="1466573" y="97904"/>
                </a:lnTo>
                <a:lnTo>
                  <a:pt x="1566068" y="151589"/>
                </a:lnTo>
                <a:lnTo>
                  <a:pt x="1659071" y="215867"/>
                </a:lnTo>
                <a:lnTo>
                  <a:pt x="1744459" y="289963"/>
                </a:lnTo>
                <a:lnTo>
                  <a:pt x="1821200" y="372981"/>
                </a:lnTo>
                <a:lnTo>
                  <a:pt x="1888369" y="463920"/>
                </a:lnTo>
                <a:lnTo>
                  <a:pt x="1945152" y="561679"/>
                </a:lnTo>
                <a:lnTo>
                  <a:pt x="1990865" y="665080"/>
                </a:lnTo>
                <a:lnTo>
                  <a:pt x="2024955" y="772872"/>
                </a:lnTo>
                <a:lnTo>
                  <a:pt x="2047011" y="883754"/>
                </a:lnTo>
                <a:lnTo>
                  <a:pt x="2056766" y="996387"/>
                </a:lnTo>
                <a:lnTo>
                  <a:pt x="2054102" y="1109410"/>
                </a:lnTo>
                <a:lnTo>
                  <a:pt x="2039052" y="1221459"/>
                </a:lnTo>
                <a:lnTo>
                  <a:pt x="2011798" y="1331179"/>
                </a:lnTo>
                <a:lnTo>
                  <a:pt x="1972668" y="1437246"/>
                </a:lnTo>
                <a:lnTo>
                  <a:pt x="1922135" y="1538378"/>
                </a:lnTo>
                <a:lnTo>
                  <a:pt x="1860809" y="1633354"/>
                </a:lnTo>
                <a:lnTo>
                  <a:pt x="1789432" y="1721027"/>
                </a:lnTo>
                <a:lnTo>
                  <a:pt x="1708865" y="1800339"/>
                </a:lnTo>
                <a:lnTo>
                  <a:pt x="1620081" y="1870330"/>
                </a:lnTo>
                <a:lnTo>
                  <a:pt x="1524154" y="1930156"/>
                </a:lnTo>
                <a:lnTo>
                  <a:pt x="1422240" y="1979094"/>
                </a:lnTo>
                <a:lnTo>
                  <a:pt x="1315572" y="2016554"/>
                </a:lnTo>
                <a:lnTo>
                  <a:pt x="1205437" y="2042081"/>
                </a:lnTo>
                <a:lnTo>
                  <a:pt x="1093166" y="2055370"/>
                </a:lnTo>
                <a:lnTo>
                  <a:pt x="980115" y="2056258"/>
                </a:lnTo>
                <a:lnTo>
                  <a:pt x="867649" y="2044734"/>
                </a:lnTo>
                <a:lnTo>
                  <a:pt x="757127" y="2020940"/>
                </a:lnTo>
                <a:lnTo>
                  <a:pt x="649884" y="1985161"/>
                </a:lnTo>
                <a:lnTo>
                  <a:pt x="547214" y="1937829"/>
                </a:lnTo>
                <a:lnTo>
                  <a:pt x="450358" y="1879517"/>
                </a:lnTo>
                <a:lnTo>
                  <a:pt x="360486" y="1810929"/>
                </a:lnTo>
                <a:lnTo>
                  <a:pt x="278683" y="1732893"/>
                </a:lnTo>
                <a:lnTo>
                  <a:pt x="205938" y="1646352"/>
                </a:lnTo>
                <a:lnTo>
                  <a:pt x="143128" y="1552350"/>
                </a:lnTo>
                <a:lnTo>
                  <a:pt x="91013" y="1452024"/>
                </a:lnTo>
                <a:lnTo>
                  <a:pt x="50222" y="1346585"/>
                </a:lnTo>
                <a:lnTo>
                  <a:pt x="21247" y="1237307"/>
                </a:lnTo>
                <a:lnTo>
                  <a:pt x="4439" y="1125509"/>
                </a:lnTo>
                <a:lnTo>
                  <a:pt x="0" y="1012541"/>
                </a:lnTo>
                <a:lnTo>
                  <a:pt x="7985" y="899769"/>
                </a:lnTo>
                <a:lnTo>
                  <a:pt x="28297" y="788554"/>
                </a:lnTo>
                <a:lnTo>
                  <a:pt x="60689" y="680240"/>
                </a:lnTo>
                <a:lnTo>
                  <a:pt x="104773" y="576134"/>
                </a:lnTo>
                <a:lnTo>
                  <a:pt x="160013" y="477494"/>
                </a:lnTo>
                <a:lnTo>
                  <a:pt x="507437" y="697976"/>
                </a:lnTo>
                <a:lnTo>
                  <a:pt x="474293" y="757160"/>
                </a:lnTo>
                <a:lnTo>
                  <a:pt x="447843" y="819624"/>
                </a:lnTo>
                <a:lnTo>
                  <a:pt x="428407" y="884612"/>
                </a:lnTo>
                <a:lnTo>
                  <a:pt x="416220" y="951341"/>
                </a:lnTo>
                <a:lnTo>
                  <a:pt x="411430" y="1019005"/>
                </a:lnTo>
                <a:lnTo>
                  <a:pt x="414093" y="1086785"/>
                </a:lnTo>
                <a:lnTo>
                  <a:pt x="424178" y="1153864"/>
                </a:lnTo>
                <a:lnTo>
                  <a:pt x="441562" y="1219431"/>
                </a:lnTo>
                <a:lnTo>
                  <a:pt x="466037" y="1282694"/>
                </a:lnTo>
                <a:lnTo>
                  <a:pt x="497306" y="1342890"/>
                </a:lnTo>
                <a:lnTo>
                  <a:pt x="534992" y="1399291"/>
                </a:lnTo>
                <a:lnTo>
                  <a:pt x="578639" y="1451216"/>
                </a:lnTo>
                <a:lnTo>
                  <a:pt x="627721" y="1498037"/>
                </a:lnTo>
                <a:lnTo>
                  <a:pt x="681644" y="1539190"/>
                </a:lnTo>
                <a:lnTo>
                  <a:pt x="739758" y="1574177"/>
                </a:lnTo>
                <a:lnTo>
                  <a:pt x="801360" y="1602576"/>
                </a:lnTo>
                <a:lnTo>
                  <a:pt x="865706" y="1624044"/>
                </a:lnTo>
                <a:lnTo>
                  <a:pt x="932019" y="1638320"/>
                </a:lnTo>
                <a:lnTo>
                  <a:pt x="999498" y="1645234"/>
                </a:lnTo>
                <a:lnTo>
                  <a:pt x="1067329" y="1644702"/>
                </a:lnTo>
                <a:lnTo>
                  <a:pt x="1134692" y="1636729"/>
                </a:lnTo>
                <a:lnTo>
                  <a:pt x="1200772" y="1621412"/>
                </a:lnTo>
                <a:lnTo>
                  <a:pt x="1264773" y="1598936"/>
                </a:lnTo>
                <a:lnTo>
                  <a:pt x="1325922" y="1569574"/>
                </a:lnTo>
                <a:lnTo>
                  <a:pt x="1383478" y="1533678"/>
                </a:lnTo>
                <a:lnTo>
                  <a:pt x="1436748" y="1491683"/>
                </a:lnTo>
                <a:lnTo>
                  <a:pt x="1485089" y="1444096"/>
                </a:lnTo>
                <a:lnTo>
                  <a:pt x="1527915" y="1391492"/>
                </a:lnTo>
                <a:lnTo>
                  <a:pt x="1564710" y="1334506"/>
                </a:lnTo>
                <a:lnTo>
                  <a:pt x="1595030" y="1273827"/>
                </a:lnTo>
                <a:lnTo>
                  <a:pt x="1618508" y="1210187"/>
                </a:lnTo>
                <a:lnTo>
                  <a:pt x="1634861" y="1144355"/>
                </a:lnTo>
                <a:lnTo>
                  <a:pt x="1643891" y="1077126"/>
                </a:lnTo>
                <a:lnTo>
                  <a:pt x="1645489" y="1009312"/>
                </a:lnTo>
                <a:lnTo>
                  <a:pt x="1639636" y="941732"/>
                </a:lnTo>
                <a:lnTo>
                  <a:pt x="1626402" y="875203"/>
                </a:lnTo>
                <a:lnTo>
                  <a:pt x="1605948" y="810528"/>
                </a:lnTo>
                <a:lnTo>
                  <a:pt x="1578521" y="748487"/>
                </a:lnTo>
                <a:lnTo>
                  <a:pt x="1544451" y="689832"/>
                </a:lnTo>
                <a:lnTo>
                  <a:pt x="1504150" y="635269"/>
                </a:lnTo>
                <a:lnTo>
                  <a:pt x="1458105" y="585458"/>
                </a:lnTo>
                <a:lnTo>
                  <a:pt x="1406872" y="541000"/>
                </a:lnTo>
                <a:lnTo>
                  <a:pt x="1351070" y="502433"/>
                </a:lnTo>
                <a:lnTo>
                  <a:pt x="1291373" y="470222"/>
                </a:lnTo>
                <a:lnTo>
                  <a:pt x="1228502" y="444757"/>
                </a:lnTo>
                <a:lnTo>
                  <a:pt x="1163216" y="426344"/>
                </a:lnTo>
                <a:lnTo>
                  <a:pt x="1096304" y="415207"/>
                </a:lnTo>
                <a:lnTo>
                  <a:pt x="1028574" y="411480"/>
                </a:lnTo>
                <a:close/>
              </a:path>
            </a:pathLst>
          </a:custGeom>
          <a:solidFill>
            <a:srgbClr val="99E6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4470380" y="5184648"/>
            <a:ext cx="2057400" cy="548640"/>
          </a:xfrm>
          <a:prstGeom prst="rect">
            <a:avLst/>
          </a:prstGeom>
          <a:noFill/>
        </p:spPr>
        <p:txBody>
          <a:bodyPr wrap="none" lIns="0" rIns="0" tIns="0" bIns="0">
            <a:spAutoFit/>
          </a:bodyPr>
          <a:lstStyle/>
          <a:p>
            <a:pPr algn="ctr">
              <a:lnSpc>
                <a:spcPct val="115000"/>
              </a:lnSpc>
            </a:pPr>
            <a:r>
              <a:rPr sz="2550">
                <a:solidFill>
                  <a:srgbClr val="F4EAD8"/>
                </a:solidFill>
                <a:latin typeface="TT Commons Pro Bold"/>
              </a:rPr>
              <a:t>84%</a:t>
            </a:r>
          </a:p>
        </p:txBody>
      </p:sp>
      <p:sp>
        <p:nvSpPr>
          <p:cNvPr id="24" name="TextBox 23"/>
          <p:cNvSpPr txBox="1"/>
          <p:nvPr/>
        </p:nvSpPr>
        <p:spPr>
          <a:xfrm>
            <a:off x="13647419" y="6693408"/>
            <a:ext cx="3703320" cy="411479"/>
          </a:xfrm>
          <a:prstGeom prst="rect">
            <a:avLst/>
          </a:prstGeom>
          <a:noFill/>
        </p:spPr>
        <p:txBody>
          <a:bodyPr wrap="square" lIns="0" rIns="0" tIns="0" bIns="0">
            <a:spAutoFit/>
          </a:bodyPr>
          <a:lstStyle/>
          <a:p>
            <a:pPr algn="ctr">
              <a:lnSpc>
                <a:spcPct val="115000"/>
              </a:lnSpc>
            </a:pPr>
            <a:r>
              <a:rPr sz="1725">
                <a:solidFill>
                  <a:srgbClr val="F2ECDD"/>
                </a:solidFill>
                <a:latin typeface="TT Commons Pro"/>
              </a:rPr>
              <a:t>repeat searches</a:t>
            </a:r>
          </a:p>
        </p:txBody>
      </p:sp>
      <p:sp>
        <p:nvSpPr>
          <p:cNvPr id="25" name="TextBox 24"/>
          <p:cNvSpPr txBox="1"/>
          <p:nvPr/>
        </p:nvSpPr>
        <p:spPr>
          <a:xfrm>
            <a:off x="13647419" y="7104888"/>
            <a:ext cx="3703320" cy="411479"/>
          </a:xfrm>
          <a:prstGeom prst="rect">
            <a:avLst/>
          </a:prstGeom>
          <a:noFill/>
        </p:spPr>
        <p:txBody>
          <a:bodyPr wrap="square" lIns="0" rIns="0" tIns="0" bIns="0">
            <a:spAutoFit/>
          </a:bodyPr>
          <a:lstStyle/>
          <a:p>
            <a:pPr algn="ctr">
              <a:lnSpc>
                <a:spcPct val="115000"/>
              </a:lnSpc>
            </a:pPr>
            <a:r>
              <a:rPr sz="1425">
                <a:solidFill>
                  <a:srgbClr val="AFC4C2"/>
                </a:solidFill>
                <a:latin typeface="TT Commons Pro"/>
              </a:rPr>
              <a:t>latent demand</a:t>
            </a:r>
          </a:p>
        </p:txBody>
      </p:sp>
      <p:sp>
        <p:nvSpPr>
          <p:cNvPr id="26" name="TextBox 25"/>
          <p:cNvSpPr txBox="1"/>
          <p:nvPr/>
        </p:nvSpPr>
        <p:spPr>
          <a:xfrm>
            <a:off x="822959" y="3593592"/>
            <a:ext cx="16596359" cy="411479"/>
          </a:xfrm>
          <a:prstGeom prst="rect">
            <a:avLst/>
          </a:prstGeom>
          <a:noFill/>
        </p:spPr>
        <p:txBody>
          <a:bodyPr wrap="none" lIns="0" rIns="0" tIns="0" bIns="0">
            <a:spAutoFit/>
          </a:bodyPr>
          <a:lstStyle/>
          <a:p>
            <a:pPr algn="l">
              <a:lnSpc>
                <a:spcPct val="115000"/>
              </a:lnSpc>
            </a:pPr>
            <a:r>
              <a:rPr sz="1425" spc="330">
                <a:solidFill>
                  <a:srgbClr val="9FE8DC"/>
                </a:solidFill>
                <a:latin typeface="Todes 1"/>
              </a:rPr>
              <a:t>QUESTIONS A PLACE CAN FINALLY ASK ABOUT ITSELF</a:t>
            </a:r>
          </a:p>
        </p:txBody>
      </p:sp>
      <p:sp>
        <p:nvSpPr>
          <p:cNvPr id="27" name="TextBox 26"/>
          <p:cNvSpPr txBox="1"/>
          <p:nvPr/>
        </p:nvSpPr>
        <p:spPr>
          <a:xfrm>
            <a:off x="822959" y="8366759"/>
            <a:ext cx="16596359" cy="1097280"/>
          </a:xfrm>
          <a:prstGeom prst="rect">
            <a:avLst/>
          </a:prstGeom>
          <a:noFill/>
        </p:spPr>
        <p:txBody>
          <a:bodyPr wrap="square" lIns="0" rIns="0" tIns="0" bIns="0">
            <a:spAutoFit/>
          </a:bodyPr>
          <a:lstStyle/>
          <a:p>
            <a:pPr algn="ctr">
              <a:lnSpc>
                <a:spcPct val="140000"/>
              </a:lnSpc>
            </a:pPr>
            <a:r>
              <a:rPr sz="1950">
                <a:solidFill>
                  <a:srgbClr val="F4EAD8"/>
                </a:solidFill>
                <a:latin typeface="TT Commons Pro Bold"/>
              </a:rPr>
              <a:t>A feedback system for developing local capacity — </a:t>
            </a:r>
            <a:r>
              <a:rPr sz="2100" spc="20">
                <a:solidFill>
                  <a:srgbClr val="9FE8DC"/>
                </a:solidFill>
                <a:latin typeface="Alike Italics"/>
              </a:rPr>
              <a:t>not merely a marketplace for what already exists.</a:t>
            </a:r>
          </a:p>
        </p:txBody>
      </p:sp>
      <p:pic>
        <p:nvPicPr>
          <p:cNvPr id="28" name="Picture 27" descr="rivr-symbol-light.png"/>
          <p:cNvPicPr>
            <a:picLocks noChangeAspect="1"/>
          </p:cNvPicPr>
          <p:nvPr/>
        </p:nvPicPr>
        <p:blipFill>
          <a:blip r:embed="rId4"/>
          <a:stretch>
            <a:fillRect/>
          </a:stretch>
        </p:blipFill>
        <p:spPr>
          <a:xfrm>
            <a:off x="576072" y="9518904"/>
            <a:ext cx="521208" cy="521208"/>
          </a:xfrm>
          <a:prstGeom prst="rect">
            <a:avLst/>
          </a:prstGeom>
        </p:spPr>
      </p:pic>
      <p:sp>
        <p:nvSpPr>
          <p:cNvPr id="29" name="TextBox 28"/>
          <p:cNvSpPr txBox="1"/>
          <p:nvPr/>
        </p:nvSpPr>
        <p:spPr>
          <a:xfrm>
            <a:off x="1371600" y="9724644"/>
            <a:ext cx="5486400" cy="301752"/>
          </a:xfrm>
          <a:prstGeom prst="rect">
            <a:avLst/>
          </a:prstGeom>
          <a:noFill/>
        </p:spPr>
        <p:txBody>
          <a:bodyPr wrap="none" lIns="0" rIns="0" tIns="0" bIns="0">
            <a:spAutoFit/>
          </a:bodyPr>
          <a:lstStyle/>
          <a:p>
            <a:pPr algn="l">
              <a:lnSpc>
                <a:spcPct val="115000"/>
              </a:lnSpc>
            </a:pPr>
            <a:r>
              <a:rPr sz="1350" spc="150">
                <a:solidFill>
                  <a:srgbClr val="AFC4C2"/>
                </a:solidFill>
                <a:latin typeface="TT Commons Pro"/>
              </a:rPr>
              <a:t>Rivr · Seed Round 2026</a:t>
            </a:r>
          </a:p>
        </p:txBody>
      </p:sp>
      <p:sp>
        <p:nvSpPr>
          <p:cNvPr id="30" name="TextBox 29"/>
          <p:cNvSpPr txBox="1"/>
          <p:nvPr/>
        </p:nvSpPr>
        <p:spPr>
          <a:xfrm>
            <a:off x="16870680" y="9724644"/>
            <a:ext cx="960119" cy="301752"/>
          </a:xfrm>
          <a:prstGeom prst="rect">
            <a:avLst/>
          </a:prstGeom>
          <a:noFill/>
        </p:spPr>
        <p:txBody>
          <a:bodyPr wrap="none" lIns="0" rIns="0" tIns="0" bIns="0">
            <a:spAutoFit/>
          </a:bodyPr>
          <a:lstStyle/>
          <a:p>
            <a:pPr algn="r">
              <a:lnSpc>
                <a:spcPct val="115000"/>
              </a:lnSpc>
            </a:pPr>
            <a:r>
              <a:rPr sz="1350" spc="150">
                <a:solidFill>
                  <a:srgbClr val="AFC4C2"/>
                </a:solidFill>
                <a:latin typeface="TT Commons Pro"/>
              </a:rPr>
              <a:t>22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03333"/>
        </a:solidFill>
        <a:effectLst/>
      </p:bgPr>
    </p:bg>
    <p:spTree>
      <p:nvGrpSpPr>
        <p:cNvPr id="1" name=""/>
        <p:cNvGrpSpPr/>
        <p:nvPr/>
      </p:nvGrpSpPr>
      <p:grpSpPr/>
      <p:pic>
        <p:nvPicPr>
          <p:cNvPr id="2" name="Picture 1" descr="bg_c20.jpg"/>
          <p:cNvPicPr>
            <a:picLocks noChangeAspect="1"/>
          </p:cNvPicPr>
          <p:nvPr/>
        </p:nvPicPr>
        <p:blipFill>
          <a:blip r:embed="rId2"/>
          <a:stretch>
            <a:fillRect/>
          </a:stretch>
        </p:blipFill>
        <p:spPr>
          <a:xfrm>
            <a:off x="0" y="0"/>
            <a:ext cx="18287542" cy="10287000"/>
          </a:xfrm>
          <a:prstGeom prst="rect">
            <a:avLst/>
          </a:prstGeom>
        </p:spPr>
      </p:pic>
      <p:sp>
        <p:nvSpPr>
          <p:cNvPr id="3" name="TextBox 2"/>
          <p:cNvSpPr txBox="1"/>
          <p:nvPr/>
        </p:nvSpPr>
        <p:spPr>
          <a:xfrm>
            <a:off x="822959" y="822959"/>
            <a:ext cx="16733519" cy="384048"/>
          </a:xfrm>
          <a:prstGeom prst="rect">
            <a:avLst/>
          </a:prstGeom>
          <a:noFill/>
        </p:spPr>
        <p:txBody>
          <a:bodyPr wrap="none" lIns="0" rIns="0" tIns="0" bIns="0">
            <a:spAutoFit/>
          </a:bodyPr>
          <a:lstStyle/>
          <a:p>
            <a:pPr algn="l">
              <a:lnSpc>
                <a:spcPct val="115000"/>
              </a:lnSpc>
            </a:pPr>
            <a:r>
              <a:rPr sz="1650" spc="330">
                <a:solidFill>
                  <a:srgbClr val="9FE8DC"/>
                </a:solidFill>
                <a:latin typeface="Todes 1"/>
              </a:rPr>
              <a:t>COLLABORATION, NOT ONLY TRANSACTION</a:t>
            </a:r>
          </a:p>
        </p:txBody>
      </p:sp>
      <p:sp>
        <p:nvSpPr>
          <p:cNvPr id="4" name="TextBox 3"/>
          <p:cNvSpPr txBox="1"/>
          <p:nvPr/>
        </p:nvSpPr>
        <p:spPr>
          <a:xfrm>
            <a:off x="822959" y="1645919"/>
            <a:ext cx="4420552" cy="1140809"/>
          </a:xfrm>
          <a:prstGeom prst="rect">
            <a:avLst/>
          </a:prstGeom>
          <a:noFill/>
        </p:spPr>
        <p:txBody>
          <a:bodyPr wrap="none" lIns="0" rIns="0" tIns="0" bIns="0">
            <a:spAutoFit/>
          </a:bodyPr>
          <a:lstStyle/>
          <a:p>
            <a:pPr algn="l">
              <a:lnSpc>
                <a:spcPct val="115000"/>
              </a:lnSpc>
            </a:pPr>
            <a:r>
              <a:rPr sz="6195" spc="-75">
                <a:solidFill>
                  <a:srgbClr val="99E6D9"/>
                </a:solidFill>
                <a:latin typeface="Ibarra Real Nova Italics"/>
              </a:rPr>
              <a:t>Coalitions</a:t>
            </a:r>
          </a:p>
        </p:txBody>
      </p:sp>
      <p:sp>
        <p:nvSpPr>
          <p:cNvPr id="5" name="TextBox 4"/>
          <p:cNvSpPr txBox="1"/>
          <p:nvPr/>
        </p:nvSpPr>
        <p:spPr>
          <a:xfrm>
            <a:off x="4194810" y="1699869"/>
            <a:ext cx="11727180" cy="1043025"/>
          </a:xfrm>
          <a:prstGeom prst="rect">
            <a:avLst/>
          </a:prstGeom>
          <a:noFill/>
        </p:spPr>
        <p:txBody>
          <a:bodyPr wrap="none" lIns="0" rIns="0" tIns="0" bIns="0">
            <a:spAutoFit/>
          </a:bodyPr>
          <a:lstStyle/>
          <a:p>
            <a:pPr algn="l">
              <a:lnSpc>
                <a:spcPct val="115000"/>
              </a:lnSpc>
            </a:pPr>
            <a:r>
              <a:rPr sz="5664" spc="-76">
                <a:solidFill>
                  <a:srgbClr val="F4EAD8"/>
                </a:solidFill>
                <a:latin typeface="Todes 1"/>
              </a:rPr>
              <a:t> — not only transactions.</a:t>
            </a:r>
          </a:p>
        </p:txBody>
      </p:sp>
      <p:sp>
        <p:nvSpPr>
          <p:cNvPr id="6" name="TextBox 5"/>
          <p:cNvSpPr txBox="1"/>
          <p:nvPr/>
        </p:nvSpPr>
        <p:spPr>
          <a:xfrm>
            <a:off x="822959" y="3634739"/>
            <a:ext cx="15773400" cy="411479"/>
          </a:xfrm>
          <a:prstGeom prst="rect">
            <a:avLst/>
          </a:prstGeom>
          <a:noFill/>
        </p:spPr>
        <p:txBody>
          <a:bodyPr wrap="none" lIns="0" rIns="0" tIns="0" bIns="0">
            <a:spAutoFit/>
          </a:bodyPr>
          <a:lstStyle/>
          <a:p>
            <a:pPr algn="l">
              <a:lnSpc>
                <a:spcPct val="115000"/>
              </a:lnSpc>
            </a:pPr>
            <a:r>
              <a:rPr sz="1425" spc="330">
                <a:solidFill>
                  <a:srgbClr val="AFC4C2"/>
                </a:solidFill>
                <a:latin typeface="Todes 1"/>
              </a:rPr>
              <a:t>THE FAMILIAR PATTERN</a:t>
            </a:r>
          </a:p>
        </p:txBody>
      </p:sp>
      <p:sp>
        <p:nvSpPr>
          <p:cNvPr id="7" name="Rounded Rectangle 6"/>
          <p:cNvSpPr/>
          <p:nvPr/>
        </p:nvSpPr>
        <p:spPr>
          <a:xfrm>
            <a:off x="822959" y="4114800"/>
            <a:ext cx="2139696" cy="822959"/>
          </a:xfrm>
          <a:prstGeom prst="roundRect">
            <a:avLst>
              <a:gd name="adj" fmla="val 14000"/>
            </a:avLst>
          </a:prstGeom>
          <a:solidFill>
            <a:srgbClr val="084B4D"/>
          </a:solidFill>
          <a:ln w="12700">
            <a:solidFill>
              <a:srgbClr val="AFC4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306824"/>
            <a:ext cx="2468879" cy="411479"/>
          </a:xfrm>
          <a:prstGeom prst="rect">
            <a:avLst/>
          </a:prstGeom>
          <a:noFill/>
        </p:spPr>
        <p:txBody>
          <a:bodyPr wrap="none" lIns="0" rIns="0" tIns="0" bIns="0">
            <a:spAutoFit/>
          </a:bodyPr>
          <a:lstStyle/>
          <a:p>
            <a:pPr algn="ctr">
              <a:lnSpc>
                <a:spcPct val="115000"/>
              </a:lnSpc>
            </a:pPr>
            <a:r>
              <a:rPr sz="1350" spc="330">
                <a:solidFill>
                  <a:srgbClr val="AFC4C2"/>
                </a:solidFill>
                <a:latin typeface="Todes 1"/>
              </a:rPr>
              <a:t>NEED</a:t>
            </a:r>
          </a:p>
        </p:txBody>
      </p:sp>
      <p:sp>
        <p:nvSpPr>
          <p:cNvPr id="9" name="Right Arrow 8"/>
          <p:cNvSpPr/>
          <p:nvPr/>
        </p:nvSpPr>
        <p:spPr>
          <a:xfrm>
            <a:off x="3099815" y="4423409"/>
            <a:ext cx="356616" cy="205739"/>
          </a:xfrm>
          <a:prstGeom prst="rightArrow">
            <a:avLst/>
          </a:prstGeom>
          <a:solidFill>
            <a:srgbClr val="AFC4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593592" y="4114800"/>
            <a:ext cx="2139696" cy="822959"/>
          </a:xfrm>
          <a:prstGeom prst="roundRect">
            <a:avLst>
              <a:gd name="adj" fmla="val 14000"/>
            </a:avLst>
          </a:prstGeom>
          <a:solidFill>
            <a:srgbClr val="084B4D"/>
          </a:solidFill>
          <a:ln w="12700">
            <a:solidFill>
              <a:srgbClr val="AFC4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29000" y="4306824"/>
            <a:ext cx="2468879" cy="411479"/>
          </a:xfrm>
          <a:prstGeom prst="rect">
            <a:avLst/>
          </a:prstGeom>
          <a:noFill/>
        </p:spPr>
        <p:txBody>
          <a:bodyPr wrap="none" lIns="0" rIns="0" tIns="0" bIns="0">
            <a:spAutoFit/>
          </a:bodyPr>
          <a:lstStyle/>
          <a:p>
            <a:pPr algn="ctr">
              <a:lnSpc>
                <a:spcPct val="115000"/>
              </a:lnSpc>
            </a:pPr>
            <a:r>
              <a:rPr sz="1350" spc="330">
                <a:solidFill>
                  <a:srgbClr val="AFC4C2"/>
                </a:solidFill>
                <a:latin typeface="Todes 1"/>
              </a:rPr>
              <a:t>PROVIDER</a:t>
            </a:r>
          </a:p>
        </p:txBody>
      </p:sp>
      <p:sp>
        <p:nvSpPr>
          <p:cNvPr id="12" name="Right Arrow 11"/>
          <p:cNvSpPr/>
          <p:nvPr/>
        </p:nvSpPr>
        <p:spPr>
          <a:xfrm>
            <a:off x="5870447" y="4423409"/>
            <a:ext cx="356616" cy="205739"/>
          </a:xfrm>
          <a:prstGeom prst="rightArrow">
            <a:avLst/>
          </a:prstGeom>
          <a:solidFill>
            <a:srgbClr val="AFC4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64223" y="4114800"/>
            <a:ext cx="2139696" cy="822959"/>
          </a:xfrm>
          <a:prstGeom prst="roundRect">
            <a:avLst>
              <a:gd name="adj" fmla="val 14000"/>
            </a:avLst>
          </a:prstGeom>
          <a:solidFill>
            <a:srgbClr val="084B4D"/>
          </a:solidFill>
          <a:ln w="12700">
            <a:solidFill>
              <a:srgbClr val="AFC4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99631" y="4306824"/>
            <a:ext cx="2468879" cy="411479"/>
          </a:xfrm>
          <a:prstGeom prst="rect">
            <a:avLst/>
          </a:prstGeom>
          <a:noFill/>
        </p:spPr>
        <p:txBody>
          <a:bodyPr wrap="none" lIns="0" rIns="0" tIns="0" bIns="0">
            <a:spAutoFit/>
          </a:bodyPr>
          <a:lstStyle/>
          <a:p>
            <a:pPr algn="ctr">
              <a:lnSpc>
                <a:spcPct val="115000"/>
              </a:lnSpc>
            </a:pPr>
            <a:r>
              <a:rPr sz="1350" spc="330">
                <a:solidFill>
                  <a:srgbClr val="AFC4C2"/>
                </a:solidFill>
                <a:latin typeface="Todes 1"/>
              </a:rPr>
              <a:t>DEAL</a:t>
            </a:r>
          </a:p>
        </p:txBody>
      </p:sp>
      <p:sp>
        <p:nvSpPr>
          <p:cNvPr id="15" name="TextBox 14"/>
          <p:cNvSpPr txBox="1"/>
          <p:nvPr/>
        </p:nvSpPr>
        <p:spPr>
          <a:xfrm>
            <a:off x="822959" y="5692140"/>
            <a:ext cx="15773400" cy="411479"/>
          </a:xfrm>
          <a:prstGeom prst="rect">
            <a:avLst/>
          </a:prstGeom>
          <a:noFill/>
        </p:spPr>
        <p:txBody>
          <a:bodyPr wrap="none" lIns="0" rIns="0" tIns="0" bIns="0">
            <a:spAutoFit/>
          </a:bodyPr>
          <a:lstStyle/>
          <a:p>
            <a:pPr algn="l">
              <a:lnSpc>
                <a:spcPct val="115000"/>
              </a:lnSpc>
            </a:pPr>
            <a:r>
              <a:rPr sz="1425" spc="330">
                <a:solidFill>
                  <a:srgbClr val="EBCF9E"/>
                </a:solidFill>
                <a:latin typeface="Todes 1"/>
              </a:rPr>
              <a:t>THE LARGER PATTERN</a:t>
            </a:r>
          </a:p>
        </p:txBody>
      </p:sp>
      <p:sp>
        <p:nvSpPr>
          <p:cNvPr id="16" name="Rounded Rectangle 15"/>
          <p:cNvSpPr/>
          <p:nvPr/>
        </p:nvSpPr>
        <p:spPr>
          <a:xfrm>
            <a:off x="822959" y="6199631"/>
            <a:ext cx="4251960" cy="630936"/>
          </a:xfrm>
          <a:prstGeom prst="roundRect">
            <a:avLst>
              <a:gd name="adj" fmla="val 30000"/>
            </a:avLst>
          </a:prstGeom>
          <a:solidFill>
            <a:srgbClr val="0D3E40"/>
          </a:solidFill>
          <a:ln w="1524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9848" y="6323075"/>
            <a:ext cx="3840479" cy="411479"/>
          </a:xfrm>
          <a:prstGeom prst="rect">
            <a:avLst/>
          </a:prstGeom>
          <a:noFill/>
        </p:spPr>
        <p:txBody>
          <a:bodyPr wrap="none" lIns="0" rIns="0" tIns="0" bIns="0">
            <a:spAutoFit/>
          </a:bodyPr>
          <a:lstStyle/>
          <a:p>
            <a:pPr algn="l">
              <a:lnSpc>
                <a:spcPct val="115000"/>
              </a:lnSpc>
            </a:pPr>
            <a:r>
              <a:rPr sz="1575">
                <a:solidFill>
                  <a:srgbClr val="F2ECDD"/>
                </a:solidFill>
                <a:latin typeface="TT Commons Pro"/>
              </a:rPr>
              <a:t>a food co-op</a:t>
            </a:r>
          </a:p>
        </p:txBody>
      </p:sp>
      <p:cxnSp>
        <p:nvCxnSpPr>
          <p:cNvPr id="18" name="Connector 17"/>
          <p:cNvCxnSpPr/>
          <p:nvPr/>
        </p:nvCxnSpPr>
        <p:spPr>
          <a:xfrm>
            <a:off x="5143500" y="6473952"/>
            <a:ext cx="2194559" cy="822960"/>
          </a:xfrm>
          <a:prstGeom prst="line">
            <a:avLst/>
          </a:prstGeom>
          <a:ln w="11430">
            <a:solidFill>
              <a:srgbClr val="99E6D9"/>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22959" y="7022592"/>
            <a:ext cx="4251960" cy="630936"/>
          </a:xfrm>
          <a:prstGeom prst="roundRect">
            <a:avLst>
              <a:gd name="adj" fmla="val 30000"/>
            </a:avLst>
          </a:prstGeom>
          <a:solidFill>
            <a:srgbClr val="0D3E40"/>
          </a:solidFill>
          <a:ln w="1524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9848" y="7146036"/>
            <a:ext cx="3840479" cy="411479"/>
          </a:xfrm>
          <a:prstGeom prst="rect">
            <a:avLst/>
          </a:prstGeom>
          <a:noFill/>
        </p:spPr>
        <p:txBody>
          <a:bodyPr wrap="none" lIns="0" rIns="0" tIns="0" bIns="0">
            <a:spAutoFit/>
          </a:bodyPr>
          <a:lstStyle/>
          <a:p>
            <a:pPr algn="l">
              <a:lnSpc>
                <a:spcPct val="115000"/>
              </a:lnSpc>
            </a:pPr>
            <a:r>
              <a:rPr sz="1575">
                <a:solidFill>
                  <a:srgbClr val="F2ECDD"/>
                </a:solidFill>
                <a:latin typeface="TT Commons Pro"/>
              </a:rPr>
              <a:t>a land trust</a:t>
            </a:r>
          </a:p>
        </p:txBody>
      </p:sp>
      <p:cxnSp>
        <p:nvCxnSpPr>
          <p:cNvPr id="21" name="Connector 20"/>
          <p:cNvCxnSpPr/>
          <p:nvPr/>
        </p:nvCxnSpPr>
        <p:spPr>
          <a:xfrm>
            <a:off x="5143500" y="7296912"/>
            <a:ext cx="2194559" cy="0"/>
          </a:xfrm>
          <a:prstGeom prst="line">
            <a:avLst/>
          </a:prstGeom>
          <a:ln w="11430">
            <a:solidFill>
              <a:srgbClr val="99E6D9"/>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22959" y="7845552"/>
            <a:ext cx="4251960" cy="630936"/>
          </a:xfrm>
          <a:prstGeom prst="roundRect">
            <a:avLst>
              <a:gd name="adj" fmla="val 30000"/>
            </a:avLst>
          </a:prstGeom>
          <a:solidFill>
            <a:srgbClr val="0D3E40"/>
          </a:solidFill>
          <a:ln w="1524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69848" y="7968996"/>
            <a:ext cx="3840479" cy="411479"/>
          </a:xfrm>
          <a:prstGeom prst="rect">
            <a:avLst/>
          </a:prstGeom>
          <a:noFill/>
        </p:spPr>
        <p:txBody>
          <a:bodyPr wrap="none" lIns="0" rIns="0" tIns="0" bIns="0">
            <a:spAutoFit/>
          </a:bodyPr>
          <a:lstStyle/>
          <a:p>
            <a:pPr algn="l">
              <a:lnSpc>
                <a:spcPct val="115000"/>
              </a:lnSpc>
            </a:pPr>
            <a:r>
              <a:rPr sz="1575">
                <a:solidFill>
                  <a:srgbClr val="F2ECDD"/>
                </a:solidFill>
                <a:latin typeface="TT Commons Pro"/>
              </a:rPr>
              <a:t>a repair collective</a:t>
            </a:r>
          </a:p>
        </p:txBody>
      </p:sp>
      <p:cxnSp>
        <p:nvCxnSpPr>
          <p:cNvPr id="24" name="Connector 23"/>
          <p:cNvCxnSpPr/>
          <p:nvPr/>
        </p:nvCxnSpPr>
        <p:spPr>
          <a:xfrm flipV="1">
            <a:off x="5143500" y="7296912"/>
            <a:ext cx="2194559" cy="822959"/>
          </a:xfrm>
          <a:prstGeom prst="line">
            <a:avLst/>
          </a:prstGeom>
          <a:ln w="11430">
            <a:solidFill>
              <a:srgbClr val="99E6D9"/>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7372350" y="6233922"/>
            <a:ext cx="2125980" cy="2125980"/>
          </a:xfrm>
          <a:prstGeom prst="ellipse">
            <a:avLst/>
          </a:prstGeom>
          <a:solidFill>
            <a:srgbClr val="084B4D"/>
          </a:solidFill>
          <a:ln w="17780">
            <a:solidFill>
              <a:srgbClr val="F0CC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oord.png"/>
          <p:cNvPicPr>
            <a:picLocks noChangeAspect="1"/>
          </p:cNvPicPr>
          <p:nvPr/>
        </p:nvPicPr>
        <p:blipFill>
          <a:blip r:embed="rId4"/>
          <a:stretch>
            <a:fillRect/>
          </a:stretch>
        </p:blipFill>
        <p:spPr>
          <a:xfrm>
            <a:off x="8215883" y="6748272"/>
            <a:ext cx="438912" cy="438912"/>
          </a:xfrm>
          <a:prstGeom prst="rect">
            <a:avLst/>
          </a:prstGeom>
        </p:spPr>
      </p:pic>
      <p:sp>
        <p:nvSpPr>
          <p:cNvPr id="27" name="TextBox 26"/>
          <p:cNvSpPr txBox="1"/>
          <p:nvPr/>
        </p:nvSpPr>
        <p:spPr>
          <a:xfrm>
            <a:off x="7338059" y="7351776"/>
            <a:ext cx="2194560" cy="548640"/>
          </a:xfrm>
          <a:prstGeom prst="rect">
            <a:avLst/>
          </a:prstGeom>
          <a:noFill/>
        </p:spPr>
        <p:txBody>
          <a:bodyPr wrap="none" lIns="0" rIns="0" tIns="0" bIns="0">
            <a:spAutoFit/>
          </a:bodyPr>
          <a:lstStyle/>
          <a:p>
            <a:pPr algn="ctr">
              <a:lnSpc>
                <a:spcPct val="115000"/>
              </a:lnSpc>
            </a:pPr>
            <a:r>
              <a:rPr sz="1350" spc="330">
                <a:solidFill>
                  <a:srgbClr val="EBCF9E"/>
                </a:solidFill>
                <a:latin typeface="Todes 1"/>
              </a:rPr>
              <a:t>SHARED</a:t>
            </a:r>
          </a:p>
          <a:p>
            <a:pPr algn="ctr">
              <a:lnSpc>
                <a:spcPct val="115000"/>
              </a:lnSpc>
            </a:pPr>
            <a:r>
              <a:rPr sz="1350" spc="330">
                <a:solidFill>
                  <a:srgbClr val="EBCF9E"/>
                </a:solidFill>
                <a:latin typeface="Todes 1"/>
              </a:rPr>
              <a:t>MISSION</a:t>
            </a:r>
          </a:p>
        </p:txBody>
      </p:sp>
      <p:sp>
        <p:nvSpPr>
          <p:cNvPr id="28" name="Right Arrow 27"/>
          <p:cNvSpPr/>
          <p:nvPr/>
        </p:nvSpPr>
        <p:spPr>
          <a:xfrm>
            <a:off x="9669780" y="7159752"/>
            <a:ext cx="960119" cy="274320"/>
          </a:xfrm>
          <a:prstGeom prst="rightArrow">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0904220" y="6240779"/>
            <a:ext cx="6583679" cy="2125980"/>
          </a:xfrm>
          <a:prstGeom prst="roundRect">
            <a:avLst>
              <a:gd name="adj" fmla="val 6000"/>
            </a:avLst>
          </a:prstGeom>
          <a:solidFill>
            <a:srgbClr val="0D3E40"/>
          </a:solidFill>
          <a:ln w="20955">
            <a:solidFill>
              <a:srgbClr val="F0CC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315700" y="6556248"/>
            <a:ext cx="5897879" cy="1508760"/>
          </a:xfrm>
          <a:prstGeom prst="rect">
            <a:avLst/>
          </a:prstGeom>
          <a:noFill/>
        </p:spPr>
        <p:txBody>
          <a:bodyPr wrap="square" lIns="0" rIns="0" tIns="0" bIns="0">
            <a:spAutoFit/>
          </a:bodyPr>
          <a:lstStyle/>
          <a:p>
            <a:pPr algn="l">
              <a:lnSpc>
                <a:spcPct val="140000"/>
              </a:lnSpc>
            </a:pPr>
            <a:r>
              <a:rPr sz="1575" spc="330">
                <a:solidFill>
                  <a:srgbClr val="EBCF9E"/>
                </a:solidFill>
                <a:latin typeface="Todes 1"/>
              </a:rPr>
              <a:t>COLLECTIVE CAPACITY</a:t>
            </a:r>
          </a:p>
          <a:p>
            <a:pPr algn="l">
              <a:lnSpc>
                <a:spcPct val="140000"/>
              </a:lnSpc>
            </a:pPr>
            <a:r>
              <a:rPr sz="750" spc="150">
                <a:solidFill>
                  <a:srgbClr val="AFC4C2"/>
                </a:solidFill>
                <a:latin typeface="TT Commons Pro"/>
              </a:rPr>
              <a:t/>
            </a:r>
          </a:p>
          <a:p>
            <a:pPr algn="l">
              <a:lnSpc>
                <a:spcPct val="140000"/>
              </a:lnSpc>
            </a:pPr>
            <a:r>
              <a:rPr sz="1725">
                <a:solidFill>
                  <a:srgbClr val="F2ECDD"/>
                </a:solidFill>
                <a:latin typeface="TT Commons Pro"/>
              </a:rPr>
              <a:t>A mission too large for one organization</a:t>
            </a:r>
          </a:p>
          <a:p>
            <a:pPr algn="l">
              <a:lnSpc>
                <a:spcPct val="140000"/>
              </a:lnSpc>
            </a:pPr>
            <a:r>
              <a:rPr sz="1725">
                <a:solidFill>
                  <a:srgbClr val="F2ECDD"/>
                </a:solidFill>
                <a:latin typeface="TT Commons Pro"/>
              </a:rPr>
              <a:t>becomes possible through a coalition.</a:t>
            </a:r>
          </a:p>
        </p:txBody>
      </p:sp>
      <p:sp>
        <p:nvSpPr>
          <p:cNvPr id="31" name="TextBox 30"/>
          <p:cNvSpPr txBox="1"/>
          <p:nvPr/>
        </p:nvSpPr>
        <p:spPr>
          <a:xfrm>
            <a:off x="8915400" y="4183379"/>
            <a:ext cx="8503920" cy="822959"/>
          </a:xfrm>
          <a:prstGeom prst="rect">
            <a:avLst/>
          </a:prstGeom>
          <a:noFill/>
        </p:spPr>
        <p:txBody>
          <a:bodyPr wrap="square" lIns="0" rIns="0" tIns="0" bIns="0">
            <a:spAutoFit/>
          </a:bodyPr>
          <a:lstStyle/>
          <a:p>
            <a:pPr algn="l">
              <a:lnSpc>
                <a:spcPct val="145000"/>
              </a:lnSpc>
            </a:pPr>
            <a:r>
              <a:rPr sz="1800">
                <a:solidFill>
                  <a:srgbClr val="F2ECDD"/>
                </a:solidFill>
                <a:latin typeface="TT Commons Pro"/>
              </a:rPr>
              <a:t>Two organizations may be working separately on</a:t>
            </a:r>
          </a:p>
          <a:p>
            <a:pPr algn="l">
              <a:lnSpc>
                <a:spcPct val="145000"/>
              </a:lnSpc>
            </a:pPr>
            <a:r>
              <a:rPr sz="1800">
                <a:solidFill>
                  <a:srgbClr val="F2ECDD"/>
                </a:solidFill>
                <a:latin typeface="TT Commons Pro"/>
              </a:rPr>
              <a:t>the same problem — and never see each other.</a:t>
            </a:r>
          </a:p>
        </p:txBody>
      </p:sp>
      <p:pic>
        <p:nvPicPr>
          <p:cNvPr id="32" name="Picture 31" descr="rivr-symbol-light.png"/>
          <p:cNvPicPr>
            <a:picLocks noChangeAspect="1"/>
          </p:cNvPicPr>
          <p:nvPr/>
        </p:nvPicPr>
        <p:blipFill>
          <a:blip r:embed="rId5"/>
          <a:stretch>
            <a:fillRect/>
          </a:stretch>
        </p:blipFill>
        <p:spPr>
          <a:xfrm>
            <a:off x="576072" y="9518904"/>
            <a:ext cx="521208" cy="521208"/>
          </a:xfrm>
          <a:prstGeom prst="rect">
            <a:avLst/>
          </a:prstGeom>
        </p:spPr>
      </p:pic>
      <p:sp>
        <p:nvSpPr>
          <p:cNvPr id="33" name="TextBox 32"/>
          <p:cNvSpPr txBox="1"/>
          <p:nvPr/>
        </p:nvSpPr>
        <p:spPr>
          <a:xfrm>
            <a:off x="1371600" y="9724644"/>
            <a:ext cx="5486400" cy="301752"/>
          </a:xfrm>
          <a:prstGeom prst="rect">
            <a:avLst/>
          </a:prstGeom>
          <a:noFill/>
        </p:spPr>
        <p:txBody>
          <a:bodyPr wrap="none" lIns="0" rIns="0" tIns="0" bIns="0">
            <a:spAutoFit/>
          </a:bodyPr>
          <a:lstStyle/>
          <a:p>
            <a:pPr algn="l">
              <a:lnSpc>
                <a:spcPct val="115000"/>
              </a:lnSpc>
            </a:pPr>
            <a:r>
              <a:rPr sz="1350" spc="150">
                <a:solidFill>
                  <a:srgbClr val="AFC4C2"/>
                </a:solidFill>
                <a:latin typeface="TT Commons Pro"/>
              </a:rPr>
              <a:t>Rivr · Seed Round 2026</a:t>
            </a:r>
          </a:p>
        </p:txBody>
      </p:sp>
      <p:sp>
        <p:nvSpPr>
          <p:cNvPr id="34" name="TextBox 33"/>
          <p:cNvSpPr txBox="1"/>
          <p:nvPr/>
        </p:nvSpPr>
        <p:spPr>
          <a:xfrm>
            <a:off x="16870680" y="9724644"/>
            <a:ext cx="960119" cy="301752"/>
          </a:xfrm>
          <a:prstGeom prst="rect">
            <a:avLst/>
          </a:prstGeom>
          <a:noFill/>
        </p:spPr>
        <p:txBody>
          <a:bodyPr wrap="none" lIns="0" rIns="0" tIns="0" bIns="0">
            <a:spAutoFit/>
          </a:bodyPr>
          <a:lstStyle/>
          <a:p>
            <a:pPr algn="r">
              <a:lnSpc>
                <a:spcPct val="115000"/>
              </a:lnSpc>
            </a:pPr>
            <a:r>
              <a:rPr sz="1350" spc="150">
                <a:solidFill>
                  <a:srgbClr val="AFC4C2"/>
                </a:solidFill>
                <a:latin typeface="TT Commons Pro"/>
              </a:rPr>
              <a:t>23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03333"/>
        </a:solidFill>
        <a:effectLst/>
      </p:bgPr>
    </p:bg>
    <p:spTree>
      <p:nvGrpSpPr>
        <p:cNvPr id="1" name=""/>
        <p:cNvGrpSpPr/>
        <p:nvPr/>
      </p:nvGrpSpPr>
      <p:grpSpPr/>
      <p:pic>
        <p:nvPicPr>
          <p:cNvPr id="2" name="Picture 1" descr="bg_p03.jpg"/>
          <p:cNvPicPr>
            <a:picLocks noChangeAspect="1"/>
          </p:cNvPicPr>
          <p:nvPr/>
        </p:nvPicPr>
        <p:blipFill>
          <a:blip r:embed="rId2"/>
          <a:stretch>
            <a:fillRect/>
          </a:stretch>
        </p:blipFill>
        <p:spPr>
          <a:xfrm>
            <a:off x="0" y="0"/>
            <a:ext cx="18287542" cy="10287000"/>
          </a:xfrm>
          <a:prstGeom prst="rect">
            <a:avLst/>
          </a:prstGeom>
        </p:spPr>
      </p:pic>
      <p:sp>
        <p:nvSpPr>
          <p:cNvPr id="3" name="TextBox 2"/>
          <p:cNvSpPr txBox="1"/>
          <p:nvPr/>
        </p:nvSpPr>
        <p:spPr>
          <a:xfrm>
            <a:off x="822959" y="822959"/>
            <a:ext cx="16733519" cy="384048"/>
          </a:xfrm>
          <a:prstGeom prst="rect">
            <a:avLst/>
          </a:prstGeom>
          <a:noFill/>
        </p:spPr>
        <p:txBody>
          <a:bodyPr wrap="none" lIns="0" rIns="0" tIns="0" bIns="0">
            <a:spAutoFit/>
          </a:bodyPr>
          <a:lstStyle/>
          <a:p>
            <a:pPr algn="l">
              <a:lnSpc>
                <a:spcPct val="115000"/>
              </a:lnSpc>
            </a:pPr>
            <a:r>
              <a:rPr sz="1650" spc="330">
                <a:solidFill>
                  <a:srgbClr val="9FE8DC"/>
                </a:solidFill>
                <a:latin typeface="Todes 1"/>
              </a:rPr>
              <a:t>FUNCTIONAL INTERDEPENDENCE</a:t>
            </a:r>
          </a:p>
        </p:txBody>
      </p:sp>
      <p:sp>
        <p:nvSpPr>
          <p:cNvPr id="4" name="TextBox 3"/>
          <p:cNvSpPr txBox="1"/>
          <p:nvPr/>
        </p:nvSpPr>
        <p:spPr>
          <a:xfrm>
            <a:off x="1234440" y="3154679"/>
            <a:ext cx="15773400" cy="2057400"/>
          </a:xfrm>
          <a:prstGeom prst="rect">
            <a:avLst/>
          </a:prstGeom>
          <a:noFill/>
        </p:spPr>
        <p:txBody>
          <a:bodyPr wrap="square" lIns="0" rIns="0" tIns="0" bIns="0">
            <a:spAutoFit/>
          </a:bodyPr>
          <a:lstStyle/>
          <a:p>
            <a:pPr algn="ctr">
              <a:lnSpc>
                <a:spcPct val="140000"/>
              </a:lnSpc>
            </a:pPr>
            <a:r>
              <a:rPr sz="4500" spc="-75">
                <a:solidFill>
                  <a:srgbClr val="F4EAD8"/>
                </a:solidFill>
                <a:latin typeface="Ibarra Real Nova Italics"/>
              </a:rPr>
              <a:t>Strong individuals</a:t>
            </a:r>
          </a:p>
          <a:p>
            <a:pPr algn="ctr">
              <a:lnSpc>
                <a:spcPct val="140000"/>
              </a:lnSpc>
            </a:pPr>
            <a:r>
              <a:rPr sz="4500" spc="-75">
                <a:solidFill>
                  <a:srgbClr val="F4EAD8"/>
                </a:solidFill>
                <a:latin typeface="Ibarra Real Nova Italics"/>
              </a:rPr>
              <a:t>inside </a:t>
            </a:r>
            <a:r>
              <a:rPr sz="4500" spc="-75">
                <a:solidFill>
                  <a:srgbClr val="EBCF9E"/>
                </a:solidFill>
                <a:latin typeface="Ibarra Real Nova Italics"/>
              </a:rPr>
              <a:t>strong networks.</a:t>
            </a:r>
          </a:p>
        </p:txBody>
      </p:sp>
      <p:sp>
        <p:nvSpPr>
          <p:cNvPr id="5" name="TextBox 4"/>
          <p:cNvSpPr txBox="1"/>
          <p:nvPr/>
        </p:nvSpPr>
        <p:spPr>
          <a:xfrm>
            <a:off x="1234440" y="5966459"/>
            <a:ext cx="15773400" cy="1097280"/>
          </a:xfrm>
          <a:prstGeom prst="rect">
            <a:avLst/>
          </a:prstGeom>
          <a:noFill/>
        </p:spPr>
        <p:txBody>
          <a:bodyPr wrap="square" lIns="0" rIns="0" tIns="0" bIns="0">
            <a:spAutoFit/>
          </a:bodyPr>
          <a:lstStyle/>
          <a:p>
            <a:pPr algn="ctr">
              <a:lnSpc>
                <a:spcPct val="155000"/>
              </a:lnSpc>
            </a:pPr>
            <a:r>
              <a:rPr sz="1875" spc="40">
                <a:solidFill>
                  <a:srgbClr val="F2ECDD"/>
                </a:solidFill>
                <a:latin typeface="Todes 1"/>
              </a:rPr>
              <a:t>Healthy communities are not made of people who can each do everything themselves —</a:t>
            </a:r>
          </a:p>
          <a:p>
            <a:pPr algn="ctr">
              <a:lnSpc>
                <a:spcPct val="155000"/>
              </a:lnSpc>
            </a:pPr>
            <a:r>
              <a:rPr sz="1875" spc="40">
                <a:solidFill>
                  <a:srgbClr val="F2ECDD"/>
                </a:solidFill>
                <a:latin typeface="Todes 1"/>
              </a:rPr>
              <a:t>they are made of people with different abilities who can find, trust, and cooperate.</a:t>
            </a:r>
          </a:p>
        </p:txBody>
      </p:sp>
      <p:sp>
        <p:nvSpPr>
          <p:cNvPr id="6" name="TextBox 5"/>
          <p:cNvSpPr txBox="1"/>
          <p:nvPr/>
        </p:nvSpPr>
        <p:spPr>
          <a:xfrm>
            <a:off x="822959" y="7680959"/>
            <a:ext cx="16596359" cy="1097280"/>
          </a:xfrm>
          <a:prstGeom prst="rect">
            <a:avLst/>
          </a:prstGeom>
          <a:noFill/>
        </p:spPr>
        <p:txBody>
          <a:bodyPr wrap="square" lIns="0" rIns="0" tIns="0" bIns="0">
            <a:spAutoFit/>
          </a:bodyPr>
          <a:lstStyle/>
          <a:p>
            <a:pPr algn="ctr">
              <a:lnSpc>
                <a:spcPct val="140000"/>
              </a:lnSpc>
            </a:pPr>
            <a:r>
              <a:rPr sz="2250" spc="20">
                <a:solidFill>
                  <a:srgbClr val="9FE8DC"/>
                </a:solidFill>
                <a:latin typeface="Alike Italics"/>
              </a:rPr>
              <a:t>The goal is greater autonomy, supported by stronger interdependence.</a:t>
            </a:r>
          </a:p>
        </p:txBody>
      </p:sp>
      <p:pic>
        <p:nvPicPr>
          <p:cNvPr id="7" name="Picture 6" descr="rivr-symbol-light.png"/>
          <p:cNvPicPr>
            <a:picLocks noChangeAspect="1"/>
          </p:cNvPicPr>
          <p:nvPr/>
        </p:nvPicPr>
        <p:blipFill>
          <a:blip r:embed="rId4"/>
          <a:stretch>
            <a:fillRect/>
          </a:stretch>
        </p:blipFill>
        <p:spPr>
          <a:xfrm>
            <a:off x="576072" y="9518904"/>
            <a:ext cx="521208" cy="521208"/>
          </a:xfrm>
          <a:prstGeom prst="rect">
            <a:avLst/>
          </a:prstGeom>
        </p:spPr>
      </p:pic>
      <p:sp>
        <p:nvSpPr>
          <p:cNvPr id="8" name="TextBox 7"/>
          <p:cNvSpPr txBox="1"/>
          <p:nvPr/>
        </p:nvSpPr>
        <p:spPr>
          <a:xfrm>
            <a:off x="1371600" y="9724644"/>
            <a:ext cx="5486400" cy="301752"/>
          </a:xfrm>
          <a:prstGeom prst="rect">
            <a:avLst/>
          </a:prstGeom>
          <a:noFill/>
        </p:spPr>
        <p:txBody>
          <a:bodyPr wrap="none" lIns="0" rIns="0" tIns="0" bIns="0">
            <a:spAutoFit/>
          </a:bodyPr>
          <a:lstStyle/>
          <a:p>
            <a:pPr algn="l">
              <a:lnSpc>
                <a:spcPct val="115000"/>
              </a:lnSpc>
            </a:pPr>
            <a:r>
              <a:rPr sz="1350" spc="150">
                <a:solidFill>
                  <a:srgbClr val="AFC4C2"/>
                </a:solidFill>
                <a:latin typeface="TT Commons Pro"/>
              </a:rPr>
              <a:t>Rivr · Seed Round 2026</a:t>
            </a:r>
          </a:p>
        </p:txBody>
      </p:sp>
      <p:sp>
        <p:nvSpPr>
          <p:cNvPr id="9" name="TextBox 8"/>
          <p:cNvSpPr txBox="1"/>
          <p:nvPr/>
        </p:nvSpPr>
        <p:spPr>
          <a:xfrm>
            <a:off x="16870680" y="9724644"/>
            <a:ext cx="960119" cy="301752"/>
          </a:xfrm>
          <a:prstGeom prst="rect">
            <a:avLst/>
          </a:prstGeom>
          <a:noFill/>
        </p:spPr>
        <p:txBody>
          <a:bodyPr wrap="none" lIns="0" rIns="0" tIns="0" bIns="0">
            <a:spAutoFit/>
          </a:bodyPr>
          <a:lstStyle/>
          <a:p>
            <a:pPr algn="r">
              <a:lnSpc>
                <a:spcPct val="115000"/>
              </a:lnSpc>
            </a:pPr>
            <a:r>
              <a:rPr sz="1350" spc="150">
                <a:solidFill>
                  <a:srgbClr val="AFC4C2"/>
                </a:solidFill>
                <a:latin typeface="TT Commons Pro"/>
              </a:rPr>
              <a:t>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03333"/>
        </a:solidFill>
        <a:effectLst/>
      </p:bgPr>
    </p:bg>
    <p:spTree>
      <p:nvGrpSpPr>
        <p:cNvPr id="1" name=""/>
        <p:cNvGrpSpPr/>
        <p:nvPr/>
      </p:nvGrpSpPr>
      <p:grpSpPr/>
      <p:pic>
        <p:nvPicPr>
          <p:cNvPr id="2" name="Picture 1" descr="bg_c21.jpg"/>
          <p:cNvPicPr>
            <a:picLocks noChangeAspect="1"/>
          </p:cNvPicPr>
          <p:nvPr/>
        </p:nvPicPr>
        <p:blipFill>
          <a:blip r:embed="rId2"/>
          <a:stretch>
            <a:fillRect/>
          </a:stretch>
        </p:blipFill>
        <p:spPr>
          <a:xfrm>
            <a:off x="0" y="0"/>
            <a:ext cx="18287542" cy="10287000"/>
          </a:xfrm>
          <a:prstGeom prst="rect">
            <a:avLst/>
          </a:prstGeom>
        </p:spPr>
      </p:pic>
      <p:sp>
        <p:nvSpPr>
          <p:cNvPr id="3" name="TextBox 2"/>
          <p:cNvSpPr txBox="1"/>
          <p:nvPr/>
        </p:nvSpPr>
        <p:spPr>
          <a:xfrm>
            <a:off x="822959" y="822959"/>
            <a:ext cx="16733519" cy="384048"/>
          </a:xfrm>
          <a:prstGeom prst="rect">
            <a:avLst/>
          </a:prstGeom>
          <a:noFill/>
        </p:spPr>
        <p:txBody>
          <a:bodyPr wrap="none" lIns="0" rIns="0" tIns="0" bIns="0">
            <a:spAutoFit/>
          </a:bodyPr>
          <a:lstStyle/>
          <a:p>
            <a:pPr algn="l">
              <a:lnSpc>
                <a:spcPct val="115000"/>
              </a:lnSpc>
            </a:pPr>
            <a:r>
              <a:rPr sz="1650" spc="330">
                <a:solidFill>
                  <a:srgbClr val="9FE8DC"/>
                </a:solidFill>
                <a:latin typeface="Todes 1"/>
              </a:rPr>
              <a:t>INFRASTRUCTURE</a:t>
            </a:r>
          </a:p>
        </p:txBody>
      </p:sp>
      <p:sp>
        <p:nvSpPr>
          <p:cNvPr id="4" name="TextBox 3"/>
          <p:cNvSpPr txBox="1"/>
          <p:nvPr/>
        </p:nvSpPr>
        <p:spPr>
          <a:xfrm>
            <a:off x="822959" y="1645919"/>
            <a:ext cx="14581822" cy="857678"/>
          </a:xfrm>
          <a:prstGeom prst="rect">
            <a:avLst/>
          </a:prstGeom>
          <a:noFill/>
        </p:spPr>
        <p:txBody>
          <a:bodyPr wrap="none" lIns="0" rIns="0" tIns="0" bIns="0">
            <a:spAutoFit/>
          </a:bodyPr>
          <a:lstStyle/>
          <a:p>
            <a:pPr algn="l">
              <a:lnSpc>
                <a:spcPct val="115000"/>
              </a:lnSpc>
            </a:pPr>
            <a:r>
              <a:rPr sz="4657" spc="-63">
                <a:solidFill>
                  <a:srgbClr val="F4EAD8"/>
                </a:solidFill>
                <a:latin typeface="Todes 1"/>
              </a:rPr>
              <a:t>The social network is the doorway —</a:t>
            </a:r>
          </a:p>
        </p:txBody>
      </p:sp>
      <p:sp>
        <p:nvSpPr>
          <p:cNvPr id="5" name="TextBox 4"/>
          <p:cNvSpPr txBox="1"/>
          <p:nvPr/>
        </p:nvSpPr>
        <p:spPr>
          <a:xfrm>
            <a:off x="822959" y="2514771"/>
            <a:ext cx="13081635" cy="857678"/>
          </a:xfrm>
          <a:prstGeom prst="rect">
            <a:avLst/>
          </a:prstGeom>
          <a:noFill/>
        </p:spPr>
        <p:txBody>
          <a:bodyPr wrap="none" lIns="0" rIns="0" tIns="0" bIns="0">
            <a:spAutoFit/>
          </a:bodyPr>
          <a:lstStyle/>
          <a:p>
            <a:pPr algn="l">
              <a:lnSpc>
                <a:spcPct val="115000"/>
              </a:lnSpc>
            </a:pPr>
            <a:r>
              <a:rPr sz="4657" spc="-63">
                <a:solidFill>
                  <a:srgbClr val="F4EAD8"/>
                </a:solidFill>
                <a:latin typeface="Todes 1"/>
              </a:rPr>
              <a:t>coordination infrastructure is the </a:t>
            </a:r>
          </a:p>
        </p:txBody>
      </p:sp>
      <p:sp>
        <p:nvSpPr>
          <p:cNvPr id="6" name="TextBox 5"/>
          <p:cNvSpPr txBox="1"/>
          <p:nvPr/>
        </p:nvSpPr>
        <p:spPr>
          <a:xfrm>
            <a:off x="11123676" y="2462193"/>
            <a:ext cx="6569630" cy="952976"/>
          </a:xfrm>
          <a:prstGeom prst="rect">
            <a:avLst/>
          </a:prstGeom>
          <a:noFill/>
        </p:spPr>
        <p:txBody>
          <a:bodyPr wrap="none" lIns="0" rIns="0" tIns="0" bIns="0">
            <a:spAutoFit/>
          </a:bodyPr>
          <a:lstStyle/>
          <a:p>
            <a:pPr algn="l">
              <a:lnSpc>
                <a:spcPct val="115000"/>
              </a:lnSpc>
            </a:pPr>
            <a:r>
              <a:rPr sz="5175" spc="-75">
                <a:solidFill>
                  <a:srgbClr val="F0CC8B"/>
                </a:solidFill>
                <a:latin typeface="Ibarra Real Nova Italics"/>
              </a:rPr>
              <a:t>larger opportunity.</a:t>
            </a:r>
          </a:p>
        </p:txBody>
      </p:sp>
      <p:sp>
        <p:nvSpPr>
          <p:cNvPr id="7" name="Rounded Rectangle 6"/>
          <p:cNvSpPr/>
          <p:nvPr/>
        </p:nvSpPr>
        <p:spPr>
          <a:xfrm>
            <a:off x="822959" y="4800600"/>
            <a:ext cx="2468880" cy="960119"/>
          </a:xfrm>
          <a:prstGeom prst="roundRect">
            <a:avLst>
              <a:gd name="adj" fmla="val 18000"/>
            </a:avLst>
          </a:prstGeom>
          <a:solidFill>
            <a:srgbClr val="0D3E40"/>
          </a:solidFill>
          <a:ln w="14287">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message.png"/>
          <p:cNvPicPr>
            <a:picLocks noChangeAspect="1"/>
          </p:cNvPicPr>
          <p:nvPr/>
        </p:nvPicPr>
        <p:blipFill>
          <a:blip r:embed="rId4"/>
          <a:stretch>
            <a:fillRect/>
          </a:stretch>
        </p:blipFill>
        <p:spPr>
          <a:xfrm>
            <a:off x="1083563" y="5102352"/>
            <a:ext cx="356616" cy="356616"/>
          </a:xfrm>
          <a:prstGeom prst="rect">
            <a:avLst/>
          </a:prstGeom>
        </p:spPr>
      </p:pic>
      <p:sp>
        <p:nvSpPr>
          <p:cNvPr id="9" name="TextBox 8"/>
          <p:cNvSpPr txBox="1"/>
          <p:nvPr/>
        </p:nvSpPr>
        <p:spPr>
          <a:xfrm>
            <a:off x="1577339" y="5102352"/>
            <a:ext cx="1645919" cy="411479"/>
          </a:xfrm>
          <a:prstGeom prst="rect">
            <a:avLst/>
          </a:prstGeom>
          <a:noFill/>
        </p:spPr>
        <p:txBody>
          <a:bodyPr wrap="none" lIns="0" rIns="0" tIns="0" bIns="0">
            <a:spAutoFit/>
          </a:bodyPr>
          <a:lstStyle/>
          <a:p>
            <a:pPr algn="l">
              <a:lnSpc>
                <a:spcPct val="115000"/>
              </a:lnSpc>
            </a:pPr>
            <a:r>
              <a:rPr sz="1350" spc="150">
                <a:solidFill>
                  <a:srgbClr val="F2ECDD"/>
                </a:solidFill>
                <a:latin typeface="TT Commons Pro"/>
              </a:rPr>
              <a:t>communication</a:t>
            </a:r>
          </a:p>
        </p:txBody>
      </p:sp>
      <p:cxnSp>
        <p:nvCxnSpPr>
          <p:cNvPr id="10" name="Connector 9"/>
          <p:cNvCxnSpPr/>
          <p:nvPr/>
        </p:nvCxnSpPr>
        <p:spPr>
          <a:xfrm>
            <a:off x="3360420" y="5280660"/>
            <a:ext cx="6926580" cy="1056132"/>
          </a:xfrm>
          <a:prstGeom prst="line">
            <a:avLst/>
          </a:prstGeom>
          <a:ln w="7620">
            <a:solidFill>
              <a:srgbClr val="1B5252"/>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97579" y="4800600"/>
            <a:ext cx="2468880" cy="960119"/>
          </a:xfrm>
          <a:prstGeom prst="roundRect">
            <a:avLst>
              <a:gd name="adj" fmla="val 18000"/>
            </a:avLst>
          </a:prstGeom>
          <a:solidFill>
            <a:srgbClr val="0D3E40"/>
          </a:solidFill>
          <a:ln w="14287">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isting.png"/>
          <p:cNvPicPr>
            <a:picLocks noChangeAspect="1"/>
          </p:cNvPicPr>
          <p:nvPr/>
        </p:nvPicPr>
        <p:blipFill>
          <a:blip r:embed="rId5"/>
          <a:stretch>
            <a:fillRect/>
          </a:stretch>
        </p:blipFill>
        <p:spPr>
          <a:xfrm>
            <a:off x="3758183" y="5102352"/>
            <a:ext cx="356616" cy="356616"/>
          </a:xfrm>
          <a:prstGeom prst="rect">
            <a:avLst/>
          </a:prstGeom>
        </p:spPr>
      </p:pic>
      <p:sp>
        <p:nvSpPr>
          <p:cNvPr id="13" name="TextBox 12"/>
          <p:cNvSpPr txBox="1"/>
          <p:nvPr/>
        </p:nvSpPr>
        <p:spPr>
          <a:xfrm>
            <a:off x="4251959" y="5102352"/>
            <a:ext cx="1645919" cy="411479"/>
          </a:xfrm>
          <a:prstGeom prst="rect">
            <a:avLst/>
          </a:prstGeom>
          <a:noFill/>
        </p:spPr>
        <p:txBody>
          <a:bodyPr wrap="none" lIns="0" rIns="0" tIns="0" bIns="0">
            <a:spAutoFit/>
          </a:bodyPr>
          <a:lstStyle/>
          <a:p>
            <a:pPr algn="l">
              <a:lnSpc>
                <a:spcPct val="115000"/>
              </a:lnSpc>
            </a:pPr>
            <a:r>
              <a:rPr sz="1350" spc="150">
                <a:solidFill>
                  <a:srgbClr val="F2ECDD"/>
                </a:solidFill>
                <a:latin typeface="TT Commons Pro"/>
              </a:rPr>
              <a:t>commerce</a:t>
            </a:r>
          </a:p>
        </p:txBody>
      </p:sp>
      <p:cxnSp>
        <p:nvCxnSpPr>
          <p:cNvPr id="14" name="Connector 13"/>
          <p:cNvCxnSpPr/>
          <p:nvPr/>
        </p:nvCxnSpPr>
        <p:spPr>
          <a:xfrm>
            <a:off x="6035040" y="5280660"/>
            <a:ext cx="4251960" cy="1056132"/>
          </a:xfrm>
          <a:prstGeom prst="line">
            <a:avLst/>
          </a:prstGeom>
          <a:ln w="7620">
            <a:solidFill>
              <a:srgbClr val="1B5252"/>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172200" y="4800600"/>
            <a:ext cx="2468880" cy="960119"/>
          </a:xfrm>
          <a:prstGeom prst="roundRect">
            <a:avLst>
              <a:gd name="adj" fmla="val 18000"/>
            </a:avLst>
          </a:prstGeom>
          <a:solidFill>
            <a:srgbClr val="0D3E40"/>
          </a:solidFill>
          <a:ln w="14287">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roject.png"/>
          <p:cNvPicPr>
            <a:picLocks noChangeAspect="1"/>
          </p:cNvPicPr>
          <p:nvPr/>
        </p:nvPicPr>
        <p:blipFill>
          <a:blip r:embed="rId6"/>
          <a:stretch>
            <a:fillRect/>
          </a:stretch>
        </p:blipFill>
        <p:spPr>
          <a:xfrm>
            <a:off x="6432804" y="5102352"/>
            <a:ext cx="356616" cy="356616"/>
          </a:xfrm>
          <a:prstGeom prst="rect">
            <a:avLst/>
          </a:prstGeom>
        </p:spPr>
      </p:pic>
      <p:sp>
        <p:nvSpPr>
          <p:cNvPr id="17" name="TextBox 16"/>
          <p:cNvSpPr txBox="1"/>
          <p:nvPr/>
        </p:nvSpPr>
        <p:spPr>
          <a:xfrm>
            <a:off x="6926579" y="5102352"/>
            <a:ext cx="1645919" cy="411479"/>
          </a:xfrm>
          <a:prstGeom prst="rect">
            <a:avLst/>
          </a:prstGeom>
          <a:noFill/>
        </p:spPr>
        <p:txBody>
          <a:bodyPr wrap="none" lIns="0" rIns="0" tIns="0" bIns="0">
            <a:spAutoFit/>
          </a:bodyPr>
          <a:lstStyle/>
          <a:p>
            <a:pPr algn="l">
              <a:lnSpc>
                <a:spcPct val="115000"/>
              </a:lnSpc>
            </a:pPr>
            <a:r>
              <a:rPr sz="1350" spc="150">
                <a:solidFill>
                  <a:srgbClr val="F2ECDD"/>
                </a:solidFill>
                <a:latin typeface="TT Commons Pro"/>
              </a:rPr>
              <a:t>projects</a:t>
            </a:r>
          </a:p>
        </p:txBody>
      </p:sp>
      <p:cxnSp>
        <p:nvCxnSpPr>
          <p:cNvPr id="18" name="Connector 17"/>
          <p:cNvCxnSpPr/>
          <p:nvPr/>
        </p:nvCxnSpPr>
        <p:spPr>
          <a:xfrm>
            <a:off x="8709659" y="5280660"/>
            <a:ext cx="1577341" cy="1056132"/>
          </a:xfrm>
          <a:prstGeom prst="line">
            <a:avLst/>
          </a:prstGeom>
          <a:ln w="7620">
            <a:solidFill>
              <a:srgbClr val="1B5252"/>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22959" y="5980176"/>
            <a:ext cx="2468880" cy="960119"/>
          </a:xfrm>
          <a:prstGeom prst="roundRect">
            <a:avLst>
              <a:gd name="adj" fmla="val 18000"/>
            </a:avLst>
          </a:prstGeom>
          <a:solidFill>
            <a:srgbClr val="0D3E40"/>
          </a:solidFill>
          <a:ln w="14287">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event.png"/>
          <p:cNvPicPr>
            <a:picLocks noChangeAspect="1"/>
          </p:cNvPicPr>
          <p:nvPr/>
        </p:nvPicPr>
        <p:blipFill>
          <a:blip r:embed="rId7"/>
          <a:stretch>
            <a:fillRect/>
          </a:stretch>
        </p:blipFill>
        <p:spPr>
          <a:xfrm>
            <a:off x="1083563" y="6281928"/>
            <a:ext cx="356616" cy="356616"/>
          </a:xfrm>
          <a:prstGeom prst="rect">
            <a:avLst/>
          </a:prstGeom>
        </p:spPr>
      </p:pic>
      <p:sp>
        <p:nvSpPr>
          <p:cNvPr id="21" name="TextBox 20"/>
          <p:cNvSpPr txBox="1"/>
          <p:nvPr/>
        </p:nvSpPr>
        <p:spPr>
          <a:xfrm>
            <a:off x="1577339" y="6281928"/>
            <a:ext cx="1645919" cy="411479"/>
          </a:xfrm>
          <a:prstGeom prst="rect">
            <a:avLst/>
          </a:prstGeom>
          <a:noFill/>
        </p:spPr>
        <p:txBody>
          <a:bodyPr wrap="none" lIns="0" rIns="0" tIns="0" bIns="0">
            <a:spAutoFit/>
          </a:bodyPr>
          <a:lstStyle/>
          <a:p>
            <a:pPr algn="l">
              <a:lnSpc>
                <a:spcPct val="115000"/>
              </a:lnSpc>
            </a:pPr>
            <a:r>
              <a:rPr sz="1350" spc="150">
                <a:solidFill>
                  <a:srgbClr val="F2ECDD"/>
                </a:solidFill>
                <a:latin typeface="TT Commons Pro"/>
              </a:rPr>
              <a:t>events</a:t>
            </a:r>
          </a:p>
        </p:txBody>
      </p:sp>
      <p:cxnSp>
        <p:nvCxnSpPr>
          <p:cNvPr id="22" name="Connector 21"/>
          <p:cNvCxnSpPr/>
          <p:nvPr/>
        </p:nvCxnSpPr>
        <p:spPr>
          <a:xfrm flipV="1">
            <a:off x="3360420" y="6336792"/>
            <a:ext cx="6926580" cy="123444"/>
          </a:xfrm>
          <a:prstGeom prst="line">
            <a:avLst/>
          </a:prstGeom>
          <a:ln w="7620">
            <a:solidFill>
              <a:srgbClr val="1B5252"/>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3497579" y="5980176"/>
            <a:ext cx="2468880" cy="960119"/>
          </a:xfrm>
          <a:prstGeom prst="roundRect">
            <a:avLst>
              <a:gd name="adj" fmla="val 18000"/>
            </a:avLst>
          </a:prstGeom>
          <a:solidFill>
            <a:srgbClr val="0D3E40"/>
          </a:solidFill>
          <a:ln w="14287">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money.png"/>
          <p:cNvPicPr>
            <a:picLocks noChangeAspect="1"/>
          </p:cNvPicPr>
          <p:nvPr/>
        </p:nvPicPr>
        <p:blipFill>
          <a:blip r:embed="rId8"/>
          <a:stretch>
            <a:fillRect/>
          </a:stretch>
        </p:blipFill>
        <p:spPr>
          <a:xfrm>
            <a:off x="3758183" y="6281928"/>
            <a:ext cx="356616" cy="356616"/>
          </a:xfrm>
          <a:prstGeom prst="rect">
            <a:avLst/>
          </a:prstGeom>
        </p:spPr>
      </p:pic>
      <p:sp>
        <p:nvSpPr>
          <p:cNvPr id="25" name="TextBox 24"/>
          <p:cNvSpPr txBox="1"/>
          <p:nvPr/>
        </p:nvSpPr>
        <p:spPr>
          <a:xfrm>
            <a:off x="4251959" y="6281928"/>
            <a:ext cx="1645919" cy="411479"/>
          </a:xfrm>
          <a:prstGeom prst="rect">
            <a:avLst/>
          </a:prstGeom>
          <a:noFill/>
        </p:spPr>
        <p:txBody>
          <a:bodyPr wrap="none" lIns="0" rIns="0" tIns="0" bIns="0">
            <a:spAutoFit/>
          </a:bodyPr>
          <a:lstStyle/>
          <a:p>
            <a:pPr algn="l">
              <a:lnSpc>
                <a:spcPct val="115000"/>
              </a:lnSpc>
            </a:pPr>
            <a:r>
              <a:rPr sz="1350" spc="150">
                <a:solidFill>
                  <a:srgbClr val="F2ECDD"/>
                </a:solidFill>
                <a:latin typeface="TT Commons Pro"/>
              </a:rPr>
              <a:t>payments</a:t>
            </a:r>
          </a:p>
        </p:txBody>
      </p:sp>
      <p:cxnSp>
        <p:nvCxnSpPr>
          <p:cNvPr id="26" name="Connector 25"/>
          <p:cNvCxnSpPr/>
          <p:nvPr/>
        </p:nvCxnSpPr>
        <p:spPr>
          <a:xfrm flipV="1">
            <a:off x="6035040" y="6336792"/>
            <a:ext cx="4251960" cy="123444"/>
          </a:xfrm>
          <a:prstGeom prst="line">
            <a:avLst/>
          </a:prstGeom>
          <a:ln w="7620">
            <a:solidFill>
              <a:srgbClr val="1B5252"/>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172200" y="5980176"/>
            <a:ext cx="2468880" cy="960119"/>
          </a:xfrm>
          <a:prstGeom prst="roundRect">
            <a:avLst>
              <a:gd name="adj" fmla="val 18000"/>
            </a:avLst>
          </a:prstGeom>
          <a:solidFill>
            <a:srgbClr val="0D3E40"/>
          </a:solidFill>
          <a:ln w="14287">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time.png"/>
          <p:cNvPicPr>
            <a:picLocks noChangeAspect="1"/>
          </p:cNvPicPr>
          <p:nvPr/>
        </p:nvPicPr>
        <p:blipFill>
          <a:blip r:embed="rId9"/>
          <a:stretch>
            <a:fillRect/>
          </a:stretch>
        </p:blipFill>
        <p:spPr>
          <a:xfrm>
            <a:off x="6432804" y="6281928"/>
            <a:ext cx="356616" cy="356616"/>
          </a:xfrm>
          <a:prstGeom prst="rect">
            <a:avLst/>
          </a:prstGeom>
        </p:spPr>
      </p:pic>
      <p:sp>
        <p:nvSpPr>
          <p:cNvPr id="29" name="TextBox 28"/>
          <p:cNvSpPr txBox="1"/>
          <p:nvPr/>
        </p:nvSpPr>
        <p:spPr>
          <a:xfrm>
            <a:off x="6926579" y="6281928"/>
            <a:ext cx="1645919" cy="411479"/>
          </a:xfrm>
          <a:prstGeom prst="rect">
            <a:avLst/>
          </a:prstGeom>
          <a:noFill/>
        </p:spPr>
        <p:txBody>
          <a:bodyPr wrap="none" lIns="0" rIns="0" tIns="0" bIns="0">
            <a:spAutoFit/>
          </a:bodyPr>
          <a:lstStyle/>
          <a:p>
            <a:pPr algn="l">
              <a:lnSpc>
                <a:spcPct val="115000"/>
              </a:lnSpc>
            </a:pPr>
            <a:r>
              <a:rPr sz="1350" spc="150">
                <a:solidFill>
                  <a:srgbClr val="F2ECDD"/>
                </a:solidFill>
                <a:latin typeface="TT Commons Pro"/>
              </a:rPr>
              <a:t>scheduling</a:t>
            </a:r>
          </a:p>
        </p:txBody>
      </p:sp>
      <p:cxnSp>
        <p:nvCxnSpPr>
          <p:cNvPr id="30" name="Connector 29"/>
          <p:cNvCxnSpPr/>
          <p:nvPr/>
        </p:nvCxnSpPr>
        <p:spPr>
          <a:xfrm flipV="1">
            <a:off x="8709659" y="6336792"/>
            <a:ext cx="1577341" cy="123444"/>
          </a:xfrm>
          <a:prstGeom prst="line">
            <a:avLst/>
          </a:prstGeom>
          <a:ln w="7620">
            <a:solidFill>
              <a:srgbClr val="1B5252"/>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822959" y="7159752"/>
            <a:ext cx="2468880" cy="960119"/>
          </a:xfrm>
          <a:prstGeom prst="roundRect">
            <a:avLst>
              <a:gd name="adj" fmla="val 18000"/>
            </a:avLst>
          </a:prstGeom>
          <a:solidFill>
            <a:srgbClr val="0D3E40"/>
          </a:solidFill>
          <a:ln w="14287">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governance.png"/>
          <p:cNvPicPr>
            <a:picLocks noChangeAspect="1"/>
          </p:cNvPicPr>
          <p:nvPr/>
        </p:nvPicPr>
        <p:blipFill>
          <a:blip r:embed="rId10"/>
          <a:stretch>
            <a:fillRect/>
          </a:stretch>
        </p:blipFill>
        <p:spPr>
          <a:xfrm>
            <a:off x="1083563" y="7461504"/>
            <a:ext cx="356616" cy="356616"/>
          </a:xfrm>
          <a:prstGeom prst="rect">
            <a:avLst/>
          </a:prstGeom>
        </p:spPr>
      </p:pic>
      <p:sp>
        <p:nvSpPr>
          <p:cNvPr id="33" name="TextBox 32"/>
          <p:cNvSpPr txBox="1"/>
          <p:nvPr/>
        </p:nvSpPr>
        <p:spPr>
          <a:xfrm>
            <a:off x="1577339" y="7461504"/>
            <a:ext cx="1645919" cy="411479"/>
          </a:xfrm>
          <a:prstGeom prst="rect">
            <a:avLst/>
          </a:prstGeom>
          <a:noFill/>
        </p:spPr>
        <p:txBody>
          <a:bodyPr wrap="none" lIns="0" rIns="0" tIns="0" bIns="0">
            <a:spAutoFit/>
          </a:bodyPr>
          <a:lstStyle/>
          <a:p>
            <a:pPr algn="l">
              <a:lnSpc>
                <a:spcPct val="115000"/>
              </a:lnSpc>
            </a:pPr>
            <a:r>
              <a:rPr sz="1350" spc="150">
                <a:solidFill>
                  <a:srgbClr val="F2ECDD"/>
                </a:solidFill>
                <a:latin typeface="TT Commons Pro"/>
              </a:rPr>
              <a:t>governance</a:t>
            </a:r>
          </a:p>
        </p:txBody>
      </p:sp>
      <p:cxnSp>
        <p:nvCxnSpPr>
          <p:cNvPr id="34" name="Connector 33"/>
          <p:cNvCxnSpPr/>
          <p:nvPr/>
        </p:nvCxnSpPr>
        <p:spPr>
          <a:xfrm flipV="1">
            <a:off x="3360420" y="6336792"/>
            <a:ext cx="6926580" cy="1303019"/>
          </a:xfrm>
          <a:prstGeom prst="line">
            <a:avLst/>
          </a:prstGeom>
          <a:ln w="7620">
            <a:solidFill>
              <a:srgbClr val="1B5252"/>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3497579" y="7159752"/>
            <a:ext cx="2468880" cy="960119"/>
          </a:xfrm>
          <a:prstGeom prst="roundRect">
            <a:avLst>
              <a:gd name="adj" fmla="val 18000"/>
            </a:avLst>
          </a:prstGeom>
          <a:solidFill>
            <a:srgbClr val="0D3E40"/>
          </a:solidFill>
          <a:ln w="14287">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doc.png"/>
          <p:cNvPicPr>
            <a:picLocks noChangeAspect="1"/>
          </p:cNvPicPr>
          <p:nvPr/>
        </p:nvPicPr>
        <p:blipFill>
          <a:blip r:embed="rId11"/>
          <a:stretch>
            <a:fillRect/>
          </a:stretch>
        </p:blipFill>
        <p:spPr>
          <a:xfrm>
            <a:off x="3758183" y="7461504"/>
            <a:ext cx="356616" cy="356616"/>
          </a:xfrm>
          <a:prstGeom prst="rect">
            <a:avLst/>
          </a:prstGeom>
        </p:spPr>
      </p:pic>
      <p:sp>
        <p:nvSpPr>
          <p:cNvPr id="37" name="TextBox 36"/>
          <p:cNvSpPr txBox="1"/>
          <p:nvPr/>
        </p:nvSpPr>
        <p:spPr>
          <a:xfrm>
            <a:off x="4251959" y="7461504"/>
            <a:ext cx="1645919" cy="411479"/>
          </a:xfrm>
          <a:prstGeom prst="rect">
            <a:avLst/>
          </a:prstGeom>
          <a:noFill/>
        </p:spPr>
        <p:txBody>
          <a:bodyPr wrap="none" lIns="0" rIns="0" tIns="0" bIns="0">
            <a:spAutoFit/>
          </a:bodyPr>
          <a:lstStyle/>
          <a:p>
            <a:pPr algn="l">
              <a:lnSpc>
                <a:spcPct val="115000"/>
              </a:lnSpc>
            </a:pPr>
            <a:r>
              <a:rPr sz="1350" spc="150">
                <a:solidFill>
                  <a:srgbClr val="F2ECDD"/>
                </a:solidFill>
                <a:latin typeface="TT Commons Pro"/>
              </a:rPr>
              <a:t>documents</a:t>
            </a:r>
          </a:p>
        </p:txBody>
      </p:sp>
      <p:cxnSp>
        <p:nvCxnSpPr>
          <p:cNvPr id="38" name="Connector 37"/>
          <p:cNvCxnSpPr/>
          <p:nvPr/>
        </p:nvCxnSpPr>
        <p:spPr>
          <a:xfrm flipV="1">
            <a:off x="6035040" y="6336792"/>
            <a:ext cx="4251960" cy="1303019"/>
          </a:xfrm>
          <a:prstGeom prst="line">
            <a:avLst/>
          </a:prstGeom>
          <a:ln w="7620">
            <a:solidFill>
              <a:srgbClr val="1B5252"/>
            </a:solidFill>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6172200" y="7159752"/>
            <a:ext cx="2468880" cy="960119"/>
          </a:xfrm>
          <a:prstGeom prst="roundRect">
            <a:avLst>
              <a:gd name="adj" fmla="val 18000"/>
            </a:avLst>
          </a:prstGeom>
          <a:solidFill>
            <a:srgbClr val="0D3E40"/>
          </a:solidFill>
          <a:ln w="14287">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idea.png"/>
          <p:cNvPicPr>
            <a:picLocks noChangeAspect="1"/>
          </p:cNvPicPr>
          <p:nvPr/>
        </p:nvPicPr>
        <p:blipFill>
          <a:blip r:embed="rId12"/>
          <a:stretch>
            <a:fillRect/>
          </a:stretch>
        </p:blipFill>
        <p:spPr>
          <a:xfrm>
            <a:off x="6432804" y="7461504"/>
            <a:ext cx="356616" cy="356616"/>
          </a:xfrm>
          <a:prstGeom prst="rect">
            <a:avLst/>
          </a:prstGeom>
        </p:spPr>
      </p:pic>
      <p:sp>
        <p:nvSpPr>
          <p:cNvPr id="41" name="TextBox 40"/>
          <p:cNvSpPr txBox="1"/>
          <p:nvPr/>
        </p:nvSpPr>
        <p:spPr>
          <a:xfrm>
            <a:off x="6926579" y="7461504"/>
            <a:ext cx="1645919" cy="411479"/>
          </a:xfrm>
          <a:prstGeom prst="rect">
            <a:avLst/>
          </a:prstGeom>
          <a:noFill/>
        </p:spPr>
        <p:txBody>
          <a:bodyPr wrap="none" lIns="0" rIns="0" tIns="0" bIns="0">
            <a:spAutoFit/>
          </a:bodyPr>
          <a:lstStyle/>
          <a:p>
            <a:pPr algn="l">
              <a:lnSpc>
                <a:spcPct val="115000"/>
              </a:lnSpc>
            </a:pPr>
            <a:r>
              <a:rPr sz="1350" spc="150">
                <a:solidFill>
                  <a:srgbClr val="F2ECDD"/>
                </a:solidFill>
                <a:latin typeface="TT Commons Pro"/>
              </a:rPr>
              <a:t>AI</a:t>
            </a:r>
          </a:p>
        </p:txBody>
      </p:sp>
      <p:cxnSp>
        <p:nvCxnSpPr>
          <p:cNvPr id="42" name="Connector 41"/>
          <p:cNvCxnSpPr/>
          <p:nvPr/>
        </p:nvCxnSpPr>
        <p:spPr>
          <a:xfrm flipV="1">
            <a:off x="8709659" y="6336792"/>
            <a:ext cx="1577341" cy="1303019"/>
          </a:xfrm>
          <a:prstGeom prst="line">
            <a:avLst/>
          </a:prstGeom>
          <a:ln w="7620">
            <a:solidFill>
              <a:srgbClr val="1B5252"/>
            </a:solidFill>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10561320" y="4800600"/>
            <a:ext cx="6926579" cy="3086100"/>
          </a:xfrm>
          <a:prstGeom prst="roundRect">
            <a:avLst>
              <a:gd name="adj" fmla="val 6000"/>
            </a:avLst>
          </a:prstGeom>
          <a:solidFill>
            <a:srgbClr val="084B4D"/>
          </a:solidFill>
          <a:ln w="22859">
            <a:solidFill>
              <a:srgbClr val="F0CC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ring.png"/>
          <p:cNvPicPr>
            <a:picLocks noChangeAspect="1"/>
          </p:cNvPicPr>
          <p:nvPr/>
        </p:nvPicPr>
        <p:blipFill>
          <a:blip r:embed="rId13"/>
          <a:stretch>
            <a:fillRect/>
          </a:stretch>
        </p:blipFill>
        <p:spPr>
          <a:xfrm>
            <a:off x="11000232" y="5170932"/>
            <a:ext cx="493776" cy="493776"/>
          </a:xfrm>
          <a:prstGeom prst="rect">
            <a:avLst/>
          </a:prstGeom>
        </p:spPr>
      </p:pic>
      <p:sp>
        <p:nvSpPr>
          <p:cNvPr id="45" name="TextBox 44"/>
          <p:cNvSpPr txBox="1"/>
          <p:nvPr/>
        </p:nvSpPr>
        <p:spPr>
          <a:xfrm>
            <a:off x="11864340" y="5239512"/>
            <a:ext cx="5486400" cy="411479"/>
          </a:xfrm>
          <a:prstGeom prst="rect">
            <a:avLst/>
          </a:prstGeom>
          <a:noFill/>
        </p:spPr>
        <p:txBody>
          <a:bodyPr wrap="none" lIns="0" rIns="0" tIns="0" bIns="0">
            <a:spAutoFit/>
          </a:bodyPr>
          <a:lstStyle/>
          <a:p>
            <a:pPr algn="l">
              <a:lnSpc>
                <a:spcPct val="115000"/>
              </a:lnSpc>
            </a:pPr>
            <a:r>
              <a:rPr sz="1650" spc="330">
                <a:solidFill>
                  <a:srgbClr val="EBCF9E"/>
                </a:solidFill>
                <a:latin typeface="Todes 1"/>
              </a:rPr>
              <a:t>ONE RELATIONAL SYSTEM</a:t>
            </a:r>
          </a:p>
        </p:txBody>
      </p:sp>
      <p:sp>
        <p:nvSpPr>
          <p:cNvPr id="46" name="TextBox 45"/>
          <p:cNvSpPr txBox="1"/>
          <p:nvPr/>
        </p:nvSpPr>
        <p:spPr>
          <a:xfrm>
            <a:off x="10972800" y="6103620"/>
            <a:ext cx="6172200" cy="1399032"/>
          </a:xfrm>
          <a:prstGeom prst="rect">
            <a:avLst/>
          </a:prstGeom>
          <a:noFill/>
        </p:spPr>
        <p:txBody>
          <a:bodyPr wrap="square" lIns="0" rIns="0" tIns="0" bIns="0">
            <a:spAutoFit/>
          </a:bodyPr>
          <a:lstStyle/>
          <a:p>
            <a:pPr algn="l">
              <a:lnSpc>
                <a:spcPct val="150000"/>
              </a:lnSpc>
            </a:pPr>
            <a:r>
              <a:rPr sz="1800">
                <a:solidFill>
                  <a:srgbClr val="F2ECDD"/>
                </a:solidFill>
                <a:latin typeface="TT Commons Pro"/>
              </a:rPr>
              <a:t>Different parts of the same relationships</a:t>
            </a:r>
          </a:p>
          <a:p>
            <a:pPr algn="l">
              <a:lnSpc>
                <a:spcPct val="150000"/>
              </a:lnSpc>
            </a:pPr>
            <a:r>
              <a:rPr sz="1800">
                <a:solidFill>
                  <a:srgbClr val="F2ECDD"/>
                </a:solidFill>
                <a:latin typeface="TT Commons Pro"/>
              </a:rPr>
              <a:t>between people, organizations, resources,</a:t>
            </a:r>
          </a:p>
          <a:p>
            <a:pPr algn="l">
              <a:lnSpc>
                <a:spcPct val="150000"/>
              </a:lnSpc>
            </a:pPr>
            <a:r>
              <a:rPr sz="1800">
                <a:solidFill>
                  <a:srgbClr val="F2ECDD"/>
                </a:solidFill>
                <a:latin typeface="TT Commons Pro"/>
              </a:rPr>
              <a:t>needs, agreements, and actions.</a:t>
            </a:r>
          </a:p>
        </p:txBody>
      </p:sp>
      <p:sp>
        <p:nvSpPr>
          <p:cNvPr id="47" name="TextBox 46"/>
          <p:cNvSpPr txBox="1"/>
          <p:nvPr/>
        </p:nvSpPr>
        <p:spPr>
          <a:xfrm>
            <a:off x="822959" y="8641080"/>
            <a:ext cx="16596359" cy="1097280"/>
          </a:xfrm>
          <a:prstGeom prst="rect">
            <a:avLst/>
          </a:prstGeom>
          <a:noFill/>
        </p:spPr>
        <p:txBody>
          <a:bodyPr wrap="square" lIns="0" rIns="0" tIns="0" bIns="0">
            <a:spAutoFit/>
          </a:bodyPr>
          <a:lstStyle/>
          <a:p>
            <a:pPr algn="ctr">
              <a:lnSpc>
                <a:spcPct val="140000"/>
              </a:lnSpc>
            </a:pPr>
            <a:r>
              <a:rPr sz="2100" spc="20">
                <a:solidFill>
                  <a:srgbClr val="9FE8DC"/>
                </a:solidFill>
                <a:latin typeface="Alike Italics"/>
              </a:rPr>
              <a:t>Instead of stitching disconnected platforms together, these functions share an underlying relational system.</a:t>
            </a:r>
          </a:p>
        </p:txBody>
      </p:sp>
      <p:pic>
        <p:nvPicPr>
          <p:cNvPr id="48" name="Picture 47" descr="rivr-symbol-light.png"/>
          <p:cNvPicPr>
            <a:picLocks noChangeAspect="1"/>
          </p:cNvPicPr>
          <p:nvPr/>
        </p:nvPicPr>
        <p:blipFill>
          <a:blip r:embed="rId14"/>
          <a:stretch>
            <a:fillRect/>
          </a:stretch>
        </p:blipFill>
        <p:spPr>
          <a:xfrm>
            <a:off x="576072" y="9518904"/>
            <a:ext cx="521208" cy="521208"/>
          </a:xfrm>
          <a:prstGeom prst="rect">
            <a:avLst/>
          </a:prstGeom>
        </p:spPr>
      </p:pic>
      <p:sp>
        <p:nvSpPr>
          <p:cNvPr id="49" name="TextBox 48"/>
          <p:cNvSpPr txBox="1"/>
          <p:nvPr/>
        </p:nvSpPr>
        <p:spPr>
          <a:xfrm>
            <a:off x="1371600" y="9724644"/>
            <a:ext cx="5486400" cy="301752"/>
          </a:xfrm>
          <a:prstGeom prst="rect">
            <a:avLst/>
          </a:prstGeom>
          <a:noFill/>
        </p:spPr>
        <p:txBody>
          <a:bodyPr wrap="none" lIns="0" rIns="0" tIns="0" bIns="0">
            <a:spAutoFit/>
          </a:bodyPr>
          <a:lstStyle/>
          <a:p>
            <a:pPr algn="l">
              <a:lnSpc>
                <a:spcPct val="115000"/>
              </a:lnSpc>
            </a:pPr>
            <a:r>
              <a:rPr sz="1350" spc="150">
                <a:solidFill>
                  <a:srgbClr val="AFC4C2"/>
                </a:solidFill>
                <a:latin typeface="TT Commons Pro"/>
              </a:rPr>
              <a:t>Rivr · Seed Round 2026</a:t>
            </a:r>
          </a:p>
        </p:txBody>
      </p:sp>
      <p:sp>
        <p:nvSpPr>
          <p:cNvPr id="50" name="TextBox 49"/>
          <p:cNvSpPr txBox="1"/>
          <p:nvPr/>
        </p:nvSpPr>
        <p:spPr>
          <a:xfrm>
            <a:off x="16870680" y="9724644"/>
            <a:ext cx="960119" cy="301752"/>
          </a:xfrm>
          <a:prstGeom prst="rect">
            <a:avLst/>
          </a:prstGeom>
          <a:noFill/>
        </p:spPr>
        <p:txBody>
          <a:bodyPr wrap="none" lIns="0" rIns="0" tIns="0" bIns="0">
            <a:spAutoFit/>
          </a:bodyPr>
          <a:lstStyle/>
          <a:p>
            <a:pPr algn="r">
              <a:lnSpc>
                <a:spcPct val="115000"/>
              </a:lnSpc>
            </a:pPr>
            <a:r>
              <a:rPr sz="1350" spc="150">
                <a:solidFill>
                  <a:srgbClr val="AFC4C2"/>
                </a:solidFill>
                <a:latin typeface="TT Commons Pro"/>
              </a:rPr>
              <a:t>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03333"/>
        </a:solidFill>
        <a:effectLst/>
      </p:bgPr>
    </p:bg>
    <p:spTree>
      <p:nvGrpSpPr>
        <p:cNvPr id="1" name=""/>
        <p:cNvGrpSpPr/>
        <p:nvPr/>
      </p:nvGrpSpPr>
      <p:grpSpPr/>
      <p:pic>
        <p:nvPicPr>
          <p:cNvPr id="2" name="Picture 1" descr="bg_c22.jpg"/>
          <p:cNvPicPr>
            <a:picLocks noChangeAspect="1"/>
          </p:cNvPicPr>
          <p:nvPr/>
        </p:nvPicPr>
        <p:blipFill>
          <a:blip r:embed="rId2"/>
          <a:stretch>
            <a:fillRect/>
          </a:stretch>
        </p:blipFill>
        <p:spPr>
          <a:xfrm>
            <a:off x="0" y="0"/>
            <a:ext cx="18287542" cy="10287000"/>
          </a:xfrm>
          <a:prstGeom prst="rect">
            <a:avLst/>
          </a:prstGeom>
        </p:spPr>
      </p:pic>
      <p:sp>
        <p:nvSpPr>
          <p:cNvPr id="3" name="TextBox 2"/>
          <p:cNvSpPr txBox="1"/>
          <p:nvPr/>
        </p:nvSpPr>
        <p:spPr>
          <a:xfrm>
            <a:off x="822959" y="822959"/>
            <a:ext cx="16733519" cy="384048"/>
          </a:xfrm>
          <a:prstGeom prst="rect">
            <a:avLst/>
          </a:prstGeom>
          <a:noFill/>
        </p:spPr>
        <p:txBody>
          <a:bodyPr wrap="none" lIns="0" rIns="0" tIns="0" bIns="0">
            <a:spAutoFit/>
          </a:bodyPr>
          <a:lstStyle/>
          <a:p>
            <a:pPr algn="l">
              <a:lnSpc>
                <a:spcPct val="115000"/>
              </a:lnSpc>
            </a:pPr>
            <a:r>
              <a:rPr sz="1650" spc="330">
                <a:solidFill>
                  <a:srgbClr val="9FE8DC"/>
                </a:solidFill>
                <a:latin typeface="Todes 1"/>
              </a:rPr>
              <a:t>COMPLEX UNDERNEATH, HUMAN ON TOP</a:t>
            </a:r>
          </a:p>
        </p:txBody>
      </p:sp>
      <p:sp>
        <p:nvSpPr>
          <p:cNvPr id="4" name="TextBox 3"/>
          <p:cNvSpPr txBox="1"/>
          <p:nvPr/>
        </p:nvSpPr>
        <p:spPr>
          <a:xfrm>
            <a:off x="822959" y="1699869"/>
            <a:ext cx="12537519" cy="1108214"/>
          </a:xfrm>
          <a:prstGeom prst="rect">
            <a:avLst/>
          </a:prstGeom>
          <a:noFill/>
        </p:spPr>
        <p:txBody>
          <a:bodyPr wrap="none" lIns="0" rIns="0" tIns="0" bIns="0">
            <a:spAutoFit/>
          </a:bodyPr>
          <a:lstStyle/>
          <a:p>
            <a:pPr algn="l">
              <a:lnSpc>
                <a:spcPct val="115000"/>
              </a:lnSpc>
            </a:pPr>
            <a:r>
              <a:rPr sz="6017" spc="-81">
                <a:solidFill>
                  <a:srgbClr val="F4EAD8"/>
                </a:solidFill>
                <a:latin typeface="Todes 1"/>
              </a:rPr>
              <a:t>The complexity belongs </a:t>
            </a:r>
          </a:p>
        </p:txBody>
      </p:sp>
      <p:sp>
        <p:nvSpPr>
          <p:cNvPr id="5" name="TextBox 4"/>
          <p:cNvSpPr txBox="1"/>
          <p:nvPr/>
        </p:nvSpPr>
        <p:spPr>
          <a:xfrm>
            <a:off x="10688383" y="1645919"/>
            <a:ext cx="5301615" cy="1205998"/>
          </a:xfrm>
          <a:prstGeom prst="rect">
            <a:avLst/>
          </a:prstGeom>
          <a:noFill/>
        </p:spPr>
        <p:txBody>
          <a:bodyPr wrap="none" lIns="0" rIns="0" tIns="0" bIns="0">
            <a:spAutoFit/>
          </a:bodyPr>
          <a:lstStyle/>
          <a:p>
            <a:pPr algn="l">
              <a:lnSpc>
                <a:spcPct val="115000"/>
              </a:lnSpc>
            </a:pPr>
            <a:r>
              <a:rPr sz="6548" spc="-75">
                <a:solidFill>
                  <a:srgbClr val="99E6D9"/>
                </a:solidFill>
                <a:latin typeface="Ibarra Real Nova Italics"/>
              </a:rPr>
              <a:t>underneath.</a:t>
            </a:r>
          </a:p>
        </p:txBody>
      </p:sp>
      <p:sp>
        <p:nvSpPr>
          <p:cNvPr id="6" name="Rounded Rectangle 5"/>
          <p:cNvSpPr/>
          <p:nvPr/>
        </p:nvSpPr>
        <p:spPr>
          <a:xfrm>
            <a:off x="822959" y="3771900"/>
            <a:ext cx="16664940" cy="2057400"/>
          </a:xfrm>
          <a:prstGeom prst="roundRect">
            <a:avLst>
              <a:gd name="adj" fmla="val 6000"/>
            </a:avLst>
          </a:prstGeom>
          <a:solidFill>
            <a:srgbClr val="0D3E40"/>
          </a:solidFill>
          <a:ln w="17145">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03019" y="4087368"/>
            <a:ext cx="10972800" cy="411479"/>
          </a:xfrm>
          <a:prstGeom prst="rect">
            <a:avLst/>
          </a:prstGeom>
          <a:noFill/>
        </p:spPr>
        <p:txBody>
          <a:bodyPr wrap="none" lIns="0" rIns="0" tIns="0" bIns="0">
            <a:spAutoFit/>
          </a:bodyPr>
          <a:lstStyle/>
          <a:p>
            <a:pPr algn="l">
              <a:lnSpc>
                <a:spcPct val="115000"/>
              </a:lnSpc>
            </a:pPr>
            <a:r>
              <a:rPr sz="1500" spc="330">
                <a:solidFill>
                  <a:srgbClr val="9FE8DC"/>
                </a:solidFill>
                <a:latin typeface="Todes 1"/>
              </a:rPr>
              <a:t>WHAT NOBODY SHOULD NEED TO UNDERSTAND</a:t>
            </a:r>
          </a:p>
        </p:txBody>
      </p:sp>
      <p:sp>
        <p:nvSpPr>
          <p:cNvPr id="8" name="TextBox 7"/>
          <p:cNvSpPr txBox="1"/>
          <p:nvPr/>
        </p:nvSpPr>
        <p:spPr>
          <a:xfrm>
            <a:off x="1303019" y="4690872"/>
            <a:ext cx="15773400" cy="822959"/>
          </a:xfrm>
          <a:prstGeom prst="rect">
            <a:avLst/>
          </a:prstGeom>
          <a:noFill/>
        </p:spPr>
        <p:txBody>
          <a:bodyPr wrap="square" lIns="0" rIns="0" tIns="0" bIns="0">
            <a:spAutoFit/>
          </a:bodyPr>
          <a:lstStyle/>
          <a:p>
            <a:pPr algn="l">
              <a:lnSpc>
                <a:spcPct val="115000"/>
              </a:lnSpc>
            </a:pPr>
            <a:r>
              <a:rPr sz="1800">
                <a:solidFill>
                  <a:srgbClr val="AFC4C2"/>
                </a:solidFill>
                <a:latin typeface="TT Commons Pro"/>
              </a:rPr>
              <a:t>federation · REA data models · mutual credit · cooperative law · containers · distributed computing · interoperability protocols</a:t>
            </a:r>
          </a:p>
        </p:txBody>
      </p:sp>
      <p:sp>
        <p:nvSpPr>
          <p:cNvPr id="9" name="Down Arrow 8"/>
          <p:cNvSpPr/>
          <p:nvPr/>
        </p:nvSpPr>
        <p:spPr>
          <a:xfrm>
            <a:off x="8915400" y="6062472"/>
            <a:ext cx="411479" cy="548640"/>
          </a:xfrm>
          <a:prstGeom prst="downArrow">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22959" y="6858000"/>
            <a:ext cx="16664940" cy="1851660"/>
          </a:xfrm>
          <a:prstGeom prst="roundRect">
            <a:avLst>
              <a:gd name="adj" fmla="val 6000"/>
            </a:avLst>
          </a:prstGeom>
          <a:solidFill>
            <a:srgbClr val="084B4D"/>
          </a:solidFill>
          <a:ln w="22859">
            <a:solidFill>
              <a:srgbClr val="F0CC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03019" y="7132320"/>
            <a:ext cx="10972800" cy="411479"/>
          </a:xfrm>
          <a:prstGeom prst="rect">
            <a:avLst/>
          </a:prstGeom>
          <a:noFill/>
        </p:spPr>
        <p:txBody>
          <a:bodyPr wrap="none" lIns="0" rIns="0" tIns="0" bIns="0">
            <a:spAutoFit/>
          </a:bodyPr>
          <a:lstStyle/>
          <a:p>
            <a:pPr algn="l">
              <a:lnSpc>
                <a:spcPct val="115000"/>
              </a:lnSpc>
            </a:pPr>
            <a:r>
              <a:rPr sz="1500" spc="330">
                <a:solidFill>
                  <a:srgbClr val="EBCF9E"/>
                </a:solidFill>
                <a:latin typeface="Todes 1"/>
              </a:rPr>
              <a:t>WHAT PEOPLE ACTUALLY DO</a:t>
            </a:r>
          </a:p>
        </p:txBody>
      </p:sp>
      <p:pic>
        <p:nvPicPr>
          <p:cNvPr id="12" name="Picture 11" descr="tool.png"/>
          <p:cNvPicPr>
            <a:picLocks noChangeAspect="1"/>
          </p:cNvPicPr>
          <p:nvPr/>
        </p:nvPicPr>
        <p:blipFill>
          <a:blip r:embed="rId4"/>
          <a:stretch>
            <a:fillRect/>
          </a:stretch>
        </p:blipFill>
        <p:spPr>
          <a:xfrm>
            <a:off x="1481328" y="7831836"/>
            <a:ext cx="384048" cy="384048"/>
          </a:xfrm>
          <a:prstGeom prst="rect">
            <a:avLst/>
          </a:prstGeom>
        </p:spPr>
      </p:pic>
      <p:sp>
        <p:nvSpPr>
          <p:cNvPr id="13" name="TextBox 12"/>
          <p:cNvSpPr txBox="1"/>
          <p:nvPr/>
        </p:nvSpPr>
        <p:spPr>
          <a:xfrm>
            <a:off x="1988819" y="7845552"/>
            <a:ext cx="2743200" cy="411479"/>
          </a:xfrm>
          <a:prstGeom prst="rect">
            <a:avLst/>
          </a:prstGeom>
          <a:noFill/>
        </p:spPr>
        <p:txBody>
          <a:bodyPr wrap="none" lIns="0" rIns="0" tIns="0" bIns="0">
            <a:spAutoFit/>
          </a:bodyPr>
          <a:lstStyle/>
          <a:p>
            <a:pPr algn="l">
              <a:lnSpc>
                <a:spcPct val="115000"/>
              </a:lnSpc>
            </a:pPr>
            <a:r>
              <a:rPr sz="1725">
                <a:solidFill>
                  <a:srgbClr val="F2ECDD"/>
                </a:solidFill>
                <a:latin typeface="TT Commons Pro"/>
              </a:rPr>
              <a:t>find a bike</a:t>
            </a:r>
          </a:p>
        </p:txBody>
      </p:sp>
      <p:pic>
        <p:nvPicPr>
          <p:cNvPr id="14" name="Picture 13" descr="event.png"/>
          <p:cNvPicPr>
            <a:picLocks noChangeAspect="1"/>
          </p:cNvPicPr>
          <p:nvPr/>
        </p:nvPicPr>
        <p:blipFill>
          <a:blip r:embed="rId5"/>
          <a:stretch>
            <a:fillRect/>
          </a:stretch>
        </p:blipFill>
        <p:spPr>
          <a:xfrm>
            <a:off x="4636008" y="7831836"/>
            <a:ext cx="384048" cy="384048"/>
          </a:xfrm>
          <a:prstGeom prst="rect">
            <a:avLst/>
          </a:prstGeom>
        </p:spPr>
      </p:pic>
      <p:sp>
        <p:nvSpPr>
          <p:cNvPr id="15" name="TextBox 14"/>
          <p:cNvSpPr txBox="1"/>
          <p:nvPr/>
        </p:nvSpPr>
        <p:spPr>
          <a:xfrm>
            <a:off x="5143500" y="7845552"/>
            <a:ext cx="2743200" cy="411479"/>
          </a:xfrm>
          <a:prstGeom prst="rect">
            <a:avLst/>
          </a:prstGeom>
          <a:noFill/>
        </p:spPr>
        <p:txBody>
          <a:bodyPr wrap="none" lIns="0" rIns="0" tIns="0" bIns="0">
            <a:spAutoFit/>
          </a:bodyPr>
          <a:lstStyle/>
          <a:p>
            <a:pPr algn="l">
              <a:lnSpc>
                <a:spcPct val="115000"/>
              </a:lnSpc>
            </a:pPr>
            <a:r>
              <a:rPr sz="1725">
                <a:solidFill>
                  <a:srgbClr val="F2ECDD"/>
                </a:solidFill>
                <a:latin typeface="TT Commons Pro"/>
              </a:rPr>
              <a:t>join an event</a:t>
            </a:r>
          </a:p>
        </p:txBody>
      </p:sp>
      <p:pic>
        <p:nvPicPr>
          <p:cNvPr id="16" name="Picture 15" descr="care.png"/>
          <p:cNvPicPr>
            <a:picLocks noChangeAspect="1"/>
          </p:cNvPicPr>
          <p:nvPr/>
        </p:nvPicPr>
        <p:blipFill>
          <a:blip r:embed="rId6"/>
          <a:stretch>
            <a:fillRect/>
          </a:stretch>
        </p:blipFill>
        <p:spPr>
          <a:xfrm>
            <a:off x="7790688" y="7831836"/>
            <a:ext cx="384048" cy="384048"/>
          </a:xfrm>
          <a:prstGeom prst="rect">
            <a:avLst/>
          </a:prstGeom>
        </p:spPr>
      </p:pic>
      <p:sp>
        <p:nvSpPr>
          <p:cNvPr id="17" name="TextBox 16"/>
          <p:cNvSpPr txBox="1"/>
          <p:nvPr/>
        </p:nvSpPr>
        <p:spPr>
          <a:xfrm>
            <a:off x="8298179" y="7845552"/>
            <a:ext cx="2743200" cy="411479"/>
          </a:xfrm>
          <a:prstGeom prst="rect">
            <a:avLst/>
          </a:prstGeom>
          <a:noFill/>
        </p:spPr>
        <p:txBody>
          <a:bodyPr wrap="none" lIns="0" rIns="0" tIns="0" bIns="0">
            <a:spAutoFit/>
          </a:bodyPr>
          <a:lstStyle/>
          <a:p>
            <a:pPr algn="l">
              <a:lnSpc>
                <a:spcPct val="115000"/>
              </a:lnSpc>
            </a:pPr>
            <a:r>
              <a:rPr sz="1725">
                <a:solidFill>
                  <a:srgbClr val="F2ECDD"/>
                </a:solidFill>
                <a:latin typeface="TT Commons Pro"/>
              </a:rPr>
              <a:t>find a babysitter</a:t>
            </a:r>
          </a:p>
        </p:txBody>
      </p:sp>
      <p:pic>
        <p:nvPicPr>
          <p:cNvPr id="18" name="Picture 17" descr="project.png"/>
          <p:cNvPicPr>
            <a:picLocks noChangeAspect="1"/>
          </p:cNvPicPr>
          <p:nvPr/>
        </p:nvPicPr>
        <p:blipFill>
          <a:blip r:embed="rId7"/>
          <a:stretch>
            <a:fillRect/>
          </a:stretch>
        </p:blipFill>
        <p:spPr>
          <a:xfrm>
            <a:off x="10945367" y="7831836"/>
            <a:ext cx="384048" cy="384048"/>
          </a:xfrm>
          <a:prstGeom prst="rect">
            <a:avLst/>
          </a:prstGeom>
        </p:spPr>
      </p:pic>
      <p:sp>
        <p:nvSpPr>
          <p:cNvPr id="19" name="TextBox 18"/>
          <p:cNvSpPr txBox="1"/>
          <p:nvPr/>
        </p:nvSpPr>
        <p:spPr>
          <a:xfrm>
            <a:off x="11452859" y="7845552"/>
            <a:ext cx="2743200" cy="411479"/>
          </a:xfrm>
          <a:prstGeom prst="rect">
            <a:avLst/>
          </a:prstGeom>
          <a:noFill/>
        </p:spPr>
        <p:txBody>
          <a:bodyPr wrap="none" lIns="0" rIns="0" tIns="0" bIns="0">
            <a:spAutoFit/>
          </a:bodyPr>
          <a:lstStyle/>
          <a:p>
            <a:pPr algn="l">
              <a:lnSpc>
                <a:spcPct val="115000"/>
              </a:lnSpc>
            </a:pPr>
            <a:r>
              <a:rPr sz="1725">
                <a:solidFill>
                  <a:srgbClr val="F2ECDD"/>
                </a:solidFill>
                <a:latin typeface="TT Commons Pro"/>
              </a:rPr>
              <a:t>take a job</a:t>
            </a:r>
          </a:p>
        </p:txBody>
      </p:sp>
      <p:pic>
        <p:nvPicPr>
          <p:cNvPr id="20" name="Picture 19" descr="project.png"/>
          <p:cNvPicPr>
            <a:picLocks noChangeAspect="1"/>
          </p:cNvPicPr>
          <p:nvPr/>
        </p:nvPicPr>
        <p:blipFill>
          <a:blip r:embed="rId7"/>
          <a:stretch>
            <a:fillRect/>
          </a:stretch>
        </p:blipFill>
        <p:spPr>
          <a:xfrm>
            <a:off x="14100047" y="7831836"/>
            <a:ext cx="384048" cy="384048"/>
          </a:xfrm>
          <a:prstGeom prst="rect">
            <a:avLst/>
          </a:prstGeom>
        </p:spPr>
      </p:pic>
      <p:sp>
        <p:nvSpPr>
          <p:cNvPr id="21" name="TextBox 20"/>
          <p:cNvSpPr txBox="1"/>
          <p:nvPr/>
        </p:nvSpPr>
        <p:spPr>
          <a:xfrm>
            <a:off x="14607539" y="7845552"/>
            <a:ext cx="2743200" cy="411479"/>
          </a:xfrm>
          <a:prstGeom prst="rect">
            <a:avLst/>
          </a:prstGeom>
          <a:noFill/>
        </p:spPr>
        <p:txBody>
          <a:bodyPr wrap="none" lIns="0" rIns="0" tIns="0" bIns="0">
            <a:spAutoFit/>
          </a:bodyPr>
          <a:lstStyle/>
          <a:p>
            <a:pPr algn="l">
              <a:lnSpc>
                <a:spcPct val="115000"/>
              </a:lnSpc>
            </a:pPr>
            <a:r>
              <a:rPr sz="1725">
                <a:solidFill>
                  <a:srgbClr val="F2ECDD"/>
                </a:solidFill>
                <a:latin typeface="TT Commons Pro"/>
              </a:rPr>
              <a:t>start a project</a:t>
            </a:r>
          </a:p>
        </p:txBody>
      </p:sp>
      <p:sp>
        <p:nvSpPr>
          <p:cNvPr id="22" name="TextBox 21"/>
          <p:cNvSpPr txBox="1"/>
          <p:nvPr/>
        </p:nvSpPr>
        <p:spPr>
          <a:xfrm>
            <a:off x="822959" y="9079992"/>
            <a:ext cx="16596359" cy="1097280"/>
          </a:xfrm>
          <a:prstGeom prst="rect">
            <a:avLst/>
          </a:prstGeom>
          <a:noFill/>
        </p:spPr>
        <p:txBody>
          <a:bodyPr wrap="square" lIns="0" rIns="0" tIns="0" bIns="0">
            <a:spAutoFit/>
          </a:bodyPr>
          <a:lstStyle/>
          <a:p>
            <a:pPr algn="ctr">
              <a:lnSpc>
                <a:spcPct val="140000"/>
              </a:lnSpc>
            </a:pPr>
            <a:r>
              <a:rPr sz="2100">
                <a:solidFill>
                  <a:srgbClr val="F4EAD8"/>
                </a:solidFill>
                <a:latin typeface="TT Commons Pro Bold"/>
              </a:rPr>
              <a:t>Complex infrastructure. </a:t>
            </a:r>
            <a:r>
              <a:rPr sz="2250" spc="20">
                <a:solidFill>
                  <a:srgbClr val="EBCF9E"/>
                </a:solidFill>
                <a:latin typeface="Alike Italics"/>
              </a:rPr>
              <a:t>Simple participation.</a:t>
            </a:r>
          </a:p>
        </p:txBody>
      </p:sp>
      <p:pic>
        <p:nvPicPr>
          <p:cNvPr id="23" name="Picture 22" descr="rivr-symbol-light.png"/>
          <p:cNvPicPr>
            <a:picLocks noChangeAspect="1"/>
          </p:cNvPicPr>
          <p:nvPr/>
        </p:nvPicPr>
        <p:blipFill>
          <a:blip r:embed="rId8"/>
          <a:stretch>
            <a:fillRect/>
          </a:stretch>
        </p:blipFill>
        <p:spPr>
          <a:xfrm>
            <a:off x="576072" y="9518904"/>
            <a:ext cx="521208" cy="521208"/>
          </a:xfrm>
          <a:prstGeom prst="rect">
            <a:avLst/>
          </a:prstGeom>
        </p:spPr>
      </p:pic>
      <p:sp>
        <p:nvSpPr>
          <p:cNvPr id="24" name="TextBox 23"/>
          <p:cNvSpPr txBox="1"/>
          <p:nvPr/>
        </p:nvSpPr>
        <p:spPr>
          <a:xfrm>
            <a:off x="1371600" y="9724644"/>
            <a:ext cx="5486400" cy="301752"/>
          </a:xfrm>
          <a:prstGeom prst="rect">
            <a:avLst/>
          </a:prstGeom>
          <a:noFill/>
        </p:spPr>
        <p:txBody>
          <a:bodyPr wrap="none" lIns="0" rIns="0" tIns="0" bIns="0">
            <a:spAutoFit/>
          </a:bodyPr>
          <a:lstStyle/>
          <a:p>
            <a:pPr algn="l">
              <a:lnSpc>
                <a:spcPct val="115000"/>
              </a:lnSpc>
            </a:pPr>
            <a:r>
              <a:rPr sz="1350" spc="150">
                <a:solidFill>
                  <a:srgbClr val="AFC4C2"/>
                </a:solidFill>
                <a:latin typeface="TT Commons Pro"/>
              </a:rPr>
              <a:t>Rivr · Seed Round 2026</a:t>
            </a:r>
          </a:p>
        </p:txBody>
      </p:sp>
      <p:sp>
        <p:nvSpPr>
          <p:cNvPr id="25" name="TextBox 24"/>
          <p:cNvSpPr txBox="1"/>
          <p:nvPr/>
        </p:nvSpPr>
        <p:spPr>
          <a:xfrm>
            <a:off x="16870680" y="9724644"/>
            <a:ext cx="960119" cy="301752"/>
          </a:xfrm>
          <a:prstGeom prst="rect">
            <a:avLst/>
          </a:prstGeom>
          <a:noFill/>
        </p:spPr>
        <p:txBody>
          <a:bodyPr wrap="none" lIns="0" rIns="0" tIns="0" bIns="0">
            <a:spAutoFit/>
          </a:bodyPr>
          <a:lstStyle/>
          <a:p>
            <a:pPr algn="r">
              <a:lnSpc>
                <a:spcPct val="115000"/>
              </a:lnSpc>
            </a:pPr>
            <a:r>
              <a:rPr sz="1350" spc="150">
                <a:solidFill>
                  <a:srgbClr val="AFC4C2"/>
                </a:solidFill>
                <a:latin typeface="TT Commons Pro"/>
              </a:rPr>
              <a:t>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03333"/>
        </a:solidFill>
        <a:effectLst/>
      </p:bgPr>
    </p:bg>
    <p:spTree>
      <p:nvGrpSpPr>
        <p:cNvPr id="1" name=""/>
        <p:cNvGrpSpPr/>
        <p:nvPr/>
      </p:nvGrpSpPr>
      <p:grpSpPr/>
      <p:pic>
        <p:nvPicPr>
          <p:cNvPr id="2" name="Picture 1" descr="bg_c23.jpg"/>
          <p:cNvPicPr>
            <a:picLocks noChangeAspect="1"/>
          </p:cNvPicPr>
          <p:nvPr/>
        </p:nvPicPr>
        <p:blipFill>
          <a:blip r:embed="rId2"/>
          <a:stretch>
            <a:fillRect/>
          </a:stretch>
        </p:blipFill>
        <p:spPr>
          <a:xfrm>
            <a:off x="0" y="0"/>
            <a:ext cx="18287542" cy="10287000"/>
          </a:xfrm>
          <a:prstGeom prst="rect">
            <a:avLst/>
          </a:prstGeom>
        </p:spPr>
      </p:pic>
      <p:sp>
        <p:nvSpPr>
          <p:cNvPr id="3" name="TextBox 2"/>
          <p:cNvSpPr txBox="1"/>
          <p:nvPr/>
        </p:nvSpPr>
        <p:spPr>
          <a:xfrm>
            <a:off x="822959" y="822959"/>
            <a:ext cx="16733519" cy="384048"/>
          </a:xfrm>
          <a:prstGeom prst="rect">
            <a:avLst/>
          </a:prstGeom>
          <a:noFill/>
        </p:spPr>
        <p:txBody>
          <a:bodyPr wrap="none" lIns="0" rIns="0" tIns="0" bIns="0">
            <a:spAutoFit/>
          </a:bodyPr>
          <a:lstStyle/>
          <a:p>
            <a:pPr algn="l">
              <a:lnSpc>
                <a:spcPct val="115000"/>
              </a:lnSpc>
            </a:pPr>
            <a:r>
              <a:rPr sz="1650" spc="330">
                <a:solidFill>
                  <a:srgbClr val="9FE8DC"/>
                </a:solidFill>
                <a:latin typeface="Todes 1"/>
              </a:rPr>
              <a:t>THE REA ACTIVITY MODEL</a:t>
            </a:r>
          </a:p>
        </p:txBody>
      </p:sp>
      <p:sp>
        <p:nvSpPr>
          <p:cNvPr id="4" name="TextBox 3"/>
          <p:cNvSpPr txBox="1"/>
          <p:nvPr/>
        </p:nvSpPr>
        <p:spPr>
          <a:xfrm>
            <a:off x="822959" y="1699869"/>
            <a:ext cx="10995104" cy="1043025"/>
          </a:xfrm>
          <a:prstGeom prst="rect">
            <a:avLst/>
          </a:prstGeom>
          <a:noFill/>
        </p:spPr>
        <p:txBody>
          <a:bodyPr wrap="none" lIns="0" rIns="0" tIns="0" bIns="0">
            <a:spAutoFit/>
          </a:bodyPr>
          <a:lstStyle/>
          <a:p>
            <a:pPr algn="l">
              <a:lnSpc>
                <a:spcPct val="115000"/>
              </a:lnSpc>
            </a:pPr>
            <a:r>
              <a:rPr sz="5664" spc="-76">
                <a:solidFill>
                  <a:srgbClr val="F4EAD8"/>
                </a:solidFill>
                <a:latin typeface="Todes 1"/>
              </a:rPr>
              <a:t>Model the real activity </a:t>
            </a:r>
          </a:p>
        </p:txBody>
      </p:sp>
      <p:sp>
        <p:nvSpPr>
          <p:cNvPr id="5" name="TextBox 4"/>
          <p:cNvSpPr txBox="1"/>
          <p:nvPr/>
        </p:nvSpPr>
        <p:spPr>
          <a:xfrm>
            <a:off x="9454451" y="1645919"/>
            <a:ext cx="8063865" cy="1140809"/>
          </a:xfrm>
          <a:prstGeom prst="rect">
            <a:avLst/>
          </a:prstGeom>
          <a:noFill/>
        </p:spPr>
        <p:txBody>
          <a:bodyPr wrap="none" lIns="0" rIns="0" tIns="0" bIns="0">
            <a:spAutoFit/>
          </a:bodyPr>
          <a:lstStyle/>
          <a:p>
            <a:pPr algn="l">
              <a:lnSpc>
                <a:spcPct val="115000"/>
              </a:lnSpc>
            </a:pPr>
            <a:r>
              <a:rPr sz="6195" spc="-75">
                <a:solidFill>
                  <a:srgbClr val="F0CC8B"/>
                </a:solidFill>
                <a:latin typeface="Ibarra Real Nova Italics"/>
              </a:rPr>
              <a:t>underneath the feed.</a:t>
            </a:r>
          </a:p>
        </p:txBody>
      </p:sp>
      <p:sp>
        <p:nvSpPr>
          <p:cNvPr id="6" name="Oval 5"/>
          <p:cNvSpPr/>
          <p:nvPr/>
        </p:nvSpPr>
        <p:spPr>
          <a:xfrm>
            <a:off x="3291839" y="4251960"/>
            <a:ext cx="2057400" cy="2057400"/>
          </a:xfrm>
          <a:prstGeom prst="ellipse">
            <a:avLst/>
          </a:prstGeom>
          <a:solidFill>
            <a:srgbClr val="084B4D"/>
          </a:solidFill>
          <a:ln w="19050">
            <a:solidFill>
              <a:srgbClr val="B5A8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esource.png"/>
          <p:cNvPicPr>
            <a:picLocks noChangeAspect="1"/>
          </p:cNvPicPr>
          <p:nvPr/>
        </p:nvPicPr>
        <p:blipFill>
          <a:blip r:embed="rId4"/>
          <a:stretch>
            <a:fillRect/>
          </a:stretch>
        </p:blipFill>
        <p:spPr>
          <a:xfrm>
            <a:off x="4046220" y="4773168"/>
            <a:ext cx="548640" cy="548640"/>
          </a:xfrm>
          <a:prstGeom prst="rect">
            <a:avLst/>
          </a:prstGeom>
        </p:spPr>
      </p:pic>
      <p:sp>
        <p:nvSpPr>
          <p:cNvPr id="8" name="TextBox 7"/>
          <p:cNvSpPr txBox="1"/>
          <p:nvPr/>
        </p:nvSpPr>
        <p:spPr>
          <a:xfrm>
            <a:off x="2674620" y="5650992"/>
            <a:ext cx="3291839" cy="411479"/>
          </a:xfrm>
          <a:prstGeom prst="rect">
            <a:avLst/>
          </a:prstGeom>
          <a:noFill/>
        </p:spPr>
        <p:txBody>
          <a:bodyPr wrap="none" lIns="0" rIns="0" tIns="0" bIns="0">
            <a:spAutoFit/>
          </a:bodyPr>
          <a:lstStyle/>
          <a:p>
            <a:pPr algn="ctr">
              <a:lnSpc>
                <a:spcPct val="115000"/>
              </a:lnSpc>
            </a:pPr>
            <a:r>
              <a:rPr sz="1650" spc="330">
                <a:solidFill>
                  <a:srgbClr val="B5A87A"/>
                </a:solidFill>
                <a:latin typeface="Todes 1"/>
              </a:rPr>
              <a:t>RESOURCE</a:t>
            </a:r>
          </a:p>
        </p:txBody>
      </p:sp>
      <p:sp>
        <p:nvSpPr>
          <p:cNvPr id="9" name="TextBox 8"/>
          <p:cNvSpPr txBox="1"/>
          <p:nvPr/>
        </p:nvSpPr>
        <p:spPr>
          <a:xfrm>
            <a:off x="2125979" y="6556248"/>
            <a:ext cx="4389120" cy="822959"/>
          </a:xfrm>
          <a:prstGeom prst="rect">
            <a:avLst/>
          </a:prstGeom>
          <a:noFill/>
        </p:spPr>
        <p:txBody>
          <a:bodyPr wrap="square" lIns="0" rIns="0" tIns="0" bIns="0">
            <a:spAutoFit/>
          </a:bodyPr>
          <a:lstStyle/>
          <a:p>
            <a:pPr algn="ctr">
              <a:lnSpc>
                <a:spcPct val="140000"/>
              </a:lnSpc>
            </a:pPr>
            <a:r>
              <a:rPr sz="1575">
                <a:solidFill>
                  <a:srgbClr val="F2ECDD"/>
                </a:solidFill>
                <a:latin typeface="TT Commons Pro"/>
              </a:rPr>
              <a:t>tools · food · space · money</a:t>
            </a:r>
          </a:p>
          <a:p>
            <a:pPr algn="ctr">
              <a:lnSpc>
                <a:spcPct val="140000"/>
              </a:lnSpc>
            </a:pPr>
            <a:r>
              <a:rPr sz="1575">
                <a:solidFill>
                  <a:srgbClr val="F2ECDD"/>
                </a:solidFill>
                <a:latin typeface="TT Commons Pro"/>
              </a:rPr>
              <a:t>skills · work products</a:t>
            </a:r>
          </a:p>
        </p:txBody>
      </p:sp>
      <p:sp>
        <p:nvSpPr>
          <p:cNvPr id="10" name="Oval 9"/>
          <p:cNvSpPr/>
          <p:nvPr/>
        </p:nvSpPr>
        <p:spPr>
          <a:xfrm>
            <a:off x="8106156" y="4251960"/>
            <a:ext cx="2057400" cy="2057400"/>
          </a:xfrm>
          <a:prstGeom prst="ellipse">
            <a:avLst/>
          </a:prstGeom>
          <a:solidFill>
            <a:srgbClr val="084B4D"/>
          </a:solidFill>
          <a:ln w="19050">
            <a:solidFill>
              <a:srgbClr val="C4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vent.png"/>
          <p:cNvPicPr>
            <a:picLocks noChangeAspect="1"/>
          </p:cNvPicPr>
          <p:nvPr/>
        </p:nvPicPr>
        <p:blipFill>
          <a:blip r:embed="rId5"/>
          <a:stretch>
            <a:fillRect/>
          </a:stretch>
        </p:blipFill>
        <p:spPr>
          <a:xfrm>
            <a:off x="8860536" y="4773168"/>
            <a:ext cx="548640" cy="548640"/>
          </a:xfrm>
          <a:prstGeom prst="rect">
            <a:avLst/>
          </a:prstGeom>
        </p:spPr>
      </p:pic>
      <p:sp>
        <p:nvSpPr>
          <p:cNvPr id="12" name="TextBox 11"/>
          <p:cNvSpPr txBox="1"/>
          <p:nvPr/>
        </p:nvSpPr>
        <p:spPr>
          <a:xfrm>
            <a:off x="7488936" y="5650992"/>
            <a:ext cx="3291839" cy="411479"/>
          </a:xfrm>
          <a:prstGeom prst="rect">
            <a:avLst/>
          </a:prstGeom>
          <a:noFill/>
        </p:spPr>
        <p:txBody>
          <a:bodyPr wrap="none" lIns="0" rIns="0" tIns="0" bIns="0">
            <a:spAutoFit/>
          </a:bodyPr>
          <a:lstStyle/>
          <a:p>
            <a:pPr algn="ctr">
              <a:lnSpc>
                <a:spcPct val="115000"/>
              </a:lnSpc>
            </a:pPr>
            <a:r>
              <a:rPr sz="1650" spc="330">
                <a:solidFill>
                  <a:srgbClr val="C47A7A"/>
                </a:solidFill>
                <a:latin typeface="Todes 1"/>
              </a:rPr>
              <a:t>EVENT</a:t>
            </a:r>
          </a:p>
        </p:txBody>
      </p:sp>
      <p:sp>
        <p:nvSpPr>
          <p:cNvPr id="13" name="TextBox 12"/>
          <p:cNvSpPr txBox="1"/>
          <p:nvPr/>
        </p:nvSpPr>
        <p:spPr>
          <a:xfrm>
            <a:off x="6940296" y="6556248"/>
            <a:ext cx="4389120" cy="822959"/>
          </a:xfrm>
          <a:prstGeom prst="rect">
            <a:avLst/>
          </a:prstGeom>
          <a:noFill/>
        </p:spPr>
        <p:txBody>
          <a:bodyPr wrap="square" lIns="0" rIns="0" tIns="0" bIns="0">
            <a:spAutoFit/>
          </a:bodyPr>
          <a:lstStyle/>
          <a:p>
            <a:pPr algn="ctr">
              <a:lnSpc>
                <a:spcPct val="140000"/>
              </a:lnSpc>
            </a:pPr>
            <a:r>
              <a:rPr sz="1575">
                <a:solidFill>
                  <a:srgbClr val="F2ECDD"/>
                </a:solidFill>
                <a:latin typeface="TT Commons Pro"/>
              </a:rPr>
              <a:t>an exchange · a contribution</a:t>
            </a:r>
          </a:p>
          <a:p>
            <a:pPr algn="ctr">
              <a:lnSpc>
                <a:spcPct val="140000"/>
              </a:lnSpc>
            </a:pPr>
            <a:r>
              <a:rPr sz="1575">
                <a:solidFill>
                  <a:srgbClr val="F2ECDD"/>
                </a:solidFill>
                <a:latin typeface="TT Commons Pro"/>
              </a:rPr>
              <a:t>a decision · a delivery</a:t>
            </a:r>
          </a:p>
        </p:txBody>
      </p:sp>
      <p:sp>
        <p:nvSpPr>
          <p:cNvPr id="14" name="Oval 13"/>
          <p:cNvSpPr/>
          <p:nvPr/>
        </p:nvSpPr>
        <p:spPr>
          <a:xfrm>
            <a:off x="12920472" y="4251960"/>
            <a:ext cx="2057400" cy="2057400"/>
          </a:xfrm>
          <a:prstGeom prst="ellipse">
            <a:avLst/>
          </a:prstGeom>
          <a:solidFill>
            <a:srgbClr val="084B4D"/>
          </a:solidFill>
          <a:ln w="19050">
            <a:solidFill>
              <a:srgbClr val="7FB5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person.png"/>
          <p:cNvPicPr>
            <a:picLocks noChangeAspect="1"/>
          </p:cNvPicPr>
          <p:nvPr/>
        </p:nvPicPr>
        <p:blipFill>
          <a:blip r:embed="rId6"/>
          <a:stretch>
            <a:fillRect/>
          </a:stretch>
        </p:blipFill>
        <p:spPr>
          <a:xfrm>
            <a:off x="13674852" y="4773168"/>
            <a:ext cx="548640" cy="548640"/>
          </a:xfrm>
          <a:prstGeom prst="rect">
            <a:avLst/>
          </a:prstGeom>
        </p:spPr>
      </p:pic>
      <p:sp>
        <p:nvSpPr>
          <p:cNvPr id="16" name="TextBox 15"/>
          <p:cNvSpPr txBox="1"/>
          <p:nvPr/>
        </p:nvSpPr>
        <p:spPr>
          <a:xfrm>
            <a:off x="12303252" y="5650992"/>
            <a:ext cx="3291839" cy="411479"/>
          </a:xfrm>
          <a:prstGeom prst="rect">
            <a:avLst/>
          </a:prstGeom>
          <a:noFill/>
        </p:spPr>
        <p:txBody>
          <a:bodyPr wrap="none" lIns="0" rIns="0" tIns="0" bIns="0">
            <a:spAutoFit/>
          </a:bodyPr>
          <a:lstStyle/>
          <a:p>
            <a:pPr algn="ctr">
              <a:lnSpc>
                <a:spcPct val="115000"/>
              </a:lnSpc>
            </a:pPr>
            <a:r>
              <a:rPr sz="1650" spc="330">
                <a:solidFill>
                  <a:srgbClr val="7FB5A0"/>
                </a:solidFill>
                <a:latin typeface="Todes 1"/>
              </a:rPr>
              <a:t>AGENT</a:t>
            </a:r>
          </a:p>
        </p:txBody>
      </p:sp>
      <p:sp>
        <p:nvSpPr>
          <p:cNvPr id="17" name="TextBox 16"/>
          <p:cNvSpPr txBox="1"/>
          <p:nvPr/>
        </p:nvSpPr>
        <p:spPr>
          <a:xfrm>
            <a:off x="11754612" y="6556248"/>
            <a:ext cx="4389120" cy="822959"/>
          </a:xfrm>
          <a:prstGeom prst="rect">
            <a:avLst/>
          </a:prstGeom>
          <a:noFill/>
        </p:spPr>
        <p:txBody>
          <a:bodyPr wrap="square" lIns="0" rIns="0" tIns="0" bIns="0">
            <a:spAutoFit/>
          </a:bodyPr>
          <a:lstStyle/>
          <a:p>
            <a:pPr algn="ctr">
              <a:lnSpc>
                <a:spcPct val="140000"/>
              </a:lnSpc>
            </a:pPr>
            <a:r>
              <a:rPr sz="1575">
                <a:solidFill>
                  <a:srgbClr val="F2ECDD"/>
                </a:solidFill>
                <a:latin typeface="TT Commons Pro"/>
              </a:rPr>
              <a:t>people and groups who act</a:t>
            </a:r>
          </a:p>
          <a:p>
            <a:pPr algn="ctr">
              <a:lnSpc>
                <a:spcPct val="140000"/>
              </a:lnSpc>
            </a:pPr>
            <a:r>
              <a:rPr sz="1575">
                <a:solidFill>
                  <a:srgbClr val="F2ECDD"/>
                </a:solidFill>
                <a:latin typeface="TT Commons Pro"/>
              </a:rPr>
              <a:t>individuals · organizations</a:t>
            </a:r>
          </a:p>
        </p:txBody>
      </p:sp>
      <p:cxnSp>
        <p:nvCxnSpPr>
          <p:cNvPr id="18" name="Connector 17"/>
          <p:cNvCxnSpPr/>
          <p:nvPr/>
        </p:nvCxnSpPr>
        <p:spPr>
          <a:xfrm>
            <a:off x="5417820" y="5280660"/>
            <a:ext cx="2619756" cy="0"/>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356098" y="4869179"/>
            <a:ext cx="2743200" cy="411479"/>
          </a:xfrm>
          <a:prstGeom prst="rect">
            <a:avLst/>
          </a:prstGeom>
          <a:noFill/>
        </p:spPr>
        <p:txBody>
          <a:bodyPr wrap="none" lIns="0" rIns="0" tIns="0" bIns="0">
            <a:spAutoFit/>
          </a:bodyPr>
          <a:lstStyle/>
          <a:p>
            <a:pPr algn="ctr">
              <a:lnSpc>
                <a:spcPct val="115000"/>
              </a:lnSpc>
            </a:pPr>
            <a:r>
              <a:rPr sz="1425">
                <a:solidFill>
                  <a:srgbClr val="9FE8DC"/>
                </a:solidFill>
                <a:latin typeface="TT Commons Pro"/>
              </a:rPr>
              <a:t>acts on</a:t>
            </a:r>
          </a:p>
        </p:txBody>
      </p:sp>
      <p:cxnSp>
        <p:nvCxnSpPr>
          <p:cNvPr id="20" name="Connector 19"/>
          <p:cNvCxnSpPr/>
          <p:nvPr/>
        </p:nvCxnSpPr>
        <p:spPr>
          <a:xfrm>
            <a:off x="10232136" y="5280660"/>
            <a:ext cx="2619756" cy="0"/>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0170413" y="4869179"/>
            <a:ext cx="2743200" cy="411479"/>
          </a:xfrm>
          <a:prstGeom prst="rect">
            <a:avLst/>
          </a:prstGeom>
          <a:noFill/>
        </p:spPr>
        <p:txBody>
          <a:bodyPr wrap="none" lIns="0" rIns="0" tIns="0" bIns="0">
            <a:spAutoFit/>
          </a:bodyPr>
          <a:lstStyle/>
          <a:p>
            <a:pPr algn="ctr">
              <a:lnSpc>
                <a:spcPct val="115000"/>
              </a:lnSpc>
            </a:pPr>
            <a:r>
              <a:rPr sz="1425">
                <a:solidFill>
                  <a:srgbClr val="9FE8DC"/>
                </a:solidFill>
                <a:latin typeface="TT Commons Pro"/>
              </a:rPr>
              <a:t>performed by</a:t>
            </a:r>
          </a:p>
        </p:txBody>
      </p:sp>
      <p:sp>
        <p:nvSpPr>
          <p:cNvPr id="22" name="TextBox 21"/>
          <p:cNvSpPr txBox="1"/>
          <p:nvPr/>
        </p:nvSpPr>
        <p:spPr>
          <a:xfrm>
            <a:off x="822959" y="8023859"/>
            <a:ext cx="16596359" cy="1097280"/>
          </a:xfrm>
          <a:prstGeom prst="rect">
            <a:avLst/>
          </a:prstGeom>
          <a:noFill/>
        </p:spPr>
        <p:txBody>
          <a:bodyPr wrap="square" lIns="0" rIns="0" tIns="0" bIns="0">
            <a:spAutoFit/>
          </a:bodyPr>
          <a:lstStyle/>
          <a:p>
            <a:pPr algn="ctr">
              <a:lnSpc>
                <a:spcPct val="140000"/>
              </a:lnSpc>
            </a:pPr>
            <a:r>
              <a:rPr sz="1950">
                <a:solidFill>
                  <a:srgbClr val="F2ECDD"/>
                </a:solidFill>
                <a:latin typeface="TT Commons Pro"/>
              </a:rPr>
              <a:t>The basic unit is not “someone posted something.”</a:t>
            </a:r>
          </a:p>
          <a:p>
            <a:pPr algn="ctr">
              <a:lnSpc>
                <a:spcPct val="140000"/>
              </a:lnSpc>
            </a:pPr>
            <a:r>
              <a:rPr sz="2100" spc="20">
                <a:solidFill>
                  <a:srgbClr val="9FE8DC"/>
                </a:solidFill>
                <a:latin typeface="Alike Italics"/>
              </a:rPr>
              <a:t>It is people and organizations doing things with resources.</a:t>
            </a:r>
          </a:p>
        </p:txBody>
      </p:sp>
      <p:pic>
        <p:nvPicPr>
          <p:cNvPr id="23" name="Picture 22" descr="rivr-symbol-light.png"/>
          <p:cNvPicPr>
            <a:picLocks noChangeAspect="1"/>
          </p:cNvPicPr>
          <p:nvPr/>
        </p:nvPicPr>
        <p:blipFill>
          <a:blip r:embed="rId7"/>
          <a:stretch>
            <a:fillRect/>
          </a:stretch>
        </p:blipFill>
        <p:spPr>
          <a:xfrm>
            <a:off x="576072" y="9518904"/>
            <a:ext cx="521208" cy="521208"/>
          </a:xfrm>
          <a:prstGeom prst="rect">
            <a:avLst/>
          </a:prstGeom>
        </p:spPr>
      </p:pic>
      <p:sp>
        <p:nvSpPr>
          <p:cNvPr id="24" name="TextBox 23"/>
          <p:cNvSpPr txBox="1"/>
          <p:nvPr/>
        </p:nvSpPr>
        <p:spPr>
          <a:xfrm>
            <a:off x="1371600" y="9724644"/>
            <a:ext cx="5486400" cy="301752"/>
          </a:xfrm>
          <a:prstGeom prst="rect">
            <a:avLst/>
          </a:prstGeom>
          <a:noFill/>
        </p:spPr>
        <p:txBody>
          <a:bodyPr wrap="none" lIns="0" rIns="0" tIns="0" bIns="0">
            <a:spAutoFit/>
          </a:bodyPr>
          <a:lstStyle/>
          <a:p>
            <a:pPr algn="l">
              <a:lnSpc>
                <a:spcPct val="115000"/>
              </a:lnSpc>
            </a:pPr>
            <a:r>
              <a:rPr sz="1350" spc="150">
                <a:solidFill>
                  <a:srgbClr val="AFC4C2"/>
                </a:solidFill>
                <a:latin typeface="TT Commons Pro"/>
              </a:rPr>
              <a:t>Rivr · Seed Round 2026</a:t>
            </a:r>
          </a:p>
        </p:txBody>
      </p:sp>
      <p:sp>
        <p:nvSpPr>
          <p:cNvPr id="25" name="TextBox 24"/>
          <p:cNvSpPr txBox="1"/>
          <p:nvPr/>
        </p:nvSpPr>
        <p:spPr>
          <a:xfrm>
            <a:off x="16870680" y="9724644"/>
            <a:ext cx="960119" cy="301752"/>
          </a:xfrm>
          <a:prstGeom prst="rect">
            <a:avLst/>
          </a:prstGeom>
          <a:noFill/>
        </p:spPr>
        <p:txBody>
          <a:bodyPr wrap="none" lIns="0" rIns="0" tIns="0" bIns="0">
            <a:spAutoFit/>
          </a:bodyPr>
          <a:lstStyle/>
          <a:p>
            <a:pPr algn="r">
              <a:lnSpc>
                <a:spcPct val="115000"/>
              </a:lnSpc>
            </a:pPr>
            <a:r>
              <a:rPr sz="1350" spc="150">
                <a:solidFill>
                  <a:srgbClr val="AFC4C2"/>
                </a:solidFill>
                <a:latin typeface="TT Commons Pro"/>
              </a:rPr>
              <a:t>27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03333"/>
        </a:solidFill>
        <a:effectLst/>
      </p:bgPr>
    </p:bg>
    <p:spTree>
      <p:nvGrpSpPr>
        <p:cNvPr id="1" name=""/>
        <p:cNvGrpSpPr/>
        <p:nvPr/>
      </p:nvGrpSpPr>
      <p:grpSpPr/>
      <p:pic>
        <p:nvPicPr>
          <p:cNvPr id="2" name="Picture 1" descr="bg_c24.jpg"/>
          <p:cNvPicPr>
            <a:picLocks noChangeAspect="1"/>
          </p:cNvPicPr>
          <p:nvPr/>
        </p:nvPicPr>
        <p:blipFill>
          <a:blip r:embed="rId2"/>
          <a:stretch>
            <a:fillRect/>
          </a:stretch>
        </p:blipFill>
        <p:spPr>
          <a:xfrm>
            <a:off x="0" y="0"/>
            <a:ext cx="18287542" cy="10287000"/>
          </a:xfrm>
          <a:prstGeom prst="rect">
            <a:avLst/>
          </a:prstGeom>
        </p:spPr>
      </p:pic>
      <p:sp>
        <p:nvSpPr>
          <p:cNvPr id="3" name="TextBox 2"/>
          <p:cNvSpPr txBox="1"/>
          <p:nvPr/>
        </p:nvSpPr>
        <p:spPr>
          <a:xfrm>
            <a:off x="822959" y="822959"/>
            <a:ext cx="16733519" cy="384048"/>
          </a:xfrm>
          <a:prstGeom prst="rect">
            <a:avLst/>
          </a:prstGeom>
          <a:noFill/>
        </p:spPr>
        <p:txBody>
          <a:bodyPr wrap="none" lIns="0" rIns="0" tIns="0" bIns="0">
            <a:spAutoFit/>
          </a:bodyPr>
          <a:lstStyle/>
          <a:p>
            <a:pPr algn="l">
              <a:lnSpc>
                <a:spcPct val="115000"/>
              </a:lnSpc>
            </a:pPr>
            <a:r>
              <a:rPr sz="1650" spc="330">
                <a:solidFill>
                  <a:srgbClr val="9FE8DC"/>
                </a:solidFill>
                <a:latin typeface="Todes 1"/>
              </a:rPr>
              <a:t>INTEROPERABILITY</a:t>
            </a:r>
          </a:p>
        </p:txBody>
      </p:sp>
      <p:sp>
        <p:nvSpPr>
          <p:cNvPr id="4" name="TextBox 3"/>
          <p:cNvSpPr txBox="1"/>
          <p:nvPr/>
        </p:nvSpPr>
        <p:spPr>
          <a:xfrm>
            <a:off x="822959" y="1699869"/>
            <a:ext cx="14137401" cy="1043025"/>
          </a:xfrm>
          <a:prstGeom prst="rect">
            <a:avLst/>
          </a:prstGeom>
          <a:noFill/>
        </p:spPr>
        <p:txBody>
          <a:bodyPr wrap="none" lIns="0" rIns="0" tIns="0" bIns="0">
            <a:spAutoFit/>
          </a:bodyPr>
          <a:lstStyle/>
          <a:p>
            <a:pPr algn="l">
              <a:lnSpc>
                <a:spcPct val="115000"/>
              </a:lnSpc>
            </a:pPr>
            <a:r>
              <a:rPr sz="5664" spc="-76">
                <a:solidFill>
                  <a:srgbClr val="F4EAD8"/>
                </a:solidFill>
                <a:latin typeface="Todes 1"/>
              </a:rPr>
              <a:t>Build the connective tissue — </a:t>
            </a:r>
          </a:p>
        </p:txBody>
      </p:sp>
      <p:sp>
        <p:nvSpPr>
          <p:cNvPr id="5" name="TextBox 4"/>
          <p:cNvSpPr txBox="1"/>
          <p:nvPr/>
        </p:nvSpPr>
        <p:spPr>
          <a:xfrm>
            <a:off x="11968289" y="1645919"/>
            <a:ext cx="6641068" cy="1140809"/>
          </a:xfrm>
          <a:prstGeom prst="rect">
            <a:avLst/>
          </a:prstGeom>
          <a:noFill/>
        </p:spPr>
        <p:txBody>
          <a:bodyPr wrap="none" lIns="0" rIns="0" tIns="0" bIns="0">
            <a:spAutoFit/>
          </a:bodyPr>
          <a:lstStyle/>
          <a:p>
            <a:pPr algn="l">
              <a:lnSpc>
                <a:spcPct val="115000"/>
              </a:lnSpc>
            </a:pPr>
            <a:r>
              <a:rPr sz="6195" spc="-75">
                <a:solidFill>
                  <a:srgbClr val="99E6D9"/>
                </a:solidFill>
                <a:latin typeface="Ibarra Real Nova Italics"/>
              </a:rPr>
              <a:t>not every organ.</a:t>
            </a:r>
          </a:p>
        </p:txBody>
      </p:sp>
      <p:sp>
        <p:nvSpPr>
          <p:cNvPr id="6" name="Oval 5"/>
          <p:cNvSpPr/>
          <p:nvPr/>
        </p:nvSpPr>
        <p:spPr>
          <a:xfrm>
            <a:off x="7694676" y="4732020"/>
            <a:ext cx="2880360" cy="2880360"/>
          </a:xfrm>
          <a:prstGeom prst="ellipse">
            <a:avLst/>
          </a:prstGeom>
          <a:solidFill>
            <a:srgbClr val="084B4D"/>
          </a:solidFill>
          <a:ln w="19050">
            <a:solidFill>
              <a:srgbClr val="F0CC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ing.png"/>
          <p:cNvPicPr>
            <a:picLocks noChangeAspect="1"/>
          </p:cNvPicPr>
          <p:nvPr/>
        </p:nvPicPr>
        <p:blipFill>
          <a:blip r:embed="rId4"/>
          <a:stretch>
            <a:fillRect/>
          </a:stretch>
        </p:blipFill>
        <p:spPr>
          <a:xfrm>
            <a:off x="8846820" y="5582412"/>
            <a:ext cx="576072" cy="576072"/>
          </a:xfrm>
          <a:prstGeom prst="rect">
            <a:avLst/>
          </a:prstGeom>
        </p:spPr>
      </p:pic>
      <p:sp>
        <p:nvSpPr>
          <p:cNvPr id="8" name="TextBox 7"/>
          <p:cNvSpPr txBox="1"/>
          <p:nvPr/>
        </p:nvSpPr>
        <p:spPr>
          <a:xfrm>
            <a:off x="7763256" y="6473952"/>
            <a:ext cx="2743200" cy="466344"/>
          </a:xfrm>
          <a:prstGeom prst="rect">
            <a:avLst/>
          </a:prstGeom>
          <a:noFill/>
        </p:spPr>
        <p:txBody>
          <a:bodyPr wrap="none" lIns="0" rIns="0" tIns="0" bIns="0">
            <a:spAutoFit/>
          </a:bodyPr>
          <a:lstStyle/>
          <a:p>
            <a:pPr algn="ctr">
              <a:lnSpc>
                <a:spcPct val="115000"/>
              </a:lnSpc>
            </a:pPr>
            <a:r>
              <a:rPr sz="1800" spc="180">
                <a:solidFill>
                  <a:srgbClr val="EBCF9E"/>
                </a:solidFill>
                <a:latin typeface="Todes 1"/>
              </a:rPr>
              <a:t>RIVR</a:t>
            </a:r>
          </a:p>
        </p:txBody>
      </p:sp>
      <p:cxnSp>
        <p:nvCxnSpPr>
          <p:cNvPr id="9" name="Connector 8"/>
          <p:cNvCxnSpPr/>
          <p:nvPr/>
        </p:nvCxnSpPr>
        <p:spPr>
          <a:xfrm flipV="1">
            <a:off x="9134856" y="3360420"/>
            <a:ext cx="0" cy="1371600"/>
          </a:xfrm>
          <a:prstGeom prst="line">
            <a:avLst/>
          </a:prstGeom>
          <a:ln w="11430">
            <a:solidFill>
              <a:srgbClr val="99E6D9"/>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283196" y="2976372"/>
            <a:ext cx="3703320" cy="768096"/>
          </a:xfrm>
          <a:prstGeom prst="roundRect">
            <a:avLst>
              <a:gd name="adj" fmla="val 28000"/>
            </a:avLst>
          </a:prstGeom>
          <a:solidFill>
            <a:srgbClr val="0D3E40"/>
          </a:solidFill>
          <a:ln w="16192">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20356" y="3182112"/>
            <a:ext cx="3429000" cy="411479"/>
          </a:xfrm>
          <a:prstGeom prst="rect">
            <a:avLst/>
          </a:prstGeom>
          <a:noFill/>
        </p:spPr>
        <p:txBody>
          <a:bodyPr wrap="none" lIns="0" rIns="0" tIns="0" bIns="0">
            <a:spAutoFit/>
          </a:bodyPr>
          <a:lstStyle/>
          <a:p>
            <a:pPr algn="ctr">
              <a:lnSpc>
                <a:spcPct val="115000"/>
              </a:lnSpc>
            </a:pPr>
            <a:r>
              <a:rPr sz="1575">
                <a:solidFill>
                  <a:srgbClr val="F2ECDD"/>
                </a:solidFill>
                <a:latin typeface="TT Commons Pro"/>
              </a:rPr>
              <a:t>a course platform</a:t>
            </a:r>
          </a:p>
        </p:txBody>
      </p:sp>
      <p:cxnSp>
        <p:nvCxnSpPr>
          <p:cNvPr id="12" name="Connector 11"/>
          <p:cNvCxnSpPr/>
          <p:nvPr/>
        </p:nvCxnSpPr>
        <p:spPr>
          <a:xfrm flipV="1">
            <a:off x="10382088" y="4766310"/>
            <a:ext cx="3325953" cy="685800"/>
          </a:xfrm>
          <a:prstGeom prst="line">
            <a:avLst/>
          </a:prstGeom>
          <a:ln w="11430">
            <a:solidFill>
              <a:srgbClr val="99E6D9"/>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11915773" y="4382262"/>
            <a:ext cx="3703320" cy="768096"/>
          </a:xfrm>
          <a:prstGeom prst="roundRect">
            <a:avLst>
              <a:gd name="adj" fmla="val 28000"/>
            </a:avLst>
          </a:prstGeom>
          <a:solidFill>
            <a:srgbClr val="0D3E40"/>
          </a:solidFill>
          <a:ln w="16192">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052933" y="4588002"/>
            <a:ext cx="3429000" cy="411479"/>
          </a:xfrm>
          <a:prstGeom prst="rect">
            <a:avLst/>
          </a:prstGeom>
          <a:noFill/>
        </p:spPr>
        <p:txBody>
          <a:bodyPr wrap="none" lIns="0" rIns="0" tIns="0" bIns="0">
            <a:spAutoFit/>
          </a:bodyPr>
          <a:lstStyle/>
          <a:p>
            <a:pPr algn="ctr">
              <a:lnSpc>
                <a:spcPct val="115000"/>
              </a:lnSpc>
            </a:pPr>
            <a:r>
              <a:rPr sz="1575">
                <a:solidFill>
                  <a:srgbClr val="F2ECDD"/>
                </a:solidFill>
                <a:latin typeface="TT Commons Pro"/>
              </a:rPr>
              <a:t>a health tool</a:t>
            </a:r>
          </a:p>
        </p:txBody>
      </p:sp>
      <p:cxnSp>
        <p:nvCxnSpPr>
          <p:cNvPr id="15" name="Connector 14"/>
          <p:cNvCxnSpPr/>
          <p:nvPr/>
        </p:nvCxnSpPr>
        <p:spPr>
          <a:xfrm>
            <a:off x="10382088" y="6892290"/>
            <a:ext cx="3325953" cy="685800"/>
          </a:xfrm>
          <a:prstGeom prst="line">
            <a:avLst/>
          </a:prstGeom>
          <a:ln w="11430">
            <a:solidFill>
              <a:srgbClr val="99E6D9"/>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11915773" y="7194041"/>
            <a:ext cx="3703320" cy="768096"/>
          </a:xfrm>
          <a:prstGeom prst="roundRect">
            <a:avLst>
              <a:gd name="adj" fmla="val 28000"/>
            </a:avLst>
          </a:prstGeom>
          <a:solidFill>
            <a:srgbClr val="0D3E40"/>
          </a:solidFill>
          <a:ln w="16192">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052933" y="7399781"/>
            <a:ext cx="3429000" cy="411479"/>
          </a:xfrm>
          <a:prstGeom prst="rect">
            <a:avLst/>
          </a:prstGeom>
          <a:noFill/>
        </p:spPr>
        <p:txBody>
          <a:bodyPr wrap="none" lIns="0" rIns="0" tIns="0" bIns="0">
            <a:spAutoFit/>
          </a:bodyPr>
          <a:lstStyle/>
          <a:p>
            <a:pPr algn="ctr">
              <a:lnSpc>
                <a:spcPct val="115000"/>
              </a:lnSpc>
            </a:pPr>
            <a:r>
              <a:rPr sz="1575">
                <a:solidFill>
                  <a:srgbClr val="F2ECDD"/>
                </a:solidFill>
                <a:latin typeface="TT Commons Pro"/>
              </a:rPr>
              <a:t>a farm-management system</a:t>
            </a:r>
          </a:p>
        </p:txBody>
      </p:sp>
      <p:cxnSp>
        <p:nvCxnSpPr>
          <p:cNvPr id="18" name="Connector 17"/>
          <p:cNvCxnSpPr/>
          <p:nvPr/>
        </p:nvCxnSpPr>
        <p:spPr>
          <a:xfrm>
            <a:off x="9134856" y="7612379"/>
            <a:ext cx="0" cy="1371601"/>
          </a:xfrm>
          <a:prstGeom prst="line">
            <a:avLst/>
          </a:prstGeom>
          <a:ln w="11430">
            <a:solidFill>
              <a:srgbClr val="99E6D9"/>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283196" y="8599932"/>
            <a:ext cx="3703320" cy="768096"/>
          </a:xfrm>
          <a:prstGeom prst="roundRect">
            <a:avLst>
              <a:gd name="adj" fmla="val 28000"/>
            </a:avLst>
          </a:prstGeom>
          <a:solidFill>
            <a:srgbClr val="0D3E40"/>
          </a:solidFill>
          <a:ln w="16192">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20356" y="8805672"/>
            <a:ext cx="3429000" cy="411479"/>
          </a:xfrm>
          <a:prstGeom prst="rect">
            <a:avLst/>
          </a:prstGeom>
          <a:noFill/>
        </p:spPr>
        <p:txBody>
          <a:bodyPr wrap="none" lIns="0" rIns="0" tIns="0" bIns="0">
            <a:spAutoFit/>
          </a:bodyPr>
          <a:lstStyle/>
          <a:p>
            <a:pPr algn="ctr">
              <a:lnSpc>
                <a:spcPct val="115000"/>
              </a:lnSpc>
            </a:pPr>
            <a:r>
              <a:rPr sz="1575">
                <a:solidFill>
                  <a:srgbClr val="F2ECDD"/>
                </a:solidFill>
                <a:latin typeface="TT Commons Pro"/>
              </a:rPr>
              <a:t>an astrology app</a:t>
            </a:r>
          </a:p>
        </p:txBody>
      </p:sp>
      <p:cxnSp>
        <p:nvCxnSpPr>
          <p:cNvPr id="21" name="Connector 20"/>
          <p:cNvCxnSpPr/>
          <p:nvPr/>
        </p:nvCxnSpPr>
        <p:spPr>
          <a:xfrm flipH="1">
            <a:off x="4561670" y="6892290"/>
            <a:ext cx="3325953" cy="685800"/>
          </a:xfrm>
          <a:prstGeom prst="line">
            <a:avLst/>
          </a:prstGeom>
          <a:ln w="11430">
            <a:solidFill>
              <a:srgbClr val="99E6D9"/>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2650618" y="7194041"/>
            <a:ext cx="3703320" cy="768096"/>
          </a:xfrm>
          <a:prstGeom prst="roundRect">
            <a:avLst>
              <a:gd name="adj" fmla="val 28000"/>
            </a:avLst>
          </a:prstGeom>
          <a:solidFill>
            <a:srgbClr val="0D3E40"/>
          </a:solidFill>
          <a:ln w="16192">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787778" y="7399781"/>
            <a:ext cx="3429000" cy="411479"/>
          </a:xfrm>
          <a:prstGeom prst="rect">
            <a:avLst/>
          </a:prstGeom>
          <a:noFill/>
        </p:spPr>
        <p:txBody>
          <a:bodyPr wrap="none" lIns="0" rIns="0" tIns="0" bIns="0">
            <a:spAutoFit/>
          </a:bodyPr>
          <a:lstStyle/>
          <a:p>
            <a:pPr algn="ctr">
              <a:lnSpc>
                <a:spcPct val="115000"/>
              </a:lnSpc>
            </a:pPr>
            <a:r>
              <a:rPr sz="1575">
                <a:solidFill>
                  <a:srgbClr val="F2ECDD"/>
                </a:solidFill>
                <a:latin typeface="TT Commons Pro"/>
              </a:rPr>
              <a:t>a specialized co-op tool</a:t>
            </a:r>
          </a:p>
        </p:txBody>
      </p:sp>
      <p:cxnSp>
        <p:nvCxnSpPr>
          <p:cNvPr id="24" name="Connector 23"/>
          <p:cNvCxnSpPr/>
          <p:nvPr/>
        </p:nvCxnSpPr>
        <p:spPr>
          <a:xfrm flipH="1" flipV="1">
            <a:off x="4561670" y="4766309"/>
            <a:ext cx="3325953" cy="685800"/>
          </a:xfrm>
          <a:prstGeom prst="line">
            <a:avLst/>
          </a:prstGeom>
          <a:ln w="11430">
            <a:solidFill>
              <a:srgbClr val="99E6D9"/>
            </a:solidFill>
            <a:prstDash val="dash"/>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2650618" y="4382261"/>
            <a:ext cx="3703320" cy="768096"/>
          </a:xfrm>
          <a:prstGeom prst="roundRect">
            <a:avLst>
              <a:gd name="adj" fmla="val 28000"/>
            </a:avLst>
          </a:prstGeom>
          <a:solidFill>
            <a:srgbClr val="0D3E40"/>
          </a:solidFill>
          <a:ln w="20955">
            <a:solidFill>
              <a:srgbClr val="F0CC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87778" y="4588002"/>
            <a:ext cx="3429000" cy="411479"/>
          </a:xfrm>
          <a:prstGeom prst="rect">
            <a:avLst/>
          </a:prstGeom>
          <a:noFill/>
        </p:spPr>
        <p:txBody>
          <a:bodyPr wrap="none" lIns="0" rIns="0" tIns="0" bIns="0">
            <a:spAutoFit/>
          </a:bodyPr>
          <a:lstStyle/>
          <a:p>
            <a:pPr algn="ctr">
              <a:lnSpc>
                <a:spcPct val="115000"/>
              </a:lnSpc>
            </a:pPr>
            <a:r>
              <a:rPr sz="1575">
                <a:solidFill>
                  <a:srgbClr val="EBCF9E"/>
                </a:solidFill>
                <a:latin typeface="TT Commons Pro Bold"/>
              </a:rPr>
              <a:t>your app here</a:t>
            </a:r>
          </a:p>
        </p:txBody>
      </p:sp>
      <p:sp>
        <p:nvSpPr>
          <p:cNvPr id="27" name="TextBox 26"/>
          <p:cNvSpPr txBox="1"/>
          <p:nvPr/>
        </p:nvSpPr>
        <p:spPr>
          <a:xfrm>
            <a:off x="822959" y="8915400"/>
            <a:ext cx="16596359" cy="1097280"/>
          </a:xfrm>
          <a:prstGeom prst="rect">
            <a:avLst/>
          </a:prstGeom>
          <a:noFill/>
        </p:spPr>
        <p:txBody>
          <a:bodyPr wrap="square" lIns="0" rIns="0" tIns="0" bIns="0">
            <a:spAutoFit/>
          </a:bodyPr>
          <a:lstStyle/>
          <a:p>
            <a:pPr algn="ctr">
              <a:lnSpc>
                <a:spcPct val="140000"/>
              </a:lnSpc>
            </a:pPr>
            <a:r>
              <a:rPr sz="1950">
                <a:solidFill>
                  <a:srgbClr val="F4EAD8"/>
                </a:solidFill>
                <a:latin typeface="TT Commons Pro Bold"/>
              </a:rPr>
              <a:t>Rivr becomes the connective environment they share. </a:t>
            </a:r>
            <a:r>
              <a:rPr sz="2100" spc="20">
                <a:solidFill>
                  <a:srgbClr val="EBCF9E"/>
                </a:solidFill>
                <a:latin typeface="Alike Italics"/>
              </a:rPr>
              <a:t>Ecosystem coherence, not total software ownership.</a:t>
            </a:r>
          </a:p>
        </p:txBody>
      </p:sp>
      <p:pic>
        <p:nvPicPr>
          <p:cNvPr id="28" name="Picture 27" descr="rivr-symbol-light.png"/>
          <p:cNvPicPr>
            <a:picLocks noChangeAspect="1"/>
          </p:cNvPicPr>
          <p:nvPr/>
        </p:nvPicPr>
        <p:blipFill>
          <a:blip r:embed="rId5"/>
          <a:stretch>
            <a:fillRect/>
          </a:stretch>
        </p:blipFill>
        <p:spPr>
          <a:xfrm>
            <a:off x="576072" y="9518904"/>
            <a:ext cx="521208" cy="521208"/>
          </a:xfrm>
          <a:prstGeom prst="rect">
            <a:avLst/>
          </a:prstGeom>
        </p:spPr>
      </p:pic>
      <p:sp>
        <p:nvSpPr>
          <p:cNvPr id="29" name="TextBox 28"/>
          <p:cNvSpPr txBox="1"/>
          <p:nvPr/>
        </p:nvSpPr>
        <p:spPr>
          <a:xfrm>
            <a:off x="1371600" y="9724644"/>
            <a:ext cx="5486400" cy="301752"/>
          </a:xfrm>
          <a:prstGeom prst="rect">
            <a:avLst/>
          </a:prstGeom>
          <a:noFill/>
        </p:spPr>
        <p:txBody>
          <a:bodyPr wrap="none" lIns="0" rIns="0" tIns="0" bIns="0">
            <a:spAutoFit/>
          </a:bodyPr>
          <a:lstStyle/>
          <a:p>
            <a:pPr algn="l">
              <a:lnSpc>
                <a:spcPct val="115000"/>
              </a:lnSpc>
            </a:pPr>
            <a:r>
              <a:rPr sz="1350" spc="150">
                <a:solidFill>
                  <a:srgbClr val="AFC4C2"/>
                </a:solidFill>
                <a:latin typeface="TT Commons Pro"/>
              </a:rPr>
              <a:t>Rivr · Seed Round 2026</a:t>
            </a:r>
          </a:p>
        </p:txBody>
      </p:sp>
      <p:sp>
        <p:nvSpPr>
          <p:cNvPr id="30" name="TextBox 29"/>
          <p:cNvSpPr txBox="1"/>
          <p:nvPr/>
        </p:nvSpPr>
        <p:spPr>
          <a:xfrm>
            <a:off x="16870680" y="9724644"/>
            <a:ext cx="960119" cy="301752"/>
          </a:xfrm>
          <a:prstGeom prst="rect">
            <a:avLst/>
          </a:prstGeom>
          <a:noFill/>
        </p:spPr>
        <p:txBody>
          <a:bodyPr wrap="none" lIns="0" rIns="0" tIns="0" bIns="0">
            <a:spAutoFit/>
          </a:bodyPr>
          <a:lstStyle/>
          <a:p>
            <a:pPr algn="r">
              <a:lnSpc>
                <a:spcPct val="115000"/>
              </a:lnSpc>
            </a:pPr>
            <a:r>
              <a:rPr sz="1350" spc="150">
                <a:solidFill>
                  <a:srgbClr val="AFC4C2"/>
                </a:solidFill>
                <a:latin typeface="TT Commons Pro"/>
              </a:rPr>
              <a:t>28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03333"/>
        </a:solidFill>
        <a:effectLst/>
      </p:bgPr>
    </p:bg>
    <p:spTree>
      <p:nvGrpSpPr>
        <p:cNvPr id="1" name=""/>
        <p:cNvGrpSpPr/>
        <p:nvPr/>
      </p:nvGrpSpPr>
      <p:grpSpPr/>
      <p:pic>
        <p:nvPicPr>
          <p:cNvPr id="2" name="Picture 1" descr="bg_c25.jpg"/>
          <p:cNvPicPr>
            <a:picLocks noChangeAspect="1"/>
          </p:cNvPicPr>
          <p:nvPr/>
        </p:nvPicPr>
        <p:blipFill>
          <a:blip r:embed="rId2"/>
          <a:stretch>
            <a:fillRect/>
          </a:stretch>
        </p:blipFill>
        <p:spPr>
          <a:xfrm>
            <a:off x="0" y="0"/>
            <a:ext cx="18287542" cy="10287000"/>
          </a:xfrm>
          <a:prstGeom prst="rect">
            <a:avLst/>
          </a:prstGeom>
        </p:spPr>
      </p:pic>
      <p:sp>
        <p:nvSpPr>
          <p:cNvPr id="3" name="TextBox 2"/>
          <p:cNvSpPr txBox="1"/>
          <p:nvPr/>
        </p:nvSpPr>
        <p:spPr>
          <a:xfrm>
            <a:off x="822959" y="822959"/>
            <a:ext cx="16733519" cy="384048"/>
          </a:xfrm>
          <a:prstGeom prst="rect">
            <a:avLst/>
          </a:prstGeom>
          <a:noFill/>
        </p:spPr>
        <p:txBody>
          <a:bodyPr wrap="none" lIns="0" rIns="0" tIns="0" bIns="0">
            <a:spAutoFit/>
          </a:bodyPr>
          <a:lstStyle/>
          <a:p>
            <a:pPr algn="l">
              <a:lnSpc>
                <a:spcPct val="115000"/>
              </a:lnSpc>
            </a:pPr>
            <a:r>
              <a:rPr sz="1650" spc="330">
                <a:solidFill>
                  <a:srgbClr val="9FE8DC"/>
                </a:solidFill>
                <a:latin typeface="Todes 1"/>
              </a:rPr>
              <a:t>BUILD THE CAR</a:t>
            </a:r>
          </a:p>
        </p:txBody>
      </p:sp>
      <p:sp>
        <p:nvSpPr>
          <p:cNvPr id="4" name="TextBox 3"/>
          <p:cNvSpPr txBox="1"/>
          <p:nvPr/>
        </p:nvSpPr>
        <p:spPr>
          <a:xfrm>
            <a:off x="822959" y="1699869"/>
            <a:ext cx="15615205" cy="912647"/>
          </a:xfrm>
          <a:prstGeom prst="rect">
            <a:avLst/>
          </a:prstGeom>
          <a:noFill/>
        </p:spPr>
        <p:txBody>
          <a:bodyPr wrap="none" lIns="0" rIns="0" tIns="0" bIns="0">
            <a:spAutoFit/>
          </a:bodyPr>
          <a:lstStyle/>
          <a:p>
            <a:pPr algn="l">
              <a:lnSpc>
                <a:spcPct val="115000"/>
              </a:lnSpc>
            </a:pPr>
            <a:r>
              <a:rPr sz="4956" spc="-67">
                <a:solidFill>
                  <a:srgbClr val="F4EAD8"/>
                </a:solidFill>
                <a:latin typeface="Todes 1"/>
              </a:rPr>
              <a:t>We don't just need an engine spec — </a:t>
            </a:r>
          </a:p>
        </p:txBody>
      </p:sp>
      <p:sp>
        <p:nvSpPr>
          <p:cNvPr id="5" name="TextBox 4"/>
          <p:cNvSpPr txBox="1"/>
          <p:nvPr/>
        </p:nvSpPr>
        <p:spPr>
          <a:xfrm>
            <a:off x="13150532" y="1645919"/>
            <a:ext cx="5515927" cy="1010431"/>
          </a:xfrm>
          <a:prstGeom prst="rect">
            <a:avLst/>
          </a:prstGeom>
          <a:noFill/>
        </p:spPr>
        <p:txBody>
          <a:bodyPr wrap="none" lIns="0" rIns="0" tIns="0" bIns="0">
            <a:spAutoFit/>
          </a:bodyPr>
          <a:lstStyle/>
          <a:p>
            <a:pPr algn="l">
              <a:lnSpc>
                <a:spcPct val="115000"/>
              </a:lnSpc>
            </a:pPr>
            <a:r>
              <a:rPr sz="5487" spc="-75">
                <a:solidFill>
                  <a:srgbClr val="F0CC8B"/>
                </a:solidFill>
                <a:latin typeface="Ibarra Real Nova Italics"/>
              </a:rPr>
              <a:t>we need the car.</a:t>
            </a:r>
          </a:p>
        </p:txBody>
      </p:sp>
      <p:sp>
        <p:nvSpPr>
          <p:cNvPr id="6" name="Rounded Rectangle 5"/>
          <p:cNvSpPr/>
          <p:nvPr/>
        </p:nvSpPr>
        <p:spPr>
          <a:xfrm>
            <a:off x="822959" y="4046220"/>
            <a:ext cx="8092440" cy="3771900"/>
          </a:xfrm>
          <a:prstGeom prst="roundRect">
            <a:avLst>
              <a:gd name="adj" fmla="val 6000"/>
            </a:avLst>
          </a:prstGeom>
          <a:solidFill>
            <a:srgbClr val="084B4D"/>
          </a:solidFill>
          <a:ln w="19050">
            <a:solidFill>
              <a:srgbClr val="D3B7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03019" y="4389120"/>
            <a:ext cx="7132320" cy="411479"/>
          </a:xfrm>
          <a:prstGeom prst="rect">
            <a:avLst/>
          </a:prstGeom>
          <a:noFill/>
        </p:spPr>
        <p:txBody>
          <a:bodyPr wrap="none" lIns="0" rIns="0" tIns="0" bIns="0">
            <a:spAutoFit/>
          </a:bodyPr>
          <a:lstStyle/>
          <a:p>
            <a:pPr algn="l">
              <a:lnSpc>
                <a:spcPct val="115000"/>
              </a:lnSpc>
            </a:pPr>
            <a:r>
              <a:rPr sz="1575" spc="330">
                <a:solidFill>
                  <a:srgbClr val="D3B7A5"/>
                </a:solidFill>
                <a:latin typeface="Todes 1"/>
              </a:rPr>
              <a:t>PROTOCOLS ALONE</a:t>
            </a:r>
          </a:p>
        </p:txBody>
      </p:sp>
      <p:sp>
        <p:nvSpPr>
          <p:cNvPr id="8" name="TextBox 7"/>
          <p:cNvSpPr txBox="1"/>
          <p:nvPr/>
        </p:nvSpPr>
        <p:spPr>
          <a:xfrm>
            <a:off x="1303019" y="5047488"/>
            <a:ext cx="7269479" cy="2798064"/>
          </a:xfrm>
          <a:prstGeom prst="rect">
            <a:avLst/>
          </a:prstGeom>
          <a:noFill/>
        </p:spPr>
        <p:txBody>
          <a:bodyPr wrap="square" lIns="0" rIns="0" tIns="0" bIns="0">
            <a:spAutoFit/>
          </a:bodyPr>
          <a:lstStyle/>
          <a:p>
            <a:pPr algn="l">
              <a:lnSpc>
                <a:spcPct val="150000"/>
              </a:lnSpc>
            </a:pPr>
            <a:r>
              <a:rPr sz="1800">
                <a:solidFill>
                  <a:srgbClr val="F2ECDD"/>
                </a:solidFill>
                <a:latin typeface="TT Commons Pro"/>
              </a:rPr>
              <a:t>Shared schemas matter.</a:t>
            </a:r>
          </a:p>
          <a:p>
            <a:pPr algn="l">
              <a:lnSpc>
                <a:spcPct val="150000"/>
              </a:lnSpc>
            </a:pPr>
            <a:r>
              <a:rPr sz="1800">
                <a:solidFill>
                  <a:srgbClr val="F2ECDD"/>
                </a:solidFill>
                <a:latin typeface="TT Commons Pro"/>
              </a:rPr>
              <a:t>Open-source infrastructure matters.</a:t>
            </a:r>
          </a:p>
          <a:p>
            <a:pPr algn="l">
              <a:lnSpc>
                <a:spcPct val="150000"/>
              </a:lnSpc>
            </a:pPr>
            <a:r>
              <a:rPr sz="1800">
                <a:solidFill>
                  <a:srgbClr val="F2ECDD"/>
                </a:solidFill>
                <a:latin typeface="TT Commons Pro"/>
              </a:rPr>
              <a:t>Interoperability matters.</a:t>
            </a:r>
          </a:p>
          <a:p>
            <a:pPr algn="l">
              <a:lnSpc>
                <a:spcPct val="150000"/>
              </a:lnSpc>
            </a:pPr>
            <a:r>
              <a:rPr sz="1800">
                <a:solidFill>
                  <a:srgbClr val="F2ECDD"/>
                </a:solidFill>
                <a:latin typeface="TT Commons Pro"/>
              </a:rPr>
              <a:t/>
            </a:r>
          </a:p>
          <a:p>
            <a:pPr algn="l">
              <a:lnSpc>
                <a:spcPct val="150000"/>
              </a:lnSpc>
            </a:pPr>
            <a:r>
              <a:rPr sz="1800">
                <a:solidFill>
                  <a:srgbClr val="F2ECDD"/>
                </a:solidFill>
                <a:latin typeface="TT Commons Pro"/>
              </a:rPr>
              <a:t>But specifications alone do not produce</a:t>
            </a:r>
          </a:p>
          <a:p>
            <a:pPr algn="l">
              <a:lnSpc>
                <a:spcPct val="150000"/>
              </a:lnSpc>
            </a:pPr>
            <a:r>
              <a:rPr sz="1800">
                <a:solidFill>
                  <a:srgbClr val="F2ECDD"/>
                </a:solidFill>
                <a:latin typeface="TT Commons Pro"/>
              </a:rPr>
              <a:t>an ecosystem people can actually use.</a:t>
            </a:r>
          </a:p>
        </p:txBody>
      </p:sp>
      <p:sp>
        <p:nvSpPr>
          <p:cNvPr id="9" name="Rounded Rectangle 8"/>
          <p:cNvSpPr/>
          <p:nvPr/>
        </p:nvSpPr>
        <p:spPr>
          <a:xfrm>
            <a:off x="9395459" y="4046220"/>
            <a:ext cx="8092440" cy="3771900"/>
          </a:xfrm>
          <a:prstGeom prst="roundRect">
            <a:avLst>
              <a:gd name="adj" fmla="val 6000"/>
            </a:avLst>
          </a:prstGeom>
          <a:solidFill>
            <a:srgbClr val="0D3E40"/>
          </a:solidFill>
          <a:ln w="22859">
            <a:solidFill>
              <a:srgbClr val="F0CC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0" y="4389120"/>
            <a:ext cx="7132320" cy="411479"/>
          </a:xfrm>
          <a:prstGeom prst="rect">
            <a:avLst/>
          </a:prstGeom>
          <a:noFill/>
        </p:spPr>
        <p:txBody>
          <a:bodyPr wrap="none" lIns="0" rIns="0" tIns="0" bIns="0">
            <a:spAutoFit/>
          </a:bodyPr>
          <a:lstStyle/>
          <a:p>
            <a:pPr algn="l">
              <a:lnSpc>
                <a:spcPct val="115000"/>
              </a:lnSpc>
            </a:pPr>
            <a:r>
              <a:rPr sz="1575" spc="330">
                <a:solidFill>
                  <a:srgbClr val="EBCF9E"/>
                </a:solidFill>
                <a:latin typeface="Todes 1"/>
              </a:rPr>
              <a:t>SOMEBODY STILL HAS TO</a:t>
            </a:r>
          </a:p>
        </p:txBody>
      </p:sp>
      <p:sp>
        <p:nvSpPr>
          <p:cNvPr id="11" name="TextBox 10"/>
          <p:cNvSpPr txBox="1"/>
          <p:nvPr/>
        </p:nvSpPr>
        <p:spPr>
          <a:xfrm>
            <a:off x="9875520" y="5047488"/>
            <a:ext cx="7269479" cy="2331720"/>
          </a:xfrm>
          <a:prstGeom prst="rect">
            <a:avLst/>
          </a:prstGeom>
          <a:noFill/>
        </p:spPr>
        <p:txBody>
          <a:bodyPr wrap="square" lIns="0" rIns="0" tIns="0" bIns="0">
            <a:spAutoFit/>
          </a:bodyPr>
          <a:lstStyle/>
          <a:p>
            <a:pPr algn="l">
              <a:lnSpc>
                <a:spcPct val="150000"/>
              </a:lnSpc>
            </a:pPr>
            <a:r>
              <a:rPr sz="1800">
                <a:solidFill>
                  <a:srgbClr val="F2ECDD"/>
                </a:solidFill>
                <a:latin typeface="TT Commons Pro"/>
              </a:rPr>
              <a:t>Integrate it. Design it. Maintain it.</a:t>
            </a:r>
          </a:p>
          <a:p>
            <a:pPr algn="l">
              <a:lnSpc>
                <a:spcPct val="150000"/>
              </a:lnSpc>
            </a:pPr>
            <a:r>
              <a:rPr sz="1800">
                <a:solidFill>
                  <a:srgbClr val="F2ECDD"/>
                </a:solidFill>
                <a:latin typeface="TT Commons Pro"/>
              </a:rPr>
              <a:t>Support people. Market it.</a:t>
            </a:r>
          </a:p>
          <a:p>
            <a:pPr algn="l">
              <a:lnSpc>
                <a:spcPct val="150000"/>
              </a:lnSpc>
            </a:pPr>
            <a:r>
              <a:rPr sz="1800">
                <a:solidFill>
                  <a:srgbClr val="F2ECDD"/>
                </a:solidFill>
                <a:latin typeface="TT Commons Pro"/>
              </a:rPr>
              <a:t/>
            </a:r>
          </a:p>
          <a:p>
            <a:pPr algn="l">
              <a:lnSpc>
                <a:spcPct val="150000"/>
              </a:lnSpc>
            </a:pPr>
            <a:r>
              <a:rPr sz="1800">
                <a:solidFill>
                  <a:srgbClr val="F2ECDD"/>
                </a:solidFill>
                <a:latin typeface="TT Commons Pro"/>
              </a:rPr>
              <a:t>Make product decisions, keep listening,</a:t>
            </a:r>
          </a:p>
          <a:p>
            <a:pPr algn="l">
              <a:lnSpc>
                <a:spcPct val="150000"/>
              </a:lnSpc>
            </a:pPr>
            <a:r>
              <a:rPr sz="1800">
                <a:solidFill>
                  <a:srgbClr val="F2ECDD"/>
                </a:solidFill>
                <a:latin typeface="TT Commons Pro"/>
              </a:rPr>
              <a:t>and respond to changing needs.</a:t>
            </a:r>
          </a:p>
        </p:txBody>
      </p:sp>
      <p:sp>
        <p:nvSpPr>
          <p:cNvPr id="12" name="TextBox 11"/>
          <p:cNvSpPr txBox="1"/>
          <p:nvPr/>
        </p:nvSpPr>
        <p:spPr>
          <a:xfrm>
            <a:off x="822959" y="8503920"/>
            <a:ext cx="16596359" cy="1097280"/>
          </a:xfrm>
          <a:prstGeom prst="rect">
            <a:avLst/>
          </a:prstGeom>
          <a:noFill/>
        </p:spPr>
        <p:txBody>
          <a:bodyPr wrap="square" lIns="0" rIns="0" tIns="0" bIns="0">
            <a:spAutoFit/>
          </a:bodyPr>
          <a:lstStyle/>
          <a:p>
            <a:pPr algn="ctr">
              <a:lnSpc>
                <a:spcPct val="140000"/>
              </a:lnSpc>
            </a:pPr>
            <a:r>
              <a:rPr sz="2250" spc="20">
                <a:solidFill>
                  <a:srgbClr val="9FE8DC"/>
                </a:solidFill>
                <a:latin typeface="Alike Italics"/>
              </a:rPr>
              <a:t>Somebody still has to build the ecosystem people can actually use.</a:t>
            </a:r>
          </a:p>
        </p:txBody>
      </p:sp>
      <p:pic>
        <p:nvPicPr>
          <p:cNvPr id="13" name="Picture 12" descr="rivr-symbol-light.png"/>
          <p:cNvPicPr>
            <a:picLocks noChangeAspect="1"/>
          </p:cNvPicPr>
          <p:nvPr/>
        </p:nvPicPr>
        <p:blipFill>
          <a:blip r:embed="rId4"/>
          <a:stretch>
            <a:fillRect/>
          </a:stretch>
        </p:blipFill>
        <p:spPr>
          <a:xfrm>
            <a:off x="576072" y="9518904"/>
            <a:ext cx="521208" cy="521208"/>
          </a:xfrm>
          <a:prstGeom prst="rect">
            <a:avLst/>
          </a:prstGeom>
        </p:spPr>
      </p:pic>
      <p:sp>
        <p:nvSpPr>
          <p:cNvPr id="14" name="TextBox 13"/>
          <p:cNvSpPr txBox="1"/>
          <p:nvPr/>
        </p:nvSpPr>
        <p:spPr>
          <a:xfrm>
            <a:off x="1371600" y="9724644"/>
            <a:ext cx="5486400" cy="301752"/>
          </a:xfrm>
          <a:prstGeom prst="rect">
            <a:avLst/>
          </a:prstGeom>
          <a:noFill/>
        </p:spPr>
        <p:txBody>
          <a:bodyPr wrap="none" lIns="0" rIns="0" tIns="0" bIns="0">
            <a:spAutoFit/>
          </a:bodyPr>
          <a:lstStyle/>
          <a:p>
            <a:pPr algn="l">
              <a:lnSpc>
                <a:spcPct val="115000"/>
              </a:lnSpc>
            </a:pPr>
            <a:r>
              <a:rPr sz="1350" spc="150">
                <a:solidFill>
                  <a:srgbClr val="AFC4C2"/>
                </a:solidFill>
                <a:latin typeface="TT Commons Pro"/>
              </a:rPr>
              <a:t>Rivr · Seed Round 2026</a:t>
            </a:r>
          </a:p>
        </p:txBody>
      </p:sp>
      <p:sp>
        <p:nvSpPr>
          <p:cNvPr id="15" name="TextBox 14"/>
          <p:cNvSpPr txBox="1"/>
          <p:nvPr/>
        </p:nvSpPr>
        <p:spPr>
          <a:xfrm>
            <a:off x="16870680" y="9724644"/>
            <a:ext cx="960119" cy="301752"/>
          </a:xfrm>
          <a:prstGeom prst="rect">
            <a:avLst/>
          </a:prstGeom>
          <a:noFill/>
        </p:spPr>
        <p:txBody>
          <a:bodyPr wrap="none" lIns="0" rIns="0" tIns="0" bIns="0">
            <a:spAutoFit/>
          </a:bodyPr>
          <a:lstStyle/>
          <a:p>
            <a:pPr algn="r">
              <a:lnSpc>
                <a:spcPct val="115000"/>
              </a:lnSpc>
            </a:pPr>
            <a:r>
              <a:rPr sz="1350" spc="150">
                <a:solidFill>
                  <a:srgbClr val="AFC4C2"/>
                </a:solidFill>
                <a:latin typeface="TT Commons Pro"/>
              </a:rPr>
              <a:t>29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03333"/>
        </a:solidFill>
        <a:effectLst/>
      </p:bgPr>
    </p:bg>
    <p:spTree>
      <p:nvGrpSpPr>
        <p:cNvPr id="1" name=""/>
        <p:cNvGrpSpPr/>
        <p:nvPr/>
      </p:nvGrpSpPr>
      <p:grpSpPr/>
      <p:pic>
        <p:nvPicPr>
          <p:cNvPr id="2" name="Picture 1" descr="bg_c26.jpg"/>
          <p:cNvPicPr>
            <a:picLocks noChangeAspect="1"/>
          </p:cNvPicPr>
          <p:nvPr/>
        </p:nvPicPr>
        <p:blipFill>
          <a:blip r:embed="rId2"/>
          <a:stretch>
            <a:fillRect/>
          </a:stretch>
        </p:blipFill>
        <p:spPr>
          <a:xfrm>
            <a:off x="0" y="0"/>
            <a:ext cx="18287542" cy="10287000"/>
          </a:xfrm>
          <a:prstGeom prst="rect">
            <a:avLst/>
          </a:prstGeom>
        </p:spPr>
      </p:pic>
      <p:sp>
        <p:nvSpPr>
          <p:cNvPr id="3" name="TextBox 2"/>
          <p:cNvSpPr txBox="1"/>
          <p:nvPr/>
        </p:nvSpPr>
        <p:spPr>
          <a:xfrm>
            <a:off x="822959" y="822959"/>
            <a:ext cx="16733519" cy="384048"/>
          </a:xfrm>
          <a:prstGeom prst="rect">
            <a:avLst/>
          </a:prstGeom>
          <a:noFill/>
        </p:spPr>
        <p:txBody>
          <a:bodyPr wrap="none" lIns="0" rIns="0" tIns="0" bIns="0">
            <a:spAutoFit/>
          </a:bodyPr>
          <a:lstStyle/>
          <a:p>
            <a:pPr algn="l">
              <a:lnSpc>
                <a:spcPct val="115000"/>
              </a:lnSpc>
            </a:pPr>
            <a:r>
              <a:rPr sz="1650" spc="330">
                <a:solidFill>
                  <a:srgbClr val="9FE8DC"/>
                </a:solidFill>
                <a:latin typeface="Todes 1"/>
              </a:rPr>
              <a:t>BUILD, USE, LEARN, STANDARDIZE</a:t>
            </a:r>
          </a:p>
        </p:txBody>
      </p:sp>
      <p:sp>
        <p:nvSpPr>
          <p:cNvPr id="4" name="TextBox 3"/>
          <p:cNvSpPr txBox="1"/>
          <p:nvPr/>
        </p:nvSpPr>
        <p:spPr>
          <a:xfrm>
            <a:off x="822959" y="1699869"/>
            <a:ext cx="15018623" cy="1043025"/>
          </a:xfrm>
          <a:prstGeom prst="rect">
            <a:avLst/>
          </a:prstGeom>
          <a:noFill/>
        </p:spPr>
        <p:txBody>
          <a:bodyPr wrap="none" lIns="0" rIns="0" tIns="0" bIns="0">
            <a:spAutoFit/>
          </a:bodyPr>
          <a:lstStyle/>
          <a:p>
            <a:pPr algn="l">
              <a:lnSpc>
                <a:spcPct val="115000"/>
              </a:lnSpc>
            </a:pPr>
            <a:r>
              <a:rPr sz="5664" spc="-76">
                <a:solidFill>
                  <a:srgbClr val="F4EAD8"/>
                </a:solidFill>
                <a:latin typeface="Todes 1"/>
              </a:rPr>
              <a:t>Maybe we learn the standards </a:t>
            </a:r>
          </a:p>
        </p:txBody>
      </p:sp>
      <p:sp>
        <p:nvSpPr>
          <p:cNvPr id="5" name="TextBox 4"/>
          <p:cNvSpPr txBox="1"/>
          <p:nvPr/>
        </p:nvSpPr>
        <p:spPr>
          <a:xfrm>
            <a:off x="12673266" y="1645919"/>
            <a:ext cx="4652724" cy="1140809"/>
          </a:xfrm>
          <a:prstGeom prst="rect">
            <a:avLst/>
          </a:prstGeom>
          <a:noFill/>
        </p:spPr>
        <p:txBody>
          <a:bodyPr wrap="none" lIns="0" rIns="0" tIns="0" bIns="0">
            <a:spAutoFit/>
          </a:bodyPr>
          <a:lstStyle/>
          <a:p>
            <a:pPr algn="l">
              <a:lnSpc>
                <a:spcPct val="115000"/>
              </a:lnSpc>
            </a:pPr>
            <a:r>
              <a:rPr sz="6195" spc="-75">
                <a:solidFill>
                  <a:srgbClr val="99E6D9"/>
                </a:solidFill>
                <a:latin typeface="Ibarra Real Nova Italics"/>
              </a:rPr>
              <a:t>by driving.</a:t>
            </a:r>
          </a:p>
        </p:txBody>
      </p:sp>
      <p:cxnSp>
        <p:nvCxnSpPr>
          <p:cNvPr id="6" name="Connector 5"/>
          <p:cNvCxnSpPr/>
          <p:nvPr/>
        </p:nvCxnSpPr>
        <p:spPr>
          <a:xfrm>
            <a:off x="9581311" y="3676625"/>
            <a:ext cx="86396" cy="18006"/>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9667707" y="3694631"/>
            <a:ext cx="85675" cy="21170"/>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9753382" y="3715801"/>
            <a:ext cx="84839" cy="24306"/>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9838221" y="3740107"/>
            <a:ext cx="83888" cy="27407"/>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922109" y="3767514"/>
            <a:ext cx="82824" cy="30473"/>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004933" y="3797987"/>
            <a:ext cx="81648" cy="33496"/>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0086581" y="3831483"/>
            <a:ext cx="80361" cy="36476"/>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166942" y="3867959"/>
            <a:ext cx="78966" cy="39405"/>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245908" y="3907364"/>
            <a:ext cx="77464" cy="42281"/>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323372" y="3949645"/>
            <a:ext cx="75857" cy="45101"/>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0399229" y="3994746"/>
            <a:ext cx="74149" cy="47858"/>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0473378" y="4042604"/>
            <a:ext cx="72338" cy="50552"/>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545716" y="4093156"/>
            <a:ext cx="70432" cy="53177"/>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0616148" y="4146333"/>
            <a:ext cx="68429" cy="55730"/>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0684577" y="4202063"/>
            <a:ext cx="66334" cy="58208"/>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0750911" y="4260271"/>
            <a:ext cx="64150" cy="60607"/>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0815061" y="4320878"/>
            <a:ext cx="61878" cy="62924"/>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0876939" y="4383802"/>
            <a:ext cx="59524" cy="65157"/>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936463" y="4448959"/>
            <a:ext cx="57087" cy="67300"/>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0993550" y="4516259"/>
            <a:ext cx="54576" cy="69354"/>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1048126" y="4585613"/>
            <a:ext cx="51989" cy="71313"/>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1100115" y="4656926"/>
            <a:ext cx="49332" cy="73176"/>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1149447" y="4730102"/>
            <a:ext cx="46609" cy="74940"/>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1196056" y="4805042"/>
            <a:ext cx="43822" cy="76603"/>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sp>
        <p:nvSpPr>
          <p:cNvPr id="30" name="Isosceles Triangle 29"/>
          <p:cNvSpPr/>
          <p:nvPr/>
        </p:nvSpPr>
        <p:spPr>
          <a:xfrm rot="7623201">
            <a:off x="10442846" y="3990286"/>
            <a:ext cx="205739" cy="205739"/>
          </a:xfrm>
          <a:prstGeom prst="triangle">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11515803" y="5730854"/>
            <a:ext cx="9573" cy="87731"/>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1525376" y="5818585"/>
            <a:ext cx="6341" cy="88024"/>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1531717" y="5906609"/>
            <a:ext cx="3101" cy="88197"/>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11534675" y="5994806"/>
            <a:ext cx="143" cy="88252"/>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11531288" y="6083058"/>
            <a:ext cx="3387" cy="88187"/>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11524661" y="6171245"/>
            <a:ext cx="6627" cy="88003"/>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11514804" y="6259248"/>
            <a:ext cx="9857" cy="87699"/>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a:off x="11501729" y="6346947"/>
            <a:ext cx="13075" cy="87278"/>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11485455" y="6434225"/>
            <a:ext cx="16274" cy="86739"/>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11466003" y="6520964"/>
            <a:ext cx="19452" cy="86081"/>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11443400" y="6607045"/>
            <a:ext cx="22603" cy="85308"/>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11417676" y="6692353"/>
            <a:ext cx="25724" cy="84420"/>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11388867" y="6776773"/>
            <a:ext cx="28809" cy="83417"/>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11357010" y="6860190"/>
            <a:ext cx="31857" cy="82302"/>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a:off x="11322149" y="6942492"/>
            <a:ext cx="34861" cy="81074"/>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a:off x="11284332" y="7023566"/>
            <a:ext cx="37817" cy="79739"/>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11243609" y="7103305"/>
            <a:ext cx="40723" cy="78294"/>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11200035" y="7181599"/>
            <a:ext cx="43574" cy="76745"/>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a:off x="11153670" y="7258344"/>
            <a:ext cx="46365" cy="75091"/>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a:off x="11104575" y="7333435"/>
            <a:ext cx="49095" cy="73335"/>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a:off x="11052818" y="7406770"/>
            <a:ext cx="51757" cy="71482"/>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a:off x="10998468" y="7478252"/>
            <a:ext cx="54350" cy="69530"/>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a:off x="10941599" y="7547782"/>
            <a:ext cx="56869" cy="67485"/>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a:off x="10882287" y="7615267"/>
            <a:ext cx="59312" cy="65349"/>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sp>
        <p:nvSpPr>
          <p:cNvPr id="55" name="Isosceles Triangle 54"/>
          <p:cNvSpPr/>
          <p:nvPr/>
        </p:nvSpPr>
        <p:spPr>
          <a:xfrm rot="11943201">
            <a:off x="11314806" y="6673903"/>
            <a:ext cx="205739" cy="205739"/>
          </a:xfrm>
          <a:prstGeom prst="triangle">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6" name="Connector 55"/>
          <p:cNvCxnSpPr/>
          <p:nvPr/>
        </p:nvCxnSpPr>
        <p:spPr>
          <a:xfrm flipH="1">
            <a:off x="10079427" y="8205457"/>
            <a:ext cx="80479" cy="36214"/>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a:off x="9997671" y="8241671"/>
            <a:ext cx="81756" cy="33232"/>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a:off x="9914749" y="8274903"/>
            <a:ext cx="82922" cy="30204"/>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a:off x="9830772" y="8305107"/>
            <a:ext cx="83977" cy="27135"/>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a:off x="9745855" y="8332242"/>
            <a:ext cx="84917" cy="24030"/>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a:off x="9660111" y="8356272"/>
            <a:ext cx="85744" cy="20892"/>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a:off x="9573658" y="8377164"/>
            <a:ext cx="86453" cy="17726"/>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a:off x="9486611" y="8394890"/>
            <a:ext cx="87047" cy="14535"/>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a:off x="9399089" y="8409425"/>
            <a:ext cx="87522" cy="11326"/>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a:off x="9311210" y="8420751"/>
            <a:ext cx="87879" cy="8101"/>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a:off x="9223092" y="8428852"/>
            <a:ext cx="88118" cy="4865"/>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a:off x="9134856" y="8433717"/>
            <a:ext cx="88236" cy="1623"/>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9046619" y="8433717"/>
            <a:ext cx="88237" cy="1623"/>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8958501" y="8428852"/>
            <a:ext cx="88118" cy="4865"/>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8870622" y="8420751"/>
            <a:ext cx="87879" cy="8101"/>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8783100" y="8409425"/>
            <a:ext cx="87522" cy="11326"/>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8696053" y="8394890"/>
            <a:ext cx="87047" cy="14535"/>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8609600" y="8377164"/>
            <a:ext cx="86453" cy="17726"/>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8523856" y="8356272"/>
            <a:ext cx="85744" cy="20892"/>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H="1" flipV="1">
            <a:off x="8438939" y="8332242"/>
            <a:ext cx="84917" cy="24030"/>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H="1" flipV="1">
            <a:off x="8354962" y="8305107"/>
            <a:ext cx="83977" cy="27135"/>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H="1" flipV="1">
            <a:off x="8272040" y="8274903"/>
            <a:ext cx="82922" cy="30204"/>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H="1" flipV="1">
            <a:off x="8190284" y="8241671"/>
            <a:ext cx="81756" cy="33232"/>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H="1" flipV="1">
            <a:off x="8109805" y="8205457"/>
            <a:ext cx="80479" cy="36214"/>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sp>
        <p:nvSpPr>
          <p:cNvPr id="80" name="Isosceles Triangle 79"/>
          <p:cNvSpPr/>
          <p:nvPr/>
        </p:nvSpPr>
        <p:spPr>
          <a:xfrm rot="16263201">
            <a:off x="9031986" y="8332470"/>
            <a:ext cx="205739" cy="205739"/>
          </a:xfrm>
          <a:prstGeom prst="triangle">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1" name="Connector 80"/>
          <p:cNvCxnSpPr/>
          <p:nvPr/>
        </p:nvCxnSpPr>
        <p:spPr>
          <a:xfrm flipH="1" flipV="1">
            <a:off x="7328112" y="7615267"/>
            <a:ext cx="59312" cy="65349"/>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H="1" flipV="1">
            <a:off x="7271243" y="7547782"/>
            <a:ext cx="56869" cy="67485"/>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H="1" flipV="1">
            <a:off x="7216893" y="7478252"/>
            <a:ext cx="54350" cy="69530"/>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H="1" flipV="1">
            <a:off x="7165136" y="7406770"/>
            <a:ext cx="51757" cy="71482"/>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H="1" flipV="1">
            <a:off x="7116041" y="7333435"/>
            <a:ext cx="49095" cy="73335"/>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H="1" flipV="1">
            <a:off x="7069676" y="7258344"/>
            <a:ext cx="46365" cy="75091"/>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H="1" flipV="1">
            <a:off x="7026102" y="7181599"/>
            <a:ext cx="43574" cy="76745"/>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H="1" flipV="1">
            <a:off x="6985379" y="7103305"/>
            <a:ext cx="40723" cy="78294"/>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H="1" flipV="1">
            <a:off x="6947562" y="7023566"/>
            <a:ext cx="37817" cy="79739"/>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H="1" flipV="1">
            <a:off x="6912701" y="6942492"/>
            <a:ext cx="34861" cy="81074"/>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H="1" flipV="1">
            <a:off x="6880844" y="6860190"/>
            <a:ext cx="31857" cy="82302"/>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H="1" flipV="1">
            <a:off x="6852035" y="6776773"/>
            <a:ext cx="28809" cy="83417"/>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H="1" flipV="1">
            <a:off x="6826311" y="6692353"/>
            <a:ext cx="25724" cy="84420"/>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H="1" flipV="1">
            <a:off x="6803708" y="6607045"/>
            <a:ext cx="22603" cy="85308"/>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H="1" flipV="1">
            <a:off x="6784256" y="6520964"/>
            <a:ext cx="19452" cy="86081"/>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H="1" flipV="1">
            <a:off x="6767982" y="6434225"/>
            <a:ext cx="16274" cy="86739"/>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H="1" flipV="1">
            <a:off x="6754907" y="6346947"/>
            <a:ext cx="13075" cy="87278"/>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H="1" flipV="1">
            <a:off x="6745050" y="6259248"/>
            <a:ext cx="9857" cy="87699"/>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H="1" flipV="1">
            <a:off x="6738423" y="6171245"/>
            <a:ext cx="6627" cy="88003"/>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H="1" flipV="1">
            <a:off x="6735036" y="6083058"/>
            <a:ext cx="3387" cy="88187"/>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H="1" flipV="1">
            <a:off x="6734893" y="5994806"/>
            <a:ext cx="143" cy="88252"/>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6734893" y="5906609"/>
            <a:ext cx="3101" cy="88197"/>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6737994" y="5818585"/>
            <a:ext cx="6341" cy="88024"/>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6744335" y="5730854"/>
            <a:ext cx="9573" cy="87731"/>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sp>
        <p:nvSpPr>
          <p:cNvPr id="105" name="Isosceles Triangle 104"/>
          <p:cNvSpPr/>
          <p:nvPr/>
        </p:nvSpPr>
        <p:spPr>
          <a:xfrm rot="20583201">
            <a:off x="6749165" y="6673903"/>
            <a:ext cx="205739" cy="205739"/>
          </a:xfrm>
          <a:prstGeom prst="triangle">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6" name="Connector 105"/>
          <p:cNvCxnSpPr/>
          <p:nvPr/>
        </p:nvCxnSpPr>
        <p:spPr>
          <a:xfrm flipV="1">
            <a:off x="7029833" y="4805042"/>
            <a:ext cx="43822" cy="76603"/>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7073655" y="4730102"/>
            <a:ext cx="46609" cy="74940"/>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7120264" y="4656926"/>
            <a:ext cx="49332" cy="73176"/>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7169596" y="4585613"/>
            <a:ext cx="51989" cy="71313"/>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7221585" y="4516259"/>
            <a:ext cx="54576" cy="69354"/>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7276161" y="4448959"/>
            <a:ext cx="57087" cy="67300"/>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7333248" y="4383802"/>
            <a:ext cx="59524" cy="65157"/>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7392772" y="4320878"/>
            <a:ext cx="61878" cy="62924"/>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7454650" y="4260271"/>
            <a:ext cx="64150" cy="60607"/>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7518800" y="4202063"/>
            <a:ext cx="66334" cy="58208"/>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7585134" y="4146333"/>
            <a:ext cx="68429" cy="55730"/>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7653563" y="4093156"/>
            <a:ext cx="70432" cy="53177"/>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7723995" y="4042604"/>
            <a:ext cx="72338" cy="50552"/>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7796333" y="3994746"/>
            <a:ext cx="74149" cy="47858"/>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7870482" y="3949645"/>
            <a:ext cx="75857" cy="45101"/>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7946339" y="3907364"/>
            <a:ext cx="77464" cy="42281"/>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8023803" y="3867959"/>
            <a:ext cx="78966" cy="39405"/>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8102769" y="3831483"/>
            <a:ext cx="80361" cy="36476"/>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8183130" y="3797987"/>
            <a:ext cx="81648" cy="33496"/>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8264778" y="3767514"/>
            <a:ext cx="82824" cy="30473"/>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8347602" y="3740107"/>
            <a:ext cx="83888" cy="27407"/>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8431490" y="3715801"/>
            <a:ext cx="84839" cy="24306"/>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8516329" y="3694631"/>
            <a:ext cx="85675" cy="21170"/>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8602004" y="3676625"/>
            <a:ext cx="86396" cy="18006"/>
          </a:xfrm>
          <a:prstGeom prst="line">
            <a:avLst/>
          </a:prstGeom>
          <a:ln w="12700">
            <a:solidFill>
              <a:srgbClr val="99E6D9"/>
            </a:solidFill>
          </a:ln>
        </p:spPr>
        <p:style>
          <a:lnRef idx="2">
            <a:schemeClr val="accent1"/>
          </a:lnRef>
          <a:fillRef idx="0">
            <a:schemeClr val="accent1"/>
          </a:fillRef>
          <a:effectRef idx="1">
            <a:schemeClr val="accent1"/>
          </a:effectRef>
          <a:fontRef idx="minor">
            <a:schemeClr val="tx1"/>
          </a:fontRef>
        </p:style>
      </p:cxnSp>
      <p:sp>
        <p:nvSpPr>
          <p:cNvPr id="130" name="Isosceles Triangle 129"/>
          <p:cNvSpPr/>
          <p:nvPr/>
        </p:nvSpPr>
        <p:spPr>
          <a:xfrm rot="3303201">
            <a:off x="7621125" y="3990286"/>
            <a:ext cx="205739" cy="205739"/>
          </a:xfrm>
          <a:prstGeom prst="triangle">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8414766" y="2914650"/>
            <a:ext cx="1440180" cy="1440180"/>
          </a:xfrm>
          <a:prstGeom prst="ellipse">
            <a:avLst/>
          </a:prstGeom>
          <a:solidFill>
            <a:srgbClr val="0D3E40"/>
          </a:solidFill>
          <a:ln w="1524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2" name="Picture 131" descr="coord.png"/>
          <p:cNvPicPr>
            <a:picLocks noChangeAspect="1"/>
          </p:cNvPicPr>
          <p:nvPr/>
        </p:nvPicPr>
        <p:blipFill>
          <a:blip r:embed="rId4"/>
          <a:stretch>
            <a:fillRect/>
          </a:stretch>
        </p:blipFill>
        <p:spPr>
          <a:xfrm>
            <a:off x="8929116" y="3236976"/>
            <a:ext cx="411479" cy="411479"/>
          </a:xfrm>
          <a:prstGeom prst="rect">
            <a:avLst/>
          </a:prstGeom>
        </p:spPr>
      </p:pic>
      <p:sp>
        <p:nvSpPr>
          <p:cNvPr id="133" name="TextBox 132"/>
          <p:cNvSpPr txBox="1"/>
          <p:nvPr/>
        </p:nvSpPr>
        <p:spPr>
          <a:xfrm>
            <a:off x="8071866" y="3717036"/>
            <a:ext cx="2125980" cy="411479"/>
          </a:xfrm>
          <a:prstGeom prst="rect">
            <a:avLst/>
          </a:prstGeom>
          <a:noFill/>
        </p:spPr>
        <p:txBody>
          <a:bodyPr wrap="none" lIns="0" rIns="0" tIns="0" bIns="0">
            <a:spAutoFit/>
          </a:bodyPr>
          <a:lstStyle/>
          <a:p>
            <a:pPr algn="ctr">
              <a:lnSpc>
                <a:spcPct val="115000"/>
              </a:lnSpc>
            </a:pPr>
            <a:r>
              <a:rPr sz="1500">
                <a:solidFill>
                  <a:srgbClr val="F2ECDD"/>
                </a:solidFill>
                <a:latin typeface="TT Commons Pro"/>
              </a:rPr>
              <a:t>build</a:t>
            </a:r>
          </a:p>
        </p:txBody>
      </p:sp>
      <p:sp>
        <p:nvSpPr>
          <p:cNvPr id="134" name="Oval 133"/>
          <p:cNvSpPr/>
          <p:nvPr/>
        </p:nvSpPr>
        <p:spPr>
          <a:xfrm>
            <a:off x="10697586" y="4573216"/>
            <a:ext cx="1440180" cy="1440180"/>
          </a:xfrm>
          <a:prstGeom prst="ellipse">
            <a:avLst/>
          </a:prstGeom>
          <a:solidFill>
            <a:srgbClr val="0D3E40"/>
          </a:solidFill>
          <a:ln w="1524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5" name="Picture 134" descr="group.png"/>
          <p:cNvPicPr>
            <a:picLocks noChangeAspect="1"/>
          </p:cNvPicPr>
          <p:nvPr/>
        </p:nvPicPr>
        <p:blipFill>
          <a:blip r:embed="rId5"/>
          <a:stretch>
            <a:fillRect/>
          </a:stretch>
        </p:blipFill>
        <p:spPr>
          <a:xfrm>
            <a:off x="11211936" y="4895542"/>
            <a:ext cx="411479" cy="411479"/>
          </a:xfrm>
          <a:prstGeom prst="rect">
            <a:avLst/>
          </a:prstGeom>
        </p:spPr>
      </p:pic>
      <p:sp>
        <p:nvSpPr>
          <p:cNvPr id="136" name="TextBox 135"/>
          <p:cNvSpPr txBox="1"/>
          <p:nvPr/>
        </p:nvSpPr>
        <p:spPr>
          <a:xfrm>
            <a:off x="10354686" y="5375602"/>
            <a:ext cx="2125980" cy="411479"/>
          </a:xfrm>
          <a:prstGeom prst="rect">
            <a:avLst/>
          </a:prstGeom>
          <a:noFill/>
        </p:spPr>
        <p:txBody>
          <a:bodyPr wrap="none" lIns="0" rIns="0" tIns="0" bIns="0">
            <a:spAutoFit/>
          </a:bodyPr>
          <a:lstStyle/>
          <a:p>
            <a:pPr algn="ctr">
              <a:lnSpc>
                <a:spcPct val="115000"/>
              </a:lnSpc>
            </a:pPr>
            <a:r>
              <a:rPr sz="1500">
                <a:solidFill>
                  <a:srgbClr val="F2ECDD"/>
                </a:solidFill>
                <a:latin typeface="TT Commons Pro"/>
              </a:rPr>
              <a:t>use</a:t>
            </a:r>
          </a:p>
        </p:txBody>
      </p:sp>
      <p:sp>
        <p:nvSpPr>
          <p:cNvPr id="137" name="Oval 136"/>
          <p:cNvSpPr/>
          <p:nvPr/>
        </p:nvSpPr>
        <p:spPr>
          <a:xfrm>
            <a:off x="9825626" y="7256833"/>
            <a:ext cx="1440180" cy="1440180"/>
          </a:xfrm>
          <a:prstGeom prst="ellipse">
            <a:avLst/>
          </a:prstGeom>
          <a:solidFill>
            <a:srgbClr val="0D3E40"/>
          </a:solidFill>
          <a:ln w="1524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8" name="Picture 137" descr="idea.png"/>
          <p:cNvPicPr>
            <a:picLocks noChangeAspect="1"/>
          </p:cNvPicPr>
          <p:nvPr/>
        </p:nvPicPr>
        <p:blipFill>
          <a:blip r:embed="rId6"/>
          <a:stretch>
            <a:fillRect/>
          </a:stretch>
        </p:blipFill>
        <p:spPr>
          <a:xfrm>
            <a:off x="10339976" y="7579159"/>
            <a:ext cx="411479" cy="411479"/>
          </a:xfrm>
          <a:prstGeom prst="rect">
            <a:avLst/>
          </a:prstGeom>
        </p:spPr>
      </p:pic>
      <p:sp>
        <p:nvSpPr>
          <p:cNvPr id="139" name="TextBox 138"/>
          <p:cNvSpPr txBox="1"/>
          <p:nvPr/>
        </p:nvSpPr>
        <p:spPr>
          <a:xfrm>
            <a:off x="9482726" y="8059219"/>
            <a:ext cx="2125980" cy="411479"/>
          </a:xfrm>
          <a:prstGeom prst="rect">
            <a:avLst/>
          </a:prstGeom>
          <a:noFill/>
        </p:spPr>
        <p:txBody>
          <a:bodyPr wrap="none" lIns="0" rIns="0" tIns="0" bIns="0">
            <a:spAutoFit/>
          </a:bodyPr>
          <a:lstStyle/>
          <a:p>
            <a:pPr algn="ctr">
              <a:lnSpc>
                <a:spcPct val="115000"/>
              </a:lnSpc>
            </a:pPr>
            <a:r>
              <a:rPr sz="1500">
                <a:solidFill>
                  <a:srgbClr val="F2ECDD"/>
                </a:solidFill>
                <a:latin typeface="TT Commons Pro"/>
              </a:rPr>
              <a:t>learn</a:t>
            </a:r>
          </a:p>
        </p:txBody>
      </p:sp>
      <p:sp>
        <p:nvSpPr>
          <p:cNvPr id="140" name="Oval 139"/>
          <p:cNvSpPr/>
          <p:nvPr/>
        </p:nvSpPr>
        <p:spPr>
          <a:xfrm>
            <a:off x="7003905" y="7256833"/>
            <a:ext cx="1440180" cy="1440180"/>
          </a:xfrm>
          <a:prstGeom prst="ellipse">
            <a:avLst/>
          </a:prstGeom>
          <a:solidFill>
            <a:srgbClr val="0D3E40"/>
          </a:solidFill>
          <a:ln w="1524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1" name="Picture 140" descr="task.png"/>
          <p:cNvPicPr>
            <a:picLocks noChangeAspect="1"/>
          </p:cNvPicPr>
          <p:nvPr/>
        </p:nvPicPr>
        <p:blipFill>
          <a:blip r:embed="rId7"/>
          <a:stretch>
            <a:fillRect/>
          </a:stretch>
        </p:blipFill>
        <p:spPr>
          <a:xfrm>
            <a:off x="7518255" y="7579159"/>
            <a:ext cx="411479" cy="411479"/>
          </a:xfrm>
          <a:prstGeom prst="rect">
            <a:avLst/>
          </a:prstGeom>
        </p:spPr>
      </p:pic>
      <p:sp>
        <p:nvSpPr>
          <p:cNvPr id="142" name="TextBox 141"/>
          <p:cNvSpPr txBox="1"/>
          <p:nvPr/>
        </p:nvSpPr>
        <p:spPr>
          <a:xfrm>
            <a:off x="6661005" y="8059219"/>
            <a:ext cx="2125980" cy="411479"/>
          </a:xfrm>
          <a:prstGeom prst="rect">
            <a:avLst/>
          </a:prstGeom>
          <a:noFill/>
        </p:spPr>
        <p:txBody>
          <a:bodyPr wrap="none" lIns="0" rIns="0" tIns="0" bIns="0">
            <a:spAutoFit/>
          </a:bodyPr>
          <a:lstStyle/>
          <a:p>
            <a:pPr algn="ctr">
              <a:lnSpc>
                <a:spcPct val="115000"/>
              </a:lnSpc>
            </a:pPr>
            <a:r>
              <a:rPr sz="1500">
                <a:solidFill>
                  <a:srgbClr val="F2ECDD"/>
                </a:solidFill>
                <a:latin typeface="TT Commons Pro"/>
              </a:rPr>
              <a:t>refine</a:t>
            </a:r>
          </a:p>
        </p:txBody>
      </p:sp>
      <p:sp>
        <p:nvSpPr>
          <p:cNvPr id="143" name="Oval 142"/>
          <p:cNvSpPr/>
          <p:nvPr/>
        </p:nvSpPr>
        <p:spPr>
          <a:xfrm>
            <a:off x="6131945" y="4573216"/>
            <a:ext cx="1440180" cy="1440180"/>
          </a:xfrm>
          <a:prstGeom prst="ellipse">
            <a:avLst/>
          </a:prstGeom>
          <a:solidFill>
            <a:srgbClr val="0D3E40"/>
          </a:solidFill>
          <a:ln w="1524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4" name="Picture 143" descr="verify.png"/>
          <p:cNvPicPr>
            <a:picLocks noChangeAspect="1"/>
          </p:cNvPicPr>
          <p:nvPr/>
        </p:nvPicPr>
        <p:blipFill>
          <a:blip r:embed="rId8"/>
          <a:stretch>
            <a:fillRect/>
          </a:stretch>
        </p:blipFill>
        <p:spPr>
          <a:xfrm>
            <a:off x="6646295" y="4895542"/>
            <a:ext cx="411479" cy="411479"/>
          </a:xfrm>
          <a:prstGeom prst="rect">
            <a:avLst/>
          </a:prstGeom>
        </p:spPr>
      </p:pic>
      <p:sp>
        <p:nvSpPr>
          <p:cNvPr id="145" name="TextBox 144"/>
          <p:cNvSpPr txBox="1"/>
          <p:nvPr/>
        </p:nvSpPr>
        <p:spPr>
          <a:xfrm>
            <a:off x="5789045" y="5375602"/>
            <a:ext cx="2125980" cy="411479"/>
          </a:xfrm>
          <a:prstGeom prst="rect">
            <a:avLst/>
          </a:prstGeom>
          <a:noFill/>
        </p:spPr>
        <p:txBody>
          <a:bodyPr wrap="none" lIns="0" rIns="0" tIns="0" bIns="0">
            <a:spAutoFit/>
          </a:bodyPr>
          <a:lstStyle/>
          <a:p>
            <a:pPr algn="ctr">
              <a:lnSpc>
                <a:spcPct val="115000"/>
              </a:lnSpc>
            </a:pPr>
            <a:r>
              <a:rPr sz="1500">
                <a:solidFill>
                  <a:srgbClr val="F2ECDD"/>
                </a:solidFill>
                <a:latin typeface="TT Commons Pro"/>
              </a:rPr>
              <a:t>standardize</a:t>
            </a:r>
          </a:p>
        </p:txBody>
      </p:sp>
      <p:sp>
        <p:nvSpPr>
          <p:cNvPr id="146" name="TextBox 145"/>
          <p:cNvSpPr txBox="1"/>
          <p:nvPr/>
        </p:nvSpPr>
        <p:spPr>
          <a:xfrm>
            <a:off x="822959" y="4114800"/>
            <a:ext cx="822959" cy="548640"/>
          </a:xfrm>
          <a:prstGeom prst="rect">
            <a:avLst/>
          </a:prstGeom>
          <a:noFill/>
        </p:spPr>
        <p:txBody>
          <a:bodyPr wrap="square" lIns="0" rIns="0" tIns="0" bIns="0">
            <a:spAutoFit/>
          </a:bodyPr>
          <a:lstStyle/>
          <a:p>
            <a:pPr algn="l">
              <a:lnSpc>
                <a:spcPct val="115000"/>
              </a:lnSpc>
            </a:pPr>
            <a:r>
              <a:rPr sz="2550">
                <a:solidFill>
                  <a:srgbClr val="F0CC8B"/>
                </a:solidFill>
                <a:latin typeface="Ibarra Real Nova Italics"/>
              </a:rPr>
              <a:t>01</a:t>
            </a:r>
          </a:p>
        </p:txBody>
      </p:sp>
      <p:sp>
        <p:nvSpPr>
          <p:cNvPr id="147" name="TextBox 146"/>
          <p:cNvSpPr txBox="1"/>
          <p:nvPr/>
        </p:nvSpPr>
        <p:spPr>
          <a:xfrm>
            <a:off x="1714500" y="4183379"/>
            <a:ext cx="4663440" cy="685800"/>
          </a:xfrm>
          <a:prstGeom prst="rect">
            <a:avLst/>
          </a:prstGeom>
          <a:noFill/>
        </p:spPr>
        <p:txBody>
          <a:bodyPr wrap="square" lIns="0" rIns="0" tIns="0" bIns="0">
            <a:spAutoFit/>
          </a:bodyPr>
          <a:lstStyle/>
          <a:p>
            <a:pPr algn="l">
              <a:lnSpc>
                <a:spcPct val="115000"/>
              </a:lnSpc>
            </a:pPr>
            <a:r>
              <a:rPr sz="1650">
                <a:solidFill>
                  <a:srgbClr val="F2ECDD"/>
                </a:solidFill>
                <a:latin typeface="TT Commons Pro"/>
              </a:rPr>
              <a:t>Build the thing real communities need</a:t>
            </a:r>
          </a:p>
        </p:txBody>
      </p:sp>
      <p:sp>
        <p:nvSpPr>
          <p:cNvPr id="148" name="TextBox 147"/>
          <p:cNvSpPr txBox="1"/>
          <p:nvPr/>
        </p:nvSpPr>
        <p:spPr>
          <a:xfrm>
            <a:off x="822959" y="4937760"/>
            <a:ext cx="822959" cy="548640"/>
          </a:xfrm>
          <a:prstGeom prst="rect">
            <a:avLst/>
          </a:prstGeom>
          <a:noFill/>
        </p:spPr>
        <p:txBody>
          <a:bodyPr wrap="square" lIns="0" rIns="0" tIns="0" bIns="0">
            <a:spAutoFit/>
          </a:bodyPr>
          <a:lstStyle/>
          <a:p>
            <a:pPr algn="l">
              <a:lnSpc>
                <a:spcPct val="115000"/>
              </a:lnSpc>
            </a:pPr>
            <a:r>
              <a:rPr sz="2550">
                <a:solidFill>
                  <a:srgbClr val="F0CC8B"/>
                </a:solidFill>
                <a:latin typeface="Ibarra Real Nova Italics"/>
              </a:rPr>
              <a:t>02</a:t>
            </a:r>
          </a:p>
        </p:txBody>
      </p:sp>
      <p:sp>
        <p:nvSpPr>
          <p:cNvPr id="149" name="TextBox 148"/>
          <p:cNvSpPr txBox="1"/>
          <p:nvPr/>
        </p:nvSpPr>
        <p:spPr>
          <a:xfrm>
            <a:off x="1714500" y="5006340"/>
            <a:ext cx="4663440" cy="685800"/>
          </a:xfrm>
          <a:prstGeom prst="rect">
            <a:avLst/>
          </a:prstGeom>
          <a:noFill/>
        </p:spPr>
        <p:txBody>
          <a:bodyPr wrap="square" lIns="0" rIns="0" tIns="0" bIns="0">
            <a:spAutoFit/>
          </a:bodyPr>
          <a:lstStyle/>
          <a:p>
            <a:pPr algn="l">
              <a:lnSpc>
                <a:spcPct val="115000"/>
              </a:lnSpc>
            </a:pPr>
            <a:r>
              <a:rPr sz="1650">
                <a:solidFill>
                  <a:srgbClr val="F2ECDD"/>
                </a:solidFill>
                <a:latin typeface="TT Commons Pro"/>
              </a:rPr>
              <a:t>Use it — real coordination, exchange, governance</a:t>
            </a:r>
          </a:p>
        </p:txBody>
      </p:sp>
      <p:sp>
        <p:nvSpPr>
          <p:cNvPr id="150" name="TextBox 149"/>
          <p:cNvSpPr txBox="1"/>
          <p:nvPr/>
        </p:nvSpPr>
        <p:spPr>
          <a:xfrm>
            <a:off x="822959" y="5760720"/>
            <a:ext cx="822959" cy="548640"/>
          </a:xfrm>
          <a:prstGeom prst="rect">
            <a:avLst/>
          </a:prstGeom>
          <a:noFill/>
        </p:spPr>
        <p:txBody>
          <a:bodyPr wrap="square" lIns="0" rIns="0" tIns="0" bIns="0">
            <a:spAutoFit/>
          </a:bodyPr>
          <a:lstStyle/>
          <a:p>
            <a:pPr algn="l">
              <a:lnSpc>
                <a:spcPct val="115000"/>
              </a:lnSpc>
            </a:pPr>
            <a:r>
              <a:rPr sz="2550">
                <a:solidFill>
                  <a:srgbClr val="F0CC8B"/>
                </a:solidFill>
                <a:latin typeface="Ibarra Real Nova Italics"/>
              </a:rPr>
              <a:t>03</a:t>
            </a:r>
          </a:p>
        </p:txBody>
      </p:sp>
      <p:sp>
        <p:nvSpPr>
          <p:cNvPr id="151" name="TextBox 150"/>
          <p:cNvSpPr txBox="1"/>
          <p:nvPr/>
        </p:nvSpPr>
        <p:spPr>
          <a:xfrm>
            <a:off x="1714500" y="5829300"/>
            <a:ext cx="4663440" cy="685800"/>
          </a:xfrm>
          <a:prstGeom prst="rect">
            <a:avLst/>
          </a:prstGeom>
          <a:noFill/>
        </p:spPr>
        <p:txBody>
          <a:bodyPr wrap="square" lIns="0" rIns="0" tIns="0" bIns="0">
            <a:spAutoFit/>
          </a:bodyPr>
          <a:lstStyle/>
          <a:p>
            <a:pPr algn="l">
              <a:lnSpc>
                <a:spcPct val="115000"/>
              </a:lnSpc>
            </a:pPr>
            <a:r>
              <a:rPr sz="1650">
                <a:solidFill>
                  <a:srgbClr val="F2ECDD"/>
                </a:solidFill>
                <a:latin typeface="TT Commons Pro"/>
              </a:rPr>
              <a:t>Learn what actually needs to work together</a:t>
            </a:r>
          </a:p>
        </p:txBody>
      </p:sp>
      <p:sp>
        <p:nvSpPr>
          <p:cNvPr id="152" name="TextBox 151"/>
          <p:cNvSpPr txBox="1"/>
          <p:nvPr/>
        </p:nvSpPr>
        <p:spPr>
          <a:xfrm>
            <a:off x="822959" y="6583679"/>
            <a:ext cx="822959" cy="548640"/>
          </a:xfrm>
          <a:prstGeom prst="rect">
            <a:avLst/>
          </a:prstGeom>
          <a:noFill/>
        </p:spPr>
        <p:txBody>
          <a:bodyPr wrap="square" lIns="0" rIns="0" tIns="0" bIns="0">
            <a:spAutoFit/>
          </a:bodyPr>
          <a:lstStyle/>
          <a:p>
            <a:pPr algn="l">
              <a:lnSpc>
                <a:spcPct val="115000"/>
              </a:lnSpc>
            </a:pPr>
            <a:r>
              <a:rPr sz="2550">
                <a:solidFill>
                  <a:srgbClr val="F0CC8B"/>
                </a:solidFill>
                <a:latin typeface="Ibarra Real Nova Italics"/>
              </a:rPr>
              <a:t>04</a:t>
            </a:r>
          </a:p>
        </p:txBody>
      </p:sp>
      <p:sp>
        <p:nvSpPr>
          <p:cNvPr id="153" name="TextBox 152"/>
          <p:cNvSpPr txBox="1"/>
          <p:nvPr/>
        </p:nvSpPr>
        <p:spPr>
          <a:xfrm>
            <a:off x="1714500" y="6652259"/>
            <a:ext cx="4663440" cy="685800"/>
          </a:xfrm>
          <a:prstGeom prst="rect">
            <a:avLst/>
          </a:prstGeom>
          <a:noFill/>
        </p:spPr>
        <p:txBody>
          <a:bodyPr wrap="square" lIns="0" rIns="0" tIns="0" bIns="0">
            <a:spAutoFit/>
          </a:bodyPr>
          <a:lstStyle/>
          <a:p>
            <a:pPr algn="l">
              <a:lnSpc>
                <a:spcPct val="115000"/>
              </a:lnSpc>
            </a:pPr>
            <a:r>
              <a:rPr sz="1650">
                <a:solidFill>
                  <a:srgbClr val="F2ECDD"/>
                </a:solidFill>
                <a:latin typeface="TT Commons Pro"/>
              </a:rPr>
              <a:t>Refine — practice informs architecture</a:t>
            </a:r>
          </a:p>
        </p:txBody>
      </p:sp>
      <p:sp>
        <p:nvSpPr>
          <p:cNvPr id="154" name="TextBox 153"/>
          <p:cNvSpPr txBox="1"/>
          <p:nvPr/>
        </p:nvSpPr>
        <p:spPr>
          <a:xfrm>
            <a:off x="822959" y="7406640"/>
            <a:ext cx="822959" cy="548640"/>
          </a:xfrm>
          <a:prstGeom prst="rect">
            <a:avLst/>
          </a:prstGeom>
          <a:noFill/>
        </p:spPr>
        <p:txBody>
          <a:bodyPr wrap="square" lIns="0" rIns="0" tIns="0" bIns="0">
            <a:spAutoFit/>
          </a:bodyPr>
          <a:lstStyle/>
          <a:p>
            <a:pPr algn="l">
              <a:lnSpc>
                <a:spcPct val="115000"/>
              </a:lnSpc>
            </a:pPr>
            <a:r>
              <a:rPr sz="2550">
                <a:solidFill>
                  <a:srgbClr val="F0CC8B"/>
                </a:solidFill>
                <a:latin typeface="Ibarra Real Nova Italics"/>
              </a:rPr>
              <a:t>05</a:t>
            </a:r>
          </a:p>
        </p:txBody>
      </p:sp>
      <p:sp>
        <p:nvSpPr>
          <p:cNvPr id="155" name="TextBox 154"/>
          <p:cNvSpPr txBox="1"/>
          <p:nvPr/>
        </p:nvSpPr>
        <p:spPr>
          <a:xfrm>
            <a:off x="1714500" y="7475220"/>
            <a:ext cx="4663440" cy="685800"/>
          </a:xfrm>
          <a:prstGeom prst="rect">
            <a:avLst/>
          </a:prstGeom>
          <a:noFill/>
        </p:spPr>
        <p:txBody>
          <a:bodyPr wrap="square" lIns="0" rIns="0" tIns="0" bIns="0">
            <a:spAutoFit/>
          </a:bodyPr>
          <a:lstStyle/>
          <a:p>
            <a:pPr algn="l">
              <a:lnSpc>
                <a:spcPct val="115000"/>
              </a:lnSpc>
            </a:pPr>
            <a:r>
              <a:rPr sz="1650">
                <a:solidFill>
                  <a:srgbClr val="F2ECDD"/>
                </a:solidFill>
                <a:latin typeface="TT Commons Pro"/>
              </a:rPr>
              <a:t>Standardize what works, then federate</a:t>
            </a:r>
          </a:p>
        </p:txBody>
      </p:sp>
      <p:sp>
        <p:nvSpPr>
          <p:cNvPr id="156" name="TextBox 155"/>
          <p:cNvSpPr txBox="1"/>
          <p:nvPr/>
        </p:nvSpPr>
        <p:spPr>
          <a:xfrm>
            <a:off x="822959" y="8915400"/>
            <a:ext cx="16596359" cy="1097280"/>
          </a:xfrm>
          <a:prstGeom prst="rect">
            <a:avLst/>
          </a:prstGeom>
          <a:noFill/>
        </p:spPr>
        <p:txBody>
          <a:bodyPr wrap="square" lIns="0" rIns="0" tIns="0" bIns="0">
            <a:spAutoFit/>
          </a:bodyPr>
          <a:lstStyle/>
          <a:p>
            <a:pPr algn="ctr">
              <a:lnSpc>
                <a:spcPct val="140000"/>
              </a:lnSpc>
            </a:pPr>
            <a:r>
              <a:rPr sz="1875">
                <a:solidFill>
                  <a:srgbClr val="F2ECDD"/>
                </a:solidFill>
                <a:latin typeface="TT Commons Pro"/>
              </a:rPr>
              <a:t>Purely theoretical protocols optimize for imagined needs. </a:t>
            </a:r>
            <a:r>
              <a:rPr sz="2025" spc="20">
                <a:solidFill>
                  <a:srgbClr val="9FE8DC"/>
                </a:solidFill>
                <a:latin typeface="Alike Italics"/>
              </a:rPr>
              <a:t>Real implementations reveal actual needs.</a:t>
            </a:r>
          </a:p>
        </p:txBody>
      </p:sp>
      <p:pic>
        <p:nvPicPr>
          <p:cNvPr id="157" name="Picture 156" descr="rivr-symbol-light.png"/>
          <p:cNvPicPr>
            <a:picLocks noChangeAspect="1"/>
          </p:cNvPicPr>
          <p:nvPr/>
        </p:nvPicPr>
        <p:blipFill>
          <a:blip r:embed="rId9"/>
          <a:stretch>
            <a:fillRect/>
          </a:stretch>
        </p:blipFill>
        <p:spPr>
          <a:xfrm>
            <a:off x="576072" y="9518904"/>
            <a:ext cx="521208" cy="521208"/>
          </a:xfrm>
          <a:prstGeom prst="rect">
            <a:avLst/>
          </a:prstGeom>
        </p:spPr>
      </p:pic>
      <p:sp>
        <p:nvSpPr>
          <p:cNvPr id="158" name="TextBox 157"/>
          <p:cNvSpPr txBox="1"/>
          <p:nvPr/>
        </p:nvSpPr>
        <p:spPr>
          <a:xfrm>
            <a:off x="1371600" y="9724644"/>
            <a:ext cx="5486400" cy="301752"/>
          </a:xfrm>
          <a:prstGeom prst="rect">
            <a:avLst/>
          </a:prstGeom>
          <a:noFill/>
        </p:spPr>
        <p:txBody>
          <a:bodyPr wrap="none" lIns="0" rIns="0" tIns="0" bIns="0">
            <a:spAutoFit/>
          </a:bodyPr>
          <a:lstStyle/>
          <a:p>
            <a:pPr algn="l">
              <a:lnSpc>
                <a:spcPct val="115000"/>
              </a:lnSpc>
            </a:pPr>
            <a:r>
              <a:rPr sz="1350" spc="150">
                <a:solidFill>
                  <a:srgbClr val="AFC4C2"/>
                </a:solidFill>
                <a:latin typeface="TT Commons Pro"/>
              </a:rPr>
              <a:t>Rivr · Seed Round 2026</a:t>
            </a:r>
          </a:p>
        </p:txBody>
      </p:sp>
      <p:sp>
        <p:nvSpPr>
          <p:cNvPr id="159" name="TextBox 158"/>
          <p:cNvSpPr txBox="1"/>
          <p:nvPr/>
        </p:nvSpPr>
        <p:spPr>
          <a:xfrm>
            <a:off x="16870680" y="9724644"/>
            <a:ext cx="960119" cy="301752"/>
          </a:xfrm>
          <a:prstGeom prst="rect">
            <a:avLst/>
          </a:prstGeom>
          <a:noFill/>
        </p:spPr>
        <p:txBody>
          <a:bodyPr wrap="none" lIns="0" rIns="0" tIns="0" bIns="0">
            <a:spAutoFit/>
          </a:bodyPr>
          <a:lstStyle/>
          <a:p>
            <a:pPr algn="r">
              <a:lnSpc>
                <a:spcPct val="115000"/>
              </a:lnSpc>
            </a:pPr>
            <a:r>
              <a:rPr sz="1350" spc="150">
                <a:solidFill>
                  <a:srgbClr val="AFC4C2"/>
                </a:solidFill>
                <a:latin typeface="TT Commons Pro"/>
              </a:rPr>
              <a:t>30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03333"/>
        </a:solidFill>
        <a:effectLst/>
      </p:bgPr>
    </p:bg>
    <p:spTree>
      <p:nvGrpSpPr>
        <p:cNvPr id="1" name=""/>
        <p:cNvGrpSpPr/>
        <p:nvPr/>
      </p:nvGrpSpPr>
      <p:grpSpPr/>
      <p:pic>
        <p:nvPicPr>
          <p:cNvPr id="2" name="Picture 1" descr="bg_c27.jpg"/>
          <p:cNvPicPr>
            <a:picLocks noChangeAspect="1"/>
          </p:cNvPicPr>
          <p:nvPr/>
        </p:nvPicPr>
        <p:blipFill>
          <a:blip r:embed="rId2"/>
          <a:stretch>
            <a:fillRect/>
          </a:stretch>
        </p:blipFill>
        <p:spPr>
          <a:xfrm>
            <a:off x="0" y="0"/>
            <a:ext cx="18287542" cy="10287000"/>
          </a:xfrm>
          <a:prstGeom prst="rect">
            <a:avLst/>
          </a:prstGeom>
        </p:spPr>
      </p:pic>
      <p:sp>
        <p:nvSpPr>
          <p:cNvPr id="3" name="TextBox 2"/>
          <p:cNvSpPr txBox="1"/>
          <p:nvPr/>
        </p:nvSpPr>
        <p:spPr>
          <a:xfrm>
            <a:off x="822959" y="822959"/>
            <a:ext cx="16733519" cy="384048"/>
          </a:xfrm>
          <a:prstGeom prst="rect">
            <a:avLst/>
          </a:prstGeom>
          <a:noFill/>
        </p:spPr>
        <p:txBody>
          <a:bodyPr wrap="none" lIns="0" rIns="0" tIns="0" bIns="0">
            <a:spAutoFit/>
          </a:bodyPr>
          <a:lstStyle/>
          <a:p>
            <a:pPr algn="l">
              <a:lnSpc>
                <a:spcPct val="115000"/>
              </a:lnSpc>
            </a:pPr>
            <a:r>
              <a:rPr sz="1650" spc="330">
                <a:solidFill>
                  <a:srgbClr val="9FE8DC"/>
                </a:solidFill>
                <a:latin typeface="Todes 1"/>
              </a:rPr>
              <a:t>DATA SOVEREIGNTY</a:t>
            </a:r>
          </a:p>
        </p:txBody>
      </p:sp>
      <p:sp>
        <p:nvSpPr>
          <p:cNvPr id="4" name="TextBox 3"/>
          <p:cNvSpPr txBox="1"/>
          <p:nvPr/>
        </p:nvSpPr>
        <p:spPr>
          <a:xfrm>
            <a:off x="822959" y="1699869"/>
            <a:ext cx="15734347" cy="977836"/>
          </a:xfrm>
          <a:prstGeom prst="rect">
            <a:avLst/>
          </a:prstGeom>
          <a:noFill/>
        </p:spPr>
        <p:txBody>
          <a:bodyPr wrap="none" lIns="0" rIns="0" tIns="0" bIns="0">
            <a:spAutoFit/>
          </a:bodyPr>
          <a:lstStyle/>
          <a:p>
            <a:pPr algn="l">
              <a:lnSpc>
                <a:spcPct val="115000"/>
              </a:lnSpc>
            </a:pPr>
            <a:r>
              <a:rPr sz="5309" spc="-72">
                <a:solidFill>
                  <a:srgbClr val="F4EAD8"/>
                </a:solidFill>
                <a:latin typeface="Todes 1"/>
              </a:rPr>
              <a:t>Connected does not have to mean </a:t>
            </a:r>
          </a:p>
        </p:txBody>
      </p:sp>
      <p:sp>
        <p:nvSpPr>
          <p:cNvPr id="5" name="TextBox 4"/>
          <p:cNvSpPr txBox="1"/>
          <p:nvPr/>
        </p:nvSpPr>
        <p:spPr>
          <a:xfrm>
            <a:off x="13245845" y="1645919"/>
            <a:ext cx="4902755" cy="1075620"/>
          </a:xfrm>
          <a:prstGeom prst="rect">
            <a:avLst/>
          </a:prstGeom>
          <a:noFill/>
        </p:spPr>
        <p:txBody>
          <a:bodyPr wrap="none" lIns="0" rIns="0" tIns="0" bIns="0">
            <a:spAutoFit/>
          </a:bodyPr>
          <a:lstStyle/>
          <a:p>
            <a:pPr algn="l">
              <a:lnSpc>
                <a:spcPct val="115000"/>
              </a:lnSpc>
            </a:pPr>
            <a:r>
              <a:rPr sz="5841" spc="-75">
                <a:solidFill>
                  <a:srgbClr val="99E6D9"/>
                </a:solidFill>
                <a:latin typeface="Ibarra Real Nova Italics"/>
              </a:rPr>
              <a:t>surrendered.</a:t>
            </a:r>
          </a:p>
        </p:txBody>
      </p:sp>
      <p:sp>
        <p:nvSpPr>
          <p:cNvPr id="6" name="Rounded Rectangle 5"/>
          <p:cNvSpPr/>
          <p:nvPr/>
        </p:nvSpPr>
        <p:spPr>
          <a:xfrm>
            <a:off x="548640" y="3977639"/>
            <a:ext cx="5349240" cy="2606039"/>
          </a:xfrm>
          <a:prstGeom prst="roundRect">
            <a:avLst>
              <a:gd name="adj" fmla="val 6000"/>
            </a:avLst>
          </a:prstGeom>
          <a:solidFill>
            <a:srgbClr val="0D3E40"/>
          </a:solidFill>
          <a:ln w="1905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person.png"/>
          <p:cNvPicPr>
            <a:picLocks noChangeAspect="1"/>
          </p:cNvPicPr>
          <p:nvPr/>
        </p:nvPicPr>
        <p:blipFill>
          <a:blip r:embed="rId4"/>
          <a:stretch>
            <a:fillRect/>
          </a:stretch>
        </p:blipFill>
        <p:spPr>
          <a:xfrm>
            <a:off x="932688" y="4320540"/>
            <a:ext cx="466344" cy="466344"/>
          </a:xfrm>
          <a:prstGeom prst="rect">
            <a:avLst/>
          </a:prstGeom>
        </p:spPr>
      </p:pic>
      <p:sp>
        <p:nvSpPr>
          <p:cNvPr id="8" name="TextBox 7"/>
          <p:cNvSpPr txBox="1"/>
          <p:nvPr/>
        </p:nvSpPr>
        <p:spPr>
          <a:xfrm>
            <a:off x="1783080" y="4375404"/>
            <a:ext cx="3977639" cy="411479"/>
          </a:xfrm>
          <a:prstGeom prst="rect">
            <a:avLst/>
          </a:prstGeom>
          <a:noFill/>
        </p:spPr>
        <p:txBody>
          <a:bodyPr wrap="none" lIns="0" rIns="0" tIns="0" bIns="0">
            <a:spAutoFit/>
          </a:bodyPr>
          <a:lstStyle/>
          <a:p>
            <a:pPr algn="l">
              <a:lnSpc>
                <a:spcPct val="115000"/>
              </a:lnSpc>
            </a:pPr>
            <a:r>
              <a:rPr sz="1650" spc="330">
                <a:solidFill>
                  <a:srgbClr val="9FE8DC"/>
                </a:solidFill>
                <a:latin typeface="Todes 1"/>
              </a:rPr>
              <a:t>A PERSON</a:t>
            </a:r>
          </a:p>
        </p:txBody>
      </p:sp>
      <p:sp>
        <p:nvSpPr>
          <p:cNvPr id="9" name="TextBox 8"/>
          <p:cNvSpPr txBox="1"/>
          <p:nvPr/>
        </p:nvSpPr>
        <p:spPr>
          <a:xfrm>
            <a:off x="1001268" y="5143500"/>
            <a:ext cx="4526279" cy="932688"/>
          </a:xfrm>
          <a:prstGeom prst="rect">
            <a:avLst/>
          </a:prstGeom>
          <a:noFill/>
        </p:spPr>
        <p:txBody>
          <a:bodyPr wrap="square" lIns="0" rIns="0" tIns="0" bIns="0">
            <a:spAutoFit/>
          </a:bodyPr>
          <a:lstStyle/>
          <a:p>
            <a:pPr algn="l">
              <a:lnSpc>
                <a:spcPct val="150000"/>
              </a:lnSpc>
            </a:pPr>
            <a:r>
              <a:rPr sz="1650">
                <a:solidFill>
                  <a:srgbClr val="F2ECDD"/>
                </a:solidFill>
                <a:latin typeface="TT Commons Pro"/>
              </a:rPr>
              <a:t>Controls where their information lives —</a:t>
            </a:r>
          </a:p>
          <a:p>
            <a:pPr algn="l">
              <a:lnSpc>
                <a:spcPct val="150000"/>
              </a:lnSpc>
            </a:pPr>
            <a:r>
              <a:rPr sz="1650">
                <a:solidFill>
                  <a:srgbClr val="F2ECDD"/>
                </a:solidFill>
                <a:latin typeface="TT Commons Pro"/>
              </a:rPr>
              <a:t>and what, if anything, moves outward.</a:t>
            </a:r>
          </a:p>
        </p:txBody>
      </p:sp>
      <p:cxnSp>
        <p:nvCxnSpPr>
          <p:cNvPr id="10" name="Connector 9"/>
          <p:cNvCxnSpPr/>
          <p:nvPr/>
        </p:nvCxnSpPr>
        <p:spPr>
          <a:xfrm>
            <a:off x="3223260" y="6652259"/>
            <a:ext cx="5911596" cy="960120"/>
          </a:xfrm>
          <a:prstGeom prst="line">
            <a:avLst/>
          </a:prstGeom>
          <a:ln w="11430">
            <a:solidFill>
              <a:srgbClr val="1E5A58"/>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460236" y="3977639"/>
            <a:ext cx="5349240" cy="2606039"/>
          </a:xfrm>
          <a:prstGeom prst="roundRect">
            <a:avLst>
              <a:gd name="adj" fmla="val 6000"/>
            </a:avLst>
          </a:prstGeom>
          <a:solidFill>
            <a:srgbClr val="0D3E40"/>
          </a:solidFill>
          <a:ln w="1905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group.png"/>
          <p:cNvPicPr>
            <a:picLocks noChangeAspect="1"/>
          </p:cNvPicPr>
          <p:nvPr/>
        </p:nvPicPr>
        <p:blipFill>
          <a:blip r:embed="rId5"/>
          <a:stretch>
            <a:fillRect/>
          </a:stretch>
        </p:blipFill>
        <p:spPr>
          <a:xfrm>
            <a:off x="6844284" y="4320540"/>
            <a:ext cx="466344" cy="466344"/>
          </a:xfrm>
          <a:prstGeom prst="rect">
            <a:avLst/>
          </a:prstGeom>
        </p:spPr>
      </p:pic>
      <p:sp>
        <p:nvSpPr>
          <p:cNvPr id="13" name="TextBox 12"/>
          <p:cNvSpPr txBox="1"/>
          <p:nvPr/>
        </p:nvSpPr>
        <p:spPr>
          <a:xfrm>
            <a:off x="7694676" y="4375404"/>
            <a:ext cx="3977639" cy="411479"/>
          </a:xfrm>
          <a:prstGeom prst="rect">
            <a:avLst/>
          </a:prstGeom>
          <a:noFill/>
        </p:spPr>
        <p:txBody>
          <a:bodyPr wrap="none" lIns="0" rIns="0" tIns="0" bIns="0">
            <a:spAutoFit/>
          </a:bodyPr>
          <a:lstStyle/>
          <a:p>
            <a:pPr algn="l">
              <a:lnSpc>
                <a:spcPct val="115000"/>
              </a:lnSpc>
            </a:pPr>
            <a:r>
              <a:rPr sz="1650" spc="330">
                <a:solidFill>
                  <a:srgbClr val="9FE8DC"/>
                </a:solidFill>
                <a:latin typeface="Todes 1"/>
              </a:rPr>
              <a:t>A GROUP</a:t>
            </a:r>
          </a:p>
        </p:txBody>
      </p:sp>
      <p:sp>
        <p:nvSpPr>
          <p:cNvPr id="14" name="TextBox 13"/>
          <p:cNvSpPr txBox="1"/>
          <p:nvPr/>
        </p:nvSpPr>
        <p:spPr>
          <a:xfrm>
            <a:off x="6912864" y="5143500"/>
            <a:ext cx="4526279" cy="932688"/>
          </a:xfrm>
          <a:prstGeom prst="rect">
            <a:avLst/>
          </a:prstGeom>
          <a:noFill/>
        </p:spPr>
        <p:txBody>
          <a:bodyPr wrap="square" lIns="0" rIns="0" tIns="0" bIns="0">
            <a:spAutoFit/>
          </a:bodyPr>
          <a:lstStyle/>
          <a:p>
            <a:pPr algn="l">
              <a:lnSpc>
                <a:spcPct val="150000"/>
              </a:lnSpc>
            </a:pPr>
            <a:r>
              <a:rPr sz="1650">
                <a:solidFill>
                  <a:srgbClr val="F2ECDD"/>
                </a:solidFill>
                <a:latin typeface="TT Commons Pro"/>
              </a:rPr>
              <a:t>Can operate its own instance, with its</a:t>
            </a:r>
          </a:p>
          <a:p>
            <a:pPr algn="l">
              <a:lnSpc>
                <a:spcPct val="150000"/>
              </a:lnSpc>
            </a:pPr>
            <a:r>
              <a:rPr sz="1650">
                <a:solidFill>
                  <a:srgbClr val="F2ECDD"/>
                </a:solidFill>
                <a:latin typeface="TT Commons Pro"/>
              </a:rPr>
              <a:t>own rules, memory, and data.</a:t>
            </a:r>
          </a:p>
        </p:txBody>
      </p:sp>
      <p:cxnSp>
        <p:nvCxnSpPr>
          <p:cNvPr id="15" name="Connector 14"/>
          <p:cNvCxnSpPr/>
          <p:nvPr/>
        </p:nvCxnSpPr>
        <p:spPr>
          <a:xfrm>
            <a:off x="9134856" y="6652259"/>
            <a:ext cx="0" cy="960120"/>
          </a:xfrm>
          <a:prstGeom prst="line">
            <a:avLst/>
          </a:prstGeom>
          <a:ln w="11430">
            <a:solidFill>
              <a:srgbClr val="1E5A58"/>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12371832" y="3977639"/>
            <a:ext cx="5349240" cy="2606039"/>
          </a:xfrm>
          <a:prstGeom prst="roundRect">
            <a:avLst>
              <a:gd name="adj" fmla="val 6000"/>
            </a:avLst>
          </a:prstGeom>
          <a:solidFill>
            <a:srgbClr val="0D3E40"/>
          </a:solidFill>
          <a:ln w="1905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org.png"/>
          <p:cNvPicPr>
            <a:picLocks noChangeAspect="1"/>
          </p:cNvPicPr>
          <p:nvPr/>
        </p:nvPicPr>
        <p:blipFill>
          <a:blip r:embed="rId6"/>
          <a:stretch>
            <a:fillRect/>
          </a:stretch>
        </p:blipFill>
        <p:spPr>
          <a:xfrm>
            <a:off x="12755880" y="4320540"/>
            <a:ext cx="466344" cy="466344"/>
          </a:xfrm>
          <a:prstGeom prst="rect">
            <a:avLst/>
          </a:prstGeom>
        </p:spPr>
      </p:pic>
      <p:sp>
        <p:nvSpPr>
          <p:cNvPr id="18" name="TextBox 17"/>
          <p:cNvSpPr txBox="1"/>
          <p:nvPr/>
        </p:nvSpPr>
        <p:spPr>
          <a:xfrm>
            <a:off x="13606272" y="4375404"/>
            <a:ext cx="3977639" cy="411479"/>
          </a:xfrm>
          <a:prstGeom prst="rect">
            <a:avLst/>
          </a:prstGeom>
          <a:noFill/>
        </p:spPr>
        <p:txBody>
          <a:bodyPr wrap="none" lIns="0" rIns="0" tIns="0" bIns="0">
            <a:spAutoFit/>
          </a:bodyPr>
          <a:lstStyle/>
          <a:p>
            <a:pPr algn="l">
              <a:lnSpc>
                <a:spcPct val="115000"/>
              </a:lnSpc>
            </a:pPr>
            <a:r>
              <a:rPr sz="1650" spc="330">
                <a:solidFill>
                  <a:srgbClr val="9FE8DC"/>
                </a:solidFill>
                <a:latin typeface="Todes 1"/>
              </a:rPr>
              <a:t>A COMMUNITY</a:t>
            </a:r>
          </a:p>
        </p:txBody>
      </p:sp>
      <p:sp>
        <p:nvSpPr>
          <p:cNvPr id="19" name="TextBox 18"/>
          <p:cNvSpPr txBox="1"/>
          <p:nvPr/>
        </p:nvSpPr>
        <p:spPr>
          <a:xfrm>
            <a:off x="12824460" y="5143500"/>
            <a:ext cx="4526279" cy="932688"/>
          </a:xfrm>
          <a:prstGeom prst="rect">
            <a:avLst/>
          </a:prstGeom>
          <a:noFill/>
        </p:spPr>
        <p:txBody>
          <a:bodyPr wrap="square" lIns="0" rIns="0" tIns="0" bIns="0">
            <a:spAutoFit/>
          </a:bodyPr>
          <a:lstStyle/>
          <a:p>
            <a:pPr algn="l">
              <a:lnSpc>
                <a:spcPct val="150000"/>
              </a:lnSpc>
            </a:pPr>
            <a:r>
              <a:rPr sz="1650">
                <a:solidFill>
                  <a:srgbClr val="F2ECDD"/>
                </a:solidFill>
                <a:latin typeface="TT Commons Pro"/>
              </a:rPr>
              <a:t>Can share local infrastructure — still</a:t>
            </a:r>
          </a:p>
          <a:p>
            <a:pPr algn="l">
              <a:lnSpc>
                <a:spcPct val="150000"/>
              </a:lnSpc>
            </a:pPr>
            <a:r>
              <a:rPr sz="1650">
                <a:solidFill>
                  <a:srgbClr val="F2ECDD"/>
                </a:solidFill>
                <a:latin typeface="TT Commons Pro"/>
              </a:rPr>
              <a:t>connected to the wider network.</a:t>
            </a:r>
          </a:p>
        </p:txBody>
      </p:sp>
      <p:cxnSp>
        <p:nvCxnSpPr>
          <p:cNvPr id="20" name="Connector 19"/>
          <p:cNvCxnSpPr/>
          <p:nvPr/>
        </p:nvCxnSpPr>
        <p:spPr>
          <a:xfrm flipH="1">
            <a:off x="9134856" y="6652259"/>
            <a:ext cx="5911596" cy="960120"/>
          </a:xfrm>
          <a:prstGeom prst="line">
            <a:avLst/>
          </a:prstGeom>
          <a:ln w="11430">
            <a:solidFill>
              <a:srgbClr val="1E5A58"/>
            </a:solidFill>
            <a:prstDash val="dash"/>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663440" y="7612379"/>
            <a:ext cx="8915400" cy="1097280"/>
          </a:xfrm>
          <a:prstGeom prst="roundRect">
            <a:avLst>
              <a:gd name="adj" fmla="val 6000"/>
            </a:avLst>
          </a:prstGeom>
          <a:solidFill>
            <a:srgbClr val="084B4D"/>
          </a:solidFill>
          <a:ln w="20955">
            <a:solidFill>
              <a:srgbClr val="F0CC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74920" y="7927848"/>
            <a:ext cx="8092440" cy="548640"/>
          </a:xfrm>
          <a:prstGeom prst="rect">
            <a:avLst/>
          </a:prstGeom>
          <a:noFill/>
        </p:spPr>
        <p:txBody>
          <a:bodyPr wrap="square" lIns="0" rIns="0" tIns="0" bIns="0">
            <a:spAutoFit/>
          </a:bodyPr>
          <a:lstStyle/>
          <a:p>
            <a:pPr algn="ctr">
              <a:lnSpc>
                <a:spcPct val="115000"/>
              </a:lnSpc>
            </a:pPr>
            <a:r>
              <a:rPr sz="1875">
                <a:solidFill>
                  <a:srgbClr val="EBCF9E"/>
                </a:solidFill>
                <a:latin typeface="TT Commons Pro Bold"/>
              </a:rPr>
              <a:t>only what people choose or permit moves outward</a:t>
            </a:r>
          </a:p>
        </p:txBody>
      </p:sp>
      <p:sp>
        <p:nvSpPr>
          <p:cNvPr id="23" name="TextBox 22"/>
          <p:cNvSpPr txBox="1"/>
          <p:nvPr/>
        </p:nvSpPr>
        <p:spPr>
          <a:xfrm>
            <a:off x="822959" y="9052559"/>
            <a:ext cx="16596359" cy="1097280"/>
          </a:xfrm>
          <a:prstGeom prst="rect">
            <a:avLst/>
          </a:prstGeom>
          <a:noFill/>
        </p:spPr>
        <p:txBody>
          <a:bodyPr wrap="square" lIns="0" rIns="0" tIns="0" bIns="0">
            <a:spAutoFit/>
          </a:bodyPr>
          <a:lstStyle/>
          <a:p>
            <a:pPr algn="ctr">
              <a:lnSpc>
                <a:spcPct val="140000"/>
              </a:lnSpc>
            </a:pPr>
            <a:r>
              <a:rPr sz="2100" spc="20">
                <a:solidFill>
                  <a:srgbClr val="9FE8DC"/>
                </a:solidFill>
                <a:latin typeface="Alike Italics"/>
              </a:rPr>
              <a:t>Participating in the network does not mean surrendering ownership of your data to the network.</a:t>
            </a:r>
          </a:p>
        </p:txBody>
      </p:sp>
      <p:pic>
        <p:nvPicPr>
          <p:cNvPr id="24" name="Picture 23" descr="rivr-symbol-light.png"/>
          <p:cNvPicPr>
            <a:picLocks noChangeAspect="1"/>
          </p:cNvPicPr>
          <p:nvPr/>
        </p:nvPicPr>
        <p:blipFill>
          <a:blip r:embed="rId7"/>
          <a:stretch>
            <a:fillRect/>
          </a:stretch>
        </p:blipFill>
        <p:spPr>
          <a:xfrm>
            <a:off x="576072" y="9518904"/>
            <a:ext cx="521208" cy="521208"/>
          </a:xfrm>
          <a:prstGeom prst="rect">
            <a:avLst/>
          </a:prstGeom>
        </p:spPr>
      </p:pic>
      <p:sp>
        <p:nvSpPr>
          <p:cNvPr id="25" name="TextBox 24"/>
          <p:cNvSpPr txBox="1"/>
          <p:nvPr/>
        </p:nvSpPr>
        <p:spPr>
          <a:xfrm>
            <a:off x="1371600" y="9724644"/>
            <a:ext cx="5486400" cy="301752"/>
          </a:xfrm>
          <a:prstGeom prst="rect">
            <a:avLst/>
          </a:prstGeom>
          <a:noFill/>
        </p:spPr>
        <p:txBody>
          <a:bodyPr wrap="none" lIns="0" rIns="0" tIns="0" bIns="0">
            <a:spAutoFit/>
          </a:bodyPr>
          <a:lstStyle/>
          <a:p>
            <a:pPr algn="l">
              <a:lnSpc>
                <a:spcPct val="115000"/>
              </a:lnSpc>
            </a:pPr>
            <a:r>
              <a:rPr sz="1350" spc="150">
                <a:solidFill>
                  <a:srgbClr val="AFC4C2"/>
                </a:solidFill>
                <a:latin typeface="TT Commons Pro"/>
              </a:rPr>
              <a:t>Rivr · Seed Round 2026</a:t>
            </a:r>
          </a:p>
        </p:txBody>
      </p:sp>
      <p:sp>
        <p:nvSpPr>
          <p:cNvPr id="26" name="TextBox 25"/>
          <p:cNvSpPr txBox="1"/>
          <p:nvPr/>
        </p:nvSpPr>
        <p:spPr>
          <a:xfrm>
            <a:off x="16870680" y="9724644"/>
            <a:ext cx="960119" cy="301752"/>
          </a:xfrm>
          <a:prstGeom prst="rect">
            <a:avLst/>
          </a:prstGeom>
          <a:noFill/>
        </p:spPr>
        <p:txBody>
          <a:bodyPr wrap="none" lIns="0" rIns="0" tIns="0" bIns="0">
            <a:spAutoFit/>
          </a:bodyPr>
          <a:lstStyle/>
          <a:p>
            <a:pPr algn="r">
              <a:lnSpc>
                <a:spcPct val="115000"/>
              </a:lnSpc>
            </a:pPr>
            <a:r>
              <a:rPr sz="1350" spc="150">
                <a:solidFill>
                  <a:srgbClr val="AFC4C2"/>
                </a:solidFill>
                <a:latin typeface="TT Commons Pro"/>
              </a:rPr>
              <a:t>31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03333"/>
        </a:solidFill>
        <a:effectLst/>
      </p:bgPr>
    </p:bg>
    <p:spTree>
      <p:nvGrpSpPr>
        <p:cNvPr id="1" name=""/>
        <p:cNvGrpSpPr/>
        <p:nvPr/>
      </p:nvGrpSpPr>
      <p:grpSpPr/>
      <p:pic>
        <p:nvPicPr>
          <p:cNvPr id="2" name="Picture 1" descr="bg_c28.jpg"/>
          <p:cNvPicPr>
            <a:picLocks noChangeAspect="1"/>
          </p:cNvPicPr>
          <p:nvPr/>
        </p:nvPicPr>
        <p:blipFill>
          <a:blip r:embed="rId2"/>
          <a:stretch>
            <a:fillRect/>
          </a:stretch>
        </p:blipFill>
        <p:spPr>
          <a:xfrm>
            <a:off x="0" y="0"/>
            <a:ext cx="18287542" cy="10287000"/>
          </a:xfrm>
          <a:prstGeom prst="rect">
            <a:avLst/>
          </a:prstGeom>
        </p:spPr>
      </p:pic>
      <p:sp>
        <p:nvSpPr>
          <p:cNvPr id="3" name="TextBox 2"/>
          <p:cNvSpPr txBox="1"/>
          <p:nvPr/>
        </p:nvSpPr>
        <p:spPr>
          <a:xfrm>
            <a:off x="822959" y="822959"/>
            <a:ext cx="16733519" cy="384048"/>
          </a:xfrm>
          <a:prstGeom prst="rect">
            <a:avLst/>
          </a:prstGeom>
          <a:noFill/>
        </p:spPr>
        <p:txBody>
          <a:bodyPr wrap="none" lIns="0" rIns="0" tIns="0" bIns="0">
            <a:spAutoFit/>
          </a:bodyPr>
          <a:lstStyle/>
          <a:p>
            <a:pPr algn="l">
              <a:lnSpc>
                <a:spcPct val="115000"/>
              </a:lnSpc>
            </a:pPr>
            <a:r>
              <a:rPr sz="1650" spc="330">
                <a:solidFill>
                  <a:srgbClr val="9FE8DC"/>
                </a:solidFill>
                <a:latin typeface="Todes 1"/>
              </a:rPr>
              <a:t>CONTEXTUAL PRIVACY</a:t>
            </a:r>
          </a:p>
        </p:txBody>
      </p:sp>
      <p:sp>
        <p:nvSpPr>
          <p:cNvPr id="4" name="TextBox 3"/>
          <p:cNvSpPr txBox="1"/>
          <p:nvPr/>
        </p:nvSpPr>
        <p:spPr>
          <a:xfrm>
            <a:off x="822959" y="1699869"/>
            <a:ext cx="13598763" cy="1010431"/>
          </a:xfrm>
          <a:prstGeom prst="rect">
            <a:avLst/>
          </a:prstGeom>
          <a:noFill/>
        </p:spPr>
        <p:txBody>
          <a:bodyPr wrap="none" lIns="0" rIns="0" tIns="0" bIns="0">
            <a:spAutoFit/>
          </a:bodyPr>
          <a:lstStyle/>
          <a:p>
            <a:pPr algn="l">
              <a:lnSpc>
                <a:spcPct val="115000"/>
              </a:lnSpc>
            </a:pPr>
            <a:r>
              <a:rPr sz="5487" spc="-74">
                <a:solidFill>
                  <a:srgbClr val="F4EAD8"/>
                </a:solidFill>
                <a:latin typeface="Todes 1"/>
              </a:rPr>
              <a:t>Connection shouldn't require </a:t>
            </a:r>
          </a:p>
        </p:txBody>
      </p:sp>
      <p:sp>
        <p:nvSpPr>
          <p:cNvPr id="5" name="TextBox 4"/>
          <p:cNvSpPr txBox="1"/>
          <p:nvPr/>
        </p:nvSpPr>
        <p:spPr>
          <a:xfrm>
            <a:off x="11537378" y="1645919"/>
            <a:ext cx="5789771" cy="1108214"/>
          </a:xfrm>
          <a:prstGeom prst="rect">
            <a:avLst/>
          </a:prstGeom>
          <a:noFill/>
        </p:spPr>
        <p:txBody>
          <a:bodyPr wrap="none" lIns="0" rIns="0" tIns="0" bIns="0">
            <a:spAutoFit/>
          </a:bodyPr>
          <a:lstStyle/>
          <a:p>
            <a:pPr algn="l">
              <a:lnSpc>
                <a:spcPct val="115000"/>
              </a:lnSpc>
            </a:pPr>
            <a:r>
              <a:rPr sz="6017" spc="-75">
                <a:solidFill>
                  <a:srgbClr val="99E6D9"/>
                </a:solidFill>
                <a:latin typeface="Ibarra Real Nova Italics"/>
              </a:rPr>
              <a:t>total exposure.</a:t>
            </a:r>
          </a:p>
        </p:txBody>
      </p:sp>
      <p:sp>
        <p:nvSpPr>
          <p:cNvPr id="6" name="TextBox 5"/>
          <p:cNvSpPr txBox="1"/>
          <p:nvPr/>
        </p:nvSpPr>
        <p:spPr>
          <a:xfrm>
            <a:off x="5760720" y="3909060"/>
            <a:ext cx="3086100" cy="411479"/>
          </a:xfrm>
          <a:prstGeom prst="rect">
            <a:avLst/>
          </a:prstGeom>
          <a:noFill/>
        </p:spPr>
        <p:txBody>
          <a:bodyPr wrap="none" lIns="0" rIns="0" tIns="0" bIns="0">
            <a:spAutoFit/>
          </a:bodyPr>
          <a:lstStyle/>
          <a:p>
            <a:pPr algn="ctr">
              <a:lnSpc>
                <a:spcPct val="115000"/>
              </a:lnSpc>
            </a:pPr>
            <a:r>
              <a:rPr sz="1500">
                <a:solidFill>
                  <a:srgbClr val="9FE8DC"/>
                </a:solidFill>
                <a:latin typeface="TT Commons Pro"/>
              </a:rPr>
              <a:t>name</a:t>
            </a:r>
          </a:p>
        </p:txBody>
      </p:sp>
      <p:sp>
        <p:nvSpPr>
          <p:cNvPr id="7" name="TextBox 6"/>
          <p:cNvSpPr txBox="1"/>
          <p:nvPr/>
        </p:nvSpPr>
        <p:spPr>
          <a:xfrm>
            <a:off x="8298179" y="3909060"/>
            <a:ext cx="3086100" cy="411479"/>
          </a:xfrm>
          <a:prstGeom prst="rect">
            <a:avLst/>
          </a:prstGeom>
          <a:noFill/>
        </p:spPr>
        <p:txBody>
          <a:bodyPr wrap="none" lIns="0" rIns="0" tIns="0" bIns="0">
            <a:spAutoFit/>
          </a:bodyPr>
          <a:lstStyle/>
          <a:p>
            <a:pPr algn="ctr">
              <a:lnSpc>
                <a:spcPct val="115000"/>
              </a:lnSpc>
            </a:pPr>
            <a:r>
              <a:rPr sz="1500">
                <a:solidFill>
                  <a:srgbClr val="9FE8DC"/>
                </a:solidFill>
                <a:latin typeface="TT Commons Pro"/>
              </a:rPr>
              <a:t>skills</a:t>
            </a:r>
          </a:p>
        </p:txBody>
      </p:sp>
      <p:sp>
        <p:nvSpPr>
          <p:cNvPr id="8" name="TextBox 7"/>
          <p:cNvSpPr txBox="1"/>
          <p:nvPr/>
        </p:nvSpPr>
        <p:spPr>
          <a:xfrm>
            <a:off x="10835640" y="3909060"/>
            <a:ext cx="3086100" cy="411479"/>
          </a:xfrm>
          <a:prstGeom prst="rect">
            <a:avLst/>
          </a:prstGeom>
          <a:noFill/>
        </p:spPr>
        <p:txBody>
          <a:bodyPr wrap="none" lIns="0" rIns="0" tIns="0" bIns="0">
            <a:spAutoFit/>
          </a:bodyPr>
          <a:lstStyle/>
          <a:p>
            <a:pPr algn="ctr">
              <a:lnSpc>
                <a:spcPct val="115000"/>
              </a:lnSpc>
            </a:pPr>
            <a:r>
              <a:rPr sz="1500">
                <a:solidFill>
                  <a:srgbClr val="9FE8DC"/>
                </a:solidFill>
                <a:latin typeface="TT Commons Pro"/>
              </a:rPr>
              <a:t>location</a:t>
            </a:r>
          </a:p>
        </p:txBody>
      </p:sp>
      <p:sp>
        <p:nvSpPr>
          <p:cNvPr id="9" name="TextBox 8"/>
          <p:cNvSpPr txBox="1"/>
          <p:nvPr/>
        </p:nvSpPr>
        <p:spPr>
          <a:xfrm>
            <a:off x="13373100" y="3909060"/>
            <a:ext cx="3086100" cy="411479"/>
          </a:xfrm>
          <a:prstGeom prst="rect">
            <a:avLst/>
          </a:prstGeom>
          <a:noFill/>
        </p:spPr>
        <p:txBody>
          <a:bodyPr wrap="none" lIns="0" rIns="0" tIns="0" bIns="0">
            <a:spAutoFit/>
          </a:bodyPr>
          <a:lstStyle/>
          <a:p>
            <a:pPr algn="ctr">
              <a:lnSpc>
                <a:spcPct val="115000"/>
              </a:lnSpc>
            </a:pPr>
            <a:r>
              <a:rPr sz="1500">
                <a:solidFill>
                  <a:srgbClr val="9FE8DC"/>
                </a:solidFill>
                <a:latin typeface="TT Commons Pro"/>
              </a:rPr>
              <a:t>contact</a:t>
            </a:r>
          </a:p>
        </p:txBody>
      </p:sp>
      <p:sp>
        <p:nvSpPr>
          <p:cNvPr id="10" name="TextBox 9"/>
          <p:cNvSpPr txBox="1"/>
          <p:nvPr/>
        </p:nvSpPr>
        <p:spPr>
          <a:xfrm>
            <a:off x="15910559" y="3909060"/>
            <a:ext cx="3086100" cy="411479"/>
          </a:xfrm>
          <a:prstGeom prst="rect">
            <a:avLst/>
          </a:prstGeom>
          <a:noFill/>
        </p:spPr>
        <p:txBody>
          <a:bodyPr wrap="none" lIns="0" rIns="0" tIns="0" bIns="0">
            <a:spAutoFit/>
          </a:bodyPr>
          <a:lstStyle/>
          <a:p>
            <a:pPr algn="ctr">
              <a:lnSpc>
                <a:spcPct val="115000"/>
              </a:lnSpc>
            </a:pPr>
            <a:r>
              <a:rPr sz="1500">
                <a:solidFill>
                  <a:srgbClr val="9FE8DC"/>
                </a:solidFill>
                <a:latin typeface="TT Commons Pro"/>
              </a:rPr>
              <a:t>history</a:t>
            </a:r>
          </a:p>
        </p:txBody>
      </p:sp>
      <p:sp>
        <p:nvSpPr>
          <p:cNvPr id="11" name="TextBox 10"/>
          <p:cNvSpPr txBox="1"/>
          <p:nvPr/>
        </p:nvSpPr>
        <p:spPr>
          <a:xfrm>
            <a:off x="960119" y="4677156"/>
            <a:ext cx="4663440" cy="411479"/>
          </a:xfrm>
          <a:prstGeom prst="rect">
            <a:avLst/>
          </a:prstGeom>
          <a:noFill/>
        </p:spPr>
        <p:txBody>
          <a:bodyPr wrap="none" lIns="0" rIns="0" tIns="0" bIns="0">
            <a:spAutoFit/>
          </a:bodyPr>
          <a:lstStyle/>
          <a:p>
            <a:pPr algn="l">
              <a:lnSpc>
                <a:spcPct val="115000"/>
              </a:lnSpc>
            </a:pPr>
            <a:r>
              <a:rPr sz="1725">
                <a:solidFill>
                  <a:srgbClr val="F2ECDD"/>
                </a:solidFill>
                <a:latin typeface="TT Commons Pro"/>
              </a:rPr>
              <a:t>a neighbor</a:t>
            </a:r>
          </a:p>
        </p:txBody>
      </p:sp>
      <p:sp>
        <p:nvSpPr>
          <p:cNvPr id="12" name="Oval 11"/>
          <p:cNvSpPr/>
          <p:nvPr/>
        </p:nvSpPr>
        <p:spPr>
          <a:xfrm>
            <a:off x="6837426" y="4663440"/>
            <a:ext cx="384048" cy="384048"/>
          </a:xfrm>
          <a:prstGeom prst="ellipse">
            <a:avLst/>
          </a:prstGeom>
          <a:solidFill>
            <a:srgbClr val="99E6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374886" y="4663440"/>
            <a:ext cx="384048" cy="384048"/>
          </a:xfrm>
          <a:prstGeom prst="ellipse">
            <a:avLst/>
          </a:prstGeom>
          <a:solidFill>
            <a:srgbClr val="99E6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912345" y="4663440"/>
            <a:ext cx="384048" cy="384048"/>
          </a:xfrm>
          <a:prstGeom prst="ellipse">
            <a:avLst/>
          </a:prstGeom>
          <a:noFill/>
          <a:ln w="12700">
            <a:solidFill>
              <a:srgbClr val="2A5C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4449806" y="4663440"/>
            <a:ext cx="384048" cy="384048"/>
          </a:xfrm>
          <a:prstGeom prst="ellipse">
            <a:avLst/>
          </a:prstGeom>
          <a:noFill/>
          <a:ln w="12700">
            <a:solidFill>
              <a:srgbClr val="2A5C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6987266" y="4663440"/>
            <a:ext cx="384048" cy="384048"/>
          </a:xfrm>
          <a:prstGeom prst="ellipse">
            <a:avLst/>
          </a:prstGeom>
          <a:noFill/>
          <a:ln w="12700">
            <a:solidFill>
              <a:srgbClr val="2A5C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19" y="5445252"/>
            <a:ext cx="4663440" cy="411479"/>
          </a:xfrm>
          <a:prstGeom prst="rect">
            <a:avLst/>
          </a:prstGeom>
          <a:noFill/>
        </p:spPr>
        <p:txBody>
          <a:bodyPr wrap="none" lIns="0" rIns="0" tIns="0" bIns="0">
            <a:spAutoFit/>
          </a:bodyPr>
          <a:lstStyle/>
          <a:p>
            <a:pPr algn="l">
              <a:lnSpc>
                <a:spcPct val="115000"/>
              </a:lnSpc>
            </a:pPr>
            <a:r>
              <a:rPr sz="1725">
                <a:solidFill>
                  <a:srgbClr val="F2ECDD"/>
                </a:solidFill>
                <a:latin typeface="TT Commons Pro"/>
              </a:rPr>
              <a:t>my group</a:t>
            </a:r>
          </a:p>
        </p:txBody>
      </p:sp>
      <p:sp>
        <p:nvSpPr>
          <p:cNvPr id="18" name="Oval 17"/>
          <p:cNvSpPr/>
          <p:nvPr/>
        </p:nvSpPr>
        <p:spPr>
          <a:xfrm>
            <a:off x="6837426" y="5431536"/>
            <a:ext cx="384048" cy="384048"/>
          </a:xfrm>
          <a:prstGeom prst="ellipse">
            <a:avLst/>
          </a:prstGeom>
          <a:solidFill>
            <a:srgbClr val="99E6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374886" y="5431536"/>
            <a:ext cx="384048" cy="384048"/>
          </a:xfrm>
          <a:prstGeom prst="ellipse">
            <a:avLst/>
          </a:prstGeom>
          <a:solidFill>
            <a:srgbClr val="99E6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912345" y="5431536"/>
            <a:ext cx="384048" cy="384048"/>
          </a:xfrm>
          <a:prstGeom prst="ellipse">
            <a:avLst/>
          </a:prstGeom>
          <a:solidFill>
            <a:srgbClr val="99E6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4449806" y="5431536"/>
            <a:ext cx="384048" cy="384048"/>
          </a:xfrm>
          <a:prstGeom prst="ellipse">
            <a:avLst/>
          </a:prstGeom>
          <a:solidFill>
            <a:srgbClr val="99E6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6987266" y="5431536"/>
            <a:ext cx="384048" cy="384048"/>
          </a:xfrm>
          <a:prstGeom prst="ellipse">
            <a:avLst/>
          </a:prstGeom>
          <a:solidFill>
            <a:srgbClr val="99E6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0119" y="6213348"/>
            <a:ext cx="4663440" cy="411479"/>
          </a:xfrm>
          <a:prstGeom prst="rect">
            <a:avLst/>
          </a:prstGeom>
          <a:noFill/>
        </p:spPr>
        <p:txBody>
          <a:bodyPr wrap="none" lIns="0" rIns="0" tIns="0" bIns="0">
            <a:spAutoFit/>
          </a:bodyPr>
          <a:lstStyle/>
          <a:p>
            <a:pPr algn="l">
              <a:lnSpc>
                <a:spcPct val="115000"/>
              </a:lnSpc>
            </a:pPr>
            <a:r>
              <a:rPr sz="1725">
                <a:solidFill>
                  <a:srgbClr val="F2ECDD"/>
                </a:solidFill>
                <a:latin typeface="TT Commons Pro"/>
              </a:rPr>
              <a:t>an employer</a:t>
            </a:r>
          </a:p>
        </p:txBody>
      </p:sp>
      <p:sp>
        <p:nvSpPr>
          <p:cNvPr id="24" name="Oval 23"/>
          <p:cNvSpPr/>
          <p:nvPr/>
        </p:nvSpPr>
        <p:spPr>
          <a:xfrm>
            <a:off x="6837426" y="6199632"/>
            <a:ext cx="384048" cy="384048"/>
          </a:xfrm>
          <a:prstGeom prst="ellipse">
            <a:avLst/>
          </a:prstGeom>
          <a:solidFill>
            <a:srgbClr val="99E6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374886" y="6199632"/>
            <a:ext cx="384048" cy="384048"/>
          </a:xfrm>
          <a:prstGeom prst="ellipse">
            <a:avLst/>
          </a:prstGeom>
          <a:solidFill>
            <a:srgbClr val="99E6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1912345" y="6199632"/>
            <a:ext cx="384048" cy="384048"/>
          </a:xfrm>
          <a:prstGeom prst="ellipse">
            <a:avLst/>
          </a:prstGeom>
          <a:noFill/>
          <a:ln w="12700">
            <a:solidFill>
              <a:srgbClr val="2A5C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4449806" y="6199632"/>
            <a:ext cx="384048" cy="384048"/>
          </a:xfrm>
          <a:prstGeom prst="ellipse">
            <a:avLst/>
          </a:prstGeom>
          <a:solidFill>
            <a:srgbClr val="99E6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6987266" y="6199632"/>
            <a:ext cx="384048" cy="384048"/>
          </a:xfrm>
          <a:prstGeom prst="ellipse">
            <a:avLst/>
          </a:prstGeom>
          <a:solidFill>
            <a:srgbClr val="99E6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19" y="6981444"/>
            <a:ext cx="4663440" cy="411479"/>
          </a:xfrm>
          <a:prstGeom prst="rect">
            <a:avLst/>
          </a:prstGeom>
          <a:noFill/>
        </p:spPr>
        <p:txBody>
          <a:bodyPr wrap="none" lIns="0" rIns="0" tIns="0" bIns="0">
            <a:spAutoFit/>
          </a:bodyPr>
          <a:lstStyle/>
          <a:p>
            <a:pPr algn="l">
              <a:lnSpc>
                <a:spcPct val="115000"/>
              </a:lnSpc>
            </a:pPr>
            <a:r>
              <a:rPr sz="1725">
                <a:solidFill>
                  <a:srgbClr val="F2ECDD"/>
                </a:solidFill>
                <a:latin typeface="TT Commons Pro"/>
              </a:rPr>
              <a:t>the wider network</a:t>
            </a:r>
          </a:p>
        </p:txBody>
      </p:sp>
      <p:sp>
        <p:nvSpPr>
          <p:cNvPr id="30" name="Oval 29"/>
          <p:cNvSpPr/>
          <p:nvPr/>
        </p:nvSpPr>
        <p:spPr>
          <a:xfrm>
            <a:off x="6837426" y="6967728"/>
            <a:ext cx="384048" cy="384048"/>
          </a:xfrm>
          <a:prstGeom prst="ellipse">
            <a:avLst/>
          </a:prstGeom>
          <a:solidFill>
            <a:srgbClr val="99E6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9374886" y="6967728"/>
            <a:ext cx="384048" cy="384048"/>
          </a:xfrm>
          <a:prstGeom prst="ellipse">
            <a:avLst/>
          </a:prstGeom>
          <a:noFill/>
          <a:ln w="12700">
            <a:solidFill>
              <a:srgbClr val="2A5C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1912345" y="6967728"/>
            <a:ext cx="384048" cy="384048"/>
          </a:xfrm>
          <a:prstGeom prst="ellipse">
            <a:avLst/>
          </a:prstGeom>
          <a:noFill/>
          <a:ln w="12700">
            <a:solidFill>
              <a:srgbClr val="2A5C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4449806" y="6967728"/>
            <a:ext cx="384048" cy="384048"/>
          </a:xfrm>
          <a:prstGeom prst="ellipse">
            <a:avLst/>
          </a:prstGeom>
          <a:noFill/>
          <a:ln w="12700">
            <a:solidFill>
              <a:srgbClr val="2A5C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6987266" y="6967728"/>
            <a:ext cx="384048" cy="384048"/>
          </a:xfrm>
          <a:prstGeom prst="ellipse">
            <a:avLst/>
          </a:prstGeom>
          <a:noFill/>
          <a:ln w="12700">
            <a:solidFill>
              <a:srgbClr val="2A5C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60119" y="3730752"/>
            <a:ext cx="4663440" cy="411479"/>
          </a:xfrm>
          <a:prstGeom prst="rect">
            <a:avLst/>
          </a:prstGeom>
          <a:noFill/>
        </p:spPr>
        <p:txBody>
          <a:bodyPr wrap="none" lIns="0" rIns="0" tIns="0" bIns="0">
            <a:spAutoFit/>
          </a:bodyPr>
          <a:lstStyle/>
          <a:p>
            <a:pPr algn="l">
              <a:lnSpc>
                <a:spcPct val="115000"/>
              </a:lnSpc>
            </a:pPr>
            <a:r>
              <a:rPr sz="1425" spc="330">
                <a:solidFill>
                  <a:srgbClr val="EBCF9E"/>
                </a:solidFill>
                <a:latin typeface="Todes 1"/>
              </a:rPr>
              <a:t>WHO IS ASKING</a:t>
            </a:r>
          </a:p>
        </p:txBody>
      </p:sp>
      <p:sp>
        <p:nvSpPr>
          <p:cNvPr id="36" name="TextBox 35"/>
          <p:cNvSpPr txBox="1"/>
          <p:nvPr/>
        </p:nvSpPr>
        <p:spPr>
          <a:xfrm>
            <a:off x="5760720" y="3730752"/>
            <a:ext cx="5486400" cy="411479"/>
          </a:xfrm>
          <a:prstGeom prst="rect">
            <a:avLst/>
          </a:prstGeom>
          <a:noFill/>
        </p:spPr>
        <p:txBody>
          <a:bodyPr wrap="none" lIns="0" rIns="0" tIns="0" bIns="0">
            <a:spAutoFit/>
          </a:bodyPr>
          <a:lstStyle/>
          <a:p>
            <a:pPr algn="l">
              <a:lnSpc>
                <a:spcPct val="115000"/>
              </a:lnSpc>
            </a:pPr>
            <a:r>
              <a:rPr sz="1425" spc="330">
                <a:solidFill>
                  <a:srgbClr val="9FE8DC"/>
                </a:solidFill>
                <a:latin typeface="Todes 1"/>
              </a:rPr>
              <a:t>WHAT THEY SEE</a:t>
            </a:r>
          </a:p>
        </p:txBody>
      </p:sp>
      <p:sp>
        <p:nvSpPr>
          <p:cNvPr id="37" name="Rounded Rectangle 36"/>
          <p:cNvSpPr/>
          <p:nvPr/>
        </p:nvSpPr>
        <p:spPr>
          <a:xfrm>
            <a:off x="822959" y="7886700"/>
            <a:ext cx="16664940" cy="987552"/>
          </a:xfrm>
          <a:prstGeom prst="roundRect">
            <a:avLst>
              <a:gd name="adj" fmla="val 6000"/>
            </a:avLst>
          </a:prstGeom>
          <a:solidFill>
            <a:srgbClr val="0D3E40"/>
          </a:solidFill>
          <a:ln w="19050">
            <a:solidFill>
              <a:srgbClr val="F0CC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234440" y="8147304"/>
            <a:ext cx="15910559" cy="548640"/>
          </a:xfrm>
          <a:prstGeom prst="rect">
            <a:avLst/>
          </a:prstGeom>
          <a:noFill/>
        </p:spPr>
        <p:txBody>
          <a:bodyPr wrap="square" lIns="0" rIns="0" tIns="0" bIns="0">
            <a:spAutoFit/>
          </a:bodyPr>
          <a:lstStyle/>
          <a:p>
            <a:pPr algn="ctr">
              <a:lnSpc>
                <a:spcPct val="115000"/>
              </a:lnSpc>
            </a:pPr>
            <a:r>
              <a:rPr sz="1800">
                <a:solidFill>
                  <a:srgbClr val="F2ECDD"/>
                </a:solidFill>
                <a:latin typeface="TT Commons Pro"/>
              </a:rPr>
              <a:t>Prove without revealing — qualified? in the area? eligible? </a:t>
            </a:r>
            <a:r>
              <a:rPr sz="1800">
                <a:solidFill>
                  <a:srgbClr val="EBCF9E"/>
                </a:solidFill>
                <a:latin typeface="TT Commons Pro Bold"/>
              </a:rPr>
              <a:t>The system can confirm yes or no without exposing what's underneath.</a:t>
            </a:r>
          </a:p>
        </p:txBody>
      </p:sp>
      <p:sp>
        <p:nvSpPr>
          <p:cNvPr id="39" name="TextBox 38"/>
          <p:cNvSpPr txBox="1"/>
          <p:nvPr/>
        </p:nvSpPr>
        <p:spPr>
          <a:xfrm>
            <a:off x="822959" y="9079992"/>
            <a:ext cx="16596359" cy="1097280"/>
          </a:xfrm>
          <a:prstGeom prst="rect">
            <a:avLst/>
          </a:prstGeom>
          <a:noFill/>
        </p:spPr>
        <p:txBody>
          <a:bodyPr wrap="square" lIns="0" rIns="0" tIns="0" bIns="0">
            <a:spAutoFit/>
          </a:bodyPr>
          <a:lstStyle/>
          <a:p>
            <a:pPr algn="ctr">
              <a:lnSpc>
                <a:spcPct val="140000"/>
              </a:lnSpc>
            </a:pPr>
            <a:r>
              <a:rPr sz="2025">
                <a:solidFill>
                  <a:srgbClr val="F4EAD8"/>
                </a:solidFill>
                <a:latin typeface="TT Commons Pro Bold"/>
              </a:rPr>
              <a:t>The goal is not secrecy. It's </a:t>
            </a:r>
            <a:r>
              <a:rPr sz="2175" spc="20">
                <a:solidFill>
                  <a:srgbClr val="EBCF9E"/>
                </a:solidFill>
                <a:latin typeface="Alike Italics"/>
              </a:rPr>
              <a:t>appropriate visibility.</a:t>
            </a:r>
          </a:p>
        </p:txBody>
      </p:sp>
      <p:pic>
        <p:nvPicPr>
          <p:cNvPr id="40" name="Picture 39" descr="rivr-symbol-light.png"/>
          <p:cNvPicPr>
            <a:picLocks noChangeAspect="1"/>
          </p:cNvPicPr>
          <p:nvPr/>
        </p:nvPicPr>
        <p:blipFill>
          <a:blip r:embed="rId4"/>
          <a:stretch>
            <a:fillRect/>
          </a:stretch>
        </p:blipFill>
        <p:spPr>
          <a:xfrm>
            <a:off x="576072" y="9518904"/>
            <a:ext cx="521208" cy="521208"/>
          </a:xfrm>
          <a:prstGeom prst="rect">
            <a:avLst/>
          </a:prstGeom>
        </p:spPr>
      </p:pic>
      <p:sp>
        <p:nvSpPr>
          <p:cNvPr id="41" name="TextBox 40"/>
          <p:cNvSpPr txBox="1"/>
          <p:nvPr/>
        </p:nvSpPr>
        <p:spPr>
          <a:xfrm>
            <a:off x="1371600" y="9724644"/>
            <a:ext cx="5486400" cy="301752"/>
          </a:xfrm>
          <a:prstGeom prst="rect">
            <a:avLst/>
          </a:prstGeom>
          <a:noFill/>
        </p:spPr>
        <p:txBody>
          <a:bodyPr wrap="none" lIns="0" rIns="0" tIns="0" bIns="0">
            <a:spAutoFit/>
          </a:bodyPr>
          <a:lstStyle/>
          <a:p>
            <a:pPr algn="l">
              <a:lnSpc>
                <a:spcPct val="115000"/>
              </a:lnSpc>
            </a:pPr>
            <a:r>
              <a:rPr sz="1350" spc="150">
                <a:solidFill>
                  <a:srgbClr val="AFC4C2"/>
                </a:solidFill>
                <a:latin typeface="TT Commons Pro"/>
              </a:rPr>
              <a:t>Rivr · Seed Round 2026</a:t>
            </a:r>
          </a:p>
        </p:txBody>
      </p:sp>
      <p:sp>
        <p:nvSpPr>
          <p:cNvPr id="42" name="TextBox 41"/>
          <p:cNvSpPr txBox="1"/>
          <p:nvPr/>
        </p:nvSpPr>
        <p:spPr>
          <a:xfrm>
            <a:off x="16870680" y="9724644"/>
            <a:ext cx="960119" cy="301752"/>
          </a:xfrm>
          <a:prstGeom prst="rect">
            <a:avLst/>
          </a:prstGeom>
          <a:noFill/>
        </p:spPr>
        <p:txBody>
          <a:bodyPr wrap="none" lIns="0" rIns="0" tIns="0" bIns="0">
            <a:spAutoFit/>
          </a:bodyPr>
          <a:lstStyle/>
          <a:p>
            <a:pPr algn="r">
              <a:lnSpc>
                <a:spcPct val="115000"/>
              </a:lnSpc>
            </a:pPr>
            <a:r>
              <a:rPr sz="1350" spc="150">
                <a:solidFill>
                  <a:srgbClr val="AFC4C2"/>
                </a:solidFill>
                <a:latin typeface="TT Commons Pro"/>
              </a:rPr>
              <a:t>32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03333"/>
        </a:solidFill>
        <a:effectLst/>
      </p:bgPr>
    </p:bg>
    <p:spTree>
      <p:nvGrpSpPr>
        <p:cNvPr id="1" name=""/>
        <p:cNvGrpSpPr/>
        <p:nvPr/>
      </p:nvGrpSpPr>
      <p:grpSpPr/>
      <p:pic>
        <p:nvPicPr>
          <p:cNvPr id="2" name="Picture 1" descr="bg_c29.jpg"/>
          <p:cNvPicPr>
            <a:picLocks noChangeAspect="1"/>
          </p:cNvPicPr>
          <p:nvPr/>
        </p:nvPicPr>
        <p:blipFill>
          <a:blip r:embed="rId2"/>
          <a:stretch>
            <a:fillRect/>
          </a:stretch>
        </p:blipFill>
        <p:spPr>
          <a:xfrm>
            <a:off x="0" y="0"/>
            <a:ext cx="18287542" cy="10287000"/>
          </a:xfrm>
          <a:prstGeom prst="rect">
            <a:avLst/>
          </a:prstGeom>
        </p:spPr>
      </p:pic>
      <p:sp>
        <p:nvSpPr>
          <p:cNvPr id="3" name="TextBox 2"/>
          <p:cNvSpPr txBox="1"/>
          <p:nvPr/>
        </p:nvSpPr>
        <p:spPr>
          <a:xfrm>
            <a:off x="822959" y="822959"/>
            <a:ext cx="16733519" cy="384048"/>
          </a:xfrm>
          <a:prstGeom prst="rect">
            <a:avLst/>
          </a:prstGeom>
          <a:noFill/>
        </p:spPr>
        <p:txBody>
          <a:bodyPr wrap="none" lIns="0" rIns="0" tIns="0" bIns="0">
            <a:spAutoFit/>
          </a:bodyPr>
          <a:lstStyle/>
          <a:p>
            <a:pPr algn="l">
              <a:lnSpc>
                <a:spcPct val="115000"/>
              </a:lnSpc>
            </a:pPr>
            <a:r>
              <a:rPr sz="1650" spc="330">
                <a:solidFill>
                  <a:srgbClr val="9FE8DC"/>
                </a:solidFill>
                <a:latin typeface="Todes 1"/>
              </a:rPr>
              <a:t>ATTENTION SOVEREIGNTY</a:t>
            </a:r>
          </a:p>
        </p:txBody>
      </p:sp>
      <p:sp>
        <p:nvSpPr>
          <p:cNvPr id="4" name="TextBox 3"/>
          <p:cNvSpPr txBox="1"/>
          <p:nvPr/>
        </p:nvSpPr>
        <p:spPr>
          <a:xfrm>
            <a:off x="822959" y="1699869"/>
            <a:ext cx="11096625" cy="1043025"/>
          </a:xfrm>
          <a:prstGeom prst="rect">
            <a:avLst/>
          </a:prstGeom>
          <a:noFill/>
        </p:spPr>
        <p:txBody>
          <a:bodyPr wrap="none" lIns="0" rIns="0" tIns="0" bIns="0">
            <a:spAutoFit/>
          </a:bodyPr>
          <a:lstStyle/>
          <a:p>
            <a:pPr algn="l">
              <a:lnSpc>
                <a:spcPct val="115000"/>
              </a:lnSpc>
            </a:pPr>
            <a:r>
              <a:rPr sz="5664" spc="-76">
                <a:solidFill>
                  <a:srgbClr val="F4EAD8"/>
                </a:solidFill>
                <a:latin typeface="Todes 1"/>
              </a:rPr>
              <a:t>Sovereignty over your </a:t>
            </a:r>
          </a:p>
        </p:txBody>
      </p:sp>
      <p:sp>
        <p:nvSpPr>
          <p:cNvPr id="5" name="TextBox 4"/>
          <p:cNvSpPr txBox="1"/>
          <p:nvPr/>
        </p:nvSpPr>
        <p:spPr>
          <a:xfrm>
            <a:off x="9535668" y="1645919"/>
            <a:ext cx="5682615" cy="1140809"/>
          </a:xfrm>
          <a:prstGeom prst="rect">
            <a:avLst/>
          </a:prstGeom>
          <a:noFill/>
        </p:spPr>
        <p:txBody>
          <a:bodyPr wrap="none" lIns="0" rIns="0" tIns="0" bIns="0">
            <a:spAutoFit/>
          </a:bodyPr>
          <a:lstStyle/>
          <a:p>
            <a:pPr algn="l">
              <a:lnSpc>
                <a:spcPct val="115000"/>
              </a:lnSpc>
            </a:pPr>
            <a:r>
              <a:rPr sz="6195" spc="-75">
                <a:solidFill>
                  <a:srgbClr val="EBCF9E"/>
                </a:solidFill>
                <a:latin typeface="Ibarra Real Nova Italics"/>
              </a:rPr>
              <a:t>attention, too.</a:t>
            </a:r>
          </a:p>
        </p:txBody>
      </p:sp>
      <p:sp>
        <p:nvSpPr>
          <p:cNvPr id="6" name="Rounded Rectangle 5"/>
          <p:cNvSpPr/>
          <p:nvPr/>
        </p:nvSpPr>
        <p:spPr>
          <a:xfrm>
            <a:off x="822959" y="3909060"/>
            <a:ext cx="8092440" cy="2057400"/>
          </a:xfrm>
          <a:prstGeom prst="roundRect">
            <a:avLst>
              <a:gd name="adj" fmla="val 6000"/>
            </a:avLst>
          </a:prstGeom>
          <a:solidFill>
            <a:srgbClr val="0D3E40"/>
          </a:solidFill>
          <a:ln w="1905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03019" y="4224528"/>
            <a:ext cx="7132320" cy="411479"/>
          </a:xfrm>
          <a:prstGeom prst="rect">
            <a:avLst/>
          </a:prstGeom>
          <a:noFill/>
        </p:spPr>
        <p:txBody>
          <a:bodyPr wrap="none" lIns="0" rIns="0" tIns="0" bIns="0">
            <a:spAutoFit/>
          </a:bodyPr>
          <a:lstStyle/>
          <a:p>
            <a:pPr algn="l">
              <a:lnSpc>
                <a:spcPct val="115000"/>
              </a:lnSpc>
            </a:pPr>
            <a:r>
              <a:rPr sz="1500" spc="330">
                <a:solidFill>
                  <a:srgbClr val="9FE8DC"/>
                </a:solidFill>
                <a:latin typeface="Todes 1"/>
              </a:rPr>
              <a:t>SELECTIVE DISCLOSURE — OUTWARD</a:t>
            </a:r>
          </a:p>
        </p:txBody>
      </p:sp>
      <p:sp>
        <p:nvSpPr>
          <p:cNvPr id="8" name="TextBox 7"/>
          <p:cNvSpPr txBox="1"/>
          <p:nvPr/>
        </p:nvSpPr>
        <p:spPr>
          <a:xfrm>
            <a:off x="1303019" y="4828032"/>
            <a:ext cx="7269479" cy="822959"/>
          </a:xfrm>
          <a:prstGeom prst="rect">
            <a:avLst/>
          </a:prstGeom>
          <a:noFill/>
        </p:spPr>
        <p:txBody>
          <a:bodyPr wrap="square" lIns="0" rIns="0" tIns="0" bIns="0">
            <a:spAutoFit/>
          </a:bodyPr>
          <a:lstStyle/>
          <a:p>
            <a:pPr algn="l">
              <a:lnSpc>
                <a:spcPct val="140000"/>
              </a:lnSpc>
            </a:pPr>
            <a:r>
              <a:rPr sz="1800">
                <a:solidFill>
                  <a:srgbClr val="F2ECDD"/>
                </a:solidFill>
                <a:latin typeface="TT Commons Pro"/>
              </a:rPr>
              <a:t>You decide what the world can see of you,</a:t>
            </a:r>
          </a:p>
          <a:p>
            <a:pPr algn="l">
              <a:lnSpc>
                <a:spcPct val="140000"/>
              </a:lnSpc>
            </a:pPr>
            <a:r>
              <a:rPr sz="1800">
                <a:solidFill>
                  <a:srgbClr val="F2ECDD"/>
                </a:solidFill>
                <a:latin typeface="TT Commons Pro"/>
              </a:rPr>
              <a:t>and in which contexts.</a:t>
            </a:r>
          </a:p>
        </p:txBody>
      </p:sp>
      <p:sp>
        <p:nvSpPr>
          <p:cNvPr id="9" name="Right Arrow 8"/>
          <p:cNvSpPr/>
          <p:nvPr/>
        </p:nvSpPr>
        <p:spPr>
          <a:xfrm>
            <a:off x="9052559" y="4800600"/>
            <a:ext cx="754380" cy="246888"/>
          </a:xfrm>
          <a:prstGeom prst="rightArrow">
            <a:avLst/>
          </a:prstGeom>
          <a:solidFill>
            <a:srgbClr val="99E6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395459" y="3909060"/>
            <a:ext cx="8092440" cy="2057400"/>
          </a:xfrm>
          <a:prstGeom prst="roundRect">
            <a:avLst>
              <a:gd name="adj" fmla="val 6000"/>
            </a:avLst>
          </a:prstGeom>
          <a:solidFill>
            <a:srgbClr val="084B4D"/>
          </a:solidFill>
          <a:ln w="22859">
            <a:solidFill>
              <a:srgbClr val="F0CC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0" y="4224528"/>
            <a:ext cx="7132320" cy="411479"/>
          </a:xfrm>
          <a:prstGeom prst="rect">
            <a:avLst/>
          </a:prstGeom>
          <a:noFill/>
        </p:spPr>
        <p:txBody>
          <a:bodyPr wrap="none" lIns="0" rIns="0" tIns="0" bIns="0">
            <a:spAutoFit/>
          </a:bodyPr>
          <a:lstStyle/>
          <a:p>
            <a:pPr algn="l">
              <a:lnSpc>
                <a:spcPct val="115000"/>
              </a:lnSpc>
            </a:pPr>
            <a:r>
              <a:rPr sz="1500" spc="330">
                <a:solidFill>
                  <a:srgbClr val="EBCF9E"/>
                </a:solidFill>
                <a:latin typeface="Todes 1"/>
              </a:rPr>
              <a:t>SELECTIVE ATTENTION — INWARD</a:t>
            </a:r>
          </a:p>
        </p:txBody>
      </p:sp>
      <p:sp>
        <p:nvSpPr>
          <p:cNvPr id="12" name="TextBox 11"/>
          <p:cNvSpPr txBox="1"/>
          <p:nvPr/>
        </p:nvSpPr>
        <p:spPr>
          <a:xfrm>
            <a:off x="9875520" y="4828032"/>
            <a:ext cx="7269479" cy="822959"/>
          </a:xfrm>
          <a:prstGeom prst="rect">
            <a:avLst/>
          </a:prstGeom>
          <a:noFill/>
        </p:spPr>
        <p:txBody>
          <a:bodyPr wrap="square" lIns="0" rIns="0" tIns="0" bIns="0">
            <a:spAutoFit/>
          </a:bodyPr>
          <a:lstStyle/>
          <a:p>
            <a:pPr algn="l">
              <a:lnSpc>
                <a:spcPct val="140000"/>
              </a:lnSpc>
            </a:pPr>
            <a:r>
              <a:rPr sz="1800">
                <a:solidFill>
                  <a:srgbClr val="F2ECDD"/>
                </a:solidFill>
                <a:latin typeface="TT Commons Pro"/>
              </a:rPr>
              <a:t>You decide what gets to enter your field</a:t>
            </a:r>
          </a:p>
          <a:p>
            <a:pPr algn="l">
              <a:lnSpc>
                <a:spcPct val="140000"/>
              </a:lnSpc>
            </a:pPr>
            <a:r>
              <a:rPr sz="1800">
                <a:solidFill>
                  <a:srgbClr val="F2ECDD"/>
                </a:solidFill>
                <a:latin typeface="TT Commons Pro"/>
              </a:rPr>
              <a:t>of view. What reaches me? Why?</a:t>
            </a:r>
          </a:p>
        </p:txBody>
      </p:sp>
      <p:sp>
        <p:nvSpPr>
          <p:cNvPr id="13" name="Left Arrow 12"/>
          <p:cNvSpPr/>
          <p:nvPr/>
        </p:nvSpPr>
        <p:spPr>
          <a:xfrm>
            <a:off x="9052559" y="5417820"/>
            <a:ext cx="754380" cy="246888"/>
          </a:xfrm>
          <a:prstGeom prst="leftArrow">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6515100"/>
            <a:ext cx="15773400" cy="411479"/>
          </a:xfrm>
          <a:prstGeom prst="rect">
            <a:avLst/>
          </a:prstGeom>
          <a:noFill/>
        </p:spPr>
        <p:txBody>
          <a:bodyPr wrap="none" lIns="0" rIns="0" tIns="0" bIns="0">
            <a:spAutoFit/>
          </a:bodyPr>
          <a:lstStyle/>
          <a:p>
            <a:pPr algn="l">
              <a:lnSpc>
                <a:spcPct val="115000"/>
              </a:lnSpc>
            </a:pPr>
            <a:r>
              <a:rPr sz="1800" spc="180">
                <a:solidFill>
                  <a:srgbClr val="9FE8DC"/>
                </a:solidFill>
                <a:latin typeface="Todes 1"/>
              </a:rPr>
              <a:t>RELEVANCE SHAPED BY</a:t>
            </a:r>
          </a:p>
        </p:txBody>
      </p:sp>
      <p:sp>
        <p:nvSpPr>
          <p:cNvPr id="15" name="Rounded Rectangle 14"/>
          <p:cNvSpPr/>
          <p:nvPr/>
        </p:nvSpPr>
        <p:spPr>
          <a:xfrm>
            <a:off x="822959" y="7063740"/>
            <a:ext cx="2606039" cy="1303019"/>
          </a:xfrm>
          <a:prstGeom prst="roundRect">
            <a:avLst>
              <a:gd name="adj" fmla="val 16000"/>
            </a:avLst>
          </a:prstGeom>
          <a:solidFill>
            <a:srgbClr val="0D3E40"/>
          </a:solidFill>
          <a:ln w="1524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map.png"/>
          <p:cNvPicPr>
            <a:picLocks noChangeAspect="1"/>
          </p:cNvPicPr>
          <p:nvPr/>
        </p:nvPicPr>
        <p:blipFill>
          <a:blip r:embed="rId4"/>
          <a:stretch>
            <a:fillRect/>
          </a:stretch>
        </p:blipFill>
        <p:spPr>
          <a:xfrm>
            <a:off x="1933955" y="7283196"/>
            <a:ext cx="384048" cy="384048"/>
          </a:xfrm>
          <a:prstGeom prst="rect">
            <a:avLst/>
          </a:prstGeom>
        </p:spPr>
      </p:pic>
      <p:sp>
        <p:nvSpPr>
          <p:cNvPr id="17" name="TextBox 16"/>
          <p:cNvSpPr txBox="1"/>
          <p:nvPr/>
        </p:nvSpPr>
        <p:spPr>
          <a:xfrm>
            <a:off x="822959" y="7927848"/>
            <a:ext cx="2606039" cy="411479"/>
          </a:xfrm>
          <a:prstGeom prst="rect">
            <a:avLst/>
          </a:prstGeom>
          <a:noFill/>
        </p:spPr>
        <p:txBody>
          <a:bodyPr wrap="square" lIns="0" rIns="0" tIns="0" bIns="0">
            <a:spAutoFit/>
          </a:bodyPr>
          <a:lstStyle/>
          <a:p>
            <a:pPr algn="ctr">
              <a:lnSpc>
                <a:spcPct val="115000"/>
              </a:lnSpc>
            </a:pPr>
            <a:r>
              <a:rPr sz="1425">
                <a:solidFill>
                  <a:srgbClr val="F2ECDD"/>
                </a:solidFill>
                <a:latin typeface="TT Commons Pro"/>
              </a:rPr>
              <a:t>place</a:t>
            </a:r>
          </a:p>
        </p:txBody>
      </p:sp>
      <p:sp>
        <p:nvSpPr>
          <p:cNvPr id="18" name="Rounded Rectangle 17"/>
          <p:cNvSpPr/>
          <p:nvPr/>
        </p:nvSpPr>
        <p:spPr>
          <a:xfrm>
            <a:off x="3634739" y="7063740"/>
            <a:ext cx="2606039" cy="1303019"/>
          </a:xfrm>
          <a:prstGeom prst="roundRect">
            <a:avLst>
              <a:gd name="adj" fmla="val 16000"/>
            </a:avLst>
          </a:prstGeom>
          <a:solidFill>
            <a:srgbClr val="0D3E40"/>
          </a:solidFill>
          <a:ln w="1524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group.png"/>
          <p:cNvPicPr>
            <a:picLocks noChangeAspect="1"/>
          </p:cNvPicPr>
          <p:nvPr/>
        </p:nvPicPr>
        <p:blipFill>
          <a:blip r:embed="rId5"/>
          <a:stretch>
            <a:fillRect/>
          </a:stretch>
        </p:blipFill>
        <p:spPr>
          <a:xfrm>
            <a:off x="4745736" y="7283196"/>
            <a:ext cx="384048" cy="384048"/>
          </a:xfrm>
          <a:prstGeom prst="rect">
            <a:avLst/>
          </a:prstGeom>
        </p:spPr>
      </p:pic>
      <p:sp>
        <p:nvSpPr>
          <p:cNvPr id="20" name="TextBox 19"/>
          <p:cNvSpPr txBox="1"/>
          <p:nvPr/>
        </p:nvSpPr>
        <p:spPr>
          <a:xfrm>
            <a:off x="3634739" y="7927848"/>
            <a:ext cx="2606039" cy="411479"/>
          </a:xfrm>
          <a:prstGeom prst="rect">
            <a:avLst/>
          </a:prstGeom>
          <a:noFill/>
        </p:spPr>
        <p:txBody>
          <a:bodyPr wrap="square" lIns="0" rIns="0" tIns="0" bIns="0">
            <a:spAutoFit/>
          </a:bodyPr>
          <a:lstStyle/>
          <a:p>
            <a:pPr algn="ctr">
              <a:lnSpc>
                <a:spcPct val="115000"/>
              </a:lnSpc>
            </a:pPr>
            <a:r>
              <a:rPr sz="1425">
                <a:solidFill>
                  <a:srgbClr val="F2ECDD"/>
                </a:solidFill>
                <a:latin typeface="TT Commons Pro"/>
              </a:rPr>
              <a:t>relationships</a:t>
            </a:r>
          </a:p>
        </p:txBody>
      </p:sp>
      <p:sp>
        <p:nvSpPr>
          <p:cNvPr id="21" name="Rounded Rectangle 20"/>
          <p:cNvSpPr/>
          <p:nvPr/>
        </p:nvSpPr>
        <p:spPr>
          <a:xfrm>
            <a:off x="6446519" y="7063740"/>
            <a:ext cx="2606039" cy="1303019"/>
          </a:xfrm>
          <a:prstGeom prst="roundRect">
            <a:avLst>
              <a:gd name="adj" fmla="val 16000"/>
            </a:avLst>
          </a:prstGeom>
          <a:solidFill>
            <a:srgbClr val="0D3E40"/>
          </a:solidFill>
          <a:ln w="1524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dea.png"/>
          <p:cNvPicPr>
            <a:picLocks noChangeAspect="1"/>
          </p:cNvPicPr>
          <p:nvPr/>
        </p:nvPicPr>
        <p:blipFill>
          <a:blip r:embed="rId6"/>
          <a:stretch>
            <a:fillRect/>
          </a:stretch>
        </p:blipFill>
        <p:spPr>
          <a:xfrm>
            <a:off x="7557516" y="7283196"/>
            <a:ext cx="384048" cy="384048"/>
          </a:xfrm>
          <a:prstGeom prst="rect">
            <a:avLst/>
          </a:prstGeom>
        </p:spPr>
      </p:pic>
      <p:sp>
        <p:nvSpPr>
          <p:cNvPr id="23" name="TextBox 22"/>
          <p:cNvSpPr txBox="1"/>
          <p:nvPr/>
        </p:nvSpPr>
        <p:spPr>
          <a:xfrm>
            <a:off x="6446519" y="7927848"/>
            <a:ext cx="2606039" cy="411479"/>
          </a:xfrm>
          <a:prstGeom prst="rect">
            <a:avLst/>
          </a:prstGeom>
          <a:noFill/>
        </p:spPr>
        <p:txBody>
          <a:bodyPr wrap="square" lIns="0" rIns="0" tIns="0" bIns="0">
            <a:spAutoFit/>
          </a:bodyPr>
          <a:lstStyle/>
          <a:p>
            <a:pPr algn="ctr">
              <a:lnSpc>
                <a:spcPct val="115000"/>
              </a:lnSpc>
            </a:pPr>
            <a:r>
              <a:rPr sz="1425">
                <a:solidFill>
                  <a:srgbClr val="F2ECDD"/>
                </a:solidFill>
                <a:latin typeface="TT Commons Pro"/>
              </a:rPr>
              <a:t>interests</a:t>
            </a:r>
          </a:p>
        </p:txBody>
      </p:sp>
      <p:sp>
        <p:nvSpPr>
          <p:cNvPr id="24" name="Rounded Rectangle 23"/>
          <p:cNvSpPr/>
          <p:nvPr/>
        </p:nvSpPr>
        <p:spPr>
          <a:xfrm>
            <a:off x="9258299" y="7063740"/>
            <a:ext cx="2606039" cy="1303019"/>
          </a:xfrm>
          <a:prstGeom prst="roundRect">
            <a:avLst>
              <a:gd name="adj" fmla="val 16000"/>
            </a:avLst>
          </a:prstGeom>
          <a:solidFill>
            <a:srgbClr val="0D3E40"/>
          </a:solidFill>
          <a:ln w="1524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time.png"/>
          <p:cNvPicPr>
            <a:picLocks noChangeAspect="1"/>
          </p:cNvPicPr>
          <p:nvPr/>
        </p:nvPicPr>
        <p:blipFill>
          <a:blip r:embed="rId7"/>
          <a:stretch>
            <a:fillRect/>
          </a:stretch>
        </p:blipFill>
        <p:spPr>
          <a:xfrm>
            <a:off x="10369296" y="7283196"/>
            <a:ext cx="384048" cy="384048"/>
          </a:xfrm>
          <a:prstGeom prst="rect">
            <a:avLst/>
          </a:prstGeom>
        </p:spPr>
      </p:pic>
      <p:sp>
        <p:nvSpPr>
          <p:cNvPr id="26" name="TextBox 25"/>
          <p:cNvSpPr txBox="1"/>
          <p:nvPr/>
        </p:nvSpPr>
        <p:spPr>
          <a:xfrm>
            <a:off x="9258299" y="7927848"/>
            <a:ext cx="2606039" cy="411479"/>
          </a:xfrm>
          <a:prstGeom prst="rect">
            <a:avLst/>
          </a:prstGeom>
          <a:noFill/>
        </p:spPr>
        <p:txBody>
          <a:bodyPr wrap="square" lIns="0" rIns="0" tIns="0" bIns="0">
            <a:spAutoFit/>
          </a:bodyPr>
          <a:lstStyle/>
          <a:p>
            <a:pPr algn="ctr">
              <a:lnSpc>
                <a:spcPct val="115000"/>
              </a:lnSpc>
            </a:pPr>
            <a:r>
              <a:rPr sz="1425">
                <a:solidFill>
                  <a:srgbClr val="F2ECDD"/>
                </a:solidFill>
                <a:latin typeface="TT Commons Pro"/>
              </a:rPr>
              <a:t>urgency</a:t>
            </a:r>
          </a:p>
        </p:txBody>
      </p:sp>
      <p:sp>
        <p:nvSpPr>
          <p:cNvPr id="27" name="Rounded Rectangle 26"/>
          <p:cNvSpPr/>
          <p:nvPr/>
        </p:nvSpPr>
        <p:spPr>
          <a:xfrm>
            <a:off x="12070080" y="7063740"/>
            <a:ext cx="2606039" cy="1303019"/>
          </a:xfrm>
          <a:prstGeom prst="roundRect">
            <a:avLst>
              <a:gd name="adj" fmla="val 16000"/>
            </a:avLst>
          </a:prstGeom>
          <a:solidFill>
            <a:srgbClr val="0D3E40"/>
          </a:solidFill>
          <a:ln w="1524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org.png"/>
          <p:cNvPicPr>
            <a:picLocks noChangeAspect="1"/>
          </p:cNvPicPr>
          <p:nvPr/>
        </p:nvPicPr>
        <p:blipFill>
          <a:blip r:embed="rId8"/>
          <a:stretch>
            <a:fillRect/>
          </a:stretch>
        </p:blipFill>
        <p:spPr>
          <a:xfrm>
            <a:off x="13181075" y="7283196"/>
            <a:ext cx="384048" cy="384048"/>
          </a:xfrm>
          <a:prstGeom prst="rect">
            <a:avLst/>
          </a:prstGeom>
        </p:spPr>
      </p:pic>
      <p:sp>
        <p:nvSpPr>
          <p:cNvPr id="29" name="TextBox 28"/>
          <p:cNvSpPr txBox="1"/>
          <p:nvPr/>
        </p:nvSpPr>
        <p:spPr>
          <a:xfrm>
            <a:off x="12070080" y="7927848"/>
            <a:ext cx="2606039" cy="411479"/>
          </a:xfrm>
          <a:prstGeom prst="rect">
            <a:avLst/>
          </a:prstGeom>
          <a:noFill/>
        </p:spPr>
        <p:txBody>
          <a:bodyPr wrap="square" lIns="0" rIns="0" tIns="0" bIns="0">
            <a:spAutoFit/>
          </a:bodyPr>
          <a:lstStyle/>
          <a:p>
            <a:pPr algn="ctr">
              <a:lnSpc>
                <a:spcPct val="115000"/>
              </a:lnSpc>
            </a:pPr>
            <a:r>
              <a:rPr sz="1425">
                <a:solidFill>
                  <a:srgbClr val="F2ECDD"/>
                </a:solidFill>
                <a:latin typeface="TT Commons Pro"/>
              </a:rPr>
              <a:t>communities</a:t>
            </a:r>
          </a:p>
        </p:txBody>
      </p:sp>
      <p:sp>
        <p:nvSpPr>
          <p:cNvPr id="30" name="Rounded Rectangle 29"/>
          <p:cNvSpPr/>
          <p:nvPr/>
        </p:nvSpPr>
        <p:spPr>
          <a:xfrm>
            <a:off x="14881859" y="7063740"/>
            <a:ext cx="2606039" cy="1303019"/>
          </a:xfrm>
          <a:prstGeom prst="roundRect">
            <a:avLst>
              <a:gd name="adj" fmla="val 16000"/>
            </a:avLst>
          </a:prstGeom>
          <a:solidFill>
            <a:srgbClr val="0D3E40"/>
          </a:solidFill>
          <a:ln w="1524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earch.png"/>
          <p:cNvPicPr>
            <a:picLocks noChangeAspect="1"/>
          </p:cNvPicPr>
          <p:nvPr/>
        </p:nvPicPr>
        <p:blipFill>
          <a:blip r:embed="rId9"/>
          <a:stretch>
            <a:fillRect/>
          </a:stretch>
        </p:blipFill>
        <p:spPr>
          <a:xfrm>
            <a:off x="15992855" y="7283196"/>
            <a:ext cx="384048" cy="384048"/>
          </a:xfrm>
          <a:prstGeom prst="rect">
            <a:avLst/>
          </a:prstGeom>
        </p:spPr>
      </p:pic>
      <p:sp>
        <p:nvSpPr>
          <p:cNvPr id="32" name="TextBox 31"/>
          <p:cNvSpPr txBox="1"/>
          <p:nvPr/>
        </p:nvSpPr>
        <p:spPr>
          <a:xfrm>
            <a:off x="14881859" y="7927848"/>
            <a:ext cx="2606039" cy="411479"/>
          </a:xfrm>
          <a:prstGeom prst="rect">
            <a:avLst/>
          </a:prstGeom>
          <a:noFill/>
        </p:spPr>
        <p:txBody>
          <a:bodyPr wrap="square" lIns="0" rIns="0" tIns="0" bIns="0">
            <a:spAutoFit/>
          </a:bodyPr>
          <a:lstStyle/>
          <a:p>
            <a:pPr algn="ctr">
              <a:lnSpc>
                <a:spcPct val="115000"/>
              </a:lnSpc>
            </a:pPr>
            <a:r>
              <a:rPr sz="1425">
                <a:solidFill>
                  <a:srgbClr val="F2ECDD"/>
                </a:solidFill>
                <a:latin typeface="TT Commons Pro"/>
              </a:rPr>
              <a:t>chosen context</a:t>
            </a:r>
          </a:p>
        </p:txBody>
      </p:sp>
      <p:sp>
        <p:nvSpPr>
          <p:cNvPr id="33" name="TextBox 32"/>
          <p:cNvSpPr txBox="1"/>
          <p:nvPr/>
        </p:nvSpPr>
        <p:spPr>
          <a:xfrm>
            <a:off x="822959" y="8915400"/>
            <a:ext cx="16596359" cy="1097280"/>
          </a:xfrm>
          <a:prstGeom prst="rect">
            <a:avLst/>
          </a:prstGeom>
          <a:noFill/>
        </p:spPr>
        <p:txBody>
          <a:bodyPr wrap="square" lIns="0" rIns="0" tIns="0" bIns="0">
            <a:spAutoFit/>
          </a:bodyPr>
          <a:lstStyle/>
          <a:p>
            <a:pPr algn="ctr">
              <a:lnSpc>
                <a:spcPct val="140000"/>
              </a:lnSpc>
            </a:pPr>
            <a:r>
              <a:rPr sz="2250" spc="20">
                <a:solidFill>
                  <a:srgbClr val="9FE8DC"/>
                </a:solidFill>
                <a:latin typeface="Alike Italics"/>
              </a:rPr>
              <a:t>Useful relevance instead of attention capture.</a:t>
            </a:r>
          </a:p>
        </p:txBody>
      </p:sp>
      <p:pic>
        <p:nvPicPr>
          <p:cNvPr id="34" name="Picture 33" descr="rivr-symbol-light.png"/>
          <p:cNvPicPr>
            <a:picLocks noChangeAspect="1"/>
          </p:cNvPicPr>
          <p:nvPr/>
        </p:nvPicPr>
        <p:blipFill>
          <a:blip r:embed="rId10"/>
          <a:stretch>
            <a:fillRect/>
          </a:stretch>
        </p:blipFill>
        <p:spPr>
          <a:xfrm>
            <a:off x="576072" y="9518904"/>
            <a:ext cx="521208" cy="521208"/>
          </a:xfrm>
          <a:prstGeom prst="rect">
            <a:avLst/>
          </a:prstGeom>
        </p:spPr>
      </p:pic>
      <p:sp>
        <p:nvSpPr>
          <p:cNvPr id="35" name="TextBox 34"/>
          <p:cNvSpPr txBox="1"/>
          <p:nvPr/>
        </p:nvSpPr>
        <p:spPr>
          <a:xfrm>
            <a:off x="1371600" y="9724644"/>
            <a:ext cx="5486400" cy="301752"/>
          </a:xfrm>
          <a:prstGeom prst="rect">
            <a:avLst/>
          </a:prstGeom>
          <a:noFill/>
        </p:spPr>
        <p:txBody>
          <a:bodyPr wrap="none" lIns="0" rIns="0" tIns="0" bIns="0">
            <a:spAutoFit/>
          </a:bodyPr>
          <a:lstStyle/>
          <a:p>
            <a:pPr algn="l">
              <a:lnSpc>
                <a:spcPct val="115000"/>
              </a:lnSpc>
            </a:pPr>
            <a:r>
              <a:rPr sz="1350" spc="150">
                <a:solidFill>
                  <a:srgbClr val="AFC4C2"/>
                </a:solidFill>
                <a:latin typeface="TT Commons Pro"/>
              </a:rPr>
              <a:t>Rivr · Seed Round 2026</a:t>
            </a:r>
          </a:p>
        </p:txBody>
      </p:sp>
      <p:sp>
        <p:nvSpPr>
          <p:cNvPr id="36" name="TextBox 35"/>
          <p:cNvSpPr txBox="1"/>
          <p:nvPr/>
        </p:nvSpPr>
        <p:spPr>
          <a:xfrm>
            <a:off x="16870680" y="9724644"/>
            <a:ext cx="960119" cy="301752"/>
          </a:xfrm>
          <a:prstGeom prst="rect">
            <a:avLst/>
          </a:prstGeom>
          <a:noFill/>
        </p:spPr>
        <p:txBody>
          <a:bodyPr wrap="none" lIns="0" rIns="0" tIns="0" bIns="0">
            <a:spAutoFit/>
          </a:bodyPr>
          <a:lstStyle/>
          <a:p>
            <a:pPr algn="r">
              <a:lnSpc>
                <a:spcPct val="115000"/>
              </a:lnSpc>
            </a:pPr>
            <a:r>
              <a:rPr sz="1350" spc="150">
                <a:solidFill>
                  <a:srgbClr val="AFC4C2"/>
                </a:solidFill>
                <a:latin typeface="TT Commons Pro"/>
              </a:rPr>
              <a:t>33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03333"/>
        </a:solidFill>
        <a:effectLst/>
      </p:bgPr>
    </p:bg>
    <p:spTree>
      <p:nvGrpSpPr>
        <p:cNvPr id="1" name=""/>
        <p:cNvGrpSpPr/>
        <p:nvPr/>
      </p:nvGrpSpPr>
      <p:grpSpPr/>
      <p:pic>
        <p:nvPicPr>
          <p:cNvPr id="2" name="Picture 1" descr="bg_c30.jpg"/>
          <p:cNvPicPr>
            <a:picLocks noChangeAspect="1"/>
          </p:cNvPicPr>
          <p:nvPr/>
        </p:nvPicPr>
        <p:blipFill>
          <a:blip r:embed="rId2"/>
          <a:stretch>
            <a:fillRect/>
          </a:stretch>
        </p:blipFill>
        <p:spPr>
          <a:xfrm>
            <a:off x="0" y="0"/>
            <a:ext cx="18287542" cy="10287000"/>
          </a:xfrm>
          <a:prstGeom prst="rect">
            <a:avLst/>
          </a:prstGeom>
        </p:spPr>
      </p:pic>
      <p:sp>
        <p:nvSpPr>
          <p:cNvPr id="3" name="TextBox 2"/>
          <p:cNvSpPr txBox="1"/>
          <p:nvPr/>
        </p:nvSpPr>
        <p:spPr>
          <a:xfrm>
            <a:off x="822959" y="822959"/>
            <a:ext cx="16733519" cy="384048"/>
          </a:xfrm>
          <a:prstGeom prst="rect">
            <a:avLst/>
          </a:prstGeom>
          <a:noFill/>
        </p:spPr>
        <p:txBody>
          <a:bodyPr wrap="none" lIns="0" rIns="0" tIns="0" bIns="0">
            <a:spAutoFit/>
          </a:bodyPr>
          <a:lstStyle/>
          <a:p>
            <a:pPr algn="l">
              <a:lnSpc>
                <a:spcPct val="115000"/>
              </a:lnSpc>
            </a:pPr>
            <a:r>
              <a:rPr sz="1650" spc="330">
                <a:solidFill>
                  <a:srgbClr val="9FE8DC"/>
                </a:solidFill>
                <a:latin typeface="Todes 1"/>
              </a:rPr>
              <a:t>AI SOVEREIGNTY</a:t>
            </a:r>
          </a:p>
        </p:txBody>
      </p:sp>
      <p:sp>
        <p:nvSpPr>
          <p:cNvPr id="4" name="TextBox 3"/>
          <p:cNvSpPr txBox="1"/>
          <p:nvPr/>
        </p:nvSpPr>
        <p:spPr>
          <a:xfrm>
            <a:off x="822959" y="1699869"/>
            <a:ext cx="9322752" cy="1043025"/>
          </a:xfrm>
          <a:prstGeom prst="rect">
            <a:avLst/>
          </a:prstGeom>
          <a:noFill/>
        </p:spPr>
        <p:txBody>
          <a:bodyPr wrap="none" lIns="0" rIns="0" tIns="0" bIns="0">
            <a:spAutoFit/>
          </a:bodyPr>
          <a:lstStyle/>
          <a:p>
            <a:pPr algn="l">
              <a:lnSpc>
                <a:spcPct val="115000"/>
              </a:lnSpc>
            </a:pPr>
            <a:r>
              <a:rPr sz="5664" spc="-76">
                <a:solidFill>
                  <a:srgbClr val="F4EAD8"/>
                </a:solidFill>
                <a:latin typeface="Todes 1"/>
              </a:rPr>
              <a:t>AI makes all of this </a:t>
            </a:r>
          </a:p>
        </p:txBody>
      </p:sp>
      <p:sp>
        <p:nvSpPr>
          <p:cNvPr id="5" name="TextBox 4"/>
          <p:cNvSpPr txBox="1"/>
          <p:nvPr/>
        </p:nvSpPr>
        <p:spPr>
          <a:xfrm>
            <a:off x="8116570" y="1645919"/>
            <a:ext cx="6748224" cy="1140809"/>
          </a:xfrm>
          <a:prstGeom prst="rect">
            <a:avLst/>
          </a:prstGeom>
          <a:noFill/>
        </p:spPr>
        <p:txBody>
          <a:bodyPr wrap="none" lIns="0" rIns="0" tIns="0" bIns="0">
            <a:spAutoFit/>
          </a:bodyPr>
          <a:lstStyle/>
          <a:p>
            <a:pPr algn="l">
              <a:lnSpc>
                <a:spcPct val="115000"/>
              </a:lnSpc>
            </a:pPr>
            <a:r>
              <a:rPr sz="6195" spc="-75">
                <a:solidFill>
                  <a:srgbClr val="F0CC8B"/>
                </a:solidFill>
                <a:latin typeface="Ibarra Real Nova Italics"/>
              </a:rPr>
              <a:t>more important.</a:t>
            </a:r>
          </a:p>
        </p:txBody>
      </p:sp>
      <p:sp>
        <p:nvSpPr>
          <p:cNvPr id="6" name="Oval 5"/>
          <p:cNvSpPr/>
          <p:nvPr/>
        </p:nvSpPr>
        <p:spPr>
          <a:xfrm>
            <a:off x="8791956" y="3771900"/>
            <a:ext cx="685800" cy="685800"/>
          </a:xfrm>
          <a:prstGeom prst="ellipse">
            <a:avLst/>
          </a:prstGeom>
          <a:solidFill>
            <a:srgbClr val="084B4D"/>
          </a:solidFill>
          <a:ln w="16510">
            <a:solidFill>
              <a:srgbClr val="F0CC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dea.png"/>
          <p:cNvPicPr>
            <a:picLocks noChangeAspect="1"/>
          </p:cNvPicPr>
          <p:nvPr/>
        </p:nvPicPr>
        <p:blipFill>
          <a:blip r:embed="rId4"/>
          <a:stretch>
            <a:fillRect/>
          </a:stretch>
        </p:blipFill>
        <p:spPr>
          <a:xfrm>
            <a:off x="8942832" y="3922776"/>
            <a:ext cx="384048" cy="384048"/>
          </a:xfrm>
          <a:prstGeom prst="rect">
            <a:avLst/>
          </a:prstGeom>
        </p:spPr>
      </p:pic>
      <p:cxnSp>
        <p:nvCxnSpPr>
          <p:cNvPr id="8" name="Connector 7"/>
          <p:cNvCxnSpPr/>
          <p:nvPr/>
        </p:nvCxnSpPr>
        <p:spPr>
          <a:xfrm flipH="1">
            <a:off x="4937760" y="4526279"/>
            <a:ext cx="3977640" cy="1028700"/>
          </a:xfrm>
          <a:prstGeom prst="line">
            <a:avLst/>
          </a:prstGeom>
          <a:ln w="13970">
            <a:solidFill>
              <a:srgbClr val="D3B7A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9354312" y="4526279"/>
            <a:ext cx="3950207" cy="1028700"/>
          </a:xfrm>
          <a:prstGeom prst="line">
            <a:avLst/>
          </a:prstGeom>
          <a:ln w="13970">
            <a:solidFill>
              <a:srgbClr val="99E6D9"/>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822959" y="5554979"/>
            <a:ext cx="7680959" cy="3223260"/>
          </a:xfrm>
          <a:prstGeom prst="roundRect">
            <a:avLst>
              <a:gd name="adj" fmla="val 6000"/>
            </a:avLst>
          </a:prstGeom>
          <a:solidFill>
            <a:srgbClr val="084B4D"/>
          </a:solidFill>
          <a:ln w="19050">
            <a:solidFill>
              <a:srgbClr val="D3B7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03019" y="5870448"/>
            <a:ext cx="6858000" cy="411479"/>
          </a:xfrm>
          <a:prstGeom prst="rect">
            <a:avLst/>
          </a:prstGeom>
          <a:noFill/>
        </p:spPr>
        <p:txBody>
          <a:bodyPr wrap="none" lIns="0" rIns="0" tIns="0" bIns="0">
            <a:spAutoFit/>
          </a:bodyPr>
          <a:lstStyle/>
          <a:p>
            <a:pPr algn="l">
              <a:lnSpc>
                <a:spcPct val="115000"/>
              </a:lnSpc>
            </a:pPr>
            <a:r>
              <a:rPr sz="1500" spc="330">
                <a:solidFill>
                  <a:srgbClr val="D3B7A5"/>
                </a:solidFill>
                <a:latin typeface="Todes 1"/>
              </a:rPr>
              <a:t>AI COULD BECOME</a:t>
            </a:r>
          </a:p>
        </p:txBody>
      </p:sp>
      <p:sp>
        <p:nvSpPr>
          <p:cNvPr id="12" name="TextBox 11"/>
          <p:cNvSpPr txBox="1"/>
          <p:nvPr/>
        </p:nvSpPr>
        <p:spPr>
          <a:xfrm>
            <a:off x="1303019" y="6336792"/>
            <a:ext cx="6858000" cy="2798064"/>
          </a:xfrm>
          <a:prstGeom prst="rect">
            <a:avLst/>
          </a:prstGeom>
          <a:noFill/>
        </p:spPr>
        <p:txBody>
          <a:bodyPr wrap="square" lIns="0" rIns="0" tIns="0" bIns="0">
            <a:spAutoFit/>
          </a:bodyPr>
          <a:lstStyle/>
          <a:p>
            <a:pPr algn="l">
              <a:lnSpc>
                <a:spcPct val="150000"/>
              </a:lnSpc>
            </a:pPr>
            <a:r>
              <a:rPr sz="1575">
                <a:solidFill>
                  <a:srgbClr val="F2ECDD"/>
                </a:solidFill>
                <a:latin typeface="TT Commons Pro"/>
              </a:rPr>
              <a:t>Another centralized layer.</a:t>
            </a:r>
          </a:p>
          <a:p>
            <a:pPr algn="l">
              <a:lnSpc>
                <a:spcPct val="150000"/>
              </a:lnSpc>
            </a:pPr>
            <a:r>
              <a:rPr sz="1575">
                <a:solidFill>
                  <a:srgbClr val="F2ECDD"/>
                </a:solidFill>
                <a:latin typeface="TT Commons Pro"/>
              </a:rPr>
              <a:t>Another source of dependence.</a:t>
            </a:r>
          </a:p>
          <a:p>
            <a:pPr algn="l">
              <a:lnSpc>
                <a:spcPct val="150000"/>
              </a:lnSpc>
            </a:pPr>
            <a:r>
              <a:rPr sz="1575">
                <a:solidFill>
                  <a:srgbClr val="F2ECDD"/>
                </a:solidFill>
                <a:latin typeface="TT Commons Pro"/>
              </a:rPr>
              <a:t>Another surveillance infrastructure.</a:t>
            </a:r>
          </a:p>
          <a:p>
            <a:pPr algn="l">
              <a:lnSpc>
                <a:spcPct val="150000"/>
              </a:lnSpc>
            </a:pPr>
            <a:r>
              <a:rPr sz="1575">
                <a:solidFill>
                  <a:srgbClr val="F2ECDD"/>
                </a:solidFill>
                <a:latin typeface="TT Commons Pro"/>
              </a:rPr>
              <a:t/>
            </a:r>
          </a:p>
          <a:p>
            <a:pPr algn="l">
              <a:lnSpc>
                <a:spcPct val="150000"/>
              </a:lnSpc>
            </a:pPr>
            <a:r>
              <a:rPr sz="1575">
                <a:solidFill>
                  <a:srgbClr val="F2ECDD"/>
                </a:solidFill>
                <a:latin typeface="TT Commons Pro"/>
              </a:rPr>
              <a:t>Already capable of searching, scheduling,</a:t>
            </a:r>
          </a:p>
          <a:p>
            <a:pPr algn="l">
              <a:lnSpc>
                <a:spcPct val="150000"/>
              </a:lnSpc>
            </a:pPr>
            <a:r>
              <a:rPr sz="1575">
                <a:solidFill>
                  <a:srgbClr val="F2ECDD"/>
                </a:solidFill>
                <a:latin typeface="TT Commons Pro"/>
              </a:rPr>
              <a:t>purchasing, organizing — acting.</a:t>
            </a:r>
          </a:p>
        </p:txBody>
      </p:sp>
      <p:sp>
        <p:nvSpPr>
          <p:cNvPr id="13" name="Rounded Rectangle 12"/>
          <p:cNvSpPr/>
          <p:nvPr/>
        </p:nvSpPr>
        <p:spPr>
          <a:xfrm>
            <a:off x="9806940" y="5554979"/>
            <a:ext cx="7680959" cy="3223260"/>
          </a:xfrm>
          <a:prstGeom prst="roundRect">
            <a:avLst>
              <a:gd name="adj" fmla="val 6000"/>
            </a:avLst>
          </a:prstGeom>
          <a:solidFill>
            <a:srgbClr val="0D3E40"/>
          </a:solidFill>
          <a:ln w="22859">
            <a:solidFill>
              <a:srgbClr val="F0CC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87000" y="5870448"/>
            <a:ext cx="6858000" cy="411479"/>
          </a:xfrm>
          <a:prstGeom prst="rect">
            <a:avLst/>
          </a:prstGeom>
          <a:noFill/>
        </p:spPr>
        <p:txBody>
          <a:bodyPr wrap="none" lIns="0" rIns="0" tIns="0" bIns="0">
            <a:spAutoFit/>
          </a:bodyPr>
          <a:lstStyle/>
          <a:p>
            <a:pPr algn="l">
              <a:lnSpc>
                <a:spcPct val="115000"/>
              </a:lnSpc>
            </a:pPr>
            <a:r>
              <a:rPr sz="1500" spc="330">
                <a:solidFill>
                  <a:srgbClr val="EBCF9E"/>
                </a:solidFill>
                <a:latin typeface="Todes 1"/>
              </a:rPr>
              <a:t>OR IT COULD HELP COMMUNITIES</a:t>
            </a:r>
          </a:p>
        </p:txBody>
      </p:sp>
      <p:sp>
        <p:nvSpPr>
          <p:cNvPr id="15" name="TextBox 14"/>
          <p:cNvSpPr txBox="1"/>
          <p:nvPr/>
        </p:nvSpPr>
        <p:spPr>
          <a:xfrm>
            <a:off x="10287000" y="6336792"/>
            <a:ext cx="6858000" cy="2331720"/>
          </a:xfrm>
          <a:prstGeom prst="rect">
            <a:avLst/>
          </a:prstGeom>
          <a:noFill/>
        </p:spPr>
        <p:txBody>
          <a:bodyPr wrap="square" lIns="0" rIns="0" tIns="0" bIns="0">
            <a:spAutoFit/>
          </a:bodyPr>
          <a:lstStyle/>
          <a:p>
            <a:pPr algn="l">
              <a:lnSpc>
                <a:spcPct val="150000"/>
              </a:lnSpc>
            </a:pPr>
            <a:r>
              <a:rPr sz="1575">
                <a:solidFill>
                  <a:srgbClr val="F2ECDD"/>
                </a:solidFill>
                <a:latin typeface="TT Commons Pro"/>
              </a:rPr>
              <a:t>Find resources. Coordinate work.</a:t>
            </a:r>
          </a:p>
          <a:p>
            <a:pPr algn="l">
              <a:lnSpc>
                <a:spcPct val="150000"/>
              </a:lnSpc>
            </a:pPr>
            <a:r>
              <a:rPr sz="1575">
                <a:solidFill>
                  <a:srgbClr val="F2ECDD"/>
                </a:solidFill>
                <a:latin typeface="TT Commons Pro"/>
              </a:rPr>
              <a:t>Understand needs. Surface unused capacity.</a:t>
            </a:r>
          </a:p>
          <a:p>
            <a:pPr algn="l">
              <a:lnSpc>
                <a:spcPct val="150000"/>
              </a:lnSpc>
            </a:pPr>
            <a:r>
              <a:rPr sz="1575">
                <a:solidFill>
                  <a:srgbClr val="F2ECDD"/>
                </a:solidFill>
                <a:latin typeface="TT Commons Pro"/>
              </a:rPr>
              <a:t/>
            </a:r>
          </a:p>
          <a:p>
            <a:pPr algn="l">
              <a:lnSpc>
                <a:spcPct val="150000"/>
              </a:lnSpc>
            </a:pPr>
            <a:r>
              <a:rPr sz="1575">
                <a:solidFill>
                  <a:srgbClr val="F2ECDD"/>
                </a:solidFill>
                <a:latin typeface="TT Commons Pro"/>
              </a:rPr>
              <a:t>Care for place — and steward the</a:t>
            </a:r>
          </a:p>
          <a:p>
            <a:pPr algn="l">
              <a:lnSpc>
                <a:spcPct val="150000"/>
              </a:lnSpc>
            </a:pPr>
            <a:r>
              <a:rPr sz="1575">
                <a:solidFill>
                  <a:srgbClr val="F2ECDD"/>
                </a:solidFill>
                <a:latin typeface="TT Commons Pro"/>
              </a:rPr>
              <a:t>ecological systems that sustain it.</a:t>
            </a:r>
          </a:p>
        </p:txBody>
      </p:sp>
      <p:sp>
        <p:nvSpPr>
          <p:cNvPr id="16" name="TextBox 15"/>
          <p:cNvSpPr txBox="1"/>
          <p:nvPr/>
        </p:nvSpPr>
        <p:spPr>
          <a:xfrm>
            <a:off x="822959" y="9079992"/>
            <a:ext cx="16596359" cy="1097280"/>
          </a:xfrm>
          <a:prstGeom prst="rect">
            <a:avLst/>
          </a:prstGeom>
          <a:noFill/>
        </p:spPr>
        <p:txBody>
          <a:bodyPr wrap="square" lIns="0" rIns="0" tIns="0" bIns="0">
            <a:spAutoFit/>
          </a:bodyPr>
          <a:lstStyle/>
          <a:p>
            <a:pPr algn="ctr">
              <a:lnSpc>
                <a:spcPct val="140000"/>
              </a:lnSpc>
            </a:pPr>
            <a:r>
              <a:rPr sz="1875">
                <a:solidFill>
                  <a:srgbClr val="F2ECDD"/>
                </a:solidFill>
                <a:latin typeface="TT Commons Pro"/>
              </a:rPr>
              <a:t>Does AI make us more dependent on distant infrastructure — </a:t>
            </a:r>
            <a:r>
              <a:rPr sz="2025" spc="20">
                <a:solidFill>
                  <a:srgbClr val="9FE8DC"/>
                </a:solidFill>
                <a:latin typeface="Alike Italics"/>
              </a:rPr>
              <a:t>or more capable where we are?</a:t>
            </a:r>
          </a:p>
        </p:txBody>
      </p:sp>
      <p:pic>
        <p:nvPicPr>
          <p:cNvPr id="17" name="Picture 16" descr="rivr-symbol-light.png"/>
          <p:cNvPicPr>
            <a:picLocks noChangeAspect="1"/>
          </p:cNvPicPr>
          <p:nvPr/>
        </p:nvPicPr>
        <p:blipFill>
          <a:blip r:embed="rId5"/>
          <a:stretch>
            <a:fillRect/>
          </a:stretch>
        </p:blipFill>
        <p:spPr>
          <a:xfrm>
            <a:off x="576072" y="9518904"/>
            <a:ext cx="521208" cy="521208"/>
          </a:xfrm>
          <a:prstGeom prst="rect">
            <a:avLst/>
          </a:prstGeom>
        </p:spPr>
      </p:pic>
      <p:sp>
        <p:nvSpPr>
          <p:cNvPr id="18" name="TextBox 17"/>
          <p:cNvSpPr txBox="1"/>
          <p:nvPr/>
        </p:nvSpPr>
        <p:spPr>
          <a:xfrm>
            <a:off x="1371600" y="9724644"/>
            <a:ext cx="5486400" cy="301752"/>
          </a:xfrm>
          <a:prstGeom prst="rect">
            <a:avLst/>
          </a:prstGeom>
          <a:noFill/>
        </p:spPr>
        <p:txBody>
          <a:bodyPr wrap="none" lIns="0" rIns="0" tIns="0" bIns="0">
            <a:spAutoFit/>
          </a:bodyPr>
          <a:lstStyle/>
          <a:p>
            <a:pPr algn="l">
              <a:lnSpc>
                <a:spcPct val="115000"/>
              </a:lnSpc>
            </a:pPr>
            <a:r>
              <a:rPr sz="1350" spc="150">
                <a:solidFill>
                  <a:srgbClr val="AFC4C2"/>
                </a:solidFill>
                <a:latin typeface="TT Commons Pro"/>
              </a:rPr>
              <a:t>Rivr · Seed Round 2026</a:t>
            </a:r>
          </a:p>
        </p:txBody>
      </p:sp>
      <p:sp>
        <p:nvSpPr>
          <p:cNvPr id="19" name="TextBox 18"/>
          <p:cNvSpPr txBox="1"/>
          <p:nvPr/>
        </p:nvSpPr>
        <p:spPr>
          <a:xfrm>
            <a:off x="16870680" y="9724644"/>
            <a:ext cx="960119" cy="301752"/>
          </a:xfrm>
          <a:prstGeom prst="rect">
            <a:avLst/>
          </a:prstGeom>
          <a:noFill/>
        </p:spPr>
        <p:txBody>
          <a:bodyPr wrap="none" lIns="0" rIns="0" tIns="0" bIns="0">
            <a:spAutoFit/>
          </a:bodyPr>
          <a:lstStyle/>
          <a:p>
            <a:pPr algn="r">
              <a:lnSpc>
                <a:spcPct val="115000"/>
              </a:lnSpc>
            </a:pPr>
            <a:r>
              <a:rPr sz="1350" spc="150">
                <a:solidFill>
                  <a:srgbClr val="AFC4C2"/>
                </a:solidFill>
                <a:latin typeface="TT Commons Pro"/>
              </a:rPr>
              <a:t>34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03333"/>
        </a:solidFill>
        <a:effectLst/>
      </p:bgPr>
    </p:bg>
    <p:spTree>
      <p:nvGrpSpPr>
        <p:cNvPr id="1" name=""/>
        <p:cNvGrpSpPr/>
        <p:nvPr/>
      </p:nvGrpSpPr>
      <p:grpSpPr/>
      <p:pic>
        <p:nvPicPr>
          <p:cNvPr id="2" name="Picture 1" descr="bg_c31.jpg"/>
          <p:cNvPicPr>
            <a:picLocks noChangeAspect="1"/>
          </p:cNvPicPr>
          <p:nvPr/>
        </p:nvPicPr>
        <p:blipFill>
          <a:blip r:embed="rId2"/>
          <a:stretch>
            <a:fillRect/>
          </a:stretch>
        </p:blipFill>
        <p:spPr>
          <a:xfrm>
            <a:off x="0" y="0"/>
            <a:ext cx="18287542" cy="10287000"/>
          </a:xfrm>
          <a:prstGeom prst="rect">
            <a:avLst/>
          </a:prstGeom>
        </p:spPr>
      </p:pic>
      <p:sp>
        <p:nvSpPr>
          <p:cNvPr id="3" name="TextBox 2"/>
          <p:cNvSpPr txBox="1"/>
          <p:nvPr/>
        </p:nvSpPr>
        <p:spPr>
          <a:xfrm>
            <a:off x="822959" y="822959"/>
            <a:ext cx="16733519" cy="384048"/>
          </a:xfrm>
          <a:prstGeom prst="rect">
            <a:avLst/>
          </a:prstGeom>
          <a:noFill/>
        </p:spPr>
        <p:txBody>
          <a:bodyPr wrap="none" lIns="0" rIns="0" tIns="0" bIns="0">
            <a:spAutoFit/>
          </a:bodyPr>
          <a:lstStyle/>
          <a:p>
            <a:pPr algn="l">
              <a:lnSpc>
                <a:spcPct val="115000"/>
              </a:lnSpc>
            </a:pPr>
            <a:r>
              <a:rPr sz="1650" spc="330">
                <a:solidFill>
                  <a:srgbClr val="9FE8DC"/>
                </a:solidFill>
                <a:latin typeface="Todes 1"/>
              </a:rPr>
              <a:t>OWNERSHIP</a:t>
            </a:r>
          </a:p>
        </p:txBody>
      </p:sp>
      <p:sp>
        <p:nvSpPr>
          <p:cNvPr id="4" name="TextBox 3"/>
          <p:cNvSpPr txBox="1"/>
          <p:nvPr/>
        </p:nvSpPr>
        <p:spPr>
          <a:xfrm>
            <a:off x="822959" y="1699869"/>
            <a:ext cx="10267632" cy="1075620"/>
          </a:xfrm>
          <a:prstGeom prst="rect">
            <a:avLst/>
          </a:prstGeom>
          <a:noFill/>
        </p:spPr>
        <p:txBody>
          <a:bodyPr wrap="none" lIns="0" rIns="0" tIns="0" bIns="0">
            <a:spAutoFit/>
          </a:bodyPr>
          <a:lstStyle/>
          <a:p>
            <a:pPr algn="l">
              <a:lnSpc>
                <a:spcPct val="115000"/>
              </a:lnSpc>
            </a:pPr>
            <a:r>
              <a:rPr sz="5841" spc="-79">
                <a:solidFill>
                  <a:srgbClr val="F4EAD8"/>
                </a:solidFill>
                <a:latin typeface="Todes 1"/>
              </a:rPr>
              <a:t>Ownership changes </a:t>
            </a:r>
          </a:p>
        </p:txBody>
      </p:sp>
      <p:sp>
        <p:nvSpPr>
          <p:cNvPr id="5" name="TextBox 4"/>
          <p:cNvSpPr txBox="1"/>
          <p:nvPr/>
        </p:nvSpPr>
        <p:spPr>
          <a:xfrm>
            <a:off x="8872474" y="1645919"/>
            <a:ext cx="5920740" cy="1173403"/>
          </a:xfrm>
          <a:prstGeom prst="rect">
            <a:avLst/>
          </a:prstGeom>
          <a:noFill/>
        </p:spPr>
        <p:txBody>
          <a:bodyPr wrap="none" lIns="0" rIns="0" tIns="0" bIns="0">
            <a:spAutoFit/>
          </a:bodyPr>
          <a:lstStyle/>
          <a:p>
            <a:pPr algn="l">
              <a:lnSpc>
                <a:spcPct val="115000"/>
              </a:lnSpc>
            </a:pPr>
            <a:r>
              <a:rPr sz="6372" spc="-75">
                <a:solidFill>
                  <a:srgbClr val="F0CC8B"/>
                </a:solidFill>
                <a:latin typeface="Ibarra Real Nova Italics"/>
              </a:rPr>
              <a:t>the incentives.</a:t>
            </a:r>
          </a:p>
        </p:txBody>
      </p:sp>
      <p:sp>
        <p:nvSpPr>
          <p:cNvPr id="6" name="TextBox 5"/>
          <p:cNvSpPr txBox="1"/>
          <p:nvPr/>
        </p:nvSpPr>
        <p:spPr>
          <a:xfrm>
            <a:off x="822959" y="3703320"/>
            <a:ext cx="7955279" cy="411479"/>
          </a:xfrm>
          <a:prstGeom prst="rect">
            <a:avLst/>
          </a:prstGeom>
          <a:noFill/>
        </p:spPr>
        <p:txBody>
          <a:bodyPr wrap="none" lIns="0" rIns="0" tIns="0" bIns="0">
            <a:spAutoFit/>
          </a:bodyPr>
          <a:lstStyle/>
          <a:p>
            <a:pPr algn="l">
              <a:lnSpc>
                <a:spcPct val="115000"/>
              </a:lnSpc>
            </a:pPr>
            <a:r>
              <a:rPr sz="1500" spc="330">
                <a:solidFill>
                  <a:srgbClr val="D3B7A5"/>
                </a:solidFill>
                <a:latin typeface="Todes 1"/>
              </a:rPr>
              <a:t>MOST PLATFORMS — VALUE CONCENTRATES UPWARD</a:t>
            </a:r>
          </a:p>
        </p:txBody>
      </p:sp>
      <p:sp>
        <p:nvSpPr>
          <p:cNvPr id="7" name="Rounded Rectangle 6"/>
          <p:cNvSpPr/>
          <p:nvPr/>
        </p:nvSpPr>
        <p:spPr>
          <a:xfrm>
            <a:off x="822959" y="4320540"/>
            <a:ext cx="3291839" cy="576072"/>
          </a:xfrm>
          <a:prstGeom prst="roundRect">
            <a:avLst>
              <a:gd name="adj" fmla="val 30000"/>
            </a:avLst>
          </a:prstGeom>
          <a:solidFill>
            <a:srgbClr val="084B4D"/>
          </a:solidFill>
          <a:ln w="15240">
            <a:solidFill>
              <a:srgbClr val="D3B7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4416552"/>
            <a:ext cx="3017520" cy="411479"/>
          </a:xfrm>
          <a:prstGeom prst="rect">
            <a:avLst/>
          </a:prstGeom>
          <a:noFill/>
        </p:spPr>
        <p:txBody>
          <a:bodyPr wrap="none" lIns="0" rIns="0" tIns="0" bIns="0">
            <a:spAutoFit/>
          </a:bodyPr>
          <a:lstStyle/>
          <a:p>
            <a:pPr algn="l">
              <a:lnSpc>
                <a:spcPct val="115000"/>
              </a:lnSpc>
            </a:pPr>
            <a:r>
              <a:rPr sz="1575">
                <a:solidFill>
                  <a:srgbClr val="AFC4C2"/>
                </a:solidFill>
                <a:latin typeface="TT Commons Pro"/>
              </a:rPr>
              <a:t>attention</a:t>
            </a:r>
          </a:p>
        </p:txBody>
      </p:sp>
      <p:cxnSp>
        <p:nvCxnSpPr>
          <p:cNvPr id="9" name="Connector 8"/>
          <p:cNvCxnSpPr/>
          <p:nvPr/>
        </p:nvCxnSpPr>
        <p:spPr>
          <a:xfrm>
            <a:off x="4183379" y="4608576"/>
            <a:ext cx="2057400" cy="329184"/>
          </a:xfrm>
          <a:prstGeom prst="line">
            <a:avLst/>
          </a:prstGeom>
          <a:ln w="11430">
            <a:solidFill>
              <a:srgbClr val="D3B7A5"/>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822959" y="5033772"/>
            <a:ext cx="3291839" cy="576072"/>
          </a:xfrm>
          <a:prstGeom prst="roundRect">
            <a:avLst>
              <a:gd name="adj" fmla="val 30000"/>
            </a:avLst>
          </a:prstGeom>
          <a:solidFill>
            <a:srgbClr val="084B4D"/>
          </a:solidFill>
          <a:ln w="15240">
            <a:solidFill>
              <a:srgbClr val="D3B7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9848" y="5129783"/>
            <a:ext cx="3017520" cy="411479"/>
          </a:xfrm>
          <a:prstGeom prst="rect">
            <a:avLst/>
          </a:prstGeom>
          <a:noFill/>
        </p:spPr>
        <p:txBody>
          <a:bodyPr wrap="none" lIns="0" rIns="0" tIns="0" bIns="0">
            <a:spAutoFit/>
          </a:bodyPr>
          <a:lstStyle/>
          <a:p>
            <a:pPr algn="l">
              <a:lnSpc>
                <a:spcPct val="115000"/>
              </a:lnSpc>
            </a:pPr>
            <a:r>
              <a:rPr sz="1575">
                <a:solidFill>
                  <a:srgbClr val="AFC4C2"/>
                </a:solidFill>
                <a:latin typeface="TT Commons Pro"/>
              </a:rPr>
              <a:t>data</a:t>
            </a:r>
          </a:p>
        </p:txBody>
      </p:sp>
      <p:cxnSp>
        <p:nvCxnSpPr>
          <p:cNvPr id="12" name="Connector 11"/>
          <p:cNvCxnSpPr/>
          <p:nvPr/>
        </p:nvCxnSpPr>
        <p:spPr>
          <a:xfrm flipV="1">
            <a:off x="4183379" y="4937760"/>
            <a:ext cx="2057400" cy="384048"/>
          </a:xfrm>
          <a:prstGeom prst="line">
            <a:avLst/>
          </a:prstGeom>
          <a:ln w="11430">
            <a:solidFill>
              <a:srgbClr val="D3B7A5"/>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22959" y="5747003"/>
            <a:ext cx="3291839" cy="576072"/>
          </a:xfrm>
          <a:prstGeom prst="roundRect">
            <a:avLst>
              <a:gd name="adj" fmla="val 30000"/>
            </a:avLst>
          </a:prstGeom>
          <a:solidFill>
            <a:srgbClr val="084B4D"/>
          </a:solidFill>
          <a:ln w="15240">
            <a:solidFill>
              <a:srgbClr val="D3B7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9848" y="5843016"/>
            <a:ext cx="3017520" cy="411479"/>
          </a:xfrm>
          <a:prstGeom prst="rect">
            <a:avLst/>
          </a:prstGeom>
          <a:noFill/>
        </p:spPr>
        <p:txBody>
          <a:bodyPr wrap="none" lIns="0" rIns="0" tIns="0" bIns="0">
            <a:spAutoFit/>
          </a:bodyPr>
          <a:lstStyle/>
          <a:p>
            <a:pPr algn="l">
              <a:lnSpc>
                <a:spcPct val="115000"/>
              </a:lnSpc>
            </a:pPr>
            <a:r>
              <a:rPr sz="1575">
                <a:solidFill>
                  <a:srgbClr val="AFC4C2"/>
                </a:solidFill>
                <a:latin typeface="TT Commons Pro"/>
              </a:rPr>
              <a:t>transactions</a:t>
            </a:r>
          </a:p>
        </p:txBody>
      </p:sp>
      <p:cxnSp>
        <p:nvCxnSpPr>
          <p:cNvPr id="15" name="Connector 14"/>
          <p:cNvCxnSpPr/>
          <p:nvPr/>
        </p:nvCxnSpPr>
        <p:spPr>
          <a:xfrm flipV="1">
            <a:off x="4183379" y="4937760"/>
            <a:ext cx="2057400" cy="1097280"/>
          </a:xfrm>
          <a:prstGeom prst="line">
            <a:avLst/>
          </a:prstGeom>
          <a:ln w="11430">
            <a:solidFill>
              <a:srgbClr val="D3B7A5"/>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6343650" y="4217670"/>
            <a:ext cx="1440180" cy="1440180"/>
          </a:xfrm>
          <a:prstGeom prst="ellipse">
            <a:avLst/>
          </a:prstGeom>
          <a:solidFill>
            <a:srgbClr val="084B4D"/>
          </a:solidFill>
          <a:ln w="15240">
            <a:solidFill>
              <a:srgbClr val="D3B7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66459" y="4773168"/>
            <a:ext cx="2194560" cy="411479"/>
          </a:xfrm>
          <a:prstGeom prst="rect">
            <a:avLst/>
          </a:prstGeom>
          <a:noFill/>
        </p:spPr>
        <p:txBody>
          <a:bodyPr wrap="none" lIns="0" rIns="0" tIns="0" bIns="0">
            <a:spAutoFit/>
          </a:bodyPr>
          <a:lstStyle/>
          <a:p>
            <a:pPr algn="ctr">
              <a:lnSpc>
                <a:spcPct val="115000"/>
              </a:lnSpc>
            </a:pPr>
            <a:r>
              <a:rPr sz="1275" spc="330">
                <a:solidFill>
                  <a:srgbClr val="D3B7A5"/>
                </a:solidFill>
                <a:latin typeface="Todes 1"/>
              </a:rPr>
              <a:t>PLATFORM</a:t>
            </a:r>
          </a:p>
        </p:txBody>
      </p:sp>
      <p:sp>
        <p:nvSpPr>
          <p:cNvPr id="18" name="Up Arrow 17"/>
          <p:cNvSpPr/>
          <p:nvPr/>
        </p:nvSpPr>
        <p:spPr>
          <a:xfrm>
            <a:off x="6885431" y="3223260"/>
            <a:ext cx="301752" cy="754380"/>
          </a:xfrm>
          <a:prstGeom prst="upArrow">
            <a:avLst/>
          </a:prstGeom>
          <a:solidFill>
            <a:srgbClr val="D3B7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0" y="3703320"/>
            <a:ext cx="8503920" cy="411479"/>
          </a:xfrm>
          <a:prstGeom prst="rect">
            <a:avLst/>
          </a:prstGeom>
          <a:noFill/>
        </p:spPr>
        <p:txBody>
          <a:bodyPr wrap="none" lIns="0" rIns="0" tIns="0" bIns="0">
            <a:spAutoFit/>
          </a:bodyPr>
          <a:lstStyle/>
          <a:p>
            <a:pPr algn="l">
              <a:lnSpc>
                <a:spcPct val="115000"/>
              </a:lnSpc>
            </a:pPr>
            <a:r>
              <a:rPr sz="1425" spc="330">
                <a:solidFill>
                  <a:srgbClr val="EBCF9E"/>
                </a:solidFill>
                <a:latin typeface="Todes 1"/>
              </a:rPr>
              <a:t>RIVR'S LOOP — VALUE RETURNS TO PARTICIPANTS</a:t>
            </a:r>
          </a:p>
        </p:txBody>
      </p:sp>
      <p:cxnSp>
        <p:nvCxnSpPr>
          <p:cNvPr id="20" name="Connector 19"/>
          <p:cNvCxnSpPr/>
          <p:nvPr/>
        </p:nvCxnSpPr>
        <p:spPr>
          <a:xfrm>
            <a:off x="13944508" y="4756807"/>
            <a:ext cx="59651" cy="13794"/>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4004159" y="4770601"/>
            <a:ext cx="59134" cy="15866"/>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4063293" y="4786467"/>
            <a:ext cx="58545" cy="17918"/>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4121838" y="4804385"/>
            <a:ext cx="57884" cy="19948"/>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4179722" y="4824333"/>
            <a:ext cx="57154" cy="21955"/>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4236876" y="4846288"/>
            <a:ext cx="56353" cy="23934"/>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4293229" y="4870222"/>
            <a:ext cx="55484" cy="25885"/>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4348713" y="4896107"/>
            <a:ext cx="54549" cy="27803"/>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4403262" y="4923910"/>
            <a:ext cx="53545" cy="29689"/>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4456807" y="4953599"/>
            <a:ext cx="52478" cy="31537"/>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4509285" y="4985136"/>
            <a:ext cx="51346" cy="33348"/>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4560631" y="5018484"/>
            <a:ext cx="50153" cy="35118"/>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4610784" y="5053602"/>
            <a:ext cx="48897" cy="36846"/>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4659681" y="5090448"/>
            <a:ext cx="47583" cy="38528"/>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4707264" y="5128976"/>
            <a:ext cx="46210" cy="40164"/>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4753474" y="5169140"/>
            <a:ext cx="44782" cy="41750"/>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4798256" y="5210890"/>
            <a:ext cx="43299" cy="43287"/>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4841555" y="5254177"/>
            <a:ext cx="41763" cy="44770"/>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4883318" y="5298947"/>
            <a:ext cx="40177" cy="46199"/>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4923495" y="5345146"/>
            <a:ext cx="38542" cy="47572"/>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4962037" y="5392718"/>
            <a:ext cx="36859" cy="48887"/>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4998896" y="5441605"/>
            <a:ext cx="35132" cy="50142"/>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5034028" y="5491747"/>
            <a:ext cx="33363" cy="51337"/>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5067391" y="5543084"/>
            <a:ext cx="31552" cy="52469"/>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sp>
        <p:nvSpPr>
          <p:cNvPr id="44" name="Isosceles Triangle 43"/>
          <p:cNvSpPr/>
          <p:nvPr/>
        </p:nvSpPr>
        <p:spPr>
          <a:xfrm rot="7619946">
            <a:off x="14507914" y="4950732"/>
            <a:ext cx="205739" cy="205739"/>
          </a:xfrm>
          <a:prstGeom prst="triangle">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15324939" y="6291096"/>
            <a:ext cx="5314" cy="60994"/>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5330253" y="6352090"/>
            <a:ext cx="3184" cy="61143"/>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5333437" y="6413233"/>
            <a:ext cx="1050" cy="61216"/>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15333403" y="6474449"/>
            <a:ext cx="1084" cy="61216"/>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a:off x="15330184" y="6535665"/>
            <a:ext cx="3219" cy="61140"/>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a:off x="15324835" y="6596805"/>
            <a:ext cx="5349" cy="60992"/>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a:off x="15317363" y="6657797"/>
            <a:ext cx="7472" cy="60767"/>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a:off x="15307777" y="6718564"/>
            <a:ext cx="9586" cy="60470"/>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a:off x="15296088" y="6779034"/>
            <a:ext cx="11689" cy="60099"/>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a:off x="15282311" y="6839133"/>
            <a:ext cx="13777" cy="59655"/>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a:off x="15266461" y="6898788"/>
            <a:ext cx="15850" cy="59139"/>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a:off x="15248560" y="6957927"/>
            <a:ext cx="17901" cy="58550"/>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a:off x="15228628" y="7016477"/>
            <a:ext cx="19932" cy="57890"/>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a:off x="15206689" y="7074367"/>
            <a:ext cx="21939" cy="57159"/>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a:off x="15182771" y="7131526"/>
            <a:ext cx="23918" cy="56360"/>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a:off x="15156902" y="7187886"/>
            <a:ext cx="25869" cy="55492"/>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a:off x="15129114" y="7243378"/>
            <a:ext cx="27788" cy="54556"/>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a:off x="15099441" y="7297934"/>
            <a:ext cx="29673" cy="53554"/>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a:off x="15067918" y="7351488"/>
            <a:ext cx="31523" cy="52487"/>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a:off x="15034585" y="7403975"/>
            <a:ext cx="33333" cy="51356"/>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a:off x="14999481" y="7455331"/>
            <a:ext cx="35104" cy="50162"/>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a:off x="14962649" y="7505493"/>
            <a:ext cx="36832" cy="48908"/>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a:off x="14924135" y="7554401"/>
            <a:ext cx="38514" cy="47593"/>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14883984" y="7601994"/>
            <a:ext cx="40151" cy="46222"/>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sp>
        <p:nvSpPr>
          <p:cNvPr id="69" name="Isosceles Triangle 68"/>
          <p:cNvSpPr/>
          <p:nvPr/>
        </p:nvSpPr>
        <p:spPr>
          <a:xfrm rot="11939946">
            <a:off x="15145690" y="6913607"/>
            <a:ext cx="205739" cy="205739"/>
          </a:xfrm>
          <a:prstGeom prst="triangle">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0" name="Connector 69"/>
          <p:cNvCxnSpPr/>
          <p:nvPr/>
        </p:nvCxnSpPr>
        <p:spPr>
          <a:xfrm flipH="1">
            <a:off x="14235953" y="8078085"/>
            <a:ext cx="56367" cy="23903"/>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a:off x="14178787" y="8101988"/>
            <a:ext cx="57166" cy="21922"/>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a:off x="14120891" y="8123910"/>
            <a:ext cx="57896" cy="19916"/>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a:off x="14062337" y="8143826"/>
            <a:ext cx="58554" cy="17885"/>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a:off x="14003194" y="8161711"/>
            <a:ext cx="59143" cy="15832"/>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H="1">
            <a:off x="13943535" y="8177543"/>
            <a:ext cx="59659" cy="13760"/>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H="1">
            <a:off x="13883432" y="8191303"/>
            <a:ext cx="60103" cy="11672"/>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H="1">
            <a:off x="13822960" y="8202975"/>
            <a:ext cx="60472" cy="9569"/>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H="1">
            <a:off x="13762190" y="8212544"/>
            <a:ext cx="60770" cy="7455"/>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H="1">
            <a:off x="13701197" y="8219999"/>
            <a:ext cx="60993" cy="5332"/>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H="1">
            <a:off x="13640055" y="8225331"/>
            <a:ext cx="61142" cy="3201"/>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H="1">
            <a:off x="13578840" y="8228532"/>
            <a:ext cx="61215" cy="1068"/>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H="1" flipV="1">
            <a:off x="13517624" y="8228532"/>
            <a:ext cx="61216" cy="1068"/>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H="1" flipV="1">
            <a:off x="13456482" y="8225331"/>
            <a:ext cx="61142" cy="3201"/>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H="1" flipV="1">
            <a:off x="13395489" y="8219999"/>
            <a:ext cx="60993" cy="5332"/>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H="1" flipV="1">
            <a:off x="13334719" y="8212544"/>
            <a:ext cx="60770" cy="7455"/>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H="1" flipV="1">
            <a:off x="13274247" y="8202975"/>
            <a:ext cx="60472" cy="9569"/>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H="1" flipV="1">
            <a:off x="13214144" y="8191303"/>
            <a:ext cx="60103" cy="11672"/>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H="1" flipV="1">
            <a:off x="13154485" y="8177543"/>
            <a:ext cx="59659" cy="13760"/>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H="1" flipV="1">
            <a:off x="13095342" y="8161711"/>
            <a:ext cx="59143" cy="15832"/>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H="1" flipV="1">
            <a:off x="13036788" y="8143826"/>
            <a:ext cx="58554" cy="17885"/>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H="1" flipV="1">
            <a:off x="12978892" y="8123910"/>
            <a:ext cx="57896" cy="19916"/>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H="1" flipV="1">
            <a:off x="12921726" y="8101988"/>
            <a:ext cx="57166" cy="21922"/>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H="1" flipV="1">
            <a:off x="12865359" y="8078085"/>
            <a:ext cx="56367" cy="23903"/>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sp>
        <p:nvSpPr>
          <p:cNvPr id="94" name="Isosceles Triangle 93"/>
          <p:cNvSpPr/>
          <p:nvPr/>
        </p:nvSpPr>
        <p:spPr>
          <a:xfrm rot="16259946">
            <a:off x="13475970" y="8126729"/>
            <a:ext cx="205739" cy="205739"/>
          </a:xfrm>
          <a:prstGeom prst="triangle">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5" name="Connector 94"/>
          <p:cNvCxnSpPr/>
          <p:nvPr/>
        </p:nvCxnSpPr>
        <p:spPr>
          <a:xfrm flipH="1" flipV="1">
            <a:off x="12233544" y="7601994"/>
            <a:ext cx="40151" cy="46222"/>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H="1" flipV="1">
            <a:off x="12195030" y="7554401"/>
            <a:ext cx="38514" cy="47593"/>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H="1" flipV="1">
            <a:off x="12158198" y="7505493"/>
            <a:ext cx="36832" cy="48908"/>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H="1" flipV="1">
            <a:off x="12123094" y="7455331"/>
            <a:ext cx="35104" cy="50162"/>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H="1" flipV="1">
            <a:off x="12089761" y="7403975"/>
            <a:ext cx="33333" cy="51356"/>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H="1" flipV="1">
            <a:off x="12058238" y="7351488"/>
            <a:ext cx="31523" cy="52487"/>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H="1" flipV="1">
            <a:off x="12028565" y="7297934"/>
            <a:ext cx="29673" cy="53554"/>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H="1" flipV="1">
            <a:off x="12000777" y="7243378"/>
            <a:ext cx="27788" cy="54556"/>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H="1" flipV="1">
            <a:off x="11974908" y="7187886"/>
            <a:ext cx="25869" cy="55492"/>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H="1" flipV="1">
            <a:off x="11950990" y="7131526"/>
            <a:ext cx="23918" cy="56360"/>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H="1" flipV="1">
            <a:off x="11929051" y="7074367"/>
            <a:ext cx="21939" cy="57159"/>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H="1" flipV="1">
            <a:off x="11909119" y="7016477"/>
            <a:ext cx="19932" cy="57890"/>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H="1" flipV="1">
            <a:off x="11891218" y="6957927"/>
            <a:ext cx="17901" cy="58550"/>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H="1" flipV="1">
            <a:off x="11875368" y="6898788"/>
            <a:ext cx="15850" cy="59139"/>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H="1" flipV="1">
            <a:off x="11861591" y="6839133"/>
            <a:ext cx="13777" cy="59655"/>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H="1" flipV="1">
            <a:off x="11849902" y="6779034"/>
            <a:ext cx="11689" cy="60099"/>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H="1" flipV="1">
            <a:off x="11840316" y="6718564"/>
            <a:ext cx="9586" cy="60470"/>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H="1" flipV="1">
            <a:off x="11832844" y="6657797"/>
            <a:ext cx="7472" cy="60767"/>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H="1" flipV="1">
            <a:off x="11827495" y="6596805"/>
            <a:ext cx="5349" cy="60992"/>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H="1" flipV="1">
            <a:off x="11824276" y="6535665"/>
            <a:ext cx="3219" cy="61140"/>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H="1" flipV="1">
            <a:off x="11823192" y="6474449"/>
            <a:ext cx="1084" cy="61216"/>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11823192" y="6413233"/>
            <a:ext cx="1050" cy="61216"/>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11824242" y="6352090"/>
            <a:ext cx="3184" cy="61143"/>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11827426" y="6291096"/>
            <a:ext cx="5314" cy="60994"/>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sp>
        <p:nvSpPr>
          <p:cNvPr id="119" name="Isosceles Triangle 118"/>
          <p:cNvSpPr/>
          <p:nvPr/>
        </p:nvSpPr>
        <p:spPr>
          <a:xfrm rot="20579946">
            <a:off x="11806249" y="6913607"/>
            <a:ext cx="205739" cy="205739"/>
          </a:xfrm>
          <a:prstGeom prst="triangle">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0" name="Connector 119"/>
          <p:cNvCxnSpPr/>
          <p:nvPr/>
        </p:nvCxnSpPr>
        <p:spPr>
          <a:xfrm flipV="1">
            <a:off x="12058736" y="5543084"/>
            <a:ext cx="31552" cy="52469"/>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12090288" y="5491747"/>
            <a:ext cx="33363" cy="51337"/>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12123651" y="5441605"/>
            <a:ext cx="35132" cy="50142"/>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12158783" y="5392718"/>
            <a:ext cx="36859" cy="48887"/>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12195642" y="5345146"/>
            <a:ext cx="38542" cy="47572"/>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12234184" y="5298947"/>
            <a:ext cx="40177" cy="46199"/>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12274361" y="5254177"/>
            <a:ext cx="41763" cy="44770"/>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12316124" y="5210890"/>
            <a:ext cx="43299" cy="43287"/>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12359423" y="5169140"/>
            <a:ext cx="44782" cy="41750"/>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12404205" y="5128976"/>
            <a:ext cx="46210" cy="40164"/>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12450415" y="5090448"/>
            <a:ext cx="47583" cy="38528"/>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12497998" y="5053602"/>
            <a:ext cx="48897" cy="36846"/>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12546895" y="5018484"/>
            <a:ext cx="50153" cy="35118"/>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12597048" y="4985136"/>
            <a:ext cx="51346" cy="33348"/>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12648394" y="4953599"/>
            <a:ext cx="52478" cy="31537"/>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12700872" y="4923910"/>
            <a:ext cx="53545" cy="29689"/>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12754417" y="4896107"/>
            <a:ext cx="54549" cy="27803"/>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12808966" y="4870222"/>
            <a:ext cx="55484" cy="25885"/>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12864450" y="4846288"/>
            <a:ext cx="56353" cy="23934"/>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12920803" y="4824333"/>
            <a:ext cx="57154" cy="21955"/>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12977957" y="4804385"/>
            <a:ext cx="57884" cy="19948"/>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13035841" y="4786467"/>
            <a:ext cx="58545" cy="17918"/>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13094386" y="4770601"/>
            <a:ext cx="59134" cy="15866"/>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13153520" y="4756807"/>
            <a:ext cx="59651" cy="13794"/>
          </a:xfrm>
          <a:prstGeom prst="line">
            <a:avLst/>
          </a:prstGeom>
          <a:ln w="12700">
            <a:solidFill>
              <a:srgbClr val="F0CC8B"/>
            </a:solidFill>
          </a:ln>
        </p:spPr>
        <p:style>
          <a:lnRef idx="2">
            <a:schemeClr val="accent1"/>
          </a:lnRef>
          <a:fillRef idx="0">
            <a:schemeClr val="accent1"/>
          </a:fillRef>
          <a:effectRef idx="1">
            <a:schemeClr val="accent1"/>
          </a:effectRef>
          <a:fontRef idx="minor">
            <a:schemeClr val="tx1"/>
          </a:fontRef>
        </p:style>
      </p:cxnSp>
      <p:sp>
        <p:nvSpPr>
          <p:cNvPr id="144" name="Isosceles Triangle 143"/>
          <p:cNvSpPr/>
          <p:nvPr/>
        </p:nvSpPr>
        <p:spPr>
          <a:xfrm rot="3299946">
            <a:off x="12444025" y="4950732"/>
            <a:ext cx="205739" cy="205739"/>
          </a:xfrm>
          <a:prstGeom prst="triangle">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12989052" y="4128515"/>
            <a:ext cx="1179576" cy="1179576"/>
          </a:xfrm>
          <a:prstGeom prst="ellipse">
            <a:avLst/>
          </a:prstGeom>
          <a:solidFill>
            <a:srgbClr val="0D3E40"/>
          </a:solidFill>
          <a:ln w="15240">
            <a:solidFill>
              <a:srgbClr val="EBCF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6" name="Picture 145" descr="person.png"/>
          <p:cNvPicPr>
            <a:picLocks noChangeAspect="1"/>
          </p:cNvPicPr>
          <p:nvPr/>
        </p:nvPicPr>
        <p:blipFill>
          <a:blip r:embed="rId4"/>
          <a:stretch>
            <a:fillRect/>
          </a:stretch>
        </p:blipFill>
        <p:spPr>
          <a:xfrm>
            <a:off x="13373100" y="4320540"/>
            <a:ext cx="411479" cy="411479"/>
          </a:xfrm>
          <a:prstGeom prst="rect">
            <a:avLst/>
          </a:prstGeom>
        </p:spPr>
      </p:pic>
      <p:sp>
        <p:nvSpPr>
          <p:cNvPr id="147" name="TextBox 146"/>
          <p:cNvSpPr txBox="1"/>
          <p:nvPr/>
        </p:nvSpPr>
        <p:spPr>
          <a:xfrm>
            <a:off x="12646152" y="4800599"/>
            <a:ext cx="1865376" cy="411479"/>
          </a:xfrm>
          <a:prstGeom prst="rect">
            <a:avLst/>
          </a:prstGeom>
          <a:noFill/>
        </p:spPr>
        <p:txBody>
          <a:bodyPr wrap="none" lIns="0" rIns="0" tIns="0" bIns="0">
            <a:spAutoFit/>
          </a:bodyPr>
          <a:lstStyle/>
          <a:p>
            <a:pPr algn="ctr">
              <a:lnSpc>
                <a:spcPct val="115000"/>
              </a:lnSpc>
            </a:pPr>
            <a:r>
              <a:rPr sz="1350" spc="150">
                <a:solidFill>
                  <a:srgbClr val="F2ECDD"/>
                </a:solidFill>
                <a:latin typeface="TT Commons Pro"/>
              </a:rPr>
              <a:t>members</a:t>
            </a:r>
          </a:p>
        </p:txBody>
      </p:sp>
      <p:sp>
        <p:nvSpPr>
          <p:cNvPr id="148" name="Oval 147"/>
          <p:cNvSpPr/>
          <p:nvPr/>
        </p:nvSpPr>
        <p:spPr>
          <a:xfrm>
            <a:off x="14658772" y="5341638"/>
            <a:ext cx="1179576" cy="1179576"/>
          </a:xfrm>
          <a:prstGeom prst="ellipse">
            <a:avLst/>
          </a:prstGeom>
          <a:solidFill>
            <a:srgbClr val="0D3E40"/>
          </a:solidFill>
          <a:ln w="15240">
            <a:solidFill>
              <a:srgbClr val="EBCF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9" name="Picture 148" descr="coord.png"/>
          <p:cNvPicPr>
            <a:picLocks noChangeAspect="1"/>
          </p:cNvPicPr>
          <p:nvPr/>
        </p:nvPicPr>
        <p:blipFill>
          <a:blip r:embed="rId5"/>
          <a:stretch>
            <a:fillRect/>
          </a:stretch>
        </p:blipFill>
        <p:spPr>
          <a:xfrm>
            <a:off x="15042820" y="5533662"/>
            <a:ext cx="411479" cy="411479"/>
          </a:xfrm>
          <a:prstGeom prst="rect">
            <a:avLst/>
          </a:prstGeom>
        </p:spPr>
      </p:pic>
      <p:sp>
        <p:nvSpPr>
          <p:cNvPr id="150" name="TextBox 149"/>
          <p:cNvSpPr txBox="1"/>
          <p:nvPr/>
        </p:nvSpPr>
        <p:spPr>
          <a:xfrm>
            <a:off x="14315872" y="6013722"/>
            <a:ext cx="1865376" cy="411479"/>
          </a:xfrm>
          <a:prstGeom prst="rect">
            <a:avLst/>
          </a:prstGeom>
          <a:noFill/>
        </p:spPr>
        <p:txBody>
          <a:bodyPr wrap="none" lIns="0" rIns="0" tIns="0" bIns="0">
            <a:spAutoFit/>
          </a:bodyPr>
          <a:lstStyle/>
          <a:p>
            <a:pPr algn="ctr">
              <a:lnSpc>
                <a:spcPct val="115000"/>
              </a:lnSpc>
            </a:pPr>
            <a:r>
              <a:rPr sz="1350" spc="150">
                <a:solidFill>
                  <a:srgbClr val="F2ECDD"/>
                </a:solidFill>
                <a:latin typeface="TT Commons Pro"/>
              </a:rPr>
              <a:t>use</a:t>
            </a:r>
          </a:p>
        </p:txBody>
      </p:sp>
      <p:sp>
        <p:nvSpPr>
          <p:cNvPr id="151" name="Oval 150"/>
          <p:cNvSpPr/>
          <p:nvPr/>
        </p:nvSpPr>
        <p:spPr>
          <a:xfrm>
            <a:off x="14020996" y="7304513"/>
            <a:ext cx="1179576" cy="1179576"/>
          </a:xfrm>
          <a:prstGeom prst="ellipse">
            <a:avLst/>
          </a:prstGeom>
          <a:solidFill>
            <a:srgbClr val="0D3E40"/>
          </a:solidFill>
          <a:ln w="15240">
            <a:solidFill>
              <a:srgbClr val="EBCF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2" name="Picture 151" descr="money.png"/>
          <p:cNvPicPr>
            <a:picLocks noChangeAspect="1"/>
          </p:cNvPicPr>
          <p:nvPr/>
        </p:nvPicPr>
        <p:blipFill>
          <a:blip r:embed="rId6"/>
          <a:stretch>
            <a:fillRect/>
          </a:stretch>
        </p:blipFill>
        <p:spPr>
          <a:xfrm>
            <a:off x="14405044" y="7496537"/>
            <a:ext cx="411479" cy="411479"/>
          </a:xfrm>
          <a:prstGeom prst="rect">
            <a:avLst/>
          </a:prstGeom>
        </p:spPr>
      </p:pic>
      <p:sp>
        <p:nvSpPr>
          <p:cNvPr id="153" name="TextBox 152"/>
          <p:cNvSpPr txBox="1"/>
          <p:nvPr/>
        </p:nvSpPr>
        <p:spPr>
          <a:xfrm>
            <a:off x="13678096" y="7976597"/>
            <a:ext cx="1865376" cy="411479"/>
          </a:xfrm>
          <a:prstGeom prst="rect">
            <a:avLst/>
          </a:prstGeom>
          <a:noFill/>
        </p:spPr>
        <p:txBody>
          <a:bodyPr wrap="none" lIns="0" rIns="0" tIns="0" bIns="0">
            <a:spAutoFit/>
          </a:bodyPr>
          <a:lstStyle/>
          <a:p>
            <a:pPr algn="ctr">
              <a:lnSpc>
                <a:spcPct val="115000"/>
              </a:lnSpc>
            </a:pPr>
            <a:r>
              <a:rPr sz="1350" spc="150">
                <a:solidFill>
                  <a:srgbClr val="F2ECDD"/>
                </a:solidFill>
                <a:latin typeface="TT Commons Pro"/>
              </a:rPr>
              <a:t>revenue</a:t>
            </a:r>
          </a:p>
        </p:txBody>
      </p:sp>
      <p:sp>
        <p:nvSpPr>
          <p:cNvPr id="154" name="Oval 153"/>
          <p:cNvSpPr/>
          <p:nvPr/>
        </p:nvSpPr>
        <p:spPr>
          <a:xfrm>
            <a:off x="11957107" y="7304513"/>
            <a:ext cx="1179576" cy="1179576"/>
          </a:xfrm>
          <a:prstGeom prst="ellipse">
            <a:avLst/>
          </a:prstGeom>
          <a:solidFill>
            <a:srgbClr val="0D3E40"/>
          </a:solidFill>
          <a:ln w="15240">
            <a:solidFill>
              <a:srgbClr val="EBCF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5" name="Picture 154" descr="gift.png"/>
          <p:cNvPicPr>
            <a:picLocks noChangeAspect="1"/>
          </p:cNvPicPr>
          <p:nvPr/>
        </p:nvPicPr>
        <p:blipFill>
          <a:blip r:embed="rId7"/>
          <a:stretch>
            <a:fillRect/>
          </a:stretch>
        </p:blipFill>
        <p:spPr>
          <a:xfrm>
            <a:off x="12341155" y="7496537"/>
            <a:ext cx="411479" cy="411479"/>
          </a:xfrm>
          <a:prstGeom prst="rect">
            <a:avLst/>
          </a:prstGeom>
        </p:spPr>
      </p:pic>
      <p:sp>
        <p:nvSpPr>
          <p:cNvPr id="156" name="TextBox 155"/>
          <p:cNvSpPr txBox="1"/>
          <p:nvPr/>
        </p:nvSpPr>
        <p:spPr>
          <a:xfrm>
            <a:off x="11614207" y="7976597"/>
            <a:ext cx="1865376" cy="411479"/>
          </a:xfrm>
          <a:prstGeom prst="rect">
            <a:avLst/>
          </a:prstGeom>
          <a:noFill/>
        </p:spPr>
        <p:txBody>
          <a:bodyPr wrap="none" lIns="0" rIns="0" tIns="0" bIns="0">
            <a:spAutoFit/>
          </a:bodyPr>
          <a:lstStyle/>
          <a:p>
            <a:pPr algn="ctr">
              <a:lnSpc>
                <a:spcPct val="115000"/>
              </a:lnSpc>
            </a:pPr>
            <a:r>
              <a:rPr sz="1350" spc="150">
                <a:solidFill>
                  <a:srgbClr val="F2ECDD"/>
                </a:solidFill>
                <a:latin typeface="TT Commons Pro"/>
              </a:rPr>
              <a:t>patronage</a:t>
            </a:r>
          </a:p>
        </p:txBody>
      </p:sp>
      <p:sp>
        <p:nvSpPr>
          <p:cNvPr id="157" name="Oval 156"/>
          <p:cNvSpPr/>
          <p:nvPr/>
        </p:nvSpPr>
        <p:spPr>
          <a:xfrm>
            <a:off x="11319331" y="5341638"/>
            <a:ext cx="1179576" cy="1179576"/>
          </a:xfrm>
          <a:prstGeom prst="ellipse">
            <a:avLst/>
          </a:prstGeom>
          <a:solidFill>
            <a:srgbClr val="0D3E40"/>
          </a:solidFill>
          <a:ln w="15240">
            <a:solidFill>
              <a:srgbClr val="EBCF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8" name="Picture 157" descr="badge.png"/>
          <p:cNvPicPr>
            <a:picLocks noChangeAspect="1"/>
          </p:cNvPicPr>
          <p:nvPr/>
        </p:nvPicPr>
        <p:blipFill>
          <a:blip r:embed="rId8"/>
          <a:stretch>
            <a:fillRect/>
          </a:stretch>
        </p:blipFill>
        <p:spPr>
          <a:xfrm>
            <a:off x="11703379" y="5533662"/>
            <a:ext cx="411479" cy="411479"/>
          </a:xfrm>
          <a:prstGeom prst="rect">
            <a:avLst/>
          </a:prstGeom>
        </p:spPr>
      </p:pic>
      <p:sp>
        <p:nvSpPr>
          <p:cNvPr id="159" name="TextBox 158"/>
          <p:cNvSpPr txBox="1"/>
          <p:nvPr/>
        </p:nvSpPr>
        <p:spPr>
          <a:xfrm>
            <a:off x="10976431" y="6013722"/>
            <a:ext cx="1865376" cy="411479"/>
          </a:xfrm>
          <a:prstGeom prst="rect">
            <a:avLst/>
          </a:prstGeom>
          <a:noFill/>
        </p:spPr>
        <p:txBody>
          <a:bodyPr wrap="none" lIns="0" rIns="0" tIns="0" bIns="0">
            <a:spAutoFit/>
          </a:bodyPr>
          <a:lstStyle/>
          <a:p>
            <a:pPr algn="ctr">
              <a:lnSpc>
                <a:spcPct val="115000"/>
              </a:lnSpc>
            </a:pPr>
            <a:r>
              <a:rPr sz="1350" spc="150">
                <a:solidFill>
                  <a:srgbClr val="F2ECDD"/>
                </a:solidFill>
                <a:latin typeface="TT Commons Pro"/>
              </a:rPr>
              <a:t>stake</a:t>
            </a:r>
          </a:p>
        </p:txBody>
      </p:sp>
      <p:sp>
        <p:nvSpPr>
          <p:cNvPr id="160" name="TextBox 159"/>
          <p:cNvSpPr txBox="1"/>
          <p:nvPr/>
        </p:nvSpPr>
        <p:spPr>
          <a:xfrm>
            <a:off x="822959" y="7063740"/>
            <a:ext cx="8092440" cy="932688"/>
          </a:xfrm>
          <a:prstGeom prst="rect">
            <a:avLst/>
          </a:prstGeom>
          <a:noFill/>
        </p:spPr>
        <p:txBody>
          <a:bodyPr wrap="square" lIns="0" rIns="0" tIns="0" bIns="0">
            <a:spAutoFit/>
          </a:bodyPr>
          <a:lstStyle/>
          <a:p>
            <a:pPr algn="l">
              <a:lnSpc>
                <a:spcPct val="150000"/>
              </a:lnSpc>
            </a:pPr>
            <a:r>
              <a:rPr sz="1800">
                <a:solidFill>
                  <a:srgbClr val="F2ECDD"/>
                </a:solidFill>
                <a:latin typeface="TT Commons Pro"/>
              </a:rPr>
              <a:t>The people using the network create its value —</a:t>
            </a:r>
          </a:p>
          <a:p>
            <a:pPr algn="l">
              <a:lnSpc>
                <a:spcPct val="150000"/>
              </a:lnSpc>
            </a:pPr>
            <a:r>
              <a:rPr sz="1800">
                <a:solidFill>
                  <a:srgbClr val="F2ECDD"/>
                </a:solidFill>
                <a:latin typeface="TT Commons Pro"/>
              </a:rPr>
              <a:t>so they participate in its success.</a:t>
            </a:r>
          </a:p>
        </p:txBody>
      </p:sp>
      <p:sp>
        <p:nvSpPr>
          <p:cNvPr id="161" name="TextBox 160"/>
          <p:cNvSpPr txBox="1"/>
          <p:nvPr/>
        </p:nvSpPr>
        <p:spPr>
          <a:xfrm>
            <a:off x="822959" y="8915400"/>
            <a:ext cx="16596359" cy="1097280"/>
          </a:xfrm>
          <a:prstGeom prst="rect">
            <a:avLst/>
          </a:prstGeom>
          <a:noFill/>
        </p:spPr>
        <p:txBody>
          <a:bodyPr wrap="square" lIns="0" rIns="0" tIns="0" bIns="0">
            <a:spAutoFit/>
          </a:bodyPr>
          <a:lstStyle/>
          <a:p>
            <a:pPr algn="ctr">
              <a:lnSpc>
                <a:spcPct val="140000"/>
              </a:lnSpc>
            </a:pPr>
            <a:r>
              <a:rPr sz="2025">
                <a:solidFill>
                  <a:srgbClr val="F4EAD8"/>
                </a:solidFill>
                <a:latin typeface="TT Commons Pro Bold"/>
              </a:rPr>
              <a:t>Serving the community is how Rivr succeeds — </a:t>
            </a:r>
            <a:r>
              <a:rPr sz="2100" spc="20">
                <a:solidFill>
                  <a:srgbClr val="9FE8DC"/>
                </a:solidFill>
                <a:latin typeface="Alike Italics"/>
              </a:rPr>
              <a:t>not something added after it succeeds.</a:t>
            </a:r>
          </a:p>
        </p:txBody>
      </p:sp>
      <p:pic>
        <p:nvPicPr>
          <p:cNvPr id="162" name="Picture 161" descr="rivr-symbol-light.png"/>
          <p:cNvPicPr>
            <a:picLocks noChangeAspect="1"/>
          </p:cNvPicPr>
          <p:nvPr/>
        </p:nvPicPr>
        <p:blipFill>
          <a:blip r:embed="rId9"/>
          <a:stretch>
            <a:fillRect/>
          </a:stretch>
        </p:blipFill>
        <p:spPr>
          <a:xfrm>
            <a:off x="576072" y="9518904"/>
            <a:ext cx="521208" cy="521208"/>
          </a:xfrm>
          <a:prstGeom prst="rect">
            <a:avLst/>
          </a:prstGeom>
        </p:spPr>
      </p:pic>
      <p:sp>
        <p:nvSpPr>
          <p:cNvPr id="163" name="TextBox 162"/>
          <p:cNvSpPr txBox="1"/>
          <p:nvPr/>
        </p:nvSpPr>
        <p:spPr>
          <a:xfrm>
            <a:off x="1371600" y="9724644"/>
            <a:ext cx="5486400" cy="301752"/>
          </a:xfrm>
          <a:prstGeom prst="rect">
            <a:avLst/>
          </a:prstGeom>
          <a:noFill/>
        </p:spPr>
        <p:txBody>
          <a:bodyPr wrap="none" lIns="0" rIns="0" tIns="0" bIns="0">
            <a:spAutoFit/>
          </a:bodyPr>
          <a:lstStyle/>
          <a:p>
            <a:pPr algn="l">
              <a:lnSpc>
                <a:spcPct val="115000"/>
              </a:lnSpc>
            </a:pPr>
            <a:r>
              <a:rPr sz="1350" spc="150">
                <a:solidFill>
                  <a:srgbClr val="AFC4C2"/>
                </a:solidFill>
                <a:latin typeface="TT Commons Pro"/>
              </a:rPr>
              <a:t>Rivr · Seed Round 2026</a:t>
            </a:r>
          </a:p>
        </p:txBody>
      </p:sp>
      <p:sp>
        <p:nvSpPr>
          <p:cNvPr id="164" name="TextBox 163"/>
          <p:cNvSpPr txBox="1"/>
          <p:nvPr/>
        </p:nvSpPr>
        <p:spPr>
          <a:xfrm>
            <a:off x="16870680" y="9724644"/>
            <a:ext cx="960119" cy="301752"/>
          </a:xfrm>
          <a:prstGeom prst="rect">
            <a:avLst/>
          </a:prstGeom>
          <a:noFill/>
        </p:spPr>
        <p:txBody>
          <a:bodyPr wrap="none" lIns="0" rIns="0" tIns="0" bIns="0">
            <a:spAutoFit/>
          </a:bodyPr>
          <a:lstStyle/>
          <a:p>
            <a:pPr algn="r">
              <a:lnSpc>
                <a:spcPct val="115000"/>
              </a:lnSpc>
            </a:pPr>
            <a:r>
              <a:rPr sz="1350" spc="150">
                <a:solidFill>
                  <a:srgbClr val="AFC4C2"/>
                </a:solidFill>
                <a:latin typeface="TT Commons Pro"/>
              </a:rPr>
              <a:t>35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03333"/>
        </a:solidFill>
        <a:effectLst/>
      </p:bgPr>
    </p:bg>
    <p:spTree>
      <p:nvGrpSpPr>
        <p:cNvPr id="1" name=""/>
        <p:cNvGrpSpPr/>
        <p:nvPr/>
      </p:nvGrpSpPr>
      <p:grpSpPr/>
      <p:pic>
        <p:nvPicPr>
          <p:cNvPr id="2" name="Picture 1" descr="bg_c32.jpg"/>
          <p:cNvPicPr>
            <a:picLocks noChangeAspect="1"/>
          </p:cNvPicPr>
          <p:nvPr/>
        </p:nvPicPr>
        <p:blipFill>
          <a:blip r:embed="rId2"/>
          <a:stretch>
            <a:fillRect/>
          </a:stretch>
        </p:blipFill>
        <p:spPr>
          <a:xfrm>
            <a:off x="0" y="0"/>
            <a:ext cx="18287542" cy="10287000"/>
          </a:xfrm>
          <a:prstGeom prst="rect">
            <a:avLst/>
          </a:prstGeom>
        </p:spPr>
      </p:pic>
      <p:sp>
        <p:nvSpPr>
          <p:cNvPr id="3" name="TextBox 2"/>
          <p:cNvSpPr txBox="1"/>
          <p:nvPr/>
        </p:nvSpPr>
        <p:spPr>
          <a:xfrm>
            <a:off x="822959" y="822959"/>
            <a:ext cx="16733519" cy="384048"/>
          </a:xfrm>
          <a:prstGeom prst="rect">
            <a:avLst/>
          </a:prstGeom>
          <a:noFill/>
        </p:spPr>
        <p:txBody>
          <a:bodyPr wrap="none" lIns="0" rIns="0" tIns="0" bIns="0">
            <a:spAutoFit/>
          </a:bodyPr>
          <a:lstStyle/>
          <a:p>
            <a:pPr algn="l">
              <a:lnSpc>
                <a:spcPct val="115000"/>
              </a:lnSpc>
            </a:pPr>
            <a:r>
              <a:rPr sz="1650" spc="330">
                <a:solidFill>
                  <a:srgbClr val="9FE8DC"/>
                </a:solidFill>
                <a:latin typeface="Todes 1"/>
              </a:rPr>
              <a:t>USE RIVR TO RUN RIVR</a:t>
            </a:r>
          </a:p>
        </p:txBody>
      </p:sp>
      <p:sp>
        <p:nvSpPr>
          <p:cNvPr id="4" name="TextBox 3"/>
          <p:cNvSpPr txBox="1"/>
          <p:nvPr/>
        </p:nvSpPr>
        <p:spPr>
          <a:xfrm>
            <a:off x="822959" y="1699869"/>
            <a:ext cx="7965043" cy="1075620"/>
          </a:xfrm>
          <a:prstGeom prst="rect">
            <a:avLst/>
          </a:prstGeom>
          <a:noFill/>
        </p:spPr>
        <p:txBody>
          <a:bodyPr wrap="none" lIns="0" rIns="0" tIns="0" bIns="0">
            <a:spAutoFit/>
          </a:bodyPr>
          <a:lstStyle/>
          <a:p>
            <a:pPr algn="l">
              <a:lnSpc>
                <a:spcPct val="115000"/>
              </a:lnSpc>
            </a:pPr>
            <a:r>
              <a:rPr sz="5841" spc="-79">
                <a:solidFill>
                  <a:srgbClr val="F4EAD8"/>
                </a:solidFill>
                <a:latin typeface="Todes 1"/>
              </a:rPr>
              <a:t>The co-op lives </a:t>
            </a:r>
          </a:p>
        </p:txBody>
      </p:sp>
      <p:sp>
        <p:nvSpPr>
          <p:cNvPr id="5" name="TextBox 4"/>
          <p:cNvSpPr txBox="1"/>
          <p:nvPr/>
        </p:nvSpPr>
        <p:spPr>
          <a:xfrm>
            <a:off x="7030402" y="1645919"/>
            <a:ext cx="7605474" cy="1173403"/>
          </a:xfrm>
          <a:prstGeom prst="rect">
            <a:avLst/>
          </a:prstGeom>
          <a:noFill/>
        </p:spPr>
        <p:txBody>
          <a:bodyPr wrap="none" lIns="0" rIns="0" tIns="0" bIns="0">
            <a:spAutoFit/>
          </a:bodyPr>
          <a:lstStyle/>
          <a:p>
            <a:pPr algn="l">
              <a:lnSpc>
                <a:spcPct val="115000"/>
              </a:lnSpc>
            </a:pPr>
            <a:r>
              <a:rPr sz="6372" spc="-75">
                <a:solidFill>
                  <a:srgbClr val="99E6D9"/>
                </a:solidFill>
                <a:latin typeface="Ibarra Real Nova Italics"/>
              </a:rPr>
              <a:t>inside the product.</a:t>
            </a:r>
          </a:p>
        </p:txBody>
      </p:sp>
      <p:sp>
        <p:nvSpPr>
          <p:cNvPr id="6" name="TextBox 5"/>
          <p:cNvSpPr txBox="1"/>
          <p:nvPr/>
        </p:nvSpPr>
        <p:spPr>
          <a:xfrm>
            <a:off x="822959" y="3771900"/>
            <a:ext cx="15773400" cy="411479"/>
          </a:xfrm>
          <a:prstGeom prst="rect">
            <a:avLst/>
          </a:prstGeom>
          <a:noFill/>
        </p:spPr>
        <p:txBody>
          <a:bodyPr wrap="none" lIns="0" rIns="0" tIns="0" bIns="0">
            <a:spAutoFit/>
          </a:bodyPr>
          <a:lstStyle/>
          <a:p>
            <a:pPr algn="l">
              <a:lnSpc>
                <a:spcPct val="115000"/>
              </a:lnSpc>
            </a:pPr>
            <a:r>
              <a:rPr sz="1800" spc="180">
                <a:solidFill>
                  <a:srgbClr val="9FE8DC"/>
                </a:solidFill>
                <a:latin typeface="Todes 1"/>
              </a:rPr>
              <a:t>VISIBLE RELATIONSHIPS, IN THE SYSTEM ITSELF</a:t>
            </a:r>
          </a:p>
        </p:txBody>
      </p:sp>
      <p:sp>
        <p:nvSpPr>
          <p:cNvPr id="7" name="Rounded Rectangle 6"/>
          <p:cNvSpPr/>
          <p:nvPr/>
        </p:nvSpPr>
        <p:spPr>
          <a:xfrm>
            <a:off x="822959" y="4389120"/>
            <a:ext cx="3977639" cy="1618488"/>
          </a:xfrm>
          <a:prstGeom prst="roundRect">
            <a:avLst>
              <a:gd name="adj" fmla="val 14000"/>
            </a:avLst>
          </a:prstGeom>
          <a:solidFill>
            <a:srgbClr val="0D3E40"/>
          </a:solidFill>
          <a:ln w="16192">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erson.png"/>
          <p:cNvPicPr>
            <a:picLocks noChangeAspect="1"/>
          </p:cNvPicPr>
          <p:nvPr/>
        </p:nvPicPr>
        <p:blipFill>
          <a:blip r:embed="rId4"/>
          <a:stretch>
            <a:fillRect/>
          </a:stretch>
        </p:blipFill>
        <p:spPr>
          <a:xfrm>
            <a:off x="1275588" y="4965192"/>
            <a:ext cx="466344" cy="466344"/>
          </a:xfrm>
          <a:prstGeom prst="rect">
            <a:avLst/>
          </a:prstGeom>
        </p:spPr>
      </p:pic>
      <p:sp>
        <p:nvSpPr>
          <p:cNvPr id="9" name="TextBox 8"/>
          <p:cNvSpPr txBox="1"/>
          <p:nvPr/>
        </p:nvSpPr>
        <p:spPr>
          <a:xfrm>
            <a:off x="2125979" y="4992624"/>
            <a:ext cx="2606039" cy="411479"/>
          </a:xfrm>
          <a:prstGeom prst="rect">
            <a:avLst/>
          </a:prstGeom>
          <a:noFill/>
        </p:spPr>
        <p:txBody>
          <a:bodyPr wrap="none" lIns="0" rIns="0" tIns="0" bIns="0">
            <a:spAutoFit/>
          </a:bodyPr>
          <a:lstStyle/>
          <a:p>
            <a:pPr algn="l">
              <a:lnSpc>
                <a:spcPct val="115000"/>
              </a:lnSpc>
            </a:pPr>
            <a:r>
              <a:rPr sz="1725">
                <a:solidFill>
                  <a:srgbClr val="F2ECDD"/>
                </a:solidFill>
                <a:latin typeface="TT Commons Pro"/>
              </a:rPr>
              <a:t>membership</a:t>
            </a:r>
          </a:p>
        </p:txBody>
      </p:sp>
      <p:sp>
        <p:nvSpPr>
          <p:cNvPr id="10" name="Rounded Rectangle 9"/>
          <p:cNvSpPr/>
          <p:nvPr/>
        </p:nvSpPr>
        <p:spPr>
          <a:xfrm>
            <a:off x="5061204" y="4389120"/>
            <a:ext cx="3977639" cy="1618488"/>
          </a:xfrm>
          <a:prstGeom prst="roundRect">
            <a:avLst>
              <a:gd name="adj" fmla="val 14000"/>
            </a:avLst>
          </a:prstGeom>
          <a:solidFill>
            <a:srgbClr val="062A2C"/>
          </a:solidFill>
          <a:ln w="16192">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adge.png"/>
          <p:cNvPicPr>
            <a:picLocks noChangeAspect="1"/>
          </p:cNvPicPr>
          <p:nvPr/>
        </p:nvPicPr>
        <p:blipFill>
          <a:blip r:embed="rId5"/>
          <a:stretch>
            <a:fillRect/>
          </a:stretch>
        </p:blipFill>
        <p:spPr>
          <a:xfrm>
            <a:off x="5513831" y="4965192"/>
            <a:ext cx="466344" cy="466344"/>
          </a:xfrm>
          <a:prstGeom prst="rect">
            <a:avLst/>
          </a:prstGeom>
        </p:spPr>
      </p:pic>
      <p:sp>
        <p:nvSpPr>
          <p:cNvPr id="12" name="TextBox 11"/>
          <p:cNvSpPr txBox="1"/>
          <p:nvPr/>
        </p:nvSpPr>
        <p:spPr>
          <a:xfrm>
            <a:off x="6364223" y="4992624"/>
            <a:ext cx="2606039" cy="411479"/>
          </a:xfrm>
          <a:prstGeom prst="rect">
            <a:avLst/>
          </a:prstGeom>
          <a:noFill/>
        </p:spPr>
        <p:txBody>
          <a:bodyPr wrap="none" lIns="0" rIns="0" tIns="0" bIns="0">
            <a:spAutoFit/>
          </a:bodyPr>
          <a:lstStyle/>
          <a:p>
            <a:pPr algn="l">
              <a:lnSpc>
                <a:spcPct val="115000"/>
              </a:lnSpc>
            </a:pPr>
            <a:r>
              <a:rPr sz="1725">
                <a:solidFill>
                  <a:srgbClr val="F2ECDD"/>
                </a:solidFill>
                <a:latin typeface="TT Commons Pro"/>
              </a:rPr>
              <a:t>stake</a:t>
            </a:r>
          </a:p>
        </p:txBody>
      </p:sp>
      <p:sp>
        <p:nvSpPr>
          <p:cNvPr id="13" name="Rounded Rectangle 12"/>
          <p:cNvSpPr/>
          <p:nvPr/>
        </p:nvSpPr>
        <p:spPr>
          <a:xfrm>
            <a:off x="9299447" y="4389120"/>
            <a:ext cx="3977639" cy="1618488"/>
          </a:xfrm>
          <a:prstGeom prst="roundRect">
            <a:avLst>
              <a:gd name="adj" fmla="val 14000"/>
            </a:avLst>
          </a:prstGeom>
          <a:solidFill>
            <a:srgbClr val="0D3E40"/>
          </a:solidFill>
          <a:ln w="16192">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oord.png"/>
          <p:cNvPicPr>
            <a:picLocks noChangeAspect="1"/>
          </p:cNvPicPr>
          <p:nvPr/>
        </p:nvPicPr>
        <p:blipFill>
          <a:blip r:embed="rId6"/>
          <a:stretch>
            <a:fillRect/>
          </a:stretch>
        </p:blipFill>
        <p:spPr>
          <a:xfrm>
            <a:off x="9752076" y="4965192"/>
            <a:ext cx="466344" cy="466344"/>
          </a:xfrm>
          <a:prstGeom prst="rect">
            <a:avLst/>
          </a:prstGeom>
        </p:spPr>
      </p:pic>
      <p:sp>
        <p:nvSpPr>
          <p:cNvPr id="15" name="TextBox 14"/>
          <p:cNvSpPr txBox="1"/>
          <p:nvPr/>
        </p:nvSpPr>
        <p:spPr>
          <a:xfrm>
            <a:off x="10602467" y="4992624"/>
            <a:ext cx="2606039" cy="411479"/>
          </a:xfrm>
          <a:prstGeom prst="rect">
            <a:avLst/>
          </a:prstGeom>
          <a:noFill/>
        </p:spPr>
        <p:txBody>
          <a:bodyPr wrap="none" lIns="0" rIns="0" tIns="0" bIns="0">
            <a:spAutoFit/>
          </a:bodyPr>
          <a:lstStyle/>
          <a:p>
            <a:pPr algn="l">
              <a:lnSpc>
                <a:spcPct val="115000"/>
              </a:lnSpc>
            </a:pPr>
            <a:r>
              <a:rPr sz="1725">
                <a:solidFill>
                  <a:srgbClr val="F2ECDD"/>
                </a:solidFill>
                <a:latin typeface="TT Commons Pro"/>
              </a:rPr>
              <a:t>participation</a:t>
            </a:r>
          </a:p>
        </p:txBody>
      </p:sp>
      <p:sp>
        <p:nvSpPr>
          <p:cNvPr id="16" name="Rounded Rectangle 15"/>
          <p:cNvSpPr/>
          <p:nvPr/>
        </p:nvSpPr>
        <p:spPr>
          <a:xfrm>
            <a:off x="13537692" y="4389120"/>
            <a:ext cx="3977639" cy="1618488"/>
          </a:xfrm>
          <a:prstGeom prst="roundRect">
            <a:avLst>
              <a:gd name="adj" fmla="val 14000"/>
            </a:avLst>
          </a:prstGeom>
          <a:solidFill>
            <a:srgbClr val="062A2C"/>
          </a:solidFill>
          <a:ln w="16192">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verify.png"/>
          <p:cNvPicPr>
            <a:picLocks noChangeAspect="1"/>
          </p:cNvPicPr>
          <p:nvPr/>
        </p:nvPicPr>
        <p:blipFill>
          <a:blip r:embed="rId7"/>
          <a:stretch>
            <a:fillRect/>
          </a:stretch>
        </p:blipFill>
        <p:spPr>
          <a:xfrm>
            <a:off x="13990319" y="4965192"/>
            <a:ext cx="466344" cy="466344"/>
          </a:xfrm>
          <a:prstGeom prst="rect">
            <a:avLst/>
          </a:prstGeom>
        </p:spPr>
      </p:pic>
      <p:sp>
        <p:nvSpPr>
          <p:cNvPr id="18" name="TextBox 17"/>
          <p:cNvSpPr txBox="1"/>
          <p:nvPr/>
        </p:nvSpPr>
        <p:spPr>
          <a:xfrm>
            <a:off x="14840711" y="4992624"/>
            <a:ext cx="2606039" cy="411479"/>
          </a:xfrm>
          <a:prstGeom prst="rect">
            <a:avLst/>
          </a:prstGeom>
          <a:noFill/>
        </p:spPr>
        <p:txBody>
          <a:bodyPr wrap="none" lIns="0" rIns="0" tIns="0" bIns="0">
            <a:spAutoFit/>
          </a:bodyPr>
          <a:lstStyle/>
          <a:p>
            <a:pPr algn="l">
              <a:lnSpc>
                <a:spcPct val="115000"/>
              </a:lnSpc>
            </a:pPr>
            <a:r>
              <a:rPr sz="1725">
                <a:solidFill>
                  <a:srgbClr val="F2ECDD"/>
                </a:solidFill>
                <a:latin typeface="TT Commons Pro"/>
              </a:rPr>
              <a:t>contribution</a:t>
            </a:r>
          </a:p>
        </p:txBody>
      </p:sp>
      <p:sp>
        <p:nvSpPr>
          <p:cNvPr id="19" name="Rounded Rectangle 18"/>
          <p:cNvSpPr/>
          <p:nvPr/>
        </p:nvSpPr>
        <p:spPr>
          <a:xfrm>
            <a:off x="822959" y="6336792"/>
            <a:ext cx="3977639" cy="1618488"/>
          </a:xfrm>
          <a:prstGeom prst="roundRect">
            <a:avLst>
              <a:gd name="adj" fmla="val 14000"/>
            </a:avLst>
          </a:prstGeom>
          <a:solidFill>
            <a:srgbClr val="0D3E40"/>
          </a:solidFill>
          <a:ln w="16192">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money.png"/>
          <p:cNvPicPr>
            <a:picLocks noChangeAspect="1"/>
          </p:cNvPicPr>
          <p:nvPr/>
        </p:nvPicPr>
        <p:blipFill>
          <a:blip r:embed="rId8"/>
          <a:stretch>
            <a:fillRect/>
          </a:stretch>
        </p:blipFill>
        <p:spPr>
          <a:xfrm>
            <a:off x="1275588" y="6912864"/>
            <a:ext cx="466344" cy="466344"/>
          </a:xfrm>
          <a:prstGeom prst="rect">
            <a:avLst/>
          </a:prstGeom>
        </p:spPr>
      </p:pic>
      <p:sp>
        <p:nvSpPr>
          <p:cNvPr id="21" name="TextBox 20"/>
          <p:cNvSpPr txBox="1"/>
          <p:nvPr/>
        </p:nvSpPr>
        <p:spPr>
          <a:xfrm>
            <a:off x="2125979" y="6940296"/>
            <a:ext cx="2606039" cy="411479"/>
          </a:xfrm>
          <a:prstGeom prst="rect">
            <a:avLst/>
          </a:prstGeom>
          <a:noFill/>
        </p:spPr>
        <p:txBody>
          <a:bodyPr wrap="none" lIns="0" rIns="0" tIns="0" bIns="0">
            <a:spAutoFit/>
          </a:bodyPr>
          <a:lstStyle/>
          <a:p>
            <a:pPr algn="l">
              <a:lnSpc>
                <a:spcPct val="115000"/>
              </a:lnSpc>
            </a:pPr>
            <a:r>
              <a:rPr sz="1725">
                <a:solidFill>
                  <a:srgbClr val="F2ECDD"/>
                </a:solidFill>
                <a:latin typeface="TT Commons Pro"/>
              </a:rPr>
              <a:t>revenue</a:t>
            </a:r>
          </a:p>
        </p:txBody>
      </p:sp>
      <p:sp>
        <p:nvSpPr>
          <p:cNvPr id="22" name="Rounded Rectangle 21"/>
          <p:cNvSpPr/>
          <p:nvPr/>
        </p:nvSpPr>
        <p:spPr>
          <a:xfrm>
            <a:off x="5061204" y="6336792"/>
            <a:ext cx="3977639" cy="1618488"/>
          </a:xfrm>
          <a:prstGeom prst="roundRect">
            <a:avLst>
              <a:gd name="adj" fmla="val 14000"/>
            </a:avLst>
          </a:prstGeom>
          <a:solidFill>
            <a:srgbClr val="062A2C"/>
          </a:solidFill>
          <a:ln w="16192">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treasury.png"/>
          <p:cNvPicPr>
            <a:picLocks noChangeAspect="1"/>
          </p:cNvPicPr>
          <p:nvPr/>
        </p:nvPicPr>
        <p:blipFill>
          <a:blip r:embed="rId9"/>
          <a:stretch>
            <a:fillRect/>
          </a:stretch>
        </p:blipFill>
        <p:spPr>
          <a:xfrm>
            <a:off x="5513831" y="6912864"/>
            <a:ext cx="466344" cy="466344"/>
          </a:xfrm>
          <a:prstGeom prst="rect">
            <a:avLst/>
          </a:prstGeom>
        </p:spPr>
      </p:pic>
      <p:sp>
        <p:nvSpPr>
          <p:cNvPr id="24" name="TextBox 23"/>
          <p:cNvSpPr txBox="1"/>
          <p:nvPr/>
        </p:nvSpPr>
        <p:spPr>
          <a:xfrm>
            <a:off x="6364223" y="6940296"/>
            <a:ext cx="2606039" cy="411479"/>
          </a:xfrm>
          <a:prstGeom prst="rect">
            <a:avLst/>
          </a:prstGeom>
          <a:noFill/>
        </p:spPr>
        <p:txBody>
          <a:bodyPr wrap="none" lIns="0" rIns="0" tIns="0" bIns="0">
            <a:spAutoFit/>
          </a:bodyPr>
          <a:lstStyle/>
          <a:p>
            <a:pPr algn="l">
              <a:lnSpc>
                <a:spcPct val="115000"/>
              </a:lnSpc>
            </a:pPr>
            <a:r>
              <a:rPr sz="1725">
                <a:solidFill>
                  <a:srgbClr val="F2ECDD"/>
                </a:solidFill>
                <a:latin typeface="TT Commons Pro"/>
              </a:rPr>
              <a:t>surplus</a:t>
            </a:r>
          </a:p>
        </p:txBody>
      </p:sp>
      <p:sp>
        <p:nvSpPr>
          <p:cNvPr id="25" name="Rounded Rectangle 24"/>
          <p:cNvSpPr/>
          <p:nvPr/>
        </p:nvSpPr>
        <p:spPr>
          <a:xfrm>
            <a:off x="9299447" y="6336792"/>
            <a:ext cx="3977639" cy="1618488"/>
          </a:xfrm>
          <a:prstGeom prst="roundRect">
            <a:avLst>
              <a:gd name="adj" fmla="val 14000"/>
            </a:avLst>
          </a:prstGeom>
          <a:solidFill>
            <a:srgbClr val="0D3E40"/>
          </a:solidFill>
          <a:ln w="16192">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gift.png"/>
          <p:cNvPicPr>
            <a:picLocks noChangeAspect="1"/>
          </p:cNvPicPr>
          <p:nvPr/>
        </p:nvPicPr>
        <p:blipFill>
          <a:blip r:embed="rId10"/>
          <a:stretch>
            <a:fillRect/>
          </a:stretch>
        </p:blipFill>
        <p:spPr>
          <a:xfrm>
            <a:off x="9752076" y="6912864"/>
            <a:ext cx="466344" cy="466344"/>
          </a:xfrm>
          <a:prstGeom prst="rect">
            <a:avLst/>
          </a:prstGeom>
        </p:spPr>
      </p:pic>
      <p:sp>
        <p:nvSpPr>
          <p:cNvPr id="27" name="TextBox 26"/>
          <p:cNvSpPr txBox="1"/>
          <p:nvPr/>
        </p:nvSpPr>
        <p:spPr>
          <a:xfrm>
            <a:off x="10602467" y="6940296"/>
            <a:ext cx="2606039" cy="411479"/>
          </a:xfrm>
          <a:prstGeom prst="rect">
            <a:avLst/>
          </a:prstGeom>
          <a:noFill/>
        </p:spPr>
        <p:txBody>
          <a:bodyPr wrap="none" lIns="0" rIns="0" tIns="0" bIns="0">
            <a:spAutoFit/>
          </a:bodyPr>
          <a:lstStyle/>
          <a:p>
            <a:pPr algn="l">
              <a:lnSpc>
                <a:spcPct val="115000"/>
              </a:lnSpc>
            </a:pPr>
            <a:r>
              <a:rPr sz="1725">
                <a:solidFill>
                  <a:srgbClr val="F2ECDD"/>
                </a:solidFill>
                <a:latin typeface="TT Commons Pro"/>
              </a:rPr>
              <a:t>patronage</a:t>
            </a:r>
          </a:p>
        </p:txBody>
      </p:sp>
      <p:sp>
        <p:nvSpPr>
          <p:cNvPr id="28" name="Rounded Rectangle 27"/>
          <p:cNvSpPr/>
          <p:nvPr/>
        </p:nvSpPr>
        <p:spPr>
          <a:xfrm>
            <a:off x="13537692" y="6336792"/>
            <a:ext cx="3977639" cy="1618488"/>
          </a:xfrm>
          <a:prstGeom prst="roundRect">
            <a:avLst>
              <a:gd name="adj" fmla="val 14000"/>
            </a:avLst>
          </a:prstGeom>
          <a:solidFill>
            <a:srgbClr val="062A2C"/>
          </a:solidFill>
          <a:ln w="16192">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governance.png"/>
          <p:cNvPicPr>
            <a:picLocks noChangeAspect="1"/>
          </p:cNvPicPr>
          <p:nvPr/>
        </p:nvPicPr>
        <p:blipFill>
          <a:blip r:embed="rId11"/>
          <a:stretch>
            <a:fillRect/>
          </a:stretch>
        </p:blipFill>
        <p:spPr>
          <a:xfrm>
            <a:off x="13990319" y="6912864"/>
            <a:ext cx="466344" cy="466344"/>
          </a:xfrm>
          <a:prstGeom prst="rect">
            <a:avLst/>
          </a:prstGeom>
        </p:spPr>
      </p:pic>
      <p:sp>
        <p:nvSpPr>
          <p:cNvPr id="30" name="TextBox 29"/>
          <p:cNvSpPr txBox="1"/>
          <p:nvPr/>
        </p:nvSpPr>
        <p:spPr>
          <a:xfrm>
            <a:off x="14840711" y="6940296"/>
            <a:ext cx="2606039" cy="411479"/>
          </a:xfrm>
          <a:prstGeom prst="rect">
            <a:avLst/>
          </a:prstGeom>
          <a:noFill/>
        </p:spPr>
        <p:txBody>
          <a:bodyPr wrap="none" lIns="0" rIns="0" tIns="0" bIns="0">
            <a:spAutoFit/>
          </a:bodyPr>
          <a:lstStyle/>
          <a:p>
            <a:pPr algn="l">
              <a:lnSpc>
                <a:spcPct val="115000"/>
              </a:lnSpc>
            </a:pPr>
            <a:r>
              <a:rPr sz="1725">
                <a:solidFill>
                  <a:srgbClr val="F2ECDD"/>
                </a:solidFill>
                <a:latin typeface="TT Commons Pro"/>
              </a:rPr>
              <a:t>governance</a:t>
            </a:r>
          </a:p>
        </p:txBody>
      </p:sp>
      <p:sp>
        <p:nvSpPr>
          <p:cNvPr id="31" name="TextBox 30"/>
          <p:cNvSpPr txBox="1"/>
          <p:nvPr/>
        </p:nvSpPr>
        <p:spPr>
          <a:xfrm>
            <a:off x="822959" y="8435340"/>
            <a:ext cx="16596359" cy="1097280"/>
          </a:xfrm>
          <a:prstGeom prst="rect">
            <a:avLst/>
          </a:prstGeom>
          <a:noFill/>
        </p:spPr>
        <p:txBody>
          <a:bodyPr wrap="square" lIns="0" rIns="0" tIns="0" bIns="0">
            <a:spAutoFit/>
          </a:bodyPr>
          <a:lstStyle/>
          <a:p>
            <a:pPr algn="ctr">
              <a:lnSpc>
                <a:spcPct val="140000"/>
              </a:lnSpc>
            </a:pPr>
            <a:r>
              <a:rPr sz="1875">
                <a:solidFill>
                  <a:srgbClr val="F2ECDD"/>
                </a:solidFill>
                <a:latin typeface="TT Commons Pro"/>
              </a:rPr>
              <a:t>The cooperative is not a statement on the About page.</a:t>
            </a:r>
          </a:p>
          <a:p>
            <a:pPr algn="ctr">
              <a:lnSpc>
                <a:spcPct val="140000"/>
              </a:lnSpc>
            </a:pPr>
            <a:r>
              <a:rPr sz="2100" spc="20">
                <a:solidFill>
                  <a:srgbClr val="EBCF9E"/>
                </a:solidFill>
                <a:latin typeface="Alike Italics"/>
              </a:rPr>
              <a:t>The institution demonstrates the coordination architecture it is building for others.</a:t>
            </a:r>
          </a:p>
        </p:txBody>
      </p:sp>
      <p:pic>
        <p:nvPicPr>
          <p:cNvPr id="32" name="Picture 31" descr="rivr-symbol-light.png"/>
          <p:cNvPicPr>
            <a:picLocks noChangeAspect="1"/>
          </p:cNvPicPr>
          <p:nvPr/>
        </p:nvPicPr>
        <p:blipFill>
          <a:blip r:embed="rId12"/>
          <a:stretch>
            <a:fillRect/>
          </a:stretch>
        </p:blipFill>
        <p:spPr>
          <a:xfrm>
            <a:off x="576072" y="9518904"/>
            <a:ext cx="521208" cy="521208"/>
          </a:xfrm>
          <a:prstGeom prst="rect">
            <a:avLst/>
          </a:prstGeom>
        </p:spPr>
      </p:pic>
      <p:sp>
        <p:nvSpPr>
          <p:cNvPr id="33" name="TextBox 32"/>
          <p:cNvSpPr txBox="1"/>
          <p:nvPr/>
        </p:nvSpPr>
        <p:spPr>
          <a:xfrm>
            <a:off x="1371600" y="9724644"/>
            <a:ext cx="5486400" cy="301752"/>
          </a:xfrm>
          <a:prstGeom prst="rect">
            <a:avLst/>
          </a:prstGeom>
          <a:noFill/>
        </p:spPr>
        <p:txBody>
          <a:bodyPr wrap="none" lIns="0" rIns="0" tIns="0" bIns="0">
            <a:spAutoFit/>
          </a:bodyPr>
          <a:lstStyle/>
          <a:p>
            <a:pPr algn="l">
              <a:lnSpc>
                <a:spcPct val="115000"/>
              </a:lnSpc>
            </a:pPr>
            <a:r>
              <a:rPr sz="1350" spc="150">
                <a:solidFill>
                  <a:srgbClr val="AFC4C2"/>
                </a:solidFill>
                <a:latin typeface="TT Commons Pro"/>
              </a:rPr>
              <a:t>Rivr · Seed Round 2026</a:t>
            </a:r>
          </a:p>
        </p:txBody>
      </p:sp>
      <p:sp>
        <p:nvSpPr>
          <p:cNvPr id="34" name="TextBox 33"/>
          <p:cNvSpPr txBox="1"/>
          <p:nvPr/>
        </p:nvSpPr>
        <p:spPr>
          <a:xfrm>
            <a:off x="16870680" y="9724644"/>
            <a:ext cx="960119" cy="301752"/>
          </a:xfrm>
          <a:prstGeom prst="rect">
            <a:avLst/>
          </a:prstGeom>
          <a:noFill/>
        </p:spPr>
        <p:txBody>
          <a:bodyPr wrap="none" lIns="0" rIns="0" tIns="0" bIns="0">
            <a:spAutoFit/>
          </a:bodyPr>
          <a:lstStyle/>
          <a:p>
            <a:pPr algn="r">
              <a:lnSpc>
                <a:spcPct val="115000"/>
              </a:lnSpc>
            </a:pPr>
            <a:r>
              <a:rPr sz="1350" spc="150">
                <a:solidFill>
                  <a:srgbClr val="AFC4C2"/>
                </a:solidFill>
                <a:latin typeface="TT Commons Pro"/>
              </a:rPr>
              <a:t>36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03333"/>
        </a:solidFill>
        <a:effectLst/>
      </p:bgPr>
    </p:bg>
    <p:spTree>
      <p:nvGrpSpPr>
        <p:cNvPr id="1" name=""/>
        <p:cNvGrpSpPr/>
        <p:nvPr/>
      </p:nvGrpSpPr>
      <p:grpSpPr/>
      <p:pic>
        <p:nvPicPr>
          <p:cNvPr id="2" name="Picture 1" descr="bg_c33.jpg"/>
          <p:cNvPicPr>
            <a:picLocks noChangeAspect="1"/>
          </p:cNvPicPr>
          <p:nvPr/>
        </p:nvPicPr>
        <p:blipFill>
          <a:blip r:embed="rId2"/>
          <a:stretch>
            <a:fillRect/>
          </a:stretch>
        </p:blipFill>
        <p:spPr>
          <a:xfrm>
            <a:off x="0" y="0"/>
            <a:ext cx="18287542" cy="10287000"/>
          </a:xfrm>
          <a:prstGeom prst="rect">
            <a:avLst/>
          </a:prstGeom>
        </p:spPr>
      </p:pic>
      <p:sp>
        <p:nvSpPr>
          <p:cNvPr id="3" name="TextBox 2"/>
          <p:cNvSpPr txBox="1"/>
          <p:nvPr/>
        </p:nvSpPr>
        <p:spPr>
          <a:xfrm>
            <a:off x="822959" y="822959"/>
            <a:ext cx="16733519" cy="384048"/>
          </a:xfrm>
          <a:prstGeom prst="rect">
            <a:avLst/>
          </a:prstGeom>
          <a:noFill/>
        </p:spPr>
        <p:txBody>
          <a:bodyPr wrap="none" lIns="0" rIns="0" tIns="0" bIns="0">
            <a:spAutoFit/>
          </a:bodyPr>
          <a:lstStyle/>
          <a:p>
            <a:pPr algn="l">
              <a:lnSpc>
                <a:spcPct val="115000"/>
              </a:lnSpc>
            </a:pPr>
            <a:r>
              <a:rPr sz="1650" spc="330">
                <a:solidFill>
                  <a:srgbClr val="9FE8DC"/>
                </a:solidFill>
                <a:latin typeface="Todes 1"/>
              </a:rPr>
              <a:t>COHERENCE WITHOUT CAPTURE</a:t>
            </a:r>
          </a:p>
        </p:txBody>
      </p:sp>
      <p:sp>
        <p:nvSpPr>
          <p:cNvPr id="4" name="TextBox 3"/>
          <p:cNvSpPr txBox="1"/>
          <p:nvPr/>
        </p:nvSpPr>
        <p:spPr>
          <a:xfrm>
            <a:off x="822959" y="1699869"/>
            <a:ext cx="12870894" cy="945241"/>
          </a:xfrm>
          <a:prstGeom prst="rect">
            <a:avLst/>
          </a:prstGeom>
          <a:noFill/>
        </p:spPr>
        <p:txBody>
          <a:bodyPr wrap="none" lIns="0" rIns="0" tIns="0" bIns="0">
            <a:spAutoFit/>
          </a:bodyPr>
          <a:lstStyle/>
          <a:p>
            <a:pPr algn="l">
              <a:lnSpc>
                <a:spcPct val="115000"/>
              </a:lnSpc>
            </a:pPr>
            <a:r>
              <a:rPr sz="5133" spc="-69">
                <a:solidFill>
                  <a:srgbClr val="F4EAD8"/>
                </a:solidFill>
                <a:latin typeface="Todes 1"/>
              </a:rPr>
              <a:t>Coordination and control are </a:t>
            </a:r>
          </a:p>
        </p:txBody>
      </p:sp>
      <p:sp>
        <p:nvSpPr>
          <p:cNvPr id="5" name="TextBox 4"/>
          <p:cNvSpPr txBox="1"/>
          <p:nvPr/>
        </p:nvSpPr>
        <p:spPr>
          <a:xfrm>
            <a:off x="10955083" y="1645919"/>
            <a:ext cx="6992302" cy="1043025"/>
          </a:xfrm>
          <a:prstGeom prst="rect">
            <a:avLst/>
          </a:prstGeom>
          <a:noFill/>
        </p:spPr>
        <p:txBody>
          <a:bodyPr wrap="none" lIns="0" rIns="0" tIns="0" bIns="0">
            <a:spAutoFit/>
          </a:bodyPr>
          <a:lstStyle/>
          <a:p>
            <a:pPr algn="l">
              <a:lnSpc>
                <a:spcPct val="115000"/>
              </a:lnSpc>
            </a:pPr>
            <a:r>
              <a:rPr sz="5664" spc="-75">
                <a:solidFill>
                  <a:srgbClr val="99E6D9"/>
                </a:solidFill>
                <a:latin typeface="Ibarra Real Nova Italics"/>
              </a:rPr>
              <a:t>not the same thing.</a:t>
            </a:r>
          </a:p>
        </p:txBody>
      </p:sp>
      <p:sp>
        <p:nvSpPr>
          <p:cNvPr id="6" name="Rounded Rectangle 5"/>
          <p:cNvSpPr/>
          <p:nvPr/>
        </p:nvSpPr>
        <p:spPr>
          <a:xfrm>
            <a:off x="822959" y="4046220"/>
            <a:ext cx="8092440" cy="3566160"/>
          </a:xfrm>
          <a:prstGeom prst="roundRect">
            <a:avLst>
              <a:gd name="adj" fmla="val 6000"/>
            </a:avLst>
          </a:prstGeom>
          <a:solidFill>
            <a:srgbClr val="0D3E40"/>
          </a:solidFill>
          <a:ln w="1905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03019" y="4361688"/>
            <a:ext cx="7132320" cy="411479"/>
          </a:xfrm>
          <a:prstGeom prst="rect">
            <a:avLst/>
          </a:prstGeom>
          <a:noFill/>
        </p:spPr>
        <p:txBody>
          <a:bodyPr wrap="none" lIns="0" rIns="0" tIns="0" bIns="0">
            <a:spAutoFit/>
          </a:bodyPr>
          <a:lstStyle/>
          <a:p>
            <a:pPr algn="l">
              <a:lnSpc>
                <a:spcPct val="115000"/>
              </a:lnSpc>
            </a:pPr>
            <a:r>
              <a:rPr sz="1575" spc="330">
                <a:solidFill>
                  <a:srgbClr val="9FE8DC"/>
                </a:solidFill>
                <a:latin typeface="Todes 1"/>
              </a:rPr>
              <a:t>RIVR NEEDS</a:t>
            </a:r>
          </a:p>
        </p:txBody>
      </p:sp>
      <p:sp>
        <p:nvSpPr>
          <p:cNvPr id="8" name="TextBox 7"/>
          <p:cNvSpPr txBox="1"/>
          <p:nvPr/>
        </p:nvSpPr>
        <p:spPr>
          <a:xfrm>
            <a:off x="1303019" y="5006340"/>
            <a:ext cx="7269479" cy="1865376"/>
          </a:xfrm>
          <a:prstGeom prst="rect">
            <a:avLst/>
          </a:prstGeom>
          <a:noFill/>
        </p:spPr>
        <p:txBody>
          <a:bodyPr wrap="square" lIns="0" rIns="0" tIns="0" bIns="0">
            <a:spAutoFit/>
          </a:bodyPr>
          <a:lstStyle/>
          <a:p>
            <a:pPr algn="l">
              <a:lnSpc>
                <a:spcPct val="150000"/>
              </a:lnSpc>
            </a:pPr>
            <a:r>
              <a:rPr sz="1800">
                <a:solidFill>
                  <a:srgbClr val="F2ECDD"/>
                </a:solidFill>
                <a:latin typeface="TT Commons Pro"/>
              </a:rPr>
              <a:t>One strong brand. A coordinated company.</a:t>
            </a:r>
          </a:p>
          <a:p>
            <a:pPr algn="l">
              <a:lnSpc>
                <a:spcPct val="150000"/>
              </a:lnSpc>
            </a:pPr>
            <a:r>
              <a:rPr sz="1800">
                <a:solidFill>
                  <a:srgbClr val="F2ECDD"/>
                </a:solidFill>
                <a:latin typeface="TT Commons Pro"/>
              </a:rPr>
              <a:t>Capital. A development team. Marketing.</a:t>
            </a:r>
          </a:p>
          <a:p>
            <a:pPr algn="l">
              <a:lnSpc>
                <a:spcPct val="150000"/>
              </a:lnSpc>
            </a:pPr>
            <a:r>
              <a:rPr sz="1800">
                <a:solidFill>
                  <a:srgbClr val="F2ECDD"/>
                </a:solidFill>
                <a:latin typeface="TT Commons Pro"/>
              </a:rPr>
              <a:t>Product leadership. A shared UX.</a:t>
            </a:r>
          </a:p>
          <a:p>
            <a:pPr algn="l">
              <a:lnSpc>
                <a:spcPct val="150000"/>
              </a:lnSpc>
            </a:pPr>
            <a:r>
              <a:rPr sz="1800">
                <a:solidFill>
                  <a:srgbClr val="F2ECDD"/>
                </a:solidFill>
                <a:latin typeface="TT Commons Pro"/>
              </a:rPr>
              <a:t>Common standards.</a:t>
            </a:r>
          </a:p>
        </p:txBody>
      </p:sp>
      <p:sp>
        <p:nvSpPr>
          <p:cNvPr id="9" name="Rounded Rectangle 8"/>
          <p:cNvSpPr/>
          <p:nvPr/>
        </p:nvSpPr>
        <p:spPr>
          <a:xfrm>
            <a:off x="9395459" y="4046220"/>
            <a:ext cx="8092440" cy="3566160"/>
          </a:xfrm>
          <a:prstGeom prst="roundRect">
            <a:avLst>
              <a:gd name="adj" fmla="val 6000"/>
            </a:avLst>
          </a:prstGeom>
          <a:solidFill>
            <a:srgbClr val="084B4D"/>
          </a:solidFill>
          <a:ln w="22859">
            <a:solidFill>
              <a:srgbClr val="F0CC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0" y="4361688"/>
            <a:ext cx="7132320" cy="411479"/>
          </a:xfrm>
          <a:prstGeom prst="rect">
            <a:avLst/>
          </a:prstGeom>
          <a:noFill/>
        </p:spPr>
        <p:txBody>
          <a:bodyPr wrap="none" lIns="0" rIns="0" tIns="0" bIns="0">
            <a:spAutoFit/>
          </a:bodyPr>
          <a:lstStyle/>
          <a:p>
            <a:pPr algn="l">
              <a:lnSpc>
                <a:spcPct val="115000"/>
              </a:lnSpc>
            </a:pPr>
            <a:r>
              <a:rPr sz="1575" spc="330">
                <a:solidFill>
                  <a:srgbClr val="EBCF9E"/>
                </a:solidFill>
                <a:latin typeface="Todes 1"/>
              </a:rPr>
              <a:t>THAT DOES NOT REQUIRE</a:t>
            </a:r>
          </a:p>
        </p:txBody>
      </p:sp>
      <p:sp>
        <p:nvSpPr>
          <p:cNvPr id="11" name="TextBox 10"/>
          <p:cNvSpPr txBox="1"/>
          <p:nvPr/>
        </p:nvSpPr>
        <p:spPr>
          <a:xfrm>
            <a:off x="9875520" y="5006340"/>
            <a:ext cx="7269479" cy="1865376"/>
          </a:xfrm>
          <a:prstGeom prst="rect">
            <a:avLst/>
          </a:prstGeom>
          <a:noFill/>
        </p:spPr>
        <p:txBody>
          <a:bodyPr wrap="square" lIns="0" rIns="0" tIns="0" bIns="0">
            <a:spAutoFit/>
          </a:bodyPr>
          <a:lstStyle/>
          <a:p>
            <a:pPr algn="l">
              <a:lnSpc>
                <a:spcPct val="150000"/>
              </a:lnSpc>
            </a:pPr>
            <a:r>
              <a:rPr sz="1800">
                <a:solidFill>
                  <a:srgbClr val="F2ECDD"/>
                </a:solidFill>
                <a:latin typeface="TT Commons Pro"/>
              </a:rPr>
              <a:t>One company owning everyone's data.</a:t>
            </a:r>
          </a:p>
          <a:p>
            <a:pPr algn="l">
              <a:lnSpc>
                <a:spcPct val="150000"/>
              </a:lnSpc>
            </a:pPr>
            <a:r>
              <a:rPr sz="1800">
                <a:solidFill>
                  <a:srgbClr val="F2ECDD"/>
                </a:solidFill>
                <a:latin typeface="TT Commons Pro"/>
              </a:rPr>
              <a:t>One authority controlling every community.</a:t>
            </a:r>
          </a:p>
          <a:p>
            <a:pPr algn="l">
              <a:lnSpc>
                <a:spcPct val="150000"/>
              </a:lnSpc>
            </a:pPr>
            <a:r>
              <a:rPr sz="1800">
                <a:solidFill>
                  <a:srgbClr val="F2ECDD"/>
                </a:solidFill>
                <a:latin typeface="TT Commons Pro"/>
              </a:rPr>
              <a:t>One governance body over every instance.</a:t>
            </a:r>
          </a:p>
          <a:p>
            <a:pPr algn="l">
              <a:lnSpc>
                <a:spcPct val="150000"/>
              </a:lnSpc>
            </a:pPr>
            <a:r>
              <a:rPr sz="1800">
                <a:solidFill>
                  <a:srgbClr val="F2ECDD"/>
                </a:solidFill>
                <a:latin typeface="TT Commons Pro"/>
              </a:rPr>
              <a:t>One permanent corporate center.</a:t>
            </a:r>
          </a:p>
        </p:txBody>
      </p:sp>
      <p:sp>
        <p:nvSpPr>
          <p:cNvPr id="12" name="TextBox 11"/>
          <p:cNvSpPr txBox="1"/>
          <p:nvPr/>
        </p:nvSpPr>
        <p:spPr>
          <a:xfrm>
            <a:off x="822959" y="8229600"/>
            <a:ext cx="16596359" cy="1097280"/>
          </a:xfrm>
          <a:prstGeom prst="rect">
            <a:avLst/>
          </a:prstGeom>
          <a:noFill/>
        </p:spPr>
        <p:txBody>
          <a:bodyPr wrap="square" lIns="0" rIns="0" tIns="0" bIns="0">
            <a:spAutoFit/>
          </a:bodyPr>
          <a:lstStyle/>
          <a:p>
            <a:pPr algn="ctr">
              <a:lnSpc>
                <a:spcPct val="140000"/>
              </a:lnSpc>
            </a:pPr>
            <a:r>
              <a:rPr sz="1875">
                <a:solidFill>
                  <a:srgbClr val="F2ECDD"/>
                </a:solidFill>
                <a:latin typeface="TT Commons Pro"/>
              </a:rPr>
              <a:t>A coherent product can coexist with distributed ownership, local governance,</a:t>
            </a:r>
          </a:p>
          <a:p>
            <a:pPr algn="ctr">
              <a:lnSpc>
                <a:spcPct val="140000"/>
              </a:lnSpc>
            </a:pPr>
            <a:r>
              <a:rPr sz="1950">
                <a:solidFill>
                  <a:srgbClr val="EBCF9E"/>
                </a:solidFill>
                <a:latin typeface="TT Commons Pro Bold"/>
              </a:rPr>
              <a:t>sovereign data, federation, and interoperability.</a:t>
            </a:r>
          </a:p>
        </p:txBody>
      </p:sp>
      <p:pic>
        <p:nvPicPr>
          <p:cNvPr id="13" name="Picture 12" descr="rivr-symbol-light.png"/>
          <p:cNvPicPr>
            <a:picLocks noChangeAspect="1"/>
          </p:cNvPicPr>
          <p:nvPr/>
        </p:nvPicPr>
        <p:blipFill>
          <a:blip r:embed="rId4"/>
          <a:stretch>
            <a:fillRect/>
          </a:stretch>
        </p:blipFill>
        <p:spPr>
          <a:xfrm>
            <a:off x="576072" y="9518904"/>
            <a:ext cx="521208" cy="521208"/>
          </a:xfrm>
          <a:prstGeom prst="rect">
            <a:avLst/>
          </a:prstGeom>
        </p:spPr>
      </p:pic>
      <p:sp>
        <p:nvSpPr>
          <p:cNvPr id="14" name="TextBox 13"/>
          <p:cNvSpPr txBox="1"/>
          <p:nvPr/>
        </p:nvSpPr>
        <p:spPr>
          <a:xfrm>
            <a:off x="1371600" y="9724644"/>
            <a:ext cx="5486400" cy="301752"/>
          </a:xfrm>
          <a:prstGeom prst="rect">
            <a:avLst/>
          </a:prstGeom>
          <a:noFill/>
        </p:spPr>
        <p:txBody>
          <a:bodyPr wrap="none" lIns="0" rIns="0" tIns="0" bIns="0">
            <a:spAutoFit/>
          </a:bodyPr>
          <a:lstStyle/>
          <a:p>
            <a:pPr algn="l">
              <a:lnSpc>
                <a:spcPct val="115000"/>
              </a:lnSpc>
            </a:pPr>
            <a:r>
              <a:rPr sz="1350" spc="150">
                <a:solidFill>
                  <a:srgbClr val="AFC4C2"/>
                </a:solidFill>
                <a:latin typeface="TT Commons Pro"/>
              </a:rPr>
              <a:t>Rivr · Seed Round 2026</a:t>
            </a:r>
          </a:p>
        </p:txBody>
      </p:sp>
      <p:sp>
        <p:nvSpPr>
          <p:cNvPr id="15" name="TextBox 14"/>
          <p:cNvSpPr txBox="1"/>
          <p:nvPr/>
        </p:nvSpPr>
        <p:spPr>
          <a:xfrm>
            <a:off x="16870680" y="9724644"/>
            <a:ext cx="960119" cy="301752"/>
          </a:xfrm>
          <a:prstGeom prst="rect">
            <a:avLst/>
          </a:prstGeom>
          <a:noFill/>
        </p:spPr>
        <p:txBody>
          <a:bodyPr wrap="none" lIns="0" rIns="0" tIns="0" bIns="0">
            <a:spAutoFit/>
          </a:bodyPr>
          <a:lstStyle/>
          <a:p>
            <a:pPr algn="r">
              <a:lnSpc>
                <a:spcPct val="115000"/>
              </a:lnSpc>
            </a:pPr>
            <a:r>
              <a:rPr sz="1350" spc="150">
                <a:solidFill>
                  <a:srgbClr val="AFC4C2"/>
                </a:solidFill>
                <a:latin typeface="TT Commons Pro"/>
              </a:rPr>
              <a:t>37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03333"/>
        </a:solidFill>
        <a:effectLst/>
      </p:bgPr>
    </p:bg>
    <p:spTree>
      <p:nvGrpSpPr>
        <p:cNvPr id="1" name=""/>
        <p:cNvGrpSpPr/>
        <p:nvPr/>
      </p:nvGrpSpPr>
      <p:grpSpPr/>
      <p:pic>
        <p:nvPicPr>
          <p:cNvPr id="2" name="Picture 1" descr="bg_c34.jpg"/>
          <p:cNvPicPr>
            <a:picLocks noChangeAspect="1"/>
          </p:cNvPicPr>
          <p:nvPr/>
        </p:nvPicPr>
        <p:blipFill>
          <a:blip r:embed="rId2"/>
          <a:stretch>
            <a:fillRect/>
          </a:stretch>
        </p:blipFill>
        <p:spPr>
          <a:xfrm>
            <a:off x="0" y="0"/>
            <a:ext cx="18287542" cy="10287000"/>
          </a:xfrm>
          <a:prstGeom prst="rect">
            <a:avLst/>
          </a:prstGeom>
        </p:spPr>
      </p:pic>
      <p:sp>
        <p:nvSpPr>
          <p:cNvPr id="3" name="TextBox 2"/>
          <p:cNvSpPr txBox="1"/>
          <p:nvPr/>
        </p:nvSpPr>
        <p:spPr>
          <a:xfrm>
            <a:off x="822959" y="822959"/>
            <a:ext cx="16733519" cy="384048"/>
          </a:xfrm>
          <a:prstGeom prst="rect">
            <a:avLst/>
          </a:prstGeom>
          <a:noFill/>
        </p:spPr>
        <p:txBody>
          <a:bodyPr wrap="none" lIns="0" rIns="0" tIns="0" bIns="0">
            <a:spAutoFit/>
          </a:bodyPr>
          <a:lstStyle/>
          <a:p>
            <a:pPr algn="l">
              <a:lnSpc>
                <a:spcPct val="115000"/>
              </a:lnSpc>
            </a:pPr>
            <a:r>
              <a:rPr sz="1650" spc="330">
                <a:solidFill>
                  <a:srgbClr val="9FE8DC"/>
                </a:solidFill>
                <a:latin typeface="Todes 1"/>
              </a:rPr>
              <a:t>ANTI-CAPTURE</a:t>
            </a:r>
          </a:p>
        </p:txBody>
      </p:sp>
      <p:sp>
        <p:nvSpPr>
          <p:cNvPr id="4" name="TextBox 3"/>
          <p:cNvSpPr txBox="1"/>
          <p:nvPr/>
        </p:nvSpPr>
        <p:spPr>
          <a:xfrm>
            <a:off x="822959" y="1699869"/>
            <a:ext cx="12878435" cy="1010431"/>
          </a:xfrm>
          <a:prstGeom prst="rect">
            <a:avLst/>
          </a:prstGeom>
          <a:noFill/>
        </p:spPr>
        <p:txBody>
          <a:bodyPr wrap="none" lIns="0" rIns="0" tIns="0" bIns="0">
            <a:spAutoFit/>
          </a:bodyPr>
          <a:lstStyle/>
          <a:p>
            <a:pPr algn="l">
              <a:lnSpc>
                <a:spcPct val="115000"/>
              </a:lnSpc>
            </a:pPr>
            <a:r>
              <a:rPr sz="5487" spc="-74">
                <a:solidFill>
                  <a:srgbClr val="F4EAD8"/>
                </a:solidFill>
                <a:latin typeface="Todes 1"/>
              </a:rPr>
              <a:t>Don't rely on future leaders </a:t>
            </a:r>
          </a:p>
        </p:txBody>
      </p:sp>
      <p:sp>
        <p:nvSpPr>
          <p:cNvPr id="5" name="TextBox 4"/>
          <p:cNvSpPr txBox="1"/>
          <p:nvPr/>
        </p:nvSpPr>
        <p:spPr>
          <a:xfrm>
            <a:off x="10961116" y="1645919"/>
            <a:ext cx="5003958" cy="1108214"/>
          </a:xfrm>
          <a:prstGeom prst="rect">
            <a:avLst/>
          </a:prstGeom>
          <a:noFill/>
        </p:spPr>
        <p:txBody>
          <a:bodyPr wrap="none" lIns="0" rIns="0" tIns="0" bIns="0">
            <a:spAutoFit/>
          </a:bodyPr>
          <a:lstStyle/>
          <a:p>
            <a:pPr algn="l">
              <a:lnSpc>
                <a:spcPct val="115000"/>
              </a:lnSpc>
            </a:pPr>
            <a:r>
              <a:rPr sz="6017" spc="-75">
                <a:solidFill>
                  <a:srgbClr val="F0CC8B"/>
                </a:solidFill>
                <a:latin typeface="Ibarra Real Nova Italics"/>
              </a:rPr>
              <a:t>staying nice.</a:t>
            </a:r>
          </a:p>
        </p:txBody>
      </p:sp>
      <p:sp>
        <p:nvSpPr>
          <p:cNvPr id="6" name="Rounded Rectangle 5"/>
          <p:cNvSpPr/>
          <p:nvPr/>
        </p:nvSpPr>
        <p:spPr>
          <a:xfrm>
            <a:off x="822959" y="3771900"/>
            <a:ext cx="5376672" cy="2194560"/>
          </a:xfrm>
          <a:prstGeom prst="roundRect">
            <a:avLst>
              <a:gd name="adj" fmla="val 6000"/>
            </a:avLst>
          </a:prstGeom>
          <a:solidFill>
            <a:srgbClr val="0D3E40"/>
          </a:solidFill>
          <a:ln w="17145">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roup.png"/>
          <p:cNvPicPr>
            <a:picLocks noChangeAspect="1"/>
          </p:cNvPicPr>
          <p:nvPr/>
        </p:nvPicPr>
        <p:blipFill>
          <a:blip r:embed="rId4"/>
          <a:stretch>
            <a:fillRect/>
          </a:stretch>
        </p:blipFill>
        <p:spPr>
          <a:xfrm>
            <a:off x="1193292" y="4142232"/>
            <a:ext cx="411479" cy="411479"/>
          </a:xfrm>
          <a:prstGeom prst="rect">
            <a:avLst/>
          </a:prstGeom>
        </p:spPr>
      </p:pic>
      <p:sp>
        <p:nvSpPr>
          <p:cNvPr id="8" name="TextBox 7"/>
          <p:cNvSpPr txBox="1"/>
          <p:nvPr/>
        </p:nvSpPr>
        <p:spPr>
          <a:xfrm>
            <a:off x="1920239" y="4155948"/>
            <a:ext cx="4114800" cy="411479"/>
          </a:xfrm>
          <a:prstGeom prst="rect">
            <a:avLst/>
          </a:prstGeom>
          <a:noFill/>
        </p:spPr>
        <p:txBody>
          <a:bodyPr wrap="none" lIns="0" rIns="0" tIns="0" bIns="0">
            <a:spAutoFit/>
          </a:bodyPr>
          <a:lstStyle/>
          <a:p>
            <a:pPr algn="l">
              <a:lnSpc>
                <a:spcPct val="115000"/>
              </a:lnSpc>
            </a:pPr>
            <a:r>
              <a:rPr sz="1425" spc="330">
                <a:solidFill>
                  <a:srgbClr val="9FE8DC"/>
                </a:solidFill>
                <a:latin typeface="Todes 1"/>
              </a:rPr>
              <a:t>COOPERATIVE OWNERSHIP</a:t>
            </a:r>
          </a:p>
        </p:txBody>
      </p:sp>
      <p:sp>
        <p:nvSpPr>
          <p:cNvPr id="9" name="TextBox 8"/>
          <p:cNvSpPr txBox="1"/>
          <p:nvPr/>
        </p:nvSpPr>
        <p:spPr>
          <a:xfrm>
            <a:off x="1234439" y="4800600"/>
            <a:ext cx="4594860" cy="960119"/>
          </a:xfrm>
          <a:prstGeom prst="rect">
            <a:avLst/>
          </a:prstGeom>
          <a:noFill/>
        </p:spPr>
        <p:txBody>
          <a:bodyPr wrap="square" lIns="0" rIns="0" tIns="0" bIns="0">
            <a:spAutoFit/>
          </a:bodyPr>
          <a:lstStyle/>
          <a:p>
            <a:pPr algn="l">
              <a:lnSpc>
                <a:spcPct val="140000"/>
              </a:lnSpc>
            </a:pPr>
            <a:r>
              <a:rPr sz="1650">
                <a:solidFill>
                  <a:srgbClr val="F2ECDD"/>
                </a:solidFill>
                <a:latin typeface="TT Commons Pro"/>
              </a:rPr>
              <a:t>The users own the institution — capture has no cheap entry point.</a:t>
            </a:r>
          </a:p>
        </p:txBody>
      </p:sp>
      <p:sp>
        <p:nvSpPr>
          <p:cNvPr id="10" name="Rounded Rectangle 9"/>
          <p:cNvSpPr/>
          <p:nvPr/>
        </p:nvSpPr>
        <p:spPr>
          <a:xfrm>
            <a:off x="6473952" y="3771900"/>
            <a:ext cx="5376672" cy="2194560"/>
          </a:xfrm>
          <a:prstGeom prst="roundRect">
            <a:avLst>
              <a:gd name="adj" fmla="val 6000"/>
            </a:avLst>
          </a:prstGeom>
          <a:solidFill>
            <a:srgbClr val="062A2C"/>
          </a:solidFill>
          <a:ln w="17145">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adge.png"/>
          <p:cNvPicPr>
            <a:picLocks noChangeAspect="1"/>
          </p:cNvPicPr>
          <p:nvPr/>
        </p:nvPicPr>
        <p:blipFill>
          <a:blip r:embed="rId5"/>
          <a:stretch>
            <a:fillRect/>
          </a:stretch>
        </p:blipFill>
        <p:spPr>
          <a:xfrm>
            <a:off x="6844283" y="4142232"/>
            <a:ext cx="411479" cy="411479"/>
          </a:xfrm>
          <a:prstGeom prst="rect">
            <a:avLst/>
          </a:prstGeom>
        </p:spPr>
      </p:pic>
      <p:sp>
        <p:nvSpPr>
          <p:cNvPr id="12" name="TextBox 11"/>
          <p:cNvSpPr txBox="1"/>
          <p:nvPr/>
        </p:nvSpPr>
        <p:spPr>
          <a:xfrm>
            <a:off x="7571231" y="4155948"/>
            <a:ext cx="4114800" cy="411479"/>
          </a:xfrm>
          <a:prstGeom prst="rect">
            <a:avLst/>
          </a:prstGeom>
          <a:noFill/>
        </p:spPr>
        <p:txBody>
          <a:bodyPr wrap="none" lIns="0" rIns="0" tIns="0" bIns="0">
            <a:spAutoFit/>
          </a:bodyPr>
          <a:lstStyle/>
          <a:p>
            <a:pPr algn="l">
              <a:lnSpc>
                <a:spcPct val="115000"/>
              </a:lnSpc>
            </a:pPr>
            <a:r>
              <a:rPr sz="1425" spc="330">
                <a:solidFill>
                  <a:srgbClr val="9FE8DC"/>
                </a:solidFill>
                <a:latin typeface="Todes 1"/>
              </a:rPr>
              <a:t>PUBLIC-BENEFIT PURPOSE</a:t>
            </a:r>
          </a:p>
        </p:txBody>
      </p:sp>
      <p:sp>
        <p:nvSpPr>
          <p:cNvPr id="13" name="TextBox 12"/>
          <p:cNvSpPr txBox="1"/>
          <p:nvPr/>
        </p:nvSpPr>
        <p:spPr>
          <a:xfrm>
            <a:off x="6885431" y="4800600"/>
            <a:ext cx="4594860" cy="960119"/>
          </a:xfrm>
          <a:prstGeom prst="rect">
            <a:avLst/>
          </a:prstGeom>
          <a:noFill/>
        </p:spPr>
        <p:txBody>
          <a:bodyPr wrap="square" lIns="0" rIns="0" tIns="0" bIns="0">
            <a:spAutoFit/>
          </a:bodyPr>
          <a:lstStyle/>
          <a:p>
            <a:pPr algn="l">
              <a:lnSpc>
                <a:spcPct val="140000"/>
              </a:lnSpc>
            </a:pPr>
            <a:r>
              <a:rPr sz="1650">
                <a:solidFill>
                  <a:srgbClr val="F2ECDD"/>
                </a:solidFill>
                <a:latin typeface="TT Commons Pro"/>
              </a:rPr>
              <a:t>The outcomes are in the Articles: obligations, not marketing.</a:t>
            </a:r>
          </a:p>
        </p:txBody>
      </p:sp>
      <p:sp>
        <p:nvSpPr>
          <p:cNvPr id="14" name="Rounded Rectangle 13"/>
          <p:cNvSpPr/>
          <p:nvPr/>
        </p:nvSpPr>
        <p:spPr>
          <a:xfrm>
            <a:off x="12124944" y="3771900"/>
            <a:ext cx="5376672" cy="2194560"/>
          </a:xfrm>
          <a:prstGeom prst="roundRect">
            <a:avLst>
              <a:gd name="adj" fmla="val 6000"/>
            </a:avLst>
          </a:prstGeom>
          <a:solidFill>
            <a:srgbClr val="0D3E40"/>
          </a:solidFill>
          <a:ln w="17145">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ring.png"/>
          <p:cNvPicPr>
            <a:picLocks noChangeAspect="1"/>
          </p:cNvPicPr>
          <p:nvPr/>
        </p:nvPicPr>
        <p:blipFill>
          <a:blip r:embed="rId6"/>
          <a:stretch>
            <a:fillRect/>
          </a:stretch>
        </p:blipFill>
        <p:spPr>
          <a:xfrm>
            <a:off x="12495276" y="4142232"/>
            <a:ext cx="411479" cy="411479"/>
          </a:xfrm>
          <a:prstGeom prst="rect">
            <a:avLst/>
          </a:prstGeom>
        </p:spPr>
      </p:pic>
      <p:sp>
        <p:nvSpPr>
          <p:cNvPr id="16" name="TextBox 15"/>
          <p:cNvSpPr txBox="1"/>
          <p:nvPr/>
        </p:nvSpPr>
        <p:spPr>
          <a:xfrm>
            <a:off x="13222224" y="4155948"/>
            <a:ext cx="4114800" cy="411479"/>
          </a:xfrm>
          <a:prstGeom prst="rect">
            <a:avLst/>
          </a:prstGeom>
          <a:noFill/>
        </p:spPr>
        <p:txBody>
          <a:bodyPr wrap="none" lIns="0" rIns="0" tIns="0" bIns="0">
            <a:spAutoFit/>
          </a:bodyPr>
          <a:lstStyle/>
          <a:p>
            <a:pPr algn="l">
              <a:lnSpc>
                <a:spcPct val="115000"/>
              </a:lnSpc>
            </a:pPr>
            <a:r>
              <a:rPr sz="1425" spc="330">
                <a:solidFill>
                  <a:srgbClr val="9FE8DC"/>
                </a:solidFill>
                <a:latin typeface="Todes 1"/>
              </a:rPr>
              <a:t>FEDERATION</a:t>
            </a:r>
          </a:p>
        </p:txBody>
      </p:sp>
      <p:sp>
        <p:nvSpPr>
          <p:cNvPr id="17" name="TextBox 16"/>
          <p:cNvSpPr txBox="1"/>
          <p:nvPr/>
        </p:nvSpPr>
        <p:spPr>
          <a:xfrm>
            <a:off x="12536424" y="4800600"/>
            <a:ext cx="4594860" cy="960119"/>
          </a:xfrm>
          <a:prstGeom prst="rect">
            <a:avLst/>
          </a:prstGeom>
          <a:noFill/>
        </p:spPr>
        <p:txBody>
          <a:bodyPr wrap="square" lIns="0" rIns="0" tIns="0" bIns="0">
            <a:spAutoFit/>
          </a:bodyPr>
          <a:lstStyle/>
          <a:p>
            <a:pPr algn="l">
              <a:lnSpc>
                <a:spcPct val="140000"/>
              </a:lnSpc>
            </a:pPr>
            <a:r>
              <a:rPr sz="1650">
                <a:solidFill>
                  <a:srgbClr val="F2ECDD"/>
                </a:solidFill>
                <a:latin typeface="TT Commons Pro"/>
              </a:rPr>
              <a:t>No single switch to seize — many instances, one network.</a:t>
            </a:r>
          </a:p>
        </p:txBody>
      </p:sp>
      <p:sp>
        <p:nvSpPr>
          <p:cNvPr id="18" name="Rounded Rectangle 17"/>
          <p:cNvSpPr/>
          <p:nvPr/>
        </p:nvSpPr>
        <p:spPr>
          <a:xfrm>
            <a:off x="822959" y="6309359"/>
            <a:ext cx="5376672" cy="2194560"/>
          </a:xfrm>
          <a:prstGeom prst="roundRect">
            <a:avLst>
              <a:gd name="adj" fmla="val 6000"/>
            </a:avLst>
          </a:prstGeom>
          <a:solidFill>
            <a:srgbClr val="062A2C"/>
          </a:solidFill>
          <a:ln w="17145">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doc.png"/>
          <p:cNvPicPr>
            <a:picLocks noChangeAspect="1"/>
          </p:cNvPicPr>
          <p:nvPr/>
        </p:nvPicPr>
        <p:blipFill>
          <a:blip r:embed="rId7"/>
          <a:stretch>
            <a:fillRect/>
          </a:stretch>
        </p:blipFill>
        <p:spPr>
          <a:xfrm>
            <a:off x="1193292" y="6679691"/>
            <a:ext cx="411479" cy="411479"/>
          </a:xfrm>
          <a:prstGeom prst="rect">
            <a:avLst/>
          </a:prstGeom>
        </p:spPr>
      </p:pic>
      <p:sp>
        <p:nvSpPr>
          <p:cNvPr id="20" name="TextBox 19"/>
          <p:cNvSpPr txBox="1"/>
          <p:nvPr/>
        </p:nvSpPr>
        <p:spPr>
          <a:xfrm>
            <a:off x="1920239" y="6693408"/>
            <a:ext cx="4114800" cy="411479"/>
          </a:xfrm>
          <a:prstGeom prst="rect">
            <a:avLst/>
          </a:prstGeom>
          <a:noFill/>
        </p:spPr>
        <p:txBody>
          <a:bodyPr wrap="none" lIns="0" rIns="0" tIns="0" bIns="0">
            <a:spAutoFit/>
          </a:bodyPr>
          <a:lstStyle/>
          <a:p>
            <a:pPr algn="l">
              <a:lnSpc>
                <a:spcPct val="115000"/>
              </a:lnSpc>
            </a:pPr>
            <a:r>
              <a:rPr sz="1425" spc="330">
                <a:solidFill>
                  <a:srgbClr val="9FE8DC"/>
                </a:solidFill>
                <a:latin typeface="Todes 1"/>
              </a:rPr>
              <a:t>SOVEREIGN DATA</a:t>
            </a:r>
          </a:p>
        </p:txBody>
      </p:sp>
      <p:sp>
        <p:nvSpPr>
          <p:cNvPr id="21" name="TextBox 20"/>
          <p:cNvSpPr txBox="1"/>
          <p:nvPr/>
        </p:nvSpPr>
        <p:spPr>
          <a:xfrm>
            <a:off x="1234439" y="7338059"/>
            <a:ext cx="4594860" cy="960119"/>
          </a:xfrm>
          <a:prstGeom prst="rect">
            <a:avLst/>
          </a:prstGeom>
          <a:noFill/>
        </p:spPr>
        <p:txBody>
          <a:bodyPr wrap="square" lIns="0" rIns="0" tIns="0" bIns="0">
            <a:spAutoFit/>
          </a:bodyPr>
          <a:lstStyle/>
          <a:p>
            <a:pPr algn="l">
              <a:lnSpc>
                <a:spcPct val="140000"/>
              </a:lnSpc>
            </a:pPr>
            <a:r>
              <a:rPr sz="1650">
                <a:solidFill>
                  <a:srgbClr val="F2ECDD"/>
                </a:solidFill>
                <a:latin typeface="TT Commons Pro"/>
              </a:rPr>
              <a:t>Communities keep their data; leaving is always possible.</a:t>
            </a:r>
          </a:p>
        </p:txBody>
      </p:sp>
      <p:sp>
        <p:nvSpPr>
          <p:cNvPr id="22" name="Rounded Rectangle 21"/>
          <p:cNvSpPr/>
          <p:nvPr/>
        </p:nvSpPr>
        <p:spPr>
          <a:xfrm>
            <a:off x="6473952" y="6309359"/>
            <a:ext cx="5376672" cy="2194560"/>
          </a:xfrm>
          <a:prstGeom prst="roundRect">
            <a:avLst>
              <a:gd name="adj" fmla="val 6000"/>
            </a:avLst>
          </a:prstGeom>
          <a:solidFill>
            <a:srgbClr val="0D3E40"/>
          </a:solidFill>
          <a:ln w="17145">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share.png"/>
          <p:cNvPicPr>
            <a:picLocks noChangeAspect="1"/>
          </p:cNvPicPr>
          <p:nvPr/>
        </p:nvPicPr>
        <p:blipFill>
          <a:blip r:embed="rId8"/>
          <a:stretch>
            <a:fillRect/>
          </a:stretch>
        </p:blipFill>
        <p:spPr>
          <a:xfrm>
            <a:off x="6844283" y="6679691"/>
            <a:ext cx="411479" cy="411479"/>
          </a:xfrm>
          <a:prstGeom prst="rect">
            <a:avLst/>
          </a:prstGeom>
        </p:spPr>
      </p:pic>
      <p:sp>
        <p:nvSpPr>
          <p:cNvPr id="24" name="TextBox 23"/>
          <p:cNvSpPr txBox="1"/>
          <p:nvPr/>
        </p:nvSpPr>
        <p:spPr>
          <a:xfrm>
            <a:off x="7571231" y="6693408"/>
            <a:ext cx="4114800" cy="411479"/>
          </a:xfrm>
          <a:prstGeom prst="rect">
            <a:avLst/>
          </a:prstGeom>
          <a:noFill/>
        </p:spPr>
        <p:txBody>
          <a:bodyPr wrap="none" lIns="0" rIns="0" tIns="0" bIns="0">
            <a:spAutoFit/>
          </a:bodyPr>
          <a:lstStyle/>
          <a:p>
            <a:pPr algn="l">
              <a:lnSpc>
                <a:spcPct val="115000"/>
              </a:lnSpc>
            </a:pPr>
            <a:r>
              <a:rPr sz="1425" spc="330">
                <a:solidFill>
                  <a:srgbClr val="9FE8DC"/>
                </a:solidFill>
                <a:latin typeface="Todes 1"/>
              </a:rPr>
              <a:t>INTEROPERABILITY</a:t>
            </a:r>
          </a:p>
        </p:txBody>
      </p:sp>
      <p:sp>
        <p:nvSpPr>
          <p:cNvPr id="25" name="TextBox 24"/>
          <p:cNvSpPr txBox="1"/>
          <p:nvPr/>
        </p:nvSpPr>
        <p:spPr>
          <a:xfrm>
            <a:off x="6885431" y="7338059"/>
            <a:ext cx="4594860" cy="960119"/>
          </a:xfrm>
          <a:prstGeom prst="rect">
            <a:avLst/>
          </a:prstGeom>
          <a:noFill/>
        </p:spPr>
        <p:txBody>
          <a:bodyPr wrap="square" lIns="0" rIns="0" tIns="0" bIns="0">
            <a:spAutoFit/>
          </a:bodyPr>
          <a:lstStyle/>
          <a:p>
            <a:pPr algn="l">
              <a:lnSpc>
                <a:spcPct val="140000"/>
              </a:lnSpc>
            </a:pPr>
            <a:r>
              <a:rPr sz="1650">
                <a:solidFill>
                  <a:srgbClr val="F2ECDD"/>
                </a:solidFill>
                <a:latin typeface="TT Commons Pro"/>
              </a:rPr>
              <a:t>Open standards mean no lock-in to defend badly.</a:t>
            </a:r>
          </a:p>
        </p:txBody>
      </p:sp>
      <p:sp>
        <p:nvSpPr>
          <p:cNvPr id="26" name="Rounded Rectangle 25"/>
          <p:cNvSpPr/>
          <p:nvPr/>
        </p:nvSpPr>
        <p:spPr>
          <a:xfrm>
            <a:off x="12124944" y="6309359"/>
            <a:ext cx="5376672" cy="2194560"/>
          </a:xfrm>
          <a:prstGeom prst="roundRect">
            <a:avLst>
              <a:gd name="adj" fmla="val 6000"/>
            </a:avLst>
          </a:prstGeom>
          <a:solidFill>
            <a:srgbClr val="062A2C"/>
          </a:solidFill>
          <a:ln w="17145">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role.png"/>
          <p:cNvPicPr>
            <a:picLocks noChangeAspect="1"/>
          </p:cNvPicPr>
          <p:nvPr/>
        </p:nvPicPr>
        <p:blipFill>
          <a:blip r:embed="rId9"/>
          <a:stretch>
            <a:fillRect/>
          </a:stretch>
        </p:blipFill>
        <p:spPr>
          <a:xfrm>
            <a:off x="12495276" y="6679691"/>
            <a:ext cx="411479" cy="411479"/>
          </a:xfrm>
          <a:prstGeom prst="rect">
            <a:avLst/>
          </a:prstGeom>
        </p:spPr>
      </p:pic>
      <p:sp>
        <p:nvSpPr>
          <p:cNvPr id="28" name="TextBox 27"/>
          <p:cNvSpPr txBox="1"/>
          <p:nvPr/>
        </p:nvSpPr>
        <p:spPr>
          <a:xfrm>
            <a:off x="13222224" y="6693408"/>
            <a:ext cx="4114800" cy="411479"/>
          </a:xfrm>
          <a:prstGeom prst="rect">
            <a:avLst/>
          </a:prstGeom>
          <a:noFill/>
        </p:spPr>
        <p:txBody>
          <a:bodyPr wrap="none" lIns="0" rIns="0" tIns="0" bIns="0">
            <a:spAutoFit/>
          </a:bodyPr>
          <a:lstStyle/>
          <a:p>
            <a:pPr algn="l">
              <a:lnSpc>
                <a:spcPct val="115000"/>
              </a:lnSpc>
            </a:pPr>
            <a:r>
              <a:rPr sz="1425" spc="330">
                <a:solidFill>
                  <a:srgbClr val="9FE8DC"/>
                </a:solidFill>
                <a:latin typeface="Todes 1"/>
              </a:rPr>
              <a:t>CONTEXTUAL PERMISSIONS</a:t>
            </a:r>
          </a:p>
        </p:txBody>
      </p:sp>
      <p:sp>
        <p:nvSpPr>
          <p:cNvPr id="29" name="TextBox 28"/>
          <p:cNvSpPr txBox="1"/>
          <p:nvPr/>
        </p:nvSpPr>
        <p:spPr>
          <a:xfrm>
            <a:off x="12536424" y="7338059"/>
            <a:ext cx="4594860" cy="960119"/>
          </a:xfrm>
          <a:prstGeom prst="rect">
            <a:avLst/>
          </a:prstGeom>
          <a:noFill/>
        </p:spPr>
        <p:txBody>
          <a:bodyPr wrap="square" lIns="0" rIns="0" tIns="0" bIns="0">
            <a:spAutoFit/>
          </a:bodyPr>
          <a:lstStyle/>
          <a:p>
            <a:pPr algn="l">
              <a:lnSpc>
                <a:spcPct val="140000"/>
              </a:lnSpc>
            </a:pPr>
            <a:r>
              <a:rPr sz="1650">
                <a:solidFill>
                  <a:srgbClr val="F2ECDD"/>
                </a:solidFill>
                <a:latin typeface="TT Commons Pro"/>
              </a:rPr>
              <a:t>Visibility and access stay under member control.</a:t>
            </a:r>
          </a:p>
        </p:txBody>
      </p:sp>
      <p:sp>
        <p:nvSpPr>
          <p:cNvPr id="30" name="TextBox 29"/>
          <p:cNvSpPr txBox="1"/>
          <p:nvPr/>
        </p:nvSpPr>
        <p:spPr>
          <a:xfrm>
            <a:off x="822959" y="8778240"/>
            <a:ext cx="16596359" cy="1097280"/>
          </a:xfrm>
          <a:prstGeom prst="rect">
            <a:avLst/>
          </a:prstGeom>
          <a:noFill/>
        </p:spPr>
        <p:txBody>
          <a:bodyPr wrap="square" lIns="0" rIns="0" tIns="0" bIns="0">
            <a:spAutoFit/>
          </a:bodyPr>
          <a:lstStyle/>
          <a:p>
            <a:pPr algn="ctr">
              <a:lnSpc>
                <a:spcPct val="140000"/>
              </a:lnSpc>
            </a:pPr>
            <a:r>
              <a:rPr sz="1875">
                <a:solidFill>
                  <a:srgbClr val="F2ECDD"/>
                </a:solidFill>
                <a:latin typeface="TT Commons Pro"/>
              </a:rPr>
              <a:t>If platforms became extractive because incentives changed, Rivr cannot just say “trust us.”</a:t>
            </a:r>
          </a:p>
          <a:p>
            <a:pPr algn="ctr">
              <a:lnSpc>
                <a:spcPct val="140000"/>
              </a:lnSpc>
            </a:pPr>
            <a:r>
              <a:rPr sz="2100" spc="20">
                <a:solidFill>
                  <a:srgbClr val="9FE8DC"/>
                </a:solidFill>
                <a:latin typeface="Alike Italics"/>
              </a:rPr>
              <a:t>Build the system so capture is harder even if future incentives change.</a:t>
            </a:r>
          </a:p>
        </p:txBody>
      </p:sp>
      <p:pic>
        <p:nvPicPr>
          <p:cNvPr id="31" name="Picture 30" descr="rivr-symbol-light.png"/>
          <p:cNvPicPr>
            <a:picLocks noChangeAspect="1"/>
          </p:cNvPicPr>
          <p:nvPr/>
        </p:nvPicPr>
        <p:blipFill>
          <a:blip r:embed="rId10"/>
          <a:stretch>
            <a:fillRect/>
          </a:stretch>
        </p:blipFill>
        <p:spPr>
          <a:xfrm>
            <a:off x="576072" y="9518904"/>
            <a:ext cx="521208" cy="521208"/>
          </a:xfrm>
          <a:prstGeom prst="rect">
            <a:avLst/>
          </a:prstGeom>
        </p:spPr>
      </p:pic>
      <p:sp>
        <p:nvSpPr>
          <p:cNvPr id="32" name="TextBox 31"/>
          <p:cNvSpPr txBox="1"/>
          <p:nvPr/>
        </p:nvSpPr>
        <p:spPr>
          <a:xfrm>
            <a:off x="1371600" y="9724644"/>
            <a:ext cx="5486400" cy="301752"/>
          </a:xfrm>
          <a:prstGeom prst="rect">
            <a:avLst/>
          </a:prstGeom>
          <a:noFill/>
        </p:spPr>
        <p:txBody>
          <a:bodyPr wrap="none" lIns="0" rIns="0" tIns="0" bIns="0">
            <a:spAutoFit/>
          </a:bodyPr>
          <a:lstStyle/>
          <a:p>
            <a:pPr algn="l">
              <a:lnSpc>
                <a:spcPct val="115000"/>
              </a:lnSpc>
            </a:pPr>
            <a:r>
              <a:rPr sz="1350" spc="150">
                <a:solidFill>
                  <a:srgbClr val="AFC4C2"/>
                </a:solidFill>
                <a:latin typeface="TT Commons Pro"/>
              </a:rPr>
              <a:t>Rivr · Seed Round 2026</a:t>
            </a:r>
          </a:p>
        </p:txBody>
      </p:sp>
      <p:sp>
        <p:nvSpPr>
          <p:cNvPr id="33" name="TextBox 32"/>
          <p:cNvSpPr txBox="1"/>
          <p:nvPr/>
        </p:nvSpPr>
        <p:spPr>
          <a:xfrm>
            <a:off x="16870680" y="9724644"/>
            <a:ext cx="960119" cy="301752"/>
          </a:xfrm>
          <a:prstGeom prst="rect">
            <a:avLst/>
          </a:prstGeom>
          <a:noFill/>
        </p:spPr>
        <p:txBody>
          <a:bodyPr wrap="none" lIns="0" rIns="0" tIns="0" bIns="0">
            <a:spAutoFit/>
          </a:bodyPr>
          <a:lstStyle/>
          <a:p>
            <a:pPr algn="r">
              <a:lnSpc>
                <a:spcPct val="115000"/>
              </a:lnSpc>
            </a:pPr>
            <a:r>
              <a:rPr sz="1350" spc="150">
                <a:solidFill>
                  <a:srgbClr val="AFC4C2"/>
                </a:solidFill>
                <a:latin typeface="TT Commons Pro"/>
              </a:rPr>
              <a:t>38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03333"/>
        </a:solidFill>
        <a:effectLst/>
      </p:bgPr>
    </p:bg>
    <p:spTree>
      <p:nvGrpSpPr>
        <p:cNvPr id="1" name=""/>
        <p:cNvGrpSpPr/>
        <p:nvPr/>
      </p:nvGrpSpPr>
      <p:grpSpPr/>
      <p:pic>
        <p:nvPicPr>
          <p:cNvPr id="2" name="Picture 1" descr="bg_c35.jpg"/>
          <p:cNvPicPr>
            <a:picLocks noChangeAspect="1"/>
          </p:cNvPicPr>
          <p:nvPr/>
        </p:nvPicPr>
        <p:blipFill>
          <a:blip r:embed="rId2"/>
          <a:stretch>
            <a:fillRect/>
          </a:stretch>
        </p:blipFill>
        <p:spPr>
          <a:xfrm>
            <a:off x="0" y="0"/>
            <a:ext cx="18287542" cy="10287000"/>
          </a:xfrm>
          <a:prstGeom prst="rect">
            <a:avLst/>
          </a:prstGeom>
        </p:spPr>
      </p:pic>
      <p:sp>
        <p:nvSpPr>
          <p:cNvPr id="3" name="TextBox 2"/>
          <p:cNvSpPr txBox="1"/>
          <p:nvPr/>
        </p:nvSpPr>
        <p:spPr>
          <a:xfrm>
            <a:off x="822959" y="822959"/>
            <a:ext cx="16733519" cy="384048"/>
          </a:xfrm>
          <a:prstGeom prst="rect">
            <a:avLst/>
          </a:prstGeom>
          <a:noFill/>
        </p:spPr>
        <p:txBody>
          <a:bodyPr wrap="none" lIns="0" rIns="0" tIns="0" bIns="0">
            <a:spAutoFit/>
          </a:bodyPr>
          <a:lstStyle/>
          <a:p>
            <a:pPr algn="l">
              <a:lnSpc>
                <a:spcPct val="115000"/>
              </a:lnSpc>
            </a:pPr>
            <a:r>
              <a:rPr sz="1650" spc="330">
                <a:solidFill>
                  <a:srgbClr val="9FE8DC"/>
                </a:solidFill>
                <a:latin typeface="Todes 1"/>
              </a:rPr>
              <a:t>COMPETITIVE LANDSCAPE</a:t>
            </a:r>
          </a:p>
        </p:txBody>
      </p:sp>
      <p:sp>
        <p:nvSpPr>
          <p:cNvPr id="4" name="TextBox 3"/>
          <p:cNvSpPr txBox="1"/>
          <p:nvPr/>
        </p:nvSpPr>
        <p:spPr>
          <a:xfrm>
            <a:off x="822959" y="1699869"/>
            <a:ext cx="9150429" cy="1043025"/>
          </a:xfrm>
          <a:prstGeom prst="rect">
            <a:avLst/>
          </a:prstGeom>
          <a:noFill/>
        </p:spPr>
        <p:txBody>
          <a:bodyPr wrap="none" lIns="0" rIns="0" tIns="0" bIns="0">
            <a:spAutoFit/>
          </a:bodyPr>
          <a:lstStyle/>
          <a:p>
            <a:pPr algn="l">
              <a:lnSpc>
                <a:spcPct val="115000"/>
              </a:lnSpc>
            </a:pPr>
            <a:r>
              <a:rPr sz="5664" spc="-76">
                <a:solidFill>
                  <a:srgbClr val="F4EAD8"/>
                </a:solidFill>
                <a:latin typeface="Todes 1"/>
              </a:rPr>
              <a:t>The competition is </a:t>
            </a:r>
          </a:p>
        </p:txBody>
      </p:sp>
      <p:sp>
        <p:nvSpPr>
          <p:cNvPr id="5" name="TextBox 4"/>
          <p:cNvSpPr txBox="1"/>
          <p:nvPr/>
        </p:nvSpPr>
        <p:spPr>
          <a:xfrm>
            <a:off x="7978711" y="1645919"/>
            <a:ext cx="8528208" cy="1140809"/>
          </a:xfrm>
          <a:prstGeom prst="rect">
            <a:avLst/>
          </a:prstGeom>
          <a:noFill/>
        </p:spPr>
        <p:txBody>
          <a:bodyPr wrap="none" lIns="0" rIns="0" tIns="0" bIns="0">
            <a:spAutoFit/>
          </a:bodyPr>
          <a:lstStyle/>
          <a:p>
            <a:pPr algn="l">
              <a:lnSpc>
                <a:spcPct val="115000"/>
              </a:lnSpc>
            </a:pPr>
            <a:r>
              <a:rPr sz="6195" spc="-75">
                <a:solidFill>
                  <a:srgbClr val="F0CC8B"/>
                </a:solidFill>
                <a:latin typeface="Ibarra Real Nova Italics"/>
              </a:rPr>
              <a:t>the fragmented stack.</a:t>
            </a:r>
          </a:p>
        </p:txBody>
      </p:sp>
      <p:sp>
        <p:nvSpPr>
          <p:cNvPr id="6" name="Rounded Rectangle 5"/>
          <p:cNvSpPr/>
          <p:nvPr/>
        </p:nvSpPr>
        <p:spPr>
          <a:xfrm>
            <a:off x="822959" y="3497579"/>
            <a:ext cx="2606039" cy="548640"/>
          </a:xfrm>
          <a:prstGeom prst="roundRect">
            <a:avLst>
              <a:gd name="adj" fmla="val 30000"/>
            </a:avLst>
          </a:prstGeom>
          <a:solidFill>
            <a:srgbClr val="084B4D"/>
          </a:solidFill>
          <a:ln w="11429">
            <a:solidFill>
              <a:srgbClr val="AFC4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3579876"/>
            <a:ext cx="2606039" cy="411479"/>
          </a:xfrm>
          <a:prstGeom prst="rect">
            <a:avLst/>
          </a:prstGeom>
          <a:noFill/>
        </p:spPr>
        <p:txBody>
          <a:bodyPr wrap="square" lIns="0" rIns="0" tIns="0" bIns="0">
            <a:spAutoFit/>
          </a:bodyPr>
          <a:lstStyle/>
          <a:p>
            <a:pPr algn="ctr">
              <a:lnSpc>
                <a:spcPct val="115000"/>
              </a:lnSpc>
            </a:pPr>
            <a:r>
              <a:rPr sz="1350" spc="150">
                <a:solidFill>
                  <a:srgbClr val="AFC4C2"/>
                </a:solidFill>
                <a:latin typeface="TT Commons Pro"/>
              </a:rPr>
              <a:t>Facebook</a:t>
            </a:r>
          </a:p>
        </p:txBody>
      </p:sp>
      <p:sp>
        <p:nvSpPr>
          <p:cNvPr id="8" name="Rounded Rectangle 7"/>
          <p:cNvSpPr/>
          <p:nvPr/>
        </p:nvSpPr>
        <p:spPr>
          <a:xfrm>
            <a:off x="3607308" y="3497579"/>
            <a:ext cx="2606039" cy="548640"/>
          </a:xfrm>
          <a:prstGeom prst="roundRect">
            <a:avLst>
              <a:gd name="adj" fmla="val 30000"/>
            </a:avLst>
          </a:prstGeom>
          <a:solidFill>
            <a:srgbClr val="084B4D"/>
          </a:solidFill>
          <a:ln w="11429">
            <a:solidFill>
              <a:srgbClr val="AFC4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07308" y="3579876"/>
            <a:ext cx="2606039" cy="411479"/>
          </a:xfrm>
          <a:prstGeom prst="rect">
            <a:avLst/>
          </a:prstGeom>
          <a:noFill/>
        </p:spPr>
        <p:txBody>
          <a:bodyPr wrap="square" lIns="0" rIns="0" tIns="0" bIns="0">
            <a:spAutoFit/>
          </a:bodyPr>
          <a:lstStyle/>
          <a:p>
            <a:pPr algn="ctr">
              <a:lnSpc>
                <a:spcPct val="115000"/>
              </a:lnSpc>
            </a:pPr>
            <a:r>
              <a:rPr sz="1350" spc="150">
                <a:solidFill>
                  <a:srgbClr val="AFC4C2"/>
                </a:solidFill>
                <a:latin typeface="TT Commons Pro"/>
              </a:rPr>
              <a:t>Nextdoor</a:t>
            </a:r>
          </a:p>
        </p:txBody>
      </p:sp>
      <p:sp>
        <p:nvSpPr>
          <p:cNvPr id="10" name="Rounded Rectangle 9"/>
          <p:cNvSpPr/>
          <p:nvPr/>
        </p:nvSpPr>
        <p:spPr>
          <a:xfrm>
            <a:off x="6391655" y="3497579"/>
            <a:ext cx="2606039" cy="548640"/>
          </a:xfrm>
          <a:prstGeom prst="roundRect">
            <a:avLst>
              <a:gd name="adj" fmla="val 30000"/>
            </a:avLst>
          </a:prstGeom>
          <a:solidFill>
            <a:srgbClr val="084B4D"/>
          </a:solidFill>
          <a:ln w="11429">
            <a:solidFill>
              <a:srgbClr val="AFC4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1655" y="3579876"/>
            <a:ext cx="2606039" cy="411479"/>
          </a:xfrm>
          <a:prstGeom prst="rect">
            <a:avLst/>
          </a:prstGeom>
          <a:noFill/>
        </p:spPr>
        <p:txBody>
          <a:bodyPr wrap="square" lIns="0" rIns="0" tIns="0" bIns="0">
            <a:spAutoFit/>
          </a:bodyPr>
          <a:lstStyle/>
          <a:p>
            <a:pPr algn="ctr">
              <a:lnSpc>
                <a:spcPct val="115000"/>
              </a:lnSpc>
            </a:pPr>
            <a:r>
              <a:rPr sz="1350" spc="150">
                <a:solidFill>
                  <a:srgbClr val="AFC4C2"/>
                </a:solidFill>
                <a:latin typeface="TT Commons Pro"/>
              </a:rPr>
              <a:t>Meetup</a:t>
            </a:r>
          </a:p>
        </p:txBody>
      </p:sp>
      <p:sp>
        <p:nvSpPr>
          <p:cNvPr id="12" name="Rounded Rectangle 11"/>
          <p:cNvSpPr/>
          <p:nvPr/>
        </p:nvSpPr>
        <p:spPr>
          <a:xfrm>
            <a:off x="9176004" y="3497579"/>
            <a:ext cx="2606039" cy="548640"/>
          </a:xfrm>
          <a:prstGeom prst="roundRect">
            <a:avLst>
              <a:gd name="adj" fmla="val 30000"/>
            </a:avLst>
          </a:prstGeom>
          <a:solidFill>
            <a:srgbClr val="084B4D"/>
          </a:solidFill>
          <a:ln w="11429">
            <a:solidFill>
              <a:srgbClr val="AFC4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76004" y="3579876"/>
            <a:ext cx="2606039" cy="411479"/>
          </a:xfrm>
          <a:prstGeom prst="rect">
            <a:avLst/>
          </a:prstGeom>
          <a:noFill/>
        </p:spPr>
        <p:txBody>
          <a:bodyPr wrap="square" lIns="0" rIns="0" tIns="0" bIns="0">
            <a:spAutoFit/>
          </a:bodyPr>
          <a:lstStyle/>
          <a:p>
            <a:pPr algn="ctr">
              <a:lnSpc>
                <a:spcPct val="115000"/>
              </a:lnSpc>
            </a:pPr>
            <a:r>
              <a:rPr sz="1350" spc="150">
                <a:solidFill>
                  <a:srgbClr val="AFC4C2"/>
                </a:solidFill>
                <a:latin typeface="TT Commons Pro"/>
              </a:rPr>
              <a:t>Eventbrite</a:t>
            </a:r>
          </a:p>
        </p:txBody>
      </p:sp>
      <p:sp>
        <p:nvSpPr>
          <p:cNvPr id="14" name="Rounded Rectangle 13"/>
          <p:cNvSpPr/>
          <p:nvPr/>
        </p:nvSpPr>
        <p:spPr>
          <a:xfrm>
            <a:off x="11960351" y="3497579"/>
            <a:ext cx="2606039" cy="548640"/>
          </a:xfrm>
          <a:prstGeom prst="roundRect">
            <a:avLst>
              <a:gd name="adj" fmla="val 30000"/>
            </a:avLst>
          </a:prstGeom>
          <a:solidFill>
            <a:srgbClr val="084B4D"/>
          </a:solidFill>
          <a:ln w="11429">
            <a:solidFill>
              <a:srgbClr val="AFC4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960351" y="3579876"/>
            <a:ext cx="2606039" cy="411479"/>
          </a:xfrm>
          <a:prstGeom prst="rect">
            <a:avLst/>
          </a:prstGeom>
          <a:noFill/>
        </p:spPr>
        <p:txBody>
          <a:bodyPr wrap="square" lIns="0" rIns="0" tIns="0" bIns="0">
            <a:spAutoFit/>
          </a:bodyPr>
          <a:lstStyle/>
          <a:p>
            <a:pPr algn="ctr">
              <a:lnSpc>
                <a:spcPct val="115000"/>
              </a:lnSpc>
            </a:pPr>
            <a:r>
              <a:rPr sz="1350" spc="150">
                <a:solidFill>
                  <a:srgbClr val="AFC4C2"/>
                </a:solidFill>
                <a:latin typeface="TT Commons Pro"/>
              </a:rPr>
              <a:t>Asana</a:t>
            </a:r>
          </a:p>
        </p:txBody>
      </p:sp>
      <p:sp>
        <p:nvSpPr>
          <p:cNvPr id="16" name="Rounded Rectangle 15"/>
          <p:cNvSpPr/>
          <p:nvPr/>
        </p:nvSpPr>
        <p:spPr>
          <a:xfrm>
            <a:off x="14744699" y="3497579"/>
            <a:ext cx="2606039" cy="548640"/>
          </a:xfrm>
          <a:prstGeom prst="roundRect">
            <a:avLst>
              <a:gd name="adj" fmla="val 30000"/>
            </a:avLst>
          </a:prstGeom>
          <a:solidFill>
            <a:srgbClr val="084B4D"/>
          </a:solidFill>
          <a:ln w="11429">
            <a:solidFill>
              <a:srgbClr val="AFC4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4744699" y="3579876"/>
            <a:ext cx="2606039" cy="411479"/>
          </a:xfrm>
          <a:prstGeom prst="rect">
            <a:avLst/>
          </a:prstGeom>
          <a:noFill/>
        </p:spPr>
        <p:txBody>
          <a:bodyPr wrap="square" lIns="0" rIns="0" tIns="0" bIns="0">
            <a:spAutoFit/>
          </a:bodyPr>
          <a:lstStyle/>
          <a:p>
            <a:pPr algn="ctr">
              <a:lnSpc>
                <a:spcPct val="115000"/>
              </a:lnSpc>
            </a:pPr>
            <a:r>
              <a:rPr sz="1350" spc="150">
                <a:solidFill>
                  <a:srgbClr val="AFC4C2"/>
                </a:solidFill>
                <a:latin typeface="TT Commons Pro"/>
              </a:rPr>
              <a:t>Slack</a:t>
            </a:r>
          </a:p>
        </p:txBody>
      </p:sp>
      <p:sp>
        <p:nvSpPr>
          <p:cNvPr id="18" name="Rounded Rectangle 17"/>
          <p:cNvSpPr/>
          <p:nvPr/>
        </p:nvSpPr>
        <p:spPr>
          <a:xfrm>
            <a:off x="822959" y="4210812"/>
            <a:ext cx="2606039" cy="548640"/>
          </a:xfrm>
          <a:prstGeom prst="roundRect">
            <a:avLst>
              <a:gd name="adj" fmla="val 30000"/>
            </a:avLst>
          </a:prstGeom>
          <a:solidFill>
            <a:srgbClr val="084B4D"/>
          </a:solidFill>
          <a:ln w="11429">
            <a:solidFill>
              <a:srgbClr val="AFC4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59" y="4293108"/>
            <a:ext cx="2606039" cy="411479"/>
          </a:xfrm>
          <a:prstGeom prst="rect">
            <a:avLst/>
          </a:prstGeom>
          <a:noFill/>
        </p:spPr>
        <p:txBody>
          <a:bodyPr wrap="square" lIns="0" rIns="0" tIns="0" bIns="0">
            <a:spAutoFit/>
          </a:bodyPr>
          <a:lstStyle/>
          <a:p>
            <a:pPr algn="ctr">
              <a:lnSpc>
                <a:spcPct val="115000"/>
              </a:lnSpc>
            </a:pPr>
            <a:r>
              <a:rPr sz="1350" spc="150">
                <a:solidFill>
                  <a:srgbClr val="AFC4C2"/>
                </a:solidFill>
                <a:latin typeface="TT Commons Pro"/>
              </a:rPr>
              <a:t>Venmo</a:t>
            </a:r>
          </a:p>
        </p:txBody>
      </p:sp>
      <p:sp>
        <p:nvSpPr>
          <p:cNvPr id="20" name="Rounded Rectangle 19"/>
          <p:cNvSpPr/>
          <p:nvPr/>
        </p:nvSpPr>
        <p:spPr>
          <a:xfrm>
            <a:off x="3607308" y="4210812"/>
            <a:ext cx="2606039" cy="548640"/>
          </a:xfrm>
          <a:prstGeom prst="roundRect">
            <a:avLst>
              <a:gd name="adj" fmla="val 30000"/>
            </a:avLst>
          </a:prstGeom>
          <a:solidFill>
            <a:srgbClr val="084B4D"/>
          </a:solidFill>
          <a:ln w="11429">
            <a:solidFill>
              <a:srgbClr val="AFC4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07308" y="4293108"/>
            <a:ext cx="2606039" cy="411479"/>
          </a:xfrm>
          <a:prstGeom prst="rect">
            <a:avLst/>
          </a:prstGeom>
          <a:noFill/>
        </p:spPr>
        <p:txBody>
          <a:bodyPr wrap="square" lIns="0" rIns="0" tIns="0" bIns="0">
            <a:spAutoFit/>
          </a:bodyPr>
          <a:lstStyle/>
          <a:p>
            <a:pPr algn="ctr">
              <a:lnSpc>
                <a:spcPct val="115000"/>
              </a:lnSpc>
            </a:pPr>
            <a:r>
              <a:rPr sz="1350" spc="150">
                <a:solidFill>
                  <a:srgbClr val="AFC4C2"/>
                </a:solidFill>
                <a:latin typeface="TT Commons Pro"/>
              </a:rPr>
              <a:t>Google Workspace</a:t>
            </a:r>
          </a:p>
        </p:txBody>
      </p:sp>
      <p:sp>
        <p:nvSpPr>
          <p:cNvPr id="22" name="Rounded Rectangle 21"/>
          <p:cNvSpPr/>
          <p:nvPr/>
        </p:nvSpPr>
        <p:spPr>
          <a:xfrm>
            <a:off x="6391655" y="4210812"/>
            <a:ext cx="2606039" cy="548640"/>
          </a:xfrm>
          <a:prstGeom prst="roundRect">
            <a:avLst>
              <a:gd name="adj" fmla="val 30000"/>
            </a:avLst>
          </a:prstGeom>
          <a:solidFill>
            <a:srgbClr val="084B4D"/>
          </a:solidFill>
          <a:ln w="11429">
            <a:solidFill>
              <a:srgbClr val="AFC4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91655" y="4293108"/>
            <a:ext cx="2606039" cy="411479"/>
          </a:xfrm>
          <a:prstGeom prst="rect">
            <a:avLst/>
          </a:prstGeom>
          <a:noFill/>
        </p:spPr>
        <p:txBody>
          <a:bodyPr wrap="square" lIns="0" rIns="0" tIns="0" bIns="0">
            <a:spAutoFit/>
          </a:bodyPr>
          <a:lstStyle/>
          <a:p>
            <a:pPr algn="ctr">
              <a:lnSpc>
                <a:spcPct val="115000"/>
              </a:lnSpc>
            </a:pPr>
            <a:r>
              <a:rPr sz="1350" spc="150">
                <a:solidFill>
                  <a:srgbClr val="AFC4C2"/>
                </a:solidFill>
                <a:latin typeface="TT Commons Pro"/>
              </a:rPr>
              <a:t>Square</a:t>
            </a:r>
          </a:p>
        </p:txBody>
      </p:sp>
      <p:sp>
        <p:nvSpPr>
          <p:cNvPr id="24" name="Rounded Rectangle 23"/>
          <p:cNvSpPr/>
          <p:nvPr/>
        </p:nvSpPr>
        <p:spPr>
          <a:xfrm>
            <a:off x="9176004" y="4210812"/>
            <a:ext cx="2606039" cy="548640"/>
          </a:xfrm>
          <a:prstGeom prst="roundRect">
            <a:avLst>
              <a:gd name="adj" fmla="val 30000"/>
            </a:avLst>
          </a:prstGeom>
          <a:solidFill>
            <a:srgbClr val="084B4D"/>
          </a:solidFill>
          <a:ln w="11429">
            <a:solidFill>
              <a:srgbClr val="AFC4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76004" y="4293108"/>
            <a:ext cx="2606039" cy="411479"/>
          </a:xfrm>
          <a:prstGeom prst="rect">
            <a:avLst/>
          </a:prstGeom>
          <a:noFill/>
        </p:spPr>
        <p:txBody>
          <a:bodyPr wrap="square" lIns="0" rIns="0" tIns="0" bIns="0">
            <a:spAutoFit/>
          </a:bodyPr>
          <a:lstStyle/>
          <a:p>
            <a:pPr algn="ctr">
              <a:lnSpc>
                <a:spcPct val="115000"/>
              </a:lnSpc>
            </a:pPr>
            <a:r>
              <a:rPr sz="1350" spc="150">
                <a:solidFill>
                  <a:srgbClr val="AFC4C2"/>
                </a:solidFill>
                <a:latin typeface="TT Commons Pro"/>
              </a:rPr>
              <a:t>Shopify</a:t>
            </a:r>
          </a:p>
        </p:txBody>
      </p:sp>
      <p:sp>
        <p:nvSpPr>
          <p:cNvPr id="26" name="Rounded Rectangle 25"/>
          <p:cNvSpPr/>
          <p:nvPr/>
        </p:nvSpPr>
        <p:spPr>
          <a:xfrm>
            <a:off x="11960351" y="4210812"/>
            <a:ext cx="2606039" cy="548640"/>
          </a:xfrm>
          <a:prstGeom prst="roundRect">
            <a:avLst>
              <a:gd name="adj" fmla="val 30000"/>
            </a:avLst>
          </a:prstGeom>
          <a:solidFill>
            <a:srgbClr val="084B4D"/>
          </a:solidFill>
          <a:ln w="11429">
            <a:solidFill>
              <a:srgbClr val="AFC4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960351" y="4293108"/>
            <a:ext cx="2606039" cy="411479"/>
          </a:xfrm>
          <a:prstGeom prst="rect">
            <a:avLst/>
          </a:prstGeom>
          <a:noFill/>
        </p:spPr>
        <p:txBody>
          <a:bodyPr wrap="square" lIns="0" rIns="0" tIns="0" bIns="0">
            <a:spAutoFit/>
          </a:bodyPr>
          <a:lstStyle/>
          <a:p>
            <a:pPr algn="ctr">
              <a:lnSpc>
                <a:spcPct val="115000"/>
              </a:lnSpc>
            </a:pPr>
            <a:r>
              <a:rPr sz="1350" spc="150">
                <a:solidFill>
                  <a:srgbClr val="AFC4C2"/>
                </a:solidFill>
                <a:latin typeface="TT Commons Pro"/>
              </a:rPr>
              <a:t>Luma</a:t>
            </a:r>
          </a:p>
        </p:txBody>
      </p:sp>
      <p:sp>
        <p:nvSpPr>
          <p:cNvPr id="28" name="Rounded Rectangle 27"/>
          <p:cNvSpPr/>
          <p:nvPr/>
        </p:nvSpPr>
        <p:spPr>
          <a:xfrm>
            <a:off x="14744699" y="4210812"/>
            <a:ext cx="2606039" cy="548640"/>
          </a:xfrm>
          <a:prstGeom prst="roundRect">
            <a:avLst>
              <a:gd name="adj" fmla="val 30000"/>
            </a:avLst>
          </a:prstGeom>
          <a:solidFill>
            <a:srgbClr val="084B4D"/>
          </a:solidFill>
          <a:ln w="11429">
            <a:solidFill>
              <a:srgbClr val="AFC4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4744699" y="4293108"/>
            <a:ext cx="2606039" cy="411479"/>
          </a:xfrm>
          <a:prstGeom prst="rect">
            <a:avLst/>
          </a:prstGeom>
          <a:noFill/>
        </p:spPr>
        <p:txBody>
          <a:bodyPr wrap="square" lIns="0" rIns="0" tIns="0" bIns="0">
            <a:spAutoFit/>
          </a:bodyPr>
          <a:lstStyle/>
          <a:p>
            <a:pPr algn="ctr">
              <a:lnSpc>
                <a:spcPct val="115000"/>
              </a:lnSpc>
            </a:pPr>
            <a:r>
              <a:rPr sz="1350" spc="150">
                <a:solidFill>
                  <a:srgbClr val="AFC4C2"/>
                </a:solidFill>
                <a:latin typeface="TT Commons Pro"/>
              </a:rPr>
              <a:t>centralized AI</a:t>
            </a:r>
          </a:p>
        </p:txBody>
      </p:sp>
      <p:sp>
        <p:nvSpPr>
          <p:cNvPr id="30" name="Rounded Rectangle 29"/>
          <p:cNvSpPr/>
          <p:nvPr/>
        </p:nvSpPr>
        <p:spPr>
          <a:xfrm>
            <a:off x="3291839" y="5925312"/>
            <a:ext cx="3520440" cy="1892807"/>
          </a:xfrm>
          <a:prstGeom prst="roundRect">
            <a:avLst>
              <a:gd name="adj" fmla="val 18000"/>
            </a:avLst>
          </a:prstGeom>
          <a:solidFill>
            <a:srgbClr val="084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91839" y="5349240"/>
            <a:ext cx="3520440" cy="493776"/>
          </a:xfrm>
          <a:prstGeom prst="rect">
            <a:avLst/>
          </a:prstGeom>
          <a:noFill/>
        </p:spPr>
        <p:txBody>
          <a:bodyPr wrap="none" lIns="0" rIns="0" tIns="0" bIns="0">
            <a:spAutoFit/>
          </a:bodyPr>
          <a:lstStyle/>
          <a:p>
            <a:pPr algn="ctr">
              <a:lnSpc>
                <a:spcPct val="115000"/>
              </a:lnSpc>
            </a:pPr>
            <a:r>
              <a:rPr sz="2250" spc="180">
                <a:solidFill>
                  <a:srgbClr val="F4EAD8"/>
                </a:solidFill>
                <a:latin typeface="Todes 1"/>
              </a:rPr>
              <a:t>$328.20</a:t>
            </a:r>
          </a:p>
        </p:txBody>
      </p:sp>
      <p:sp>
        <p:nvSpPr>
          <p:cNvPr id="32" name="TextBox 31"/>
          <p:cNvSpPr txBox="1"/>
          <p:nvPr/>
        </p:nvSpPr>
        <p:spPr>
          <a:xfrm>
            <a:off x="3291839" y="8010144"/>
            <a:ext cx="3520440" cy="466344"/>
          </a:xfrm>
          <a:prstGeom prst="rect">
            <a:avLst/>
          </a:prstGeom>
          <a:noFill/>
        </p:spPr>
        <p:txBody>
          <a:bodyPr wrap="square" lIns="0" rIns="0" tIns="0" bIns="0">
            <a:spAutoFit/>
          </a:bodyPr>
          <a:lstStyle/>
          <a:p>
            <a:pPr algn="ctr">
              <a:lnSpc>
                <a:spcPct val="115000"/>
              </a:lnSpc>
            </a:pPr>
            <a:r>
              <a:rPr sz="1350" spc="150">
                <a:solidFill>
                  <a:srgbClr val="AFC4C2"/>
                </a:solidFill>
                <a:latin typeface="TT Commons Pro"/>
              </a:rPr>
              <a:t>recognizable app stack
/ month, 5-seat org</a:t>
            </a:r>
          </a:p>
        </p:txBody>
      </p:sp>
      <p:sp>
        <p:nvSpPr>
          <p:cNvPr id="33" name="Rounded Rectangle 32"/>
          <p:cNvSpPr/>
          <p:nvPr/>
        </p:nvSpPr>
        <p:spPr>
          <a:xfrm>
            <a:off x="7360920" y="7552480"/>
            <a:ext cx="3520440" cy="265639"/>
          </a:xfrm>
          <a:prstGeom prst="roundRect">
            <a:avLst>
              <a:gd name="adj" fmla="val 18000"/>
            </a:avLst>
          </a:prstGeom>
          <a:solidFill>
            <a:srgbClr val="0D3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60920" y="6976408"/>
            <a:ext cx="3520440" cy="493776"/>
          </a:xfrm>
          <a:prstGeom prst="rect">
            <a:avLst/>
          </a:prstGeom>
          <a:noFill/>
        </p:spPr>
        <p:txBody>
          <a:bodyPr wrap="none" lIns="0" rIns="0" tIns="0" bIns="0">
            <a:spAutoFit/>
          </a:bodyPr>
          <a:lstStyle/>
          <a:p>
            <a:pPr algn="ctr">
              <a:lnSpc>
                <a:spcPct val="115000"/>
              </a:lnSpc>
            </a:pPr>
            <a:r>
              <a:rPr sz="2250" spc="180">
                <a:solidFill>
                  <a:srgbClr val="F4EAD8"/>
                </a:solidFill>
                <a:latin typeface="Todes 1"/>
              </a:rPr>
              <a:t>$46.06</a:t>
            </a:r>
          </a:p>
        </p:txBody>
      </p:sp>
      <p:sp>
        <p:nvSpPr>
          <p:cNvPr id="35" name="TextBox 34"/>
          <p:cNvSpPr txBox="1"/>
          <p:nvPr/>
        </p:nvSpPr>
        <p:spPr>
          <a:xfrm>
            <a:off x="7360920" y="8010144"/>
            <a:ext cx="3520440" cy="466344"/>
          </a:xfrm>
          <a:prstGeom prst="rect">
            <a:avLst/>
          </a:prstGeom>
          <a:noFill/>
        </p:spPr>
        <p:txBody>
          <a:bodyPr wrap="square" lIns="0" rIns="0" tIns="0" bIns="0">
            <a:spAutoFit/>
          </a:bodyPr>
          <a:lstStyle/>
          <a:p>
            <a:pPr algn="ctr">
              <a:lnSpc>
                <a:spcPct val="115000"/>
              </a:lnSpc>
            </a:pPr>
            <a:r>
              <a:rPr sz="1350" spc="150">
                <a:solidFill>
                  <a:srgbClr val="AFC4C2"/>
                </a:solidFill>
                <a:latin typeface="TT Commons Pro"/>
              </a:rPr>
              <a:t>Rivr organization
/ month, one ecosystem</a:t>
            </a:r>
          </a:p>
        </p:txBody>
      </p:sp>
      <p:sp>
        <p:nvSpPr>
          <p:cNvPr id="36" name="Rounded Rectangle 35"/>
          <p:cNvSpPr/>
          <p:nvPr/>
        </p:nvSpPr>
        <p:spPr>
          <a:xfrm>
            <a:off x="11430000" y="6190951"/>
            <a:ext cx="3520440" cy="1627168"/>
          </a:xfrm>
          <a:prstGeom prst="roundRect">
            <a:avLst>
              <a:gd name="adj" fmla="val 18000"/>
            </a:avLst>
          </a:prstGeom>
          <a:solidFill>
            <a:srgbClr val="145E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1430000" y="5614879"/>
            <a:ext cx="3520440" cy="493776"/>
          </a:xfrm>
          <a:prstGeom prst="rect">
            <a:avLst/>
          </a:prstGeom>
          <a:noFill/>
        </p:spPr>
        <p:txBody>
          <a:bodyPr wrap="none" lIns="0" rIns="0" tIns="0" bIns="0">
            <a:spAutoFit/>
          </a:bodyPr>
          <a:lstStyle/>
          <a:p>
            <a:pPr algn="ctr">
              <a:lnSpc>
                <a:spcPct val="115000"/>
              </a:lnSpc>
            </a:pPr>
            <a:r>
              <a:rPr sz="2250" spc="180">
                <a:solidFill>
                  <a:srgbClr val="F4EAD8"/>
                </a:solidFill>
                <a:latin typeface="Todes 1"/>
              </a:rPr>
              <a:t>$282.14</a:t>
            </a:r>
          </a:p>
        </p:txBody>
      </p:sp>
      <p:sp>
        <p:nvSpPr>
          <p:cNvPr id="38" name="TextBox 37"/>
          <p:cNvSpPr txBox="1"/>
          <p:nvPr/>
        </p:nvSpPr>
        <p:spPr>
          <a:xfrm>
            <a:off x="11430000" y="8010144"/>
            <a:ext cx="3520440" cy="466344"/>
          </a:xfrm>
          <a:prstGeom prst="rect">
            <a:avLst/>
          </a:prstGeom>
          <a:noFill/>
        </p:spPr>
        <p:txBody>
          <a:bodyPr wrap="square" lIns="0" rIns="0" tIns="0" bIns="0">
            <a:spAutoFit/>
          </a:bodyPr>
          <a:lstStyle/>
          <a:p>
            <a:pPr algn="ctr">
              <a:lnSpc>
                <a:spcPct val="115000"/>
              </a:lnSpc>
            </a:pPr>
            <a:r>
              <a:rPr sz="1350" spc="150">
                <a:solidFill>
                  <a:srgbClr val="AFC4C2"/>
                </a:solidFill>
                <a:latin typeface="TT Commons Pro"/>
              </a:rPr>
              <a:t>saved each month
≈ $3,546.68 per year</a:t>
            </a:r>
          </a:p>
        </p:txBody>
      </p:sp>
      <p:sp>
        <p:nvSpPr>
          <p:cNvPr id="39" name="TextBox 38"/>
          <p:cNvSpPr txBox="1"/>
          <p:nvPr/>
        </p:nvSpPr>
        <p:spPr>
          <a:xfrm>
            <a:off x="3291839" y="4965192"/>
            <a:ext cx="11658600" cy="411479"/>
          </a:xfrm>
          <a:prstGeom prst="rect">
            <a:avLst/>
          </a:prstGeom>
          <a:noFill/>
        </p:spPr>
        <p:txBody>
          <a:bodyPr wrap="none" lIns="0" rIns="0" tIns="0" bIns="0">
            <a:spAutoFit/>
          </a:bodyPr>
          <a:lstStyle/>
          <a:p>
            <a:pPr algn="l">
              <a:lnSpc>
                <a:spcPct val="115000"/>
              </a:lnSpc>
            </a:pPr>
            <a:r>
              <a:rPr sz="1425" spc="330">
                <a:solidFill>
                  <a:srgbClr val="9FE8DC"/>
                </a:solidFill>
                <a:latin typeface="Todes 1"/>
              </a:rPr>
              <a:t>MONTHLY COST FOR ONE SMALL ORGANIZATION</a:t>
            </a:r>
          </a:p>
        </p:txBody>
      </p:sp>
      <p:sp>
        <p:nvSpPr>
          <p:cNvPr id="40" name="TextBox 39"/>
          <p:cNvSpPr txBox="1"/>
          <p:nvPr/>
        </p:nvSpPr>
        <p:spPr>
          <a:xfrm>
            <a:off x="822959" y="8709659"/>
            <a:ext cx="16596359" cy="1097280"/>
          </a:xfrm>
          <a:prstGeom prst="rect">
            <a:avLst/>
          </a:prstGeom>
          <a:noFill/>
        </p:spPr>
        <p:txBody>
          <a:bodyPr wrap="square" lIns="0" rIns="0" tIns="0" bIns="0">
            <a:spAutoFit/>
          </a:bodyPr>
          <a:lstStyle/>
          <a:p>
            <a:pPr algn="ctr">
              <a:lnSpc>
                <a:spcPct val="140000"/>
              </a:lnSpc>
            </a:pPr>
            <a:r>
              <a:rPr sz="1575">
                <a:solidFill>
                  <a:srgbClr val="AFC4C2"/>
                </a:solidFill>
                <a:latin typeface="TT Commons Pro"/>
              </a:rPr>
              <a:t>Modeled on a 5-seat organization: Asana, Slack, Google Workspace, Square Payroll + Plus, Shopify, Luma Plus — before hiring fees.</a:t>
            </a:r>
          </a:p>
          <a:p>
            <a:pPr algn="ctr">
              <a:lnSpc>
                <a:spcPct val="140000"/>
              </a:lnSpc>
            </a:pPr>
            <a:r>
              <a:rPr sz="2025" spc="20">
                <a:solidFill>
                  <a:srgbClr val="9FE8DC"/>
                </a:solidFill>
                <a:latin typeface="Alike Italics"/>
              </a:rPr>
              <a:t>The social network is the doorway. Rivr models real activity, not just content.</a:t>
            </a:r>
          </a:p>
        </p:txBody>
      </p:sp>
      <p:pic>
        <p:nvPicPr>
          <p:cNvPr id="41" name="Picture 40" descr="rivr-symbol-light.png"/>
          <p:cNvPicPr>
            <a:picLocks noChangeAspect="1"/>
          </p:cNvPicPr>
          <p:nvPr/>
        </p:nvPicPr>
        <p:blipFill>
          <a:blip r:embed="rId4"/>
          <a:stretch>
            <a:fillRect/>
          </a:stretch>
        </p:blipFill>
        <p:spPr>
          <a:xfrm>
            <a:off x="576072" y="9518904"/>
            <a:ext cx="521208" cy="521208"/>
          </a:xfrm>
          <a:prstGeom prst="rect">
            <a:avLst/>
          </a:prstGeom>
        </p:spPr>
      </p:pic>
      <p:sp>
        <p:nvSpPr>
          <p:cNvPr id="42" name="TextBox 41"/>
          <p:cNvSpPr txBox="1"/>
          <p:nvPr/>
        </p:nvSpPr>
        <p:spPr>
          <a:xfrm>
            <a:off x="1371600" y="9724644"/>
            <a:ext cx="5486400" cy="301752"/>
          </a:xfrm>
          <a:prstGeom prst="rect">
            <a:avLst/>
          </a:prstGeom>
          <a:noFill/>
        </p:spPr>
        <p:txBody>
          <a:bodyPr wrap="none" lIns="0" rIns="0" tIns="0" bIns="0">
            <a:spAutoFit/>
          </a:bodyPr>
          <a:lstStyle/>
          <a:p>
            <a:pPr algn="l">
              <a:lnSpc>
                <a:spcPct val="115000"/>
              </a:lnSpc>
            </a:pPr>
            <a:r>
              <a:rPr sz="1350" spc="150">
                <a:solidFill>
                  <a:srgbClr val="AFC4C2"/>
                </a:solidFill>
                <a:latin typeface="TT Commons Pro"/>
              </a:rPr>
              <a:t>Rivr · Seed Round 2026</a:t>
            </a:r>
          </a:p>
        </p:txBody>
      </p:sp>
      <p:sp>
        <p:nvSpPr>
          <p:cNvPr id="43" name="TextBox 42"/>
          <p:cNvSpPr txBox="1"/>
          <p:nvPr/>
        </p:nvSpPr>
        <p:spPr>
          <a:xfrm>
            <a:off x="16870680" y="9724644"/>
            <a:ext cx="960119" cy="301752"/>
          </a:xfrm>
          <a:prstGeom prst="rect">
            <a:avLst/>
          </a:prstGeom>
          <a:noFill/>
        </p:spPr>
        <p:txBody>
          <a:bodyPr wrap="none" lIns="0" rIns="0" tIns="0" bIns="0">
            <a:spAutoFit/>
          </a:bodyPr>
          <a:lstStyle/>
          <a:p>
            <a:pPr algn="r">
              <a:lnSpc>
                <a:spcPct val="115000"/>
              </a:lnSpc>
            </a:pPr>
            <a:r>
              <a:rPr sz="1350" spc="150">
                <a:solidFill>
                  <a:srgbClr val="AFC4C2"/>
                </a:solidFill>
                <a:latin typeface="TT Commons Pro"/>
              </a:rPr>
              <a:t>39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03333"/>
        </a:solidFill>
        <a:effectLst/>
      </p:bgPr>
    </p:bg>
    <p:spTree>
      <p:nvGrpSpPr>
        <p:cNvPr id="1" name=""/>
        <p:cNvGrpSpPr/>
        <p:nvPr/>
      </p:nvGrpSpPr>
      <p:grpSpPr/>
      <p:pic>
        <p:nvPicPr>
          <p:cNvPr id="2" name="Picture 1" descr="bg_c36.jpg"/>
          <p:cNvPicPr>
            <a:picLocks noChangeAspect="1"/>
          </p:cNvPicPr>
          <p:nvPr/>
        </p:nvPicPr>
        <p:blipFill>
          <a:blip r:embed="rId2"/>
          <a:stretch>
            <a:fillRect/>
          </a:stretch>
        </p:blipFill>
        <p:spPr>
          <a:xfrm>
            <a:off x="0" y="0"/>
            <a:ext cx="18287542" cy="10287000"/>
          </a:xfrm>
          <a:prstGeom prst="rect">
            <a:avLst/>
          </a:prstGeom>
        </p:spPr>
      </p:pic>
      <p:sp>
        <p:nvSpPr>
          <p:cNvPr id="3" name="TextBox 2"/>
          <p:cNvSpPr txBox="1"/>
          <p:nvPr/>
        </p:nvSpPr>
        <p:spPr>
          <a:xfrm>
            <a:off x="822959" y="822959"/>
            <a:ext cx="16733519" cy="384048"/>
          </a:xfrm>
          <a:prstGeom prst="rect">
            <a:avLst/>
          </a:prstGeom>
          <a:noFill/>
        </p:spPr>
        <p:txBody>
          <a:bodyPr wrap="none" lIns="0" rIns="0" tIns="0" bIns="0">
            <a:spAutoFit/>
          </a:bodyPr>
          <a:lstStyle/>
          <a:p>
            <a:pPr algn="l">
              <a:lnSpc>
                <a:spcPct val="115000"/>
              </a:lnSpc>
            </a:pPr>
            <a:r>
              <a:rPr sz="1650" spc="330">
                <a:solidFill>
                  <a:srgbClr val="9FE8DC"/>
                </a:solidFill>
                <a:latin typeface="Todes 1"/>
              </a:rPr>
              <a:t>PRODUCT QUALITY</a:t>
            </a:r>
          </a:p>
        </p:txBody>
      </p:sp>
      <p:sp>
        <p:nvSpPr>
          <p:cNvPr id="4" name="TextBox 3"/>
          <p:cNvSpPr txBox="1"/>
          <p:nvPr/>
        </p:nvSpPr>
        <p:spPr>
          <a:xfrm>
            <a:off x="822959" y="1717852"/>
            <a:ext cx="16564451" cy="945241"/>
          </a:xfrm>
          <a:prstGeom prst="rect">
            <a:avLst/>
          </a:prstGeom>
          <a:noFill/>
        </p:spPr>
        <p:txBody>
          <a:bodyPr wrap="none" lIns="0" rIns="0" tIns="0" bIns="0">
            <a:spAutoFit/>
          </a:bodyPr>
          <a:lstStyle/>
          <a:p>
            <a:pPr algn="l">
              <a:lnSpc>
                <a:spcPct val="115000"/>
              </a:lnSpc>
            </a:pPr>
            <a:r>
              <a:rPr sz="5133" spc="-69">
                <a:solidFill>
                  <a:srgbClr val="F4EAD8"/>
                </a:solidFill>
                <a:latin typeface="Todes 1"/>
              </a:rPr>
              <a:t>Values aren't enough — Rivr has to be </a:t>
            </a:r>
          </a:p>
        </p:txBody>
      </p:sp>
      <p:sp>
        <p:nvSpPr>
          <p:cNvPr id="5" name="TextBox 4"/>
          <p:cNvSpPr txBox="1"/>
          <p:nvPr/>
        </p:nvSpPr>
        <p:spPr>
          <a:xfrm>
            <a:off x="13909928" y="1645919"/>
            <a:ext cx="2188130" cy="1075620"/>
          </a:xfrm>
          <a:prstGeom prst="rect">
            <a:avLst/>
          </a:prstGeom>
          <a:noFill/>
        </p:spPr>
        <p:txBody>
          <a:bodyPr wrap="none" lIns="0" rIns="0" tIns="0" bIns="0">
            <a:spAutoFit/>
          </a:bodyPr>
          <a:lstStyle/>
          <a:p>
            <a:pPr algn="l">
              <a:lnSpc>
                <a:spcPct val="115000"/>
              </a:lnSpc>
            </a:pPr>
            <a:r>
              <a:rPr sz="5841" spc="-75">
                <a:solidFill>
                  <a:srgbClr val="99E6D9"/>
                </a:solidFill>
                <a:latin typeface="Ibarra Real Nova Italics"/>
              </a:rPr>
              <a:t>good.</a:t>
            </a:r>
          </a:p>
        </p:txBody>
      </p:sp>
      <p:sp>
        <p:nvSpPr>
          <p:cNvPr id="6" name="TextBox 5"/>
          <p:cNvSpPr txBox="1"/>
          <p:nvPr/>
        </p:nvSpPr>
        <p:spPr>
          <a:xfrm>
            <a:off x="822959" y="3429000"/>
            <a:ext cx="16596359" cy="548640"/>
          </a:xfrm>
          <a:prstGeom prst="rect">
            <a:avLst/>
          </a:prstGeom>
          <a:noFill/>
        </p:spPr>
        <p:txBody>
          <a:bodyPr wrap="square" lIns="0" rIns="0" tIns="0" bIns="0">
            <a:spAutoFit/>
          </a:bodyPr>
          <a:lstStyle/>
          <a:p>
            <a:pPr algn="l">
              <a:lnSpc>
                <a:spcPct val="155000"/>
              </a:lnSpc>
            </a:pPr>
            <a:r>
              <a:rPr sz="1875" spc="40">
                <a:solidFill>
                  <a:srgbClr val="F2ECDD"/>
                </a:solidFill>
                <a:latin typeface="Todes 1"/>
              </a:rPr>
              <a:t>Rivr cannot succeed simply because people agree with the philosophy. It needs to:</a:t>
            </a:r>
          </a:p>
        </p:txBody>
      </p:sp>
      <p:sp>
        <p:nvSpPr>
          <p:cNvPr id="7" name="Rounded Rectangle 6"/>
          <p:cNvSpPr/>
          <p:nvPr/>
        </p:nvSpPr>
        <p:spPr>
          <a:xfrm>
            <a:off x="822959" y="4389120"/>
            <a:ext cx="3977639" cy="1440180"/>
          </a:xfrm>
          <a:prstGeom prst="roundRect">
            <a:avLst>
              <a:gd name="adj" fmla="val 16000"/>
            </a:avLst>
          </a:prstGeom>
          <a:solidFill>
            <a:srgbClr val="0D3E40"/>
          </a:solidFill>
          <a:ln w="16192">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time.png"/>
          <p:cNvPicPr>
            <a:picLocks noChangeAspect="1"/>
          </p:cNvPicPr>
          <p:nvPr/>
        </p:nvPicPr>
        <p:blipFill>
          <a:blip r:embed="rId4"/>
          <a:stretch>
            <a:fillRect/>
          </a:stretch>
        </p:blipFill>
        <p:spPr>
          <a:xfrm>
            <a:off x="1220724" y="4882896"/>
            <a:ext cx="438912" cy="438912"/>
          </a:xfrm>
          <a:prstGeom prst="rect">
            <a:avLst/>
          </a:prstGeom>
        </p:spPr>
      </p:pic>
      <p:sp>
        <p:nvSpPr>
          <p:cNvPr id="9" name="TextBox 8"/>
          <p:cNvSpPr txBox="1"/>
          <p:nvPr/>
        </p:nvSpPr>
        <p:spPr>
          <a:xfrm>
            <a:off x="1988819" y="4896612"/>
            <a:ext cx="2743200" cy="548640"/>
          </a:xfrm>
          <a:prstGeom prst="rect">
            <a:avLst/>
          </a:prstGeom>
          <a:noFill/>
        </p:spPr>
        <p:txBody>
          <a:bodyPr wrap="square" lIns="0" rIns="0" tIns="0" bIns="0">
            <a:spAutoFit/>
          </a:bodyPr>
          <a:lstStyle/>
          <a:p>
            <a:pPr algn="l">
              <a:lnSpc>
                <a:spcPct val="115000"/>
              </a:lnSpc>
            </a:pPr>
            <a:r>
              <a:rPr sz="1650">
                <a:solidFill>
                  <a:srgbClr val="F2ECDD"/>
                </a:solidFill>
                <a:latin typeface="TT Commons Pro"/>
              </a:rPr>
              <a:t>save time</a:t>
            </a:r>
          </a:p>
        </p:txBody>
      </p:sp>
      <p:sp>
        <p:nvSpPr>
          <p:cNvPr id="10" name="Rounded Rectangle 9"/>
          <p:cNvSpPr/>
          <p:nvPr/>
        </p:nvSpPr>
        <p:spPr>
          <a:xfrm>
            <a:off x="5061204" y="4389120"/>
            <a:ext cx="3977639" cy="1440180"/>
          </a:xfrm>
          <a:prstGeom prst="roundRect">
            <a:avLst>
              <a:gd name="adj" fmla="val 16000"/>
            </a:avLst>
          </a:prstGeom>
          <a:solidFill>
            <a:srgbClr val="062A2C"/>
          </a:solidFill>
          <a:ln w="16192">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money.png"/>
          <p:cNvPicPr>
            <a:picLocks noChangeAspect="1"/>
          </p:cNvPicPr>
          <p:nvPr/>
        </p:nvPicPr>
        <p:blipFill>
          <a:blip r:embed="rId5"/>
          <a:stretch>
            <a:fillRect/>
          </a:stretch>
        </p:blipFill>
        <p:spPr>
          <a:xfrm>
            <a:off x="5458967" y="4882896"/>
            <a:ext cx="438912" cy="438912"/>
          </a:xfrm>
          <a:prstGeom prst="rect">
            <a:avLst/>
          </a:prstGeom>
        </p:spPr>
      </p:pic>
      <p:sp>
        <p:nvSpPr>
          <p:cNvPr id="12" name="TextBox 11"/>
          <p:cNvSpPr txBox="1"/>
          <p:nvPr/>
        </p:nvSpPr>
        <p:spPr>
          <a:xfrm>
            <a:off x="6227064" y="4896612"/>
            <a:ext cx="2743200" cy="548640"/>
          </a:xfrm>
          <a:prstGeom prst="rect">
            <a:avLst/>
          </a:prstGeom>
          <a:noFill/>
        </p:spPr>
        <p:txBody>
          <a:bodyPr wrap="square" lIns="0" rIns="0" tIns="0" bIns="0">
            <a:spAutoFit/>
          </a:bodyPr>
          <a:lstStyle/>
          <a:p>
            <a:pPr algn="l">
              <a:lnSpc>
                <a:spcPct val="115000"/>
              </a:lnSpc>
            </a:pPr>
            <a:r>
              <a:rPr sz="1650">
                <a:solidFill>
                  <a:srgbClr val="F2ECDD"/>
                </a:solidFill>
                <a:latin typeface="TT Commons Pro"/>
              </a:rPr>
              <a:t>save money</a:t>
            </a:r>
          </a:p>
        </p:txBody>
      </p:sp>
      <p:sp>
        <p:nvSpPr>
          <p:cNvPr id="13" name="Rounded Rectangle 12"/>
          <p:cNvSpPr/>
          <p:nvPr/>
        </p:nvSpPr>
        <p:spPr>
          <a:xfrm>
            <a:off x="9299447" y="4389120"/>
            <a:ext cx="3977639" cy="1440180"/>
          </a:xfrm>
          <a:prstGeom prst="roundRect">
            <a:avLst>
              <a:gd name="adj" fmla="val 16000"/>
            </a:avLst>
          </a:prstGeom>
          <a:solidFill>
            <a:srgbClr val="0D3E40"/>
          </a:solidFill>
          <a:ln w="16192">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oord.png"/>
          <p:cNvPicPr>
            <a:picLocks noChangeAspect="1"/>
          </p:cNvPicPr>
          <p:nvPr/>
        </p:nvPicPr>
        <p:blipFill>
          <a:blip r:embed="rId6"/>
          <a:stretch>
            <a:fillRect/>
          </a:stretch>
        </p:blipFill>
        <p:spPr>
          <a:xfrm>
            <a:off x="9697211" y="4882896"/>
            <a:ext cx="438912" cy="438912"/>
          </a:xfrm>
          <a:prstGeom prst="rect">
            <a:avLst/>
          </a:prstGeom>
        </p:spPr>
      </p:pic>
      <p:sp>
        <p:nvSpPr>
          <p:cNvPr id="15" name="TextBox 14"/>
          <p:cNvSpPr txBox="1"/>
          <p:nvPr/>
        </p:nvSpPr>
        <p:spPr>
          <a:xfrm>
            <a:off x="10465307" y="4896612"/>
            <a:ext cx="2743200" cy="548640"/>
          </a:xfrm>
          <a:prstGeom prst="rect">
            <a:avLst/>
          </a:prstGeom>
          <a:noFill/>
        </p:spPr>
        <p:txBody>
          <a:bodyPr wrap="square" lIns="0" rIns="0" tIns="0" bIns="0">
            <a:spAutoFit/>
          </a:bodyPr>
          <a:lstStyle/>
          <a:p>
            <a:pPr algn="l">
              <a:lnSpc>
                <a:spcPct val="115000"/>
              </a:lnSpc>
            </a:pPr>
            <a:r>
              <a:rPr sz="1650">
                <a:solidFill>
                  <a:srgbClr val="F2ECDD"/>
                </a:solidFill>
                <a:latin typeface="TT Commons Pro"/>
              </a:rPr>
              <a:t>replace fragmented tools</a:t>
            </a:r>
          </a:p>
        </p:txBody>
      </p:sp>
      <p:sp>
        <p:nvSpPr>
          <p:cNvPr id="16" name="Rounded Rectangle 15"/>
          <p:cNvSpPr/>
          <p:nvPr/>
        </p:nvSpPr>
        <p:spPr>
          <a:xfrm>
            <a:off x="13537692" y="4389120"/>
            <a:ext cx="3977639" cy="1440180"/>
          </a:xfrm>
          <a:prstGeom prst="roundRect">
            <a:avLst>
              <a:gd name="adj" fmla="val 16000"/>
            </a:avLst>
          </a:prstGeom>
          <a:solidFill>
            <a:srgbClr val="062A2C"/>
          </a:solidFill>
          <a:ln w="16192">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ork.png"/>
          <p:cNvPicPr>
            <a:picLocks noChangeAspect="1"/>
          </p:cNvPicPr>
          <p:nvPr/>
        </p:nvPicPr>
        <p:blipFill>
          <a:blip r:embed="rId7"/>
          <a:stretch>
            <a:fillRect/>
          </a:stretch>
        </p:blipFill>
        <p:spPr>
          <a:xfrm>
            <a:off x="13935455" y="4882896"/>
            <a:ext cx="438912" cy="438912"/>
          </a:xfrm>
          <a:prstGeom prst="rect">
            <a:avLst/>
          </a:prstGeom>
        </p:spPr>
      </p:pic>
      <p:sp>
        <p:nvSpPr>
          <p:cNvPr id="18" name="TextBox 17"/>
          <p:cNvSpPr txBox="1"/>
          <p:nvPr/>
        </p:nvSpPr>
        <p:spPr>
          <a:xfrm>
            <a:off x="14703551" y="4896612"/>
            <a:ext cx="2743200" cy="548640"/>
          </a:xfrm>
          <a:prstGeom prst="rect">
            <a:avLst/>
          </a:prstGeom>
          <a:noFill/>
        </p:spPr>
        <p:txBody>
          <a:bodyPr wrap="square" lIns="0" rIns="0" tIns="0" bIns="0">
            <a:spAutoFit/>
          </a:bodyPr>
          <a:lstStyle/>
          <a:p>
            <a:pPr algn="l">
              <a:lnSpc>
                <a:spcPct val="115000"/>
              </a:lnSpc>
            </a:pPr>
            <a:r>
              <a:rPr sz="1650">
                <a:solidFill>
                  <a:srgbClr val="F2ECDD"/>
                </a:solidFill>
                <a:latin typeface="TT Commons Pro"/>
              </a:rPr>
              <a:t>make work easier</a:t>
            </a:r>
          </a:p>
        </p:txBody>
      </p:sp>
      <p:sp>
        <p:nvSpPr>
          <p:cNvPr id="19" name="Rounded Rectangle 18"/>
          <p:cNvSpPr/>
          <p:nvPr/>
        </p:nvSpPr>
        <p:spPr>
          <a:xfrm>
            <a:off x="822959" y="6172200"/>
            <a:ext cx="3977639" cy="1440180"/>
          </a:xfrm>
          <a:prstGeom prst="roundRect">
            <a:avLst>
              <a:gd name="adj" fmla="val 16000"/>
            </a:avLst>
          </a:prstGeom>
          <a:solidFill>
            <a:srgbClr val="0D3E40"/>
          </a:solidFill>
          <a:ln w="16192">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earch.png"/>
          <p:cNvPicPr>
            <a:picLocks noChangeAspect="1"/>
          </p:cNvPicPr>
          <p:nvPr/>
        </p:nvPicPr>
        <p:blipFill>
          <a:blip r:embed="rId8"/>
          <a:stretch>
            <a:fillRect/>
          </a:stretch>
        </p:blipFill>
        <p:spPr>
          <a:xfrm>
            <a:off x="1220724" y="6665975"/>
            <a:ext cx="438912" cy="438912"/>
          </a:xfrm>
          <a:prstGeom prst="rect">
            <a:avLst/>
          </a:prstGeom>
        </p:spPr>
      </p:pic>
      <p:sp>
        <p:nvSpPr>
          <p:cNvPr id="21" name="TextBox 20"/>
          <p:cNvSpPr txBox="1"/>
          <p:nvPr/>
        </p:nvSpPr>
        <p:spPr>
          <a:xfrm>
            <a:off x="1988819" y="6679692"/>
            <a:ext cx="2743200" cy="548640"/>
          </a:xfrm>
          <a:prstGeom prst="rect">
            <a:avLst/>
          </a:prstGeom>
          <a:noFill/>
        </p:spPr>
        <p:txBody>
          <a:bodyPr wrap="square" lIns="0" rIns="0" tIns="0" bIns="0">
            <a:spAutoFit/>
          </a:bodyPr>
          <a:lstStyle/>
          <a:p>
            <a:pPr algn="l">
              <a:lnSpc>
                <a:spcPct val="115000"/>
              </a:lnSpc>
            </a:pPr>
            <a:r>
              <a:rPr sz="1650">
                <a:solidFill>
                  <a:srgbClr val="F2ECDD"/>
                </a:solidFill>
                <a:latin typeface="TT Commons Pro"/>
              </a:rPr>
              <a:t>make discovery more useful</a:t>
            </a:r>
          </a:p>
        </p:txBody>
      </p:sp>
      <p:sp>
        <p:nvSpPr>
          <p:cNvPr id="22" name="Rounded Rectangle 21"/>
          <p:cNvSpPr/>
          <p:nvPr/>
        </p:nvSpPr>
        <p:spPr>
          <a:xfrm>
            <a:off x="5061204" y="6172200"/>
            <a:ext cx="3977639" cy="1440180"/>
          </a:xfrm>
          <a:prstGeom prst="roundRect">
            <a:avLst>
              <a:gd name="adj" fmla="val 16000"/>
            </a:avLst>
          </a:prstGeom>
          <a:solidFill>
            <a:srgbClr val="062A2C"/>
          </a:solidFill>
          <a:ln w="16192">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share.png"/>
          <p:cNvPicPr>
            <a:picLocks noChangeAspect="1"/>
          </p:cNvPicPr>
          <p:nvPr/>
        </p:nvPicPr>
        <p:blipFill>
          <a:blip r:embed="rId9"/>
          <a:stretch>
            <a:fillRect/>
          </a:stretch>
        </p:blipFill>
        <p:spPr>
          <a:xfrm>
            <a:off x="5458967" y="6665975"/>
            <a:ext cx="438912" cy="438912"/>
          </a:xfrm>
          <a:prstGeom prst="rect">
            <a:avLst/>
          </a:prstGeom>
        </p:spPr>
      </p:pic>
      <p:sp>
        <p:nvSpPr>
          <p:cNvPr id="24" name="TextBox 23"/>
          <p:cNvSpPr txBox="1"/>
          <p:nvPr/>
        </p:nvSpPr>
        <p:spPr>
          <a:xfrm>
            <a:off x="6227064" y="6679692"/>
            <a:ext cx="2743200" cy="548640"/>
          </a:xfrm>
          <a:prstGeom prst="rect">
            <a:avLst/>
          </a:prstGeom>
          <a:noFill/>
        </p:spPr>
        <p:txBody>
          <a:bodyPr wrap="square" lIns="0" rIns="0" tIns="0" bIns="0">
            <a:spAutoFit/>
          </a:bodyPr>
          <a:lstStyle/>
          <a:p>
            <a:pPr algn="l">
              <a:lnSpc>
                <a:spcPct val="115000"/>
              </a:lnSpc>
            </a:pPr>
            <a:r>
              <a:rPr sz="1650">
                <a:solidFill>
                  <a:srgbClr val="F2ECDD"/>
                </a:solidFill>
                <a:latin typeface="TT Commons Pro"/>
              </a:rPr>
              <a:t>reduce coordination friction</a:t>
            </a:r>
          </a:p>
        </p:txBody>
      </p:sp>
      <p:sp>
        <p:nvSpPr>
          <p:cNvPr id="25" name="Rounded Rectangle 24"/>
          <p:cNvSpPr/>
          <p:nvPr/>
        </p:nvSpPr>
        <p:spPr>
          <a:xfrm>
            <a:off x="9299447" y="6172200"/>
            <a:ext cx="3977639" cy="1440180"/>
          </a:xfrm>
          <a:prstGeom prst="roundRect">
            <a:avLst>
              <a:gd name="adj" fmla="val 16000"/>
            </a:avLst>
          </a:prstGeom>
          <a:solidFill>
            <a:srgbClr val="0D3E40"/>
          </a:solidFill>
          <a:ln w="16192">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are.png"/>
          <p:cNvPicPr>
            <a:picLocks noChangeAspect="1"/>
          </p:cNvPicPr>
          <p:nvPr/>
        </p:nvPicPr>
        <p:blipFill>
          <a:blip r:embed="rId10"/>
          <a:stretch>
            <a:fillRect/>
          </a:stretch>
        </p:blipFill>
        <p:spPr>
          <a:xfrm>
            <a:off x="9697211" y="6665975"/>
            <a:ext cx="438912" cy="438912"/>
          </a:xfrm>
          <a:prstGeom prst="rect">
            <a:avLst/>
          </a:prstGeom>
        </p:spPr>
      </p:pic>
      <p:sp>
        <p:nvSpPr>
          <p:cNvPr id="27" name="TextBox 26"/>
          <p:cNvSpPr txBox="1"/>
          <p:nvPr/>
        </p:nvSpPr>
        <p:spPr>
          <a:xfrm>
            <a:off x="10465307" y="6679692"/>
            <a:ext cx="2743200" cy="548640"/>
          </a:xfrm>
          <a:prstGeom prst="rect">
            <a:avLst/>
          </a:prstGeom>
          <a:noFill/>
        </p:spPr>
        <p:txBody>
          <a:bodyPr wrap="square" lIns="0" rIns="0" tIns="0" bIns="0">
            <a:spAutoFit/>
          </a:bodyPr>
          <a:lstStyle/>
          <a:p>
            <a:pPr algn="l">
              <a:lnSpc>
                <a:spcPct val="115000"/>
              </a:lnSpc>
            </a:pPr>
            <a:r>
              <a:rPr sz="1650">
                <a:solidFill>
                  <a:srgbClr val="F2ECDD"/>
                </a:solidFill>
                <a:latin typeface="TT Commons Pro"/>
              </a:rPr>
              <a:t>feel good to use</a:t>
            </a:r>
          </a:p>
        </p:txBody>
      </p:sp>
      <p:sp>
        <p:nvSpPr>
          <p:cNvPr id="28" name="TextBox 27"/>
          <p:cNvSpPr txBox="1"/>
          <p:nvPr/>
        </p:nvSpPr>
        <p:spPr>
          <a:xfrm>
            <a:off x="822959" y="8435340"/>
            <a:ext cx="16596359" cy="1097280"/>
          </a:xfrm>
          <a:prstGeom prst="rect">
            <a:avLst/>
          </a:prstGeom>
          <a:noFill/>
        </p:spPr>
        <p:txBody>
          <a:bodyPr wrap="square" lIns="0" rIns="0" tIns="0" bIns="0">
            <a:spAutoFit/>
          </a:bodyPr>
          <a:lstStyle/>
          <a:p>
            <a:pPr algn="ctr">
              <a:lnSpc>
                <a:spcPct val="140000"/>
              </a:lnSpc>
            </a:pPr>
            <a:r>
              <a:rPr sz="2100">
                <a:solidFill>
                  <a:srgbClr val="F4EAD8"/>
                </a:solidFill>
                <a:latin typeface="TT Commons Pro Bold"/>
              </a:rPr>
              <a:t>People should choose Rivr </a:t>
            </a:r>
            <a:r>
              <a:rPr sz="2250" spc="20">
                <a:solidFill>
                  <a:srgbClr val="EBCF9E"/>
                </a:solidFill>
                <a:latin typeface="Alike Italics"/>
              </a:rPr>
              <a:t>because Rivr works.</a:t>
            </a:r>
          </a:p>
          <a:p>
            <a:pPr algn="ctr">
              <a:lnSpc>
                <a:spcPct val="140000"/>
              </a:lnSpc>
            </a:pPr>
            <a:r>
              <a:rPr sz="1875">
                <a:solidFill>
                  <a:srgbClr val="9FE8DC"/>
                </a:solidFill>
                <a:latin typeface="TT Commons Pro"/>
              </a:rPr>
              <a:t>The deeper architecture determines who benefits when it works.</a:t>
            </a:r>
          </a:p>
        </p:txBody>
      </p:sp>
      <p:pic>
        <p:nvPicPr>
          <p:cNvPr id="29" name="Picture 28" descr="rivr-symbol-light.png"/>
          <p:cNvPicPr>
            <a:picLocks noChangeAspect="1"/>
          </p:cNvPicPr>
          <p:nvPr/>
        </p:nvPicPr>
        <p:blipFill>
          <a:blip r:embed="rId11"/>
          <a:stretch>
            <a:fillRect/>
          </a:stretch>
        </p:blipFill>
        <p:spPr>
          <a:xfrm>
            <a:off x="576072" y="9518904"/>
            <a:ext cx="521208" cy="521208"/>
          </a:xfrm>
          <a:prstGeom prst="rect">
            <a:avLst/>
          </a:prstGeom>
        </p:spPr>
      </p:pic>
      <p:sp>
        <p:nvSpPr>
          <p:cNvPr id="30" name="TextBox 29"/>
          <p:cNvSpPr txBox="1"/>
          <p:nvPr/>
        </p:nvSpPr>
        <p:spPr>
          <a:xfrm>
            <a:off x="1371600" y="9724644"/>
            <a:ext cx="5486400" cy="301752"/>
          </a:xfrm>
          <a:prstGeom prst="rect">
            <a:avLst/>
          </a:prstGeom>
          <a:noFill/>
        </p:spPr>
        <p:txBody>
          <a:bodyPr wrap="none" lIns="0" rIns="0" tIns="0" bIns="0">
            <a:spAutoFit/>
          </a:bodyPr>
          <a:lstStyle/>
          <a:p>
            <a:pPr algn="l">
              <a:lnSpc>
                <a:spcPct val="115000"/>
              </a:lnSpc>
            </a:pPr>
            <a:r>
              <a:rPr sz="1350" spc="150">
                <a:solidFill>
                  <a:srgbClr val="AFC4C2"/>
                </a:solidFill>
                <a:latin typeface="TT Commons Pro"/>
              </a:rPr>
              <a:t>Rivr · Seed Round 2026</a:t>
            </a:r>
          </a:p>
        </p:txBody>
      </p:sp>
      <p:sp>
        <p:nvSpPr>
          <p:cNvPr id="31" name="TextBox 30"/>
          <p:cNvSpPr txBox="1"/>
          <p:nvPr/>
        </p:nvSpPr>
        <p:spPr>
          <a:xfrm>
            <a:off x="16870680" y="9724644"/>
            <a:ext cx="960119" cy="301752"/>
          </a:xfrm>
          <a:prstGeom prst="rect">
            <a:avLst/>
          </a:prstGeom>
          <a:noFill/>
        </p:spPr>
        <p:txBody>
          <a:bodyPr wrap="none" lIns="0" rIns="0" tIns="0" bIns="0">
            <a:spAutoFit/>
          </a:bodyPr>
          <a:lstStyle/>
          <a:p>
            <a:pPr algn="r">
              <a:lnSpc>
                <a:spcPct val="115000"/>
              </a:lnSpc>
            </a:pPr>
            <a:r>
              <a:rPr sz="1350" spc="150">
                <a:solidFill>
                  <a:srgbClr val="AFC4C2"/>
                </a:solidFill>
                <a:latin typeface="TT Commons Pro"/>
              </a:rPr>
              <a:t>40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03333"/>
        </a:solidFill>
        <a:effectLst/>
      </p:bgPr>
    </p:bg>
    <p:spTree>
      <p:nvGrpSpPr>
        <p:cNvPr id="1" name=""/>
        <p:cNvGrpSpPr/>
        <p:nvPr/>
      </p:nvGrpSpPr>
      <p:grpSpPr/>
      <p:pic>
        <p:nvPicPr>
          <p:cNvPr id="2" name="Picture 1" descr="bg_c37.jpg"/>
          <p:cNvPicPr>
            <a:picLocks noChangeAspect="1"/>
          </p:cNvPicPr>
          <p:nvPr/>
        </p:nvPicPr>
        <p:blipFill>
          <a:blip r:embed="rId2"/>
          <a:stretch>
            <a:fillRect/>
          </a:stretch>
        </p:blipFill>
        <p:spPr>
          <a:xfrm>
            <a:off x="0" y="0"/>
            <a:ext cx="18287542" cy="10287000"/>
          </a:xfrm>
          <a:prstGeom prst="rect">
            <a:avLst/>
          </a:prstGeom>
        </p:spPr>
      </p:pic>
      <p:sp>
        <p:nvSpPr>
          <p:cNvPr id="3" name="TextBox 2"/>
          <p:cNvSpPr txBox="1"/>
          <p:nvPr/>
        </p:nvSpPr>
        <p:spPr>
          <a:xfrm>
            <a:off x="822959" y="822959"/>
            <a:ext cx="16733519" cy="384048"/>
          </a:xfrm>
          <a:prstGeom prst="rect">
            <a:avLst/>
          </a:prstGeom>
          <a:noFill/>
        </p:spPr>
        <p:txBody>
          <a:bodyPr wrap="none" lIns="0" rIns="0" tIns="0" bIns="0">
            <a:spAutoFit/>
          </a:bodyPr>
          <a:lstStyle/>
          <a:p>
            <a:pPr algn="l">
              <a:lnSpc>
                <a:spcPct val="115000"/>
              </a:lnSpc>
            </a:pPr>
            <a:r>
              <a:rPr sz="1650" spc="330">
                <a:solidFill>
                  <a:srgbClr val="9FE8DC"/>
                </a:solidFill>
                <a:latin typeface="Todes 1"/>
              </a:rPr>
              <a:t>MARKET + TRACTION · THIS IS NOT A MOCKUP</a:t>
            </a:r>
          </a:p>
        </p:txBody>
      </p:sp>
      <p:sp>
        <p:nvSpPr>
          <p:cNvPr id="4" name="TextBox 3"/>
          <p:cNvSpPr txBox="1"/>
          <p:nvPr/>
        </p:nvSpPr>
        <p:spPr>
          <a:xfrm>
            <a:off x="822959" y="1699869"/>
            <a:ext cx="7744777" cy="1075620"/>
          </a:xfrm>
          <a:prstGeom prst="rect">
            <a:avLst/>
          </a:prstGeom>
          <a:noFill/>
        </p:spPr>
        <p:txBody>
          <a:bodyPr wrap="none" lIns="0" rIns="0" tIns="0" bIns="0">
            <a:spAutoFit/>
          </a:bodyPr>
          <a:lstStyle/>
          <a:p>
            <a:pPr algn="l">
              <a:lnSpc>
                <a:spcPct val="115000"/>
              </a:lnSpc>
            </a:pPr>
            <a:r>
              <a:rPr sz="5841" spc="-79">
                <a:solidFill>
                  <a:srgbClr val="F4EAD8"/>
                </a:solidFill>
                <a:latin typeface="Todes 1"/>
              </a:rPr>
              <a:t>The platform is </a:t>
            </a:r>
          </a:p>
        </p:txBody>
      </p:sp>
      <p:sp>
        <p:nvSpPr>
          <p:cNvPr id="5" name="TextBox 4"/>
          <p:cNvSpPr txBox="1"/>
          <p:nvPr/>
        </p:nvSpPr>
        <p:spPr>
          <a:xfrm>
            <a:off x="6854189" y="1645919"/>
            <a:ext cx="7867411" cy="1173403"/>
          </a:xfrm>
          <a:prstGeom prst="rect">
            <a:avLst/>
          </a:prstGeom>
          <a:noFill/>
        </p:spPr>
        <p:txBody>
          <a:bodyPr wrap="none" lIns="0" rIns="0" tIns="0" bIns="0">
            <a:spAutoFit/>
          </a:bodyPr>
          <a:lstStyle/>
          <a:p>
            <a:pPr algn="l">
              <a:lnSpc>
                <a:spcPct val="115000"/>
              </a:lnSpc>
            </a:pPr>
            <a:r>
              <a:rPr sz="6372" spc="-75">
                <a:solidFill>
                  <a:srgbClr val="EBCF9E"/>
                </a:solidFill>
                <a:latin typeface="Ibarra Real Nova Italics"/>
              </a:rPr>
              <a:t>built and running.</a:t>
            </a:r>
          </a:p>
        </p:txBody>
      </p:sp>
      <p:sp>
        <p:nvSpPr>
          <p:cNvPr id="6" name="Rounded Rectangle 5"/>
          <p:cNvSpPr/>
          <p:nvPr/>
        </p:nvSpPr>
        <p:spPr>
          <a:xfrm>
            <a:off x="822959" y="3703320"/>
            <a:ext cx="5376672" cy="2359152"/>
          </a:xfrm>
          <a:prstGeom prst="roundRect">
            <a:avLst>
              <a:gd name="adj" fmla="val 6000"/>
            </a:avLst>
          </a:prstGeom>
          <a:solidFill>
            <a:srgbClr val="0D3E40"/>
          </a:solidFill>
          <a:ln w="19050">
            <a:solidFill>
              <a:srgbClr val="99E6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ing.png"/>
          <p:cNvPicPr>
            <a:picLocks noChangeAspect="1"/>
          </p:cNvPicPr>
          <p:nvPr/>
        </p:nvPicPr>
        <p:blipFill>
          <a:blip r:embed="rId4"/>
          <a:stretch>
            <a:fillRect/>
          </a:stretch>
        </p:blipFill>
        <p:spPr>
          <a:xfrm>
            <a:off x="1193292" y="4073652"/>
            <a:ext cx="411479" cy="411479"/>
          </a:xfrm>
          <a:prstGeom prst="rect">
            <a:avLst/>
          </a:prstGeom>
        </p:spPr>
      </p:pic>
      <p:sp>
        <p:nvSpPr>
          <p:cNvPr id="8" name="TextBox 7"/>
          <p:cNvSpPr txBox="1"/>
          <p:nvPr/>
        </p:nvSpPr>
        <p:spPr>
          <a:xfrm>
            <a:off x="1920239" y="4087368"/>
            <a:ext cx="4114800" cy="411479"/>
          </a:xfrm>
          <a:prstGeom prst="rect">
            <a:avLst/>
          </a:prstGeom>
          <a:noFill/>
        </p:spPr>
        <p:txBody>
          <a:bodyPr wrap="none" lIns="0" rIns="0" tIns="0" bIns="0">
            <a:spAutoFit/>
          </a:bodyPr>
          <a:lstStyle/>
          <a:p>
            <a:pPr algn="l">
              <a:lnSpc>
                <a:spcPct val="115000"/>
              </a:lnSpc>
            </a:pPr>
            <a:r>
              <a:rPr sz="1425" spc="330">
                <a:solidFill>
                  <a:srgbClr val="9FE8DC"/>
                </a:solidFill>
                <a:latin typeface="Todes 1"/>
              </a:rPr>
              <a:t>LIVE NETWORK</a:t>
            </a:r>
          </a:p>
        </p:txBody>
      </p:sp>
      <p:sp>
        <p:nvSpPr>
          <p:cNvPr id="9" name="TextBox 8"/>
          <p:cNvSpPr txBox="1"/>
          <p:nvPr/>
        </p:nvSpPr>
        <p:spPr>
          <a:xfrm>
            <a:off x="1234439" y="4732020"/>
            <a:ext cx="4594860" cy="1165860"/>
          </a:xfrm>
          <a:prstGeom prst="rect">
            <a:avLst/>
          </a:prstGeom>
          <a:noFill/>
        </p:spPr>
        <p:txBody>
          <a:bodyPr wrap="square" lIns="0" rIns="0" tIns="0" bIns="0">
            <a:spAutoFit/>
          </a:bodyPr>
          <a:lstStyle/>
          <a:p>
            <a:pPr algn="l">
              <a:lnSpc>
                <a:spcPct val="140000"/>
              </a:lnSpc>
            </a:pPr>
            <a:r>
              <a:rPr sz="1575">
                <a:solidFill>
                  <a:srgbClr val="F2ECDD"/>
                </a:solidFill>
                <a:latin typeface="TT Commons Pro"/>
              </a:rPr>
              <a:t>app.rivr.social live — sovereign community instances (person, group, locale) federating into one network.</a:t>
            </a:r>
          </a:p>
        </p:txBody>
      </p:sp>
      <p:sp>
        <p:nvSpPr>
          <p:cNvPr id="10" name="Rounded Rectangle 9"/>
          <p:cNvSpPr/>
          <p:nvPr/>
        </p:nvSpPr>
        <p:spPr>
          <a:xfrm>
            <a:off x="6473952" y="3703320"/>
            <a:ext cx="5376672" cy="2359152"/>
          </a:xfrm>
          <a:prstGeom prst="roundRect">
            <a:avLst>
              <a:gd name="adj" fmla="val 6000"/>
            </a:avLst>
          </a:prstGeom>
          <a:solidFill>
            <a:srgbClr val="062A2C"/>
          </a:solidFill>
          <a:ln w="19050">
            <a:solidFill>
              <a:srgbClr val="99E6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money.png"/>
          <p:cNvPicPr>
            <a:picLocks noChangeAspect="1"/>
          </p:cNvPicPr>
          <p:nvPr/>
        </p:nvPicPr>
        <p:blipFill>
          <a:blip r:embed="rId5"/>
          <a:stretch>
            <a:fillRect/>
          </a:stretch>
        </p:blipFill>
        <p:spPr>
          <a:xfrm>
            <a:off x="6844283" y="4073652"/>
            <a:ext cx="411479" cy="411479"/>
          </a:xfrm>
          <a:prstGeom prst="rect">
            <a:avLst/>
          </a:prstGeom>
        </p:spPr>
      </p:pic>
      <p:sp>
        <p:nvSpPr>
          <p:cNvPr id="12" name="TextBox 11"/>
          <p:cNvSpPr txBox="1"/>
          <p:nvPr/>
        </p:nvSpPr>
        <p:spPr>
          <a:xfrm>
            <a:off x="7571231" y="4087368"/>
            <a:ext cx="4114800" cy="411479"/>
          </a:xfrm>
          <a:prstGeom prst="rect">
            <a:avLst/>
          </a:prstGeom>
          <a:noFill/>
        </p:spPr>
        <p:txBody>
          <a:bodyPr wrap="none" lIns="0" rIns="0" tIns="0" bIns="0">
            <a:spAutoFit/>
          </a:bodyPr>
          <a:lstStyle/>
          <a:p>
            <a:pPr algn="l">
              <a:lnSpc>
                <a:spcPct val="115000"/>
              </a:lnSpc>
            </a:pPr>
            <a:r>
              <a:rPr sz="1425" spc="330">
                <a:solidFill>
                  <a:srgbClr val="9FE8DC"/>
                </a:solidFill>
                <a:latin typeface="Todes 1"/>
              </a:rPr>
              <a:t>FULL ECONOMIC LOOP</a:t>
            </a:r>
          </a:p>
        </p:txBody>
      </p:sp>
      <p:sp>
        <p:nvSpPr>
          <p:cNvPr id="13" name="TextBox 12"/>
          <p:cNvSpPr txBox="1"/>
          <p:nvPr/>
        </p:nvSpPr>
        <p:spPr>
          <a:xfrm>
            <a:off x="6885431" y="4732020"/>
            <a:ext cx="4594860" cy="1165860"/>
          </a:xfrm>
          <a:prstGeom prst="rect">
            <a:avLst/>
          </a:prstGeom>
          <a:noFill/>
        </p:spPr>
        <p:txBody>
          <a:bodyPr wrap="square" lIns="0" rIns="0" tIns="0" bIns="0">
            <a:spAutoFit/>
          </a:bodyPr>
          <a:lstStyle/>
          <a:p>
            <a:pPr algn="l">
              <a:lnSpc>
                <a:spcPct val="140000"/>
              </a:lnSpc>
            </a:pPr>
            <a:r>
              <a:rPr sz="1575">
                <a:solidFill>
                  <a:srgbClr val="F2ECDD"/>
                </a:solidFill>
                <a:latin typeface="TT Commons Pro"/>
              </a:rPr>
              <a:t>Marketplace, ticketing, jobs → attestation → payout, memberships, refunds — proven end-to-end on Stripe rails, cent-exact.</a:t>
            </a:r>
          </a:p>
        </p:txBody>
      </p:sp>
      <p:sp>
        <p:nvSpPr>
          <p:cNvPr id="14" name="Rounded Rectangle 13"/>
          <p:cNvSpPr/>
          <p:nvPr/>
        </p:nvSpPr>
        <p:spPr>
          <a:xfrm>
            <a:off x="12124944" y="3703320"/>
            <a:ext cx="5376672" cy="2359152"/>
          </a:xfrm>
          <a:prstGeom prst="roundRect">
            <a:avLst>
              <a:gd name="adj" fmla="val 6000"/>
            </a:avLst>
          </a:prstGeom>
          <a:solidFill>
            <a:srgbClr val="0D3E40"/>
          </a:solidFill>
          <a:ln w="19050">
            <a:solidFill>
              <a:srgbClr val="99E6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treasury.png"/>
          <p:cNvPicPr>
            <a:picLocks noChangeAspect="1"/>
          </p:cNvPicPr>
          <p:nvPr/>
        </p:nvPicPr>
        <p:blipFill>
          <a:blip r:embed="rId6"/>
          <a:stretch>
            <a:fillRect/>
          </a:stretch>
        </p:blipFill>
        <p:spPr>
          <a:xfrm>
            <a:off x="12495276" y="4073652"/>
            <a:ext cx="411479" cy="411479"/>
          </a:xfrm>
          <a:prstGeom prst="rect">
            <a:avLst/>
          </a:prstGeom>
        </p:spPr>
      </p:pic>
      <p:sp>
        <p:nvSpPr>
          <p:cNvPr id="16" name="TextBox 15"/>
          <p:cNvSpPr txBox="1"/>
          <p:nvPr/>
        </p:nvSpPr>
        <p:spPr>
          <a:xfrm>
            <a:off x="13222224" y="4087368"/>
            <a:ext cx="4114800" cy="411479"/>
          </a:xfrm>
          <a:prstGeom prst="rect">
            <a:avLst/>
          </a:prstGeom>
          <a:noFill/>
        </p:spPr>
        <p:txBody>
          <a:bodyPr wrap="none" lIns="0" rIns="0" tIns="0" bIns="0">
            <a:spAutoFit/>
          </a:bodyPr>
          <a:lstStyle/>
          <a:p>
            <a:pPr algn="l">
              <a:lnSpc>
                <a:spcPct val="115000"/>
              </a:lnSpc>
            </a:pPr>
            <a:r>
              <a:rPr sz="1425" spc="330">
                <a:solidFill>
                  <a:srgbClr val="9FE8DC"/>
                </a:solidFill>
                <a:latin typeface="Todes 1"/>
              </a:rPr>
              <a:t>RIVR PAY LANES</a:t>
            </a:r>
          </a:p>
        </p:txBody>
      </p:sp>
      <p:sp>
        <p:nvSpPr>
          <p:cNvPr id="17" name="TextBox 16"/>
          <p:cNvSpPr txBox="1"/>
          <p:nvPr/>
        </p:nvSpPr>
        <p:spPr>
          <a:xfrm>
            <a:off x="12536424" y="4732020"/>
            <a:ext cx="4594860" cy="1165860"/>
          </a:xfrm>
          <a:prstGeom prst="rect">
            <a:avLst/>
          </a:prstGeom>
          <a:noFill/>
        </p:spPr>
        <p:txBody>
          <a:bodyPr wrap="square" lIns="0" rIns="0" tIns="0" bIns="0">
            <a:spAutoFit/>
          </a:bodyPr>
          <a:lstStyle/>
          <a:p>
            <a:pPr algn="l">
              <a:lnSpc>
                <a:spcPct val="140000"/>
              </a:lnSpc>
            </a:pPr>
            <a:r>
              <a:rPr sz="1575">
                <a:solidFill>
                  <a:srgbClr val="F2ECDD"/>
                </a:solidFill>
                <a:latin typeface="TT Commons Pro"/>
              </a:rPr>
              <a:t>Tap-to-pay checkout, connected payouts, withholding, subgroup treasuries + card issuing on Stripe Treasury/Issuing.</a:t>
            </a:r>
          </a:p>
        </p:txBody>
      </p:sp>
      <p:sp>
        <p:nvSpPr>
          <p:cNvPr id="18" name="Rounded Rectangle 17"/>
          <p:cNvSpPr/>
          <p:nvPr/>
        </p:nvSpPr>
        <p:spPr>
          <a:xfrm>
            <a:off x="822959" y="6377940"/>
            <a:ext cx="5376672" cy="2359152"/>
          </a:xfrm>
          <a:prstGeom prst="roundRect">
            <a:avLst>
              <a:gd name="adj" fmla="val 6000"/>
            </a:avLst>
          </a:prstGeom>
          <a:solidFill>
            <a:srgbClr val="062A2C"/>
          </a:solidFill>
          <a:ln w="19050">
            <a:solidFill>
              <a:srgbClr val="99E6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governance.png"/>
          <p:cNvPicPr>
            <a:picLocks noChangeAspect="1"/>
          </p:cNvPicPr>
          <p:nvPr/>
        </p:nvPicPr>
        <p:blipFill>
          <a:blip r:embed="rId7"/>
          <a:stretch>
            <a:fillRect/>
          </a:stretch>
        </p:blipFill>
        <p:spPr>
          <a:xfrm>
            <a:off x="1193292" y="6748272"/>
            <a:ext cx="411479" cy="411479"/>
          </a:xfrm>
          <a:prstGeom prst="rect">
            <a:avLst/>
          </a:prstGeom>
        </p:spPr>
      </p:pic>
      <p:sp>
        <p:nvSpPr>
          <p:cNvPr id="20" name="TextBox 19"/>
          <p:cNvSpPr txBox="1"/>
          <p:nvPr/>
        </p:nvSpPr>
        <p:spPr>
          <a:xfrm>
            <a:off x="1920239" y="6761988"/>
            <a:ext cx="4114800" cy="411479"/>
          </a:xfrm>
          <a:prstGeom prst="rect">
            <a:avLst/>
          </a:prstGeom>
          <a:noFill/>
        </p:spPr>
        <p:txBody>
          <a:bodyPr wrap="none" lIns="0" rIns="0" tIns="0" bIns="0">
            <a:spAutoFit/>
          </a:bodyPr>
          <a:lstStyle/>
          <a:p>
            <a:pPr algn="l">
              <a:lnSpc>
                <a:spcPct val="115000"/>
              </a:lnSpc>
            </a:pPr>
            <a:r>
              <a:rPr sz="1425" spc="330">
                <a:solidFill>
                  <a:srgbClr val="9FE8DC"/>
                </a:solidFill>
                <a:latin typeface="Todes 1"/>
              </a:rPr>
              <a:t>REAL GOVERNANCE</a:t>
            </a:r>
          </a:p>
        </p:txBody>
      </p:sp>
      <p:sp>
        <p:nvSpPr>
          <p:cNvPr id="21" name="TextBox 20"/>
          <p:cNvSpPr txBox="1"/>
          <p:nvPr/>
        </p:nvSpPr>
        <p:spPr>
          <a:xfrm>
            <a:off x="1234439" y="7406640"/>
            <a:ext cx="4594860" cy="1165860"/>
          </a:xfrm>
          <a:prstGeom prst="rect">
            <a:avLst/>
          </a:prstGeom>
          <a:noFill/>
        </p:spPr>
        <p:txBody>
          <a:bodyPr wrap="square" lIns="0" rIns="0" tIns="0" bIns="0">
            <a:spAutoFit/>
          </a:bodyPr>
          <a:lstStyle/>
          <a:p>
            <a:pPr algn="l">
              <a:lnSpc>
                <a:spcPct val="140000"/>
              </a:lnSpc>
            </a:pPr>
            <a:r>
              <a:rPr sz="1575">
                <a:solidFill>
                  <a:srgbClr val="F2ECDD"/>
                </a:solidFill>
                <a:latin typeface="TT Commons Pro"/>
              </a:rPr>
              <a:t>Six ballot styles, eligibility gates, weighted voting, boards — running in production groups today.</a:t>
            </a:r>
          </a:p>
        </p:txBody>
      </p:sp>
      <p:sp>
        <p:nvSpPr>
          <p:cNvPr id="22" name="Rounded Rectangle 21"/>
          <p:cNvSpPr/>
          <p:nvPr/>
        </p:nvSpPr>
        <p:spPr>
          <a:xfrm>
            <a:off x="6473952" y="6377940"/>
            <a:ext cx="5376672" cy="2359152"/>
          </a:xfrm>
          <a:prstGeom prst="roundRect">
            <a:avLst>
              <a:gd name="adj" fmla="val 6000"/>
            </a:avLst>
          </a:prstGeom>
          <a:solidFill>
            <a:srgbClr val="0D3E40"/>
          </a:solidFill>
          <a:ln w="19050">
            <a:solidFill>
              <a:srgbClr val="99E6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verify.png"/>
          <p:cNvPicPr>
            <a:picLocks noChangeAspect="1"/>
          </p:cNvPicPr>
          <p:nvPr/>
        </p:nvPicPr>
        <p:blipFill>
          <a:blip r:embed="rId8"/>
          <a:stretch>
            <a:fillRect/>
          </a:stretch>
        </p:blipFill>
        <p:spPr>
          <a:xfrm>
            <a:off x="6844283" y="6748272"/>
            <a:ext cx="411479" cy="411479"/>
          </a:xfrm>
          <a:prstGeom prst="rect">
            <a:avLst/>
          </a:prstGeom>
        </p:spPr>
      </p:pic>
      <p:sp>
        <p:nvSpPr>
          <p:cNvPr id="24" name="TextBox 23"/>
          <p:cNvSpPr txBox="1"/>
          <p:nvPr/>
        </p:nvSpPr>
        <p:spPr>
          <a:xfrm>
            <a:off x="7571231" y="6761988"/>
            <a:ext cx="4114800" cy="411479"/>
          </a:xfrm>
          <a:prstGeom prst="rect">
            <a:avLst/>
          </a:prstGeom>
          <a:noFill/>
        </p:spPr>
        <p:txBody>
          <a:bodyPr wrap="none" lIns="0" rIns="0" tIns="0" bIns="0">
            <a:spAutoFit/>
          </a:bodyPr>
          <a:lstStyle/>
          <a:p>
            <a:pPr algn="l">
              <a:lnSpc>
                <a:spcPct val="115000"/>
              </a:lnSpc>
            </a:pPr>
            <a:r>
              <a:rPr sz="1425" spc="330">
                <a:solidFill>
                  <a:srgbClr val="9FE8DC"/>
                </a:solidFill>
                <a:latin typeface="Todes 1"/>
              </a:rPr>
              <a:t>SALES TAX, DONE RIGHT</a:t>
            </a:r>
          </a:p>
        </p:txBody>
      </p:sp>
      <p:sp>
        <p:nvSpPr>
          <p:cNvPr id="25" name="TextBox 24"/>
          <p:cNvSpPr txBox="1"/>
          <p:nvPr/>
        </p:nvSpPr>
        <p:spPr>
          <a:xfrm>
            <a:off x="6885431" y="7406640"/>
            <a:ext cx="4594860" cy="1165860"/>
          </a:xfrm>
          <a:prstGeom prst="rect">
            <a:avLst/>
          </a:prstGeom>
          <a:noFill/>
        </p:spPr>
        <p:txBody>
          <a:bodyPr wrap="square" lIns="0" rIns="0" tIns="0" bIns="0">
            <a:spAutoFit/>
          </a:bodyPr>
          <a:lstStyle/>
          <a:p>
            <a:pPr algn="l">
              <a:lnSpc>
                <a:spcPct val="140000"/>
              </a:lnSpc>
            </a:pPr>
            <a:r>
              <a:rPr sz="1575">
                <a:solidFill>
                  <a:srgbClr val="F2ECDD"/>
                </a:solidFill>
                <a:latin typeface="TT Commons Pro"/>
              </a:rPr>
              <a:t>Stripe Tax registered computation, venue-sourced ticket tax, 1099-K seller gates.</a:t>
            </a:r>
          </a:p>
        </p:txBody>
      </p:sp>
      <p:sp>
        <p:nvSpPr>
          <p:cNvPr id="26" name="Rounded Rectangle 25"/>
          <p:cNvSpPr/>
          <p:nvPr/>
        </p:nvSpPr>
        <p:spPr>
          <a:xfrm>
            <a:off x="12124944" y="6377940"/>
            <a:ext cx="5376672" cy="2359152"/>
          </a:xfrm>
          <a:prstGeom prst="roundRect">
            <a:avLst>
              <a:gd name="adj" fmla="val 6000"/>
            </a:avLst>
          </a:prstGeom>
          <a:solidFill>
            <a:srgbClr val="062A2C"/>
          </a:solidFill>
          <a:ln w="19050">
            <a:solidFill>
              <a:srgbClr val="99E6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idea.png"/>
          <p:cNvPicPr>
            <a:picLocks noChangeAspect="1"/>
          </p:cNvPicPr>
          <p:nvPr/>
        </p:nvPicPr>
        <p:blipFill>
          <a:blip r:embed="rId9"/>
          <a:stretch>
            <a:fillRect/>
          </a:stretch>
        </p:blipFill>
        <p:spPr>
          <a:xfrm>
            <a:off x="12495276" y="6748272"/>
            <a:ext cx="411479" cy="411479"/>
          </a:xfrm>
          <a:prstGeom prst="rect">
            <a:avLst/>
          </a:prstGeom>
        </p:spPr>
      </p:pic>
      <p:sp>
        <p:nvSpPr>
          <p:cNvPr id="28" name="TextBox 27"/>
          <p:cNvSpPr txBox="1"/>
          <p:nvPr/>
        </p:nvSpPr>
        <p:spPr>
          <a:xfrm>
            <a:off x="13222224" y="6761988"/>
            <a:ext cx="4114800" cy="411479"/>
          </a:xfrm>
          <a:prstGeom prst="rect">
            <a:avLst/>
          </a:prstGeom>
          <a:noFill/>
        </p:spPr>
        <p:txBody>
          <a:bodyPr wrap="none" lIns="0" rIns="0" tIns="0" bIns="0">
            <a:spAutoFit/>
          </a:bodyPr>
          <a:lstStyle/>
          <a:p>
            <a:pPr algn="l">
              <a:lnSpc>
                <a:spcPct val="115000"/>
              </a:lnSpc>
            </a:pPr>
            <a:r>
              <a:rPr sz="1425" spc="330">
                <a:solidFill>
                  <a:srgbClr val="9FE8DC"/>
                </a:solidFill>
                <a:latin typeface="Todes 1"/>
              </a:rPr>
              <a:t>AI-NATIVE</a:t>
            </a:r>
          </a:p>
        </p:txBody>
      </p:sp>
      <p:sp>
        <p:nvSpPr>
          <p:cNvPr id="29" name="TextBox 28"/>
          <p:cNvSpPr txBox="1"/>
          <p:nvPr/>
        </p:nvSpPr>
        <p:spPr>
          <a:xfrm>
            <a:off x="12536424" y="7406640"/>
            <a:ext cx="4594860" cy="1165860"/>
          </a:xfrm>
          <a:prstGeom prst="rect">
            <a:avLst/>
          </a:prstGeom>
          <a:noFill/>
        </p:spPr>
        <p:txBody>
          <a:bodyPr wrap="square" lIns="0" rIns="0" tIns="0" bIns="0">
            <a:spAutoFit/>
          </a:bodyPr>
          <a:lstStyle/>
          <a:p>
            <a:pPr algn="l">
              <a:lnSpc>
                <a:spcPct val="140000"/>
              </a:lnSpc>
            </a:pPr>
            <a:r>
              <a:rPr sz="1575">
                <a:solidFill>
                  <a:srgbClr val="F2ECDD"/>
                </a:solidFill>
                <a:latin typeface="TT Commons Pro"/>
              </a:rPr>
              <a:t>Org assistant on first-party credentials; an MCP surface of 118 tools; agents act only as the asking member.</a:t>
            </a:r>
          </a:p>
        </p:txBody>
      </p:sp>
      <p:sp>
        <p:nvSpPr>
          <p:cNvPr id="30" name="TextBox 29"/>
          <p:cNvSpPr txBox="1"/>
          <p:nvPr/>
        </p:nvSpPr>
        <p:spPr>
          <a:xfrm>
            <a:off x="822959" y="9052559"/>
            <a:ext cx="16596359" cy="1097280"/>
          </a:xfrm>
          <a:prstGeom prst="rect">
            <a:avLst/>
          </a:prstGeom>
          <a:noFill/>
        </p:spPr>
        <p:txBody>
          <a:bodyPr wrap="square" lIns="0" rIns="0" tIns="0" bIns="0">
            <a:spAutoFit/>
          </a:bodyPr>
          <a:lstStyle/>
          <a:p>
            <a:pPr algn="ctr">
              <a:lnSpc>
                <a:spcPct val="140000"/>
              </a:lnSpc>
            </a:pPr>
            <a:r>
              <a:rPr sz="1950">
                <a:solidFill>
                  <a:srgbClr val="F2ECDD"/>
                </a:solidFill>
                <a:latin typeface="TT Commons Pro"/>
              </a:rPr>
              <a:t>Boulder is the first proving ground. </a:t>
            </a:r>
            <a:r>
              <a:rPr sz="1950">
                <a:solidFill>
                  <a:srgbClr val="EBCF9E"/>
                </a:solidFill>
                <a:latin typeface="TT Commons Pro Bold"/>
              </a:rPr>
              <a:t>This seed round funds go-to-market — not a science project.</a:t>
            </a:r>
          </a:p>
        </p:txBody>
      </p:sp>
      <p:pic>
        <p:nvPicPr>
          <p:cNvPr id="31" name="Picture 30" descr="rivr-symbol-light.png"/>
          <p:cNvPicPr>
            <a:picLocks noChangeAspect="1"/>
          </p:cNvPicPr>
          <p:nvPr/>
        </p:nvPicPr>
        <p:blipFill>
          <a:blip r:embed="rId10"/>
          <a:stretch>
            <a:fillRect/>
          </a:stretch>
        </p:blipFill>
        <p:spPr>
          <a:xfrm>
            <a:off x="576072" y="9518904"/>
            <a:ext cx="521208" cy="521208"/>
          </a:xfrm>
          <a:prstGeom prst="rect">
            <a:avLst/>
          </a:prstGeom>
        </p:spPr>
      </p:pic>
      <p:sp>
        <p:nvSpPr>
          <p:cNvPr id="32" name="TextBox 31"/>
          <p:cNvSpPr txBox="1"/>
          <p:nvPr/>
        </p:nvSpPr>
        <p:spPr>
          <a:xfrm>
            <a:off x="1371600" y="9724644"/>
            <a:ext cx="5486400" cy="301752"/>
          </a:xfrm>
          <a:prstGeom prst="rect">
            <a:avLst/>
          </a:prstGeom>
          <a:noFill/>
        </p:spPr>
        <p:txBody>
          <a:bodyPr wrap="none" lIns="0" rIns="0" tIns="0" bIns="0">
            <a:spAutoFit/>
          </a:bodyPr>
          <a:lstStyle/>
          <a:p>
            <a:pPr algn="l">
              <a:lnSpc>
                <a:spcPct val="115000"/>
              </a:lnSpc>
            </a:pPr>
            <a:r>
              <a:rPr sz="1350" spc="150">
                <a:solidFill>
                  <a:srgbClr val="AFC4C2"/>
                </a:solidFill>
                <a:latin typeface="TT Commons Pro"/>
              </a:rPr>
              <a:t>Rivr · Seed Round 2026</a:t>
            </a:r>
          </a:p>
        </p:txBody>
      </p:sp>
      <p:sp>
        <p:nvSpPr>
          <p:cNvPr id="33" name="TextBox 32"/>
          <p:cNvSpPr txBox="1"/>
          <p:nvPr/>
        </p:nvSpPr>
        <p:spPr>
          <a:xfrm>
            <a:off x="16870680" y="9724644"/>
            <a:ext cx="960119" cy="301752"/>
          </a:xfrm>
          <a:prstGeom prst="rect">
            <a:avLst/>
          </a:prstGeom>
          <a:noFill/>
        </p:spPr>
        <p:txBody>
          <a:bodyPr wrap="none" lIns="0" rIns="0" tIns="0" bIns="0">
            <a:spAutoFit/>
          </a:bodyPr>
          <a:lstStyle/>
          <a:p>
            <a:pPr algn="r">
              <a:lnSpc>
                <a:spcPct val="115000"/>
              </a:lnSpc>
            </a:pPr>
            <a:r>
              <a:rPr sz="1350" spc="150">
                <a:solidFill>
                  <a:srgbClr val="AFC4C2"/>
                </a:solidFill>
                <a:latin typeface="TT Commons Pro"/>
              </a:rPr>
              <a:t>41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03333"/>
        </a:solidFill>
        <a:effectLst/>
      </p:bgPr>
    </p:bg>
    <p:spTree>
      <p:nvGrpSpPr>
        <p:cNvPr id="1" name=""/>
        <p:cNvGrpSpPr/>
        <p:nvPr/>
      </p:nvGrpSpPr>
      <p:grpSpPr/>
      <p:pic>
        <p:nvPicPr>
          <p:cNvPr id="2" name="Picture 1" descr="bg_c38.jpg"/>
          <p:cNvPicPr>
            <a:picLocks noChangeAspect="1"/>
          </p:cNvPicPr>
          <p:nvPr/>
        </p:nvPicPr>
        <p:blipFill>
          <a:blip r:embed="rId2"/>
          <a:stretch>
            <a:fillRect/>
          </a:stretch>
        </p:blipFill>
        <p:spPr>
          <a:xfrm>
            <a:off x="0" y="0"/>
            <a:ext cx="18287542" cy="10287000"/>
          </a:xfrm>
          <a:prstGeom prst="rect">
            <a:avLst/>
          </a:prstGeom>
        </p:spPr>
      </p:pic>
      <p:sp>
        <p:nvSpPr>
          <p:cNvPr id="3" name="TextBox 2"/>
          <p:cNvSpPr txBox="1"/>
          <p:nvPr/>
        </p:nvSpPr>
        <p:spPr>
          <a:xfrm>
            <a:off x="822959" y="822959"/>
            <a:ext cx="16733519" cy="384048"/>
          </a:xfrm>
          <a:prstGeom prst="rect">
            <a:avLst/>
          </a:prstGeom>
          <a:noFill/>
        </p:spPr>
        <p:txBody>
          <a:bodyPr wrap="none" lIns="0" rIns="0" tIns="0" bIns="0">
            <a:spAutoFit/>
          </a:bodyPr>
          <a:lstStyle/>
          <a:p>
            <a:pPr algn="l">
              <a:lnSpc>
                <a:spcPct val="115000"/>
              </a:lnSpc>
            </a:pPr>
            <a:r>
              <a:rPr sz="1650" spc="330">
                <a:solidFill>
                  <a:srgbClr val="9FE8DC"/>
                </a:solidFill>
                <a:latin typeface="Todes 1"/>
              </a:rPr>
              <a:t>BUSINESS MODEL</a:t>
            </a:r>
          </a:p>
        </p:txBody>
      </p:sp>
      <p:sp>
        <p:nvSpPr>
          <p:cNvPr id="4" name="TextBox 3"/>
          <p:cNvSpPr txBox="1"/>
          <p:nvPr/>
        </p:nvSpPr>
        <p:spPr>
          <a:xfrm>
            <a:off x="822959" y="1645919"/>
            <a:ext cx="8819911" cy="1140809"/>
          </a:xfrm>
          <a:prstGeom prst="rect">
            <a:avLst/>
          </a:prstGeom>
          <a:noFill/>
        </p:spPr>
        <p:txBody>
          <a:bodyPr wrap="none" lIns="0" rIns="0" tIns="0" bIns="0">
            <a:spAutoFit/>
          </a:bodyPr>
          <a:lstStyle/>
          <a:p>
            <a:pPr algn="l">
              <a:lnSpc>
                <a:spcPct val="115000"/>
              </a:lnSpc>
            </a:pPr>
            <a:r>
              <a:rPr sz="6195" spc="-75">
                <a:solidFill>
                  <a:srgbClr val="EBCF9E"/>
                </a:solidFill>
                <a:latin typeface="Ibarra Real Nova Italics"/>
              </a:rPr>
              <a:t>Membership velocity, </a:t>
            </a:r>
          </a:p>
        </p:txBody>
      </p:sp>
      <p:sp>
        <p:nvSpPr>
          <p:cNvPr id="5" name="TextBox 4"/>
          <p:cNvSpPr txBox="1"/>
          <p:nvPr/>
        </p:nvSpPr>
        <p:spPr>
          <a:xfrm>
            <a:off x="7714297" y="1699869"/>
            <a:ext cx="7698025" cy="1043025"/>
          </a:xfrm>
          <a:prstGeom prst="rect">
            <a:avLst/>
          </a:prstGeom>
          <a:noFill/>
        </p:spPr>
        <p:txBody>
          <a:bodyPr wrap="none" lIns="0" rIns="0" tIns="0" bIns="0">
            <a:spAutoFit/>
          </a:bodyPr>
          <a:lstStyle/>
          <a:p>
            <a:pPr algn="l">
              <a:lnSpc>
                <a:spcPct val="115000"/>
              </a:lnSpc>
            </a:pPr>
            <a:r>
              <a:rPr sz="5664" spc="-76">
                <a:solidFill>
                  <a:srgbClr val="F4EAD8"/>
                </a:solidFill>
                <a:latin typeface="Todes 1"/>
              </a:rPr>
              <a:t>not fee inflation.</a:t>
            </a:r>
          </a:p>
        </p:txBody>
      </p:sp>
      <p:sp>
        <p:nvSpPr>
          <p:cNvPr id="6" name="TextBox 5"/>
          <p:cNvSpPr txBox="1"/>
          <p:nvPr/>
        </p:nvSpPr>
        <p:spPr>
          <a:xfrm>
            <a:off x="822959" y="3703320"/>
            <a:ext cx="4663440" cy="411479"/>
          </a:xfrm>
          <a:prstGeom prst="rect">
            <a:avLst/>
          </a:prstGeom>
          <a:noFill/>
        </p:spPr>
        <p:txBody>
          <a:bodyPr wrap="none" lIns="0" rIns="0" tIns="0" bIns="0">
            <a:spAutoFit/>
          </a:bodyPr>
          <a:lstStyle/>
          <a:p>
            <a:pPr algn="l">
              <a:lnSpc>
                <a:spcPct val="115000"/>
              </a:lnSpc>
            </a:pPr>
            <a:r>
              <a:rPr sz="1425" spc="330">
                <a:solidFill>
                  <a:srgbClr val="9FE8DC"/>
                </a:solidFill>
                <a:latin typeface="Todes 1"/>
              </a:rPr>
              <a:t>TIER</a:t>
            </a:r>
          </a:p>
        </p:txBody>
      </p:sp>
      <p:sp>
        <p:nvSpPr>
          <p:cNvPr id="7" name="TextBox 6"/>
          <p:cNvSpPr txBox="1"/>
          <p:nvPr/>
        </p:nvSpPr>
        <p:spPr>
          <a:xfrm>
            <a:off x="5760720" y="3703320"/>
            <a:ext cx="2468880" cy="411479"/>
          </a:xfrm>
          <a:prstGeom prst="rect">
            <a:avLst/>
          </a:prstGeom>
          <a:noFill/>
        </p:spPr>
        <p:txBody>
          <a:bodyPr wrap="none" lIns="0" rIns="0" tIns="0" bIns="0">
            <a:spAutoFit/>
          </a:bodyPr>
          <a:lstStyle/>
          <a:p>
            <a:pPr algn="l">
              <a:lnSpc>
                <a:spcPct val="115000"/>
              </a:lnSpc>
            </a:pPr>
            <a:r>
              <a:rPr sz="1425" spc="330">
                <a:solidFill>
                  <a:srgbClr val="9FE8DC"/>
                </a:solidFill>
                <a:latin typeface="Todes 1"/>
              </a:rPr>
              <a:t>% OF USERS</a:t>
            </a:r>
          </a:p>
        </p:txBody>
      </p:sp>
      <p:sp>
        <p:nvSpPr>
          <p:cNvPr id="8" name="TextBox 7"/>
          <p:cNvSpPr txBox="1"/>
          <p:nvPr/>
        </p:nvSpPr>
        <p:spPr>
          <a:xfrm>
            <a:off x="8503920" y="3703320"/>
            <a:ext cx="2194560" cy="411479"/>
          </a:xfrm>
          <a:prstGeom prst="rect">
            <a:avLst/>
          </a:prstGeom>
          <a:noFill/>
        </p:spPr>
        <p:txBody>
          <a:bodyPr wrap="none" lIns="0" rIns="0" tIns="0" bIns="0">
            <a:spAutoFit/>
          </a:bodyPr>
          <a:lstStyle/>
          <a:p>
            <a:pPr algn="l">
              <a:lnSpc>
                <a:spcPct val="115000"/>
              </a:lnSpc>
            </a:pPr>
            <a:r>
              <a:rPr sz="1425" spc="330">
                <a:solidFill>
                  <a:srgbClr val="9FE8DC"/>
                </a:solidFill>
                <a:latin typeface="Todes 1"/>
              </a:rPr>
              <a:t>FEE / MO</a:t>
            </a:r>
          </a:p>
        </p:txBody>
      </p:sp>
      <p:cxnSp>
        <p:nvCxnSpPr>
          <p:cNvPr id="9" name="Connector 8"/>
          <p:cNvCxnSpPr/>
          <p:nvPr/>
        </p:nvCxnSpPr>
        <p:spPr>
          <a:xfrm>
            <a:off x="822959" y="4183379"/>
            <a:ext cx="9875521" cy="0"/>
          </a:xfrm>
          <a:prstGeom prst="line">
            <a:avLst/>
          </a:prstGeom>
          <a:ln w="12700">
            <a:solidFill>
              <a:srgbClr val="084B4D"/>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59" y="4457700"/>
            <a:ext cx="4663440" cy="411479"/>
          </a:xfrm>
          <a:prstGeom prst="rect">
            <a:avLst/>
          </a:prstGeom>
          <a:noFill/>
        </p:spPr>
        <p:txBody>
          <a:bodyPr wrap="none" lIns="0" rIns="0" tIns="0" bIns="0">
            <a:spAutoFit/>
          </a:bodyPr>
          <a:lstStyle/>
          <a:p>
            <a:pPr algn="l">
              <a:lnSpc>
                <a:spcPct val="115000"/>
              </a:lnSpc>
            </a:pPr>
            <a:r>
              <a:rPr sz="1875">
                <a:solidFill>
                  <a:srgbClr val="F2ECDD"/>
                </a:solidFill>
                <a:latin typeface="TT Commons Pro"/>
              </a:rPr>
              <a:t>Collaborator</a:t>
            </a:r>
          </a:p>
        </p:txBody>
      </p:sp>
      <p:sp>
        <p:nvSpPr>
          <p:cNvPr id="11" name="TextBox 10"/>
          <p:cNvSpPr txBox="1"/>
          <p:nvPr/>
        </p:nvSpPr>
        <p:spPr>
          <a:xfrm>
            <a:off x="5760720" y="4457700"/>
            <a:ext cx="2468880" cy="411479"/>
          </a:xfrm>
          <a:prstGeom prst="rect">
            <a:avLst/>
          </a:prstGeom>
          <a:noFill/>
        </p:spPr>
        <p:txBody>
          <a:bodyPr wrap="none" lIns="0" rIns="0" tIns="0" bIns="0">
            <a:spAutoFit/>
          </a:bodyPr>
          <a:lstStyle/>
          <a:p>
            <a:pPr algn="l">
              <a:lnSpc>
                <a:spcPct val="115000"/>
              </a:lnSpc>
            </a:pPr>
            <a:r>
              <a:rPr sz="1875">
                <a:solidFill>
                  <a:srgbClr val="F2ECDD"/>
                </a:solidFill>
                <a:latin typeface="TT Commons Pro"/>
              </a:rPr>
              <a:t>15%</a:t>
            </a:r>
          </a:p>
        </p:txBody>
      </p:sp>
      <p:sp>
        <p:nvSpPr>
          <p:cNvPr id="12" name="TextBox 11"/>
          <p:cNvSpPr txBox="1"/>
          <p:nvPr/>
        </p:nvSpPr>
        <p:spPr>
          <a:xfrm>
            <a:off x="8503920" y="4457700"/>
            <a:ext cx="2194560" cy="411479"/>
          </a:xfrm>
          <a:prstGeom prst="rect">
            <a:avLst/>
          </a:prstGeom>
          <a:noFill/>
        </p:spPr>
        <p:txBody>
          <a:bodyPr wrap="none" lIns="0" rIns="0" tIns="0" bIns="0">
            <a:spAutoFit/>
          </a:bodyPr>
          <a:lstStyle/>
          <a:p>
            <a:pPr algn="l">
              <a:lnSpc>
                <a:spcPct val="115000"/>
              </a:lnSpc>
            </a:pPr>
            <a:r>
              <a:rPr sz="1875" spc="180">
                <a:solidFill>
                  <a:srgbClr val="EBCF9E"/>
                </a:solidFill>
                <a:latin typeface="Todes 1"/>
              </a:rPr>
              <a:t>$11</a:t>
            </a:r>
          </a:p>
        </p:txBody>
      </p:sp>
      <p:sp>
        <p:nvSpPr>
          <p:cNvPr id="13" name="TextBox 12"/>
          <p:cNvSpPr txBox="1"/>
          <p:nvPr/>
        </p:nvSpPr>
        <p:spPr>
          <a:xfrm>
            <a:off x="822959" y="5280660"/>
            <a:ext cx="4663440" cy="411479"/>
          </a:xfrm>
          <a:prstGeom prst="rect">
            <a:avLst/>
          </a:prstGeom>
          <a:noFill/>
        </p:spPr>
        <p:txBody>
          <a:bodyPr wrap="none" lIns="0" rIns="0" tIns="0" bIns="0">
            <a:spAutoFit/>
          </a:bodyPr>
          <a:lstStyle/>
          <a:p>
            <a:pPr algn="l">
              <a:lnSpc>
                <a:spcPct val="115000"/>
              </a:lnSpc>
            </a:pPr>
            <a:r>
              <a:rPr sz="1875">
                <a:solidFill>
                  <a:srgbClr val="F2ECDD"/>
                </a:solidFill>
                <a:latin typeface="TT Commons Pro"/>
              </a:rPr>
              <a:t>Seller</a:t>
            </a:r>
          </a:p>
        </p:txBody>
      </p:sp>
      <p:sp>
        <p:nvSpPr>
          <p:cNvPr id="14" name="TextBox 13"/>
          <p:cNvSpPr txBox="1"/>
          <p:nvPr/>
        </p:nvSpPr>
        <p:spPr>
          <a:xfrm>
            <a:off x="5760720" y="5280660"/>
            <a:ext cx="2468880" cy="411479"/>
          </a:xfrm>
          <a:prstGeom prst="rect">
            <a:avLst/>
          </a:prstGeom>
          <a:noFill/>
        </p:spPr>
        <p:txBody>
          <a:bodyPr wrap="none" lIns="0" rIns="0" tIns="0" bIns="0">
            <a:spAutoFit/>
          </a:bodyPr>
          <a:lstStyle/>
          <a:p>
            <a:pPr algn="l">
              <a:lnSpc>
                <a:spcPct val="115000"/>
              </a:lnSpc>
            </a:pPr>
            <a:r>
              <a:rPr sz="1875">
                <a:solidFill>
                  <a:srgbClr val="F2ECDD"/>
                </a:solidFill>
                <a:latin typeface="TT Commons Pro"/>
              </a:rPr>
              <a:t>10%</a:t>
            </a:r>
          </a:p>
        </p:txBody>
      </p:sp>
      <p:sp>
        <p:nvSpPr>
          <p:cNvPr id="15" name="TextBox 14"/>
          <p:cNvSpPr txBox="1"/>
          <p:nvPr/>
        </p:nvSpPr>
        <p:spPr>
          <a:xfrm>
            <a:off x="8503920" y="5280660"/>
            <a:ext cx="2194560" cy="411479"/>
          </a:xfrm>
          <a:prstGeom prst="rect">
            <a:avLst/>
          </a:prstGeom>
          <a:noFill/>
        </p:spPr>
        <p:txBody>
          <a:bodyPr wrap="none" lIns="0" rIns="0" tIns="0" bIns="0">
            <a:spAutoFit/>
          </a:bodyPr>
          <a:lstStyle/>
          <a:p>
            <a:pPr algn="l">
              <a:lnSpc>
                <a:spcPct val="115000"/>
              </a:lnSpc>
            </a:pPr>
            <a:r>
              <a:rPr sz="1875" spc="180">
                <a:solidFill>
                  <a:srgbClr val="EBCF9E"/>
                </a:solidFill>
                <a:latin typeface="Todes 1"/>
              </a:rPr>
              <a:t>$22</a:t>
            </a:r>
          </a:p>
        </p:txBody>
      </p:sp>
      <p:sp>
        <p:nvSpPr>
          <p:cNvPr id="16" name="TextBox 15"/>
          <p:cNvSpPr txBox="1"/>
          <p:nvPr/>
        </p:nvSpPr>
        <p:spPr>
          <a:xfrm>
            <a:off x="822959" y="6103620"/>
            <a:ext cx="4663440" cy="411479"/>
          </a:xfrm>
          <a:prstGeom prst="rect">
            <a:avLst/>
          </a:prstGeom>
          <a:noFill/>
        </p:spPr>
        <p:txBody>
          <a:bodyPr wrap="none" lIns="0" rIns="0" tIns="0" bIns="0">
            <a:spAutoFit/>
          </a:bodyPr>
          <a:lstStyle/>
          <a:p>
            <a:pPr algn="l">
              <a:lnSpc>
                <a:spcPct val="115000"/>
              </a:lnSpc>
            </a:pPr>
            <a:r>
              <a:rPr sz="1875">
                <a:solidFill>
                  <a:srgbClr val="F2ECDD"/>
                </a:solidFill>
                <a:latin typeface="TT Commons Pro"/>
              </a:rPr>
              <a:t>Host / Producer</a:t>
            </a:r>
          </a:p>
        </p:txBody>
      </p:sp>
      <p:sp>
        <p:nvSpPr>
          <p:cNvPr id="17" name="TextBox 16"/>
          <p:cNvSpPr txBox="1"/>
          <p:nvPr/>
        </p:nvSpPr>
        <p:spPr>
          <a:xfrm>
            <a:off x="5760720" y="6103620"/>
            <a:ext cx="2468880" cy="411479"/>
          </a:xfrm>
          <a:prstGeom prst="rect">
            <a:avLst/>
          </a:prstGeom>
          <a:noFill/>
        </p:spPr>
        <p:txBody>
          <a:bodyPr wrap="none" lIns="0" rIns="0" tIns="0" bIns="0">
            <a:spAutoFit/>
          </a:bodyPr>
          <a:lstStyle/>
          <a:p>
            <a:pPr algn="l">
              <a:lnSpc>
                <a:spcPct val="115000"/>
              </a:lnSpc>
            </a:pPr>
            <a:r>
              <a:rPr sz="1875">
                <a:solidFill>
                  <a:srgbClr val="F2ECDD"/>
                </a:solidFill>
                <a:latin typeface="TT Commons Pro"/>
              </a:rPr>
              <a:t>7%</a:t>
            </a:r>
          </a:p>
        </p:txBody>
      </p:sp>
      <p:sp>
        <p:nvSpPr>
          <p:cNvPr id="18" name="TextBox 17"/>
          <p:cNvSpPr txBox="1"/>
          <p:nvPr/>
        </p:nvSpPr>
        <p:spPr>
          <a:xfrm>
            <a:off x="8503920" y="6103620"/>
            <a:ext cx="2194560" cy="411479"/>
          </a:xfrm>
          <a:prstGeom prst="rect">
            <a:avLst/>
          </a:prstGeom>
          <a:noFill/>
        </p:spPr>
        <p:txBody>
          <a:bodyPr wrap="none" lIns="0" rIns="0" tIns="0" bIns="0">
            <a:spAutoFit/>
          </a:bodyPr>
          <a:lstStyle/>
          <a:p>
            <a:pPr algn="l">
              <a:lnSpc>
                <a:spcPct val="115000"/>
              </a:lnSpc>
            </a:pPr>
            <a:r>
              <a:rPr sz="1875" spc="180">
                <a:solidFill>
                  <a:srgbClr val="EBCF9E"/>
                </a:solidFill>
                <a:latin typeface="Todes 1"/>
              </a:rPr>
              <a:t>$22</a:t>
            </a:r>
          </a:p>
        </p:txBody>
      </p:sp>
      <p:sp>
        <p:nvSpPr>
          <p:cNvPr id="19" name="TextBox 18"/>
          <p:cNvSpPr txBox="1"/>
          <p:nvPr/>
        </p:nvSpPr>
        <p:spPr>
          <a:xfrm>
            <a:off x="822959" y="6926579"/>
            <a:ext cx="4663440" cy="411479"/>
          </a:xfrm>
          <a:prstGeom prst="rect">
            <a:avLst/>
          </a:prstGeom>
          <a:noFill/>
        </p:spPr>
        <p:txBody>
          <a:bodyPr wrap="none" lIns="0" rIns="0" tIns="0" bIns="0">
            <a:spAutoFit/>
          </a:bodyPr>
          <a:lstStyle/>
          <a:p>
            <a:pPr algn="l">
              <a:lnSpc>
                <a:spcPct val="115000"/>
              </a:lnSpc>
            </a:pPr>
            <a:r>
              <a:rPr sz="1875">
                <a:solidFill>
                  <a:srgbClr val="F2ECDD"/>
                </a:solidFill>
                <a:latin typeface="TT Commons Pro"/>
              </a:rPr>
              <a:t>Organizer</a:t>
            </a:r>
          </a:p>
        </p:txBody>
      </p:sp>
      <p:sp>
        <p:nvSpPr>
          <p:cNvPr id="20" name="TextBox 19"/>
          <p:cNvSpPr txBox="1"/>
          <p:nvPr/>
        </p:nvSpPr>
        <p:spPr>
          <a:xfrm>
            <a:off x="5760720" y="6926579"/>
            <a:ext cx="2468880" cy="411479"/>
          </a:xfrm>
          <a:prstGeom prst="rect">
            <a:avLst/>
          </a:prstGeom>
          <a:noFill/>
        </p:spPr>
        <p:txBody>
          <a:bodyPr wrap="none" lIns="0" rIns="0" tIns="0" bIns="0">
            <a:spAutoFit/>
          </a:bodyPr>
          <a:lstStyle/>
          <a:p>
            <a:pPr algn="l">
              <a:lnSpc>
                <a:spcPct val="115000"/>
              </a:lnSpc>
            </a:pPr>
            <a:r>
              <a:rPr sz="1875">
                <a:solidFill>
                  <a:srgbClr val="F2ECDD"/>
                </a:solidFill>
                <a:latin typeface="TT Commons Pro"/>
              </a:rPr>
              <a:t>10%</a:t>
            </a:r>
          </a:p>
        </p:txBody>
      </p:sp>
      <p:sp>
        <p:nvSpPr>
          <p:cNvPr id="21" name="TextBox 20"/>
          <p:cNvSpPr txBox="1"/>
          <p:nvPr/>
        </p:nvSpPr>
        <p:spPr>
          <a:xfrm>
            <a:off x="8503920" y="6926579"/>
            <a:ext cx="2194560" cy="411479"/>
          </a:xfrm>
          <a:prstGeom prst="rect">
            <a:avLst/>
          </a:prstGeom>
          <a:noFill/>
        </p:spPr>
        <p:txBody>
          <a:bodyPr wrap="none" lIns="0" rIns="0" tIns="0" bIns="0">
            <a:spAutoFit/>
          </a:bodyPr>
          <a:lstStyle/>
          <a:p>
            <a:pPr algn="l">
              <a:lnSpc>
                <a:spcPct val="115000"/>
              </a:lnSpc>
            </a:pPr>
            <a:r>
              <a:rPr sz="1875" spc="180">
                <a:solidFill>
                  <a:srgbClr val="EBCF9E"/>
                </a:solidFill>
                <a:latin typeface="Todes 1"/>
              </a:rPr>
              <a:t>$44</a:t>
            </a:r>
          </a:p>
        </p:txBody>
      </p:sp>
      <p:sp>
        <p:nvSpPr>
          <p:cNvPr id="22" name="TextBox 21"/>
          <p:cNvSpPr txBox="1"/>
          <p:nvPr/>
        </p:nvSpPr>
        <p:spPr>
          <a:xfrm>
            <a:off x="822959" y="7749540"/>
            <a:ext cx="4663440" cy="411479"/>
          </a:xfrm>
          <a:prstGeom prst="rect">
            <a:avLst/>
          </a:prstGeom>
          <a:noFill/>
        </p:spPr>
        <p:txBody>
          <a:bodyPr wrap="none" lIns="0" rIns="0" tIns="0" bIns="0">
            <a:spAutoFit/>
          </a:bodyPr>
          <a:lstStyle/>
          <a:p>
            <a:pPr algn="l">
              <a:lnSpc>
                <a:spcPct val="115000"/>
              </a:lnSpc>
            </a:pPr>
            <a:r>
              <a:rPr sz="1875">
                <a:solidFill>
                  <a:srgbClr val="F2ECDD"/>
                </a:solidFill>
                <a:latin typeface="TT Commons Pro"/>
              </a:rPr>
              <a:t>Free users (non-members)</a:t>
            </a:r>
          </a:p>
        </p:txBody>
      </p:sp>
      <p:sp>
        <p:nvSpPr>
          <p:cNvPr id="23" name="TextBox 22"/>
          <p:cNvSpPr txBox="1"/>
          <p:nvPr/>
        </p:nvSpPr>
        <p:spPr>
          <a:xfrm>
            <a:off x="5760720" y="7749540"/>
            <a:ext cx="2468880" cy="411479"/>
          </a:xfrm>
          <a:prstGeom prst="rect">
            <a:avLst/>
          </a:prstGeom>
          <a:noFill/>
        </p:spPr>
        <p:txBody>
          <a:bodyPr wrap="none" lIns="0" rIns="0" tIns="0" bIns="0">
            <a:spAutoFit/>
          </a:bodyPr>
          <a:lstStyle/>
          <a:p>
            <a:pPr algn="l">
              <a:lnSpc>
                <a:spcPct val="115000"/>
              </a:lnSpc>
            </a:pPr>
            <a:r>
              <a:rPr sz="1875">
                <a:solidFill>
                  <a:srgbClr val="F2ECDD"/>
                </a:solidFill>
                <a:latin typeface="TT Commons Pro"/>
              </a:rPr>
              <a:t>58%</a:t>
            </a:r>
          </a:p>
        </p:txBody>
      </p:sp>
      <p:sp>
        <p:nvSpPr>
          <p:cNvPr id="24" name="TextBox 23"/>
          <p:cNvSpPr txBox="1"/>
          <p:nvPr/>
        </p:nvSpPr>
        <p:spPr>
          <a:xfrm>
            <a:off x="8503920" y="7749540"/>
            <a:ext cx="2194560" cy="411479"/>
          </a:xfrm>
          <a:prstGeom prst="rect">
            <a:avLst/>
          </a:prstGeom>
          <a:noFill/>
        </p:spPr>
        <p:txBody>
          <a:bodyPr wrap="none" lIns="0" rIns="0" tIns="0" bIns="0">
            <a:spAutoFit/>
          </a:bodyPr>
          <a:lstStyle/>
          <a:p>
            <a:pPr algn="l">
              <a:lnSpc>
                <a:spcPct val="115000"/>
              </a:lnSpc>
            </a:pPr>
            <a:r>
              <a:rPr sz="1875" spc="180">
                <a:solidFill>
                  <a:srgbClr val="EBCF9E"/>
                </a:solidFill>
                <a:latin typeface="Todes 1"/>
              </a:rPr>
              <a:t>—</a:t>
            </a:r>
          </a:p>
        </p:txBody>
      </p:sp>
      <p:sp>
        <p:nvSpPr>
          <p:cNvPr id="25" name="Rounded Rectangle 24"/>
          <p:cNvSpPr/>
          <p:nvPr/>
        </p:nvSpPr>
        <p:spPr>
          <a:xfrm>
            <a:off x="11452859" y="3566160"/>
            <a:ext cx="6035040" cy="4800600"/>
          </a:xfrm>
          <a:prstGeom prst="roundRect">
            <a:avLst>
              <a:gd name="adj" fmla="val 6000"/>
            </a:avLst>
          </a:prstGeom>
          <a:solidFill>
            <a:srgbClr val="0D3E40"/>
          </a:solidFill>
          <a:ln w="22859">
            <a:solidFill>
              <a:srgbClr val="F0CC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932919" y="3909060"/>
            <a:ext cx="5212079" cy="411479"/>
          </a:xfrm>
          <a:prstGeom prst="rect">
            <a:avLst/>
          </a:prstGeom>
          <a:noFill/>
        </p:spPr>
        <p:txBody>
          <a:bodyPr wrap="none" lIns="0" rIns="0" tIns="0" bIns="0">
            <a:spAutoFit/>
          </a:bodyPr>
          <a:lstStyle/>
          <a:p>
            <a:pPr algn="l">
              <a:lnSpc>
                <a:spcPct val="115000"/>
              </a:lnSpc>
            </a:pPr>
            <a:r>
              <a:rPr sz="1500" spc="330">
                <a:solidFill>
                  <a:srgbClr val="EBCF9E"/>
                </a:solidFill>
                <a:latin typeface="Todes 1"/>
              </a:rPr>
              <a:t>TRANSACTION FEE</a:t>
            </a:r>
          </a:p>
        </p:txBody>
      </p:sp>
      <p:sp>
        <p:nvSpPr>
          <p:cNvPr id="27" name="TextBox 26"/>
          <p:cNvSpPr txBox="1"/>
          <p:nvPr/>
        </p:nvSpPr>
        <p:spPr>
          <a:xfrm>
            <a:off x="11932919" y="4389120"/>
            <a:ext cx="5212079" cy="685800"/>
          </a:xfrm>
          <a:prstGeom prst="rect">
            <a:avLst/>
          </a:prstGeom>
          <a:noFill/>
        </p:spPr>
        <p:txBody>
          <a:bodyPr wrap="none" lIns="0" rIns="0" tIns="0" bIns="0">
            <a:spAutoFit/>
          </a:bodyPr>
          <a:lstStyle/>
          <a:p>
            <a:pPr algn="l">
              <a:lnSpc>
                <a:spcPct val="115000"/>
              </a:lnSpc>
            </a:pPr>
            <a:r>
              <a:rPr sz="3900" spc="20">
                <a:solidFill>
                  <a:srgbClr val="F4EAD8"/>
                </a:solidFill>
                <a:latin typeface="Todes 1"/>
              </a:rPr>
              <a:t>3.3% + $1.49</a:t>
            </a:r>
          </a:p>
        </p:txBody>
      </p:sp>
      <p:sp>
        <p:nvSpPr>
          <p:cNvPr id="28" name="TextBox 27"/>
          <p:cNvSpPr txBox="1"/>
          <p:nvPr/>
        </p:nvSpPr>
        <p:spPr>
          <a:xfrm>
            <a:off x="11932919" y="5280660"/>
            <a:ext cx="5212079" cy="411479"/>
          </a:xfrm>
          <a:prstGeom prst="rect">
            <a:avLst/>
          </a:prstGeom>
          <a:noFill/>
        </p:spPr>
        <p:txBody>
          <a:bodyPr wrap="square" lIns="0" rIns="0" tIns="0" bIns="0">
            <a:spAutoFit/>
          </a:bodyPr>
          <a:lstStyle/>
          <a:p>
            <a:pPr algn="l">
              <a:lnSpc>
                <a:spcPct val="115000"/>
              </a:lnSpc>
            </a:pPr>
            <a:r>
              <a:rPr sz="1500">
                <a:solidFill>
                  <a:srgbClr val="AFC4C2"/>
                </a:solidFill>
                <a:latin typeface="TT Commons Pro"/>
              </a:rPr>
              <a:t>unified across all rails · patronage-eligible</a:t>
            </a:r>
          </a:p>
        </p:txBody>
      </p:sp>
      <p:sp>
        <p:nvSpPr>
          <p:cNvPr id="29" name="TextBox 28"/>
          <p:cNvSpPr txBox="1"/>
          <p:nvPr/>
        </p:nvSpPr>
        <p:spPr>
          <a:xfrm>
            <a:off x="11932919" y="5966459"/>
            <a:ext cx="5212079" cy="411479"/>
          </a:xfrm>
          <a:prstGeom prst="rect">
            <a:avLst/>
          </a:prstGeom>
          <a:noFill/>
        </p:spPr>
        <p:txBody>
          <a:bodyPr wrap="none" lIns="0" rIns="0" tIns="0" bIns="0">
            <a:spAutoFit/>
          </a:bodyPr>
          <a:lstStyle/>
          <a:p>
            <a:pPr algn="l">
              <a:lnSpc>
                <a:spcPct val="115000"/>
              </a:lnSpc>
            </a:pPr>
            <a:r>
              <a:rPr sz="1500" spc="330">
                <a:solidFill>
                  <a:srgbClr val="9FE8DC"/>
                </a:solidFill>
                <a:latin typeface="Todes 1"/>
              </a:rPr>
              <a:t>FIVE REVENUE STREAMS</a:t>
            </a:r>
          </a:p>
        </p:txBody>
      </p:sp>
      <p:sp>
        <p:nvSpPr>
          <p:cNvPr id="30" name="TextBox 29"/>
          <p:cNvSpPr txBox="1"/>
          <p:nvPr/>
        </p:nvSpPr>
        <p:spPr>
          <a:xfrm>
            <a:off x="11932919" y="6473952"/>
            <a:ext cx="5212079" cy="1865376"/>
          </a:xfrm>
          <a:prstGeom prst="rect">
            <a:avLst/>
          </a:prstGeom>
          <a:noFill/>
        </p:spPr>
        <p:txBody>
          <a:bodyPr wrap="square" lIns="0" rIns="0" tIns="0" bIns="0">
            <a:spAutoFit/>
          </a:bodyPr>
          <a:lstStyle/>
          <a:p>
            <a:pPr algn="l">
              <a:lnSpc>
                <a:spcPct val="150000"/>
              </a:lnSpc>
            </a:pPr>
            <a:r>
              <a:rPr sz="1650">
                <a:solidFill>
                  <a:srgbClr val="F2ECDD"/>
                </a:solidFill>
                <a:latin typeface="TT Commons Pro"/>
              </a:rPr>
              <a:t>memberships</a:t>
            </a:r>
          </a:p>
          <a:p>
            <a:pPr algn="l">
              <a:lnSpc>
                <a:spcPct val="150000"/>
              </a:lnSpc>
            </a:pPr>
            <a:r>
              <a:rPr sz="1650">
                <a:solidFill>
                  <a:srgbClr val="F2ECDD"/>
                </a:solidFill>
                <a:latin typeface="TT Commons Pro"/>
              </a:rPr>
              <a:t>platform + transaction fees</a:t>
            </a:r>
          </a:p>
          <a:p>
            <a:pPr algn="l">
              <a:lnSpc>
                <a:spcPct val="150000"/>
              </a:lnSpc>
            </a:pPr>
            <a:r>
              <a:rPr sz="1650">
                <a:solidFill>
                  <a:srgbClr val="F2ECDD"/>
                </a:solidFill>
                <a:latin typeface="TT Commons Pro"/>
              </a:rPr>
              <a:t>local advertising</a:t>
            </a:r>
          </a:p>
          <a:p>
            <a:pPr algn="l">
              <a:lnSpc>
                <a:spcPct val="150000"/>
              </a:lnSpc>
            </a:pPr>
            <a:r>
              <a:rPr sz="1650">
                <a:solidFill>
                  <a:srgbClr val="F2ECDD"/>
                </a:solidFill>
                <a:latin typeface="TT Commons Pro"/>
              </a:rPr>
              <a:t>invested reserves</a:t>
            </a:r>
          </a:p>
        </p:txBody>
      </p:sp>
      <p:sp>
        <p:nvSpPr>
          <p:cNvPr id="31" name="TextBox 30"/>
          <p:cNvSpPr txBox="1"/>
          <p:nvPr/>
        </p:nvSpPr>
        <p:spPr>
          <a:xfrm>
            <a:off x="822959" y="8846820"/>
            <a:ext cx="16596359" cy="1097280"/>
          </a:xfrm>
          <a:prstGeom prst="rect">
            <a:avLst/>
          </a:prstGeom>
          <a:noFill/>
        </p:spPr>
        <p:txBody>
          <a:bodyPr wrap="square" lIns="0" rIns="0" tIns="0" bIns="0">
            <a:spAutoFit/>
          </a:bodyPr>
          <a:lstStyle/>
          <a:p>
            <a:pPr algn="ctr">
              <a:lnSpc>
                <a:spcPct val="140000"/>
              </a:lnSpc>
            </a:pPr>
            <a:r>
              <a:rPr sz="2025" spc="20">
                <a:solidFill>
                  <a:srgbClr val="9FE8DC"/>
                </a:solidFill>
                <a:latin typeface="Alike Italics"/>
              </a:rPr>
              <a:t>42% of active users convert to paid membership — calibrated on ONE Boulder.</a:t>
            </a:r>
          </a:p>
        </p:txBody>
      </p:sp>
      <p:pic>
        <p:nvPicPr>
          <p:cNvPr id="32" name="Picture 31" descr="rivr-symbol-light.png"/>
          <p:cNvPicPr>
            <a:picLocks noChangeAspect="1"/>
          </p:cNvPicPr>
          <p:nvPr/>
        </p:nvPicPr>
        <p:blipFill>
          <a:blip r:embed="rId4"/>
          <a:stretch>
            <a:fillRect/>
          </a:stretch>
        </p:blipFill>
        <p:spPr>
          <a:xfrm>
            <a:off x="576072" y="9518904"/>
            <a:ext cx="521208" cy="521208"/>
          </a:xfrm>
          <a:prstGeom prst="rect">
            <a:avLst/>
          </a:prstGeom>
        </p:spPr>
      </p:pic>
      <p:sp>
        <p:nvSpPr>
          <p:cNvPr id="33" name="TextBox 32"/>
          <p:cNvSpPr txBox="1"/>
          <p:nvPr/>
        </p:nvSpPr>
        <p:spPr>
          <a:xfrm>
            <a:off x="1371600" y="9724644"/>
            <a:ext cx="5486400" cy="301752"/>
          </a:xfrm>
          <a:prstGeom prst="rect">
            <a:avLst/>
          </a:prstGeom>
          <a:noFill/>
        </p:spPr>
        <p:txBody>
          <a:bodyPr wrap="none" lIns="0" rIns="0" tIns="0" bIns="0">
            <a:spAutoFit/>
          </a:bodyPr>
          <a:lstStyle/>
          <a:p>
            <a:pPr algn="l">
              <a:lnSpc>
                <a:spcPct val="115000"/>
              </a:lnSpc>
            </a:pPr>
            <a:r>
              <a:rPr sz="1350" spc="150">
                <a:solidFill>
                  <a:srgbClr val="AFC4C2"/>
                </a:solidFill>
                <a:latin typeface="TT Commons Pro"/>
              </a:rPr>
              <a:t>Rivr · Seed Round 2026</a:t>
            </a:r>
          </a:p>
        </p:txBody>
      </p:sp>
      <p:sp>
        <p:nvSpPr>
          <p:cNvPr id="34" name="TextBox 33"/>
          <p:cNvSpPr txBox="1"/>
          <p:nvPr/>
        </p:nvSpPr>
        <p:spPr>
          <a:xfrm>
            <a:off x="16870680" y="9724644"/>
            <a:ext cx="960119" cy="301752"/>
          </a:xfrm>
          <a:prstGeom prst="rect">
            <a:avLst/>
          </a:prstGeom>
          <a:noFill/>
        </p:spPr>
        <p:txBody>
          <a:bodyPr wrap="none" lIns="0" rIns="0" tIns="0" bIns="0">
            <a:spAutoFit/>
          </a:bodyPr>
          <a:lstStyle/>
          <a:p>
            <a:pPr algn="r">
              <a:lnSpc>
                <a:spcPct val="115000"/>
              </a:lnSpc>
            </a:pPr>
            <a:r>
              <a:rPr sz="1350" spc="150">
                <a:solidFill>
                  <a:srgbClr val="AFC4C2"/>
                </a:solidFill>
                <a:latin typeface="TT Commons Pro"/>
              </a:rPr>
              <a:t>42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03333"/>
        </a:solidFill>
        <a:effectLst/>
      </p:bgPr>
    </p:bg>
    <p:spTree>
      <p:nvGrpSpPr>
        <p:cNvPr id="1" name=""/>
        <p:cNvGrpSpPr/>
        <p:nvPr/>
      </p:nvGrpSpPr>
      <p:grpSpPr/>
      <p:pic>
        <p:nvPicPr>
          <p:cNvPr id="2" name="Picture 1" descr="bg_c39.jpg"/>
          <p:cNvPicPr>
            <a:picLocks noChangeAspect="1"/>
          </p:cNvPicPr>
          <p:nvPr/>
        </p:nvPicPr>
        <p:blipFill>
          <a:blip r:embed="rId2"/>
          <a:stretch>
            <a:fillRect/>
          </a:stretch>
        </p:blipFill>
        <p:spPr>
          <a:xfrm>
            <a:off x="0" y="0"/>
            <a:ext cx="18287542" cy="10287000"/>
          </a:xfrm>
          <a:prstGeom prst="rect">
            <a:avLst/>
          </a:prstGeom>
        </p:spPr>
      </p:pic>
      <p:sp>
        <p:nvSpPr>
          <p:cNvPr id="3" name="TextBox 2"/>
          <p:cNvSpPr txBox="1"/>
          <p:nvPr/>
        </p:nvSpPr>
        <p:spPr>
          <a:xfrm>
            <a:off x="822959" y="822959"/>
            <a:ext cx="16733519" cy="384048"/>
          </a:xfrm>
          <a:prstGeom prst="rect">
            <a:avLst/>
          </a:prstGeom>
          <a:noFill/>
        </p:spPr>
        <p:txBody>
          <a:bodyPr wrap="none" lIns="0" rIns="0" tIns="0" bIns="0">
            <a:spAutoFit/>
          </a:bodyPr>
          <a:lstStyle/>
          <a:p>
            <a:pPr algn="l">
              <a:lnSpc>
                <a:spcPct val="115000"/>
              </a:lnSpc>
            </a:pPr>
            <a:r>
              <a:rPr sz="1650" spc="330">
                <a:solidFill>
                  <a:srgbClr val="9FE8DC"/>
                </a:solidFill>
                <a:latin typeface="Todes 1"/>
              </a:rPr>
              <a:t>REVENUE CASCADE · COOPERATIVE ECONOMICS</a:t>
            </a:r>
          </a:p>
        </p:txBody>
      </p:sp>
      <p:sp>
        <p:nvSpPr>
          <p:cNvPr id="4" name="TextBox 3"/>
          <p:cNvSpPr txBox="1"/>
          <p:nvPr/>
        </p:nvSpPr>
        <p:spPr>
          <a:xfrm>
            <a:off x="822959" y="1699869"/>
            <a:ext cx="3720861" cy="1075620"/>
          </a:xfrm>
          <a:prstGeom prst="rect">
            <a:avLst/>
          </a:prstGeom>
          <a:noFill/>
        </p:spPr>
        <p:txBody>
          <a:bodyPr wrap="none" lIns="0" rIns="0" tIns="0" bIns="0">
            <a:spAutoFit/>
          </a:bodyPr>
          <a:lstStyle/>
          <a:p>
            <a:pPr algn="l">
              <a:lnSpc>
                <a:spcPct val="115000"/>
              </a:lnSpc>
            </a:pPr>
            <a:r>
              <a:rPr sz="5841" spc="-79">
                <a:solidFill>
                  <a:srgbClr val="F4EAD8"/>
                </a:solidFill>
                <a:latin typeface="Todes 1"/>
              </a:rPr>
              <a:t>Where </a:t>
            </a:r>
          </a:p>
        </p:txBody>
      </p:sp>
      <p:sp>
        <p:nvSpPr>
          <p:cNvPr id="5" name="TextBox 4"/>
          <p:cNvSpPr txBox="1"/>
          <p:nvPr/>
        </p:nvSpPr>
        <p:spPr>
          <a:xfrm>
            <a:off x="3635057" y="1645919"/>
            <a:ext cx="5027771" cy="1173403"/>
          </a:xfrm>
          <a:prstGeom prst="rect">
            <a:avLst/>
          </a:prstGeom>
          <a:noFill/>
        </p:spPr>
        <p:txBody>
          <a:bodyPr wrap="none" lIns="0" rIns="0" tIns="0" bIns="0">
            <a:spAutoFit/>
          </a:bodyPr>
          <a:lstStyle/>
          <a:p>
            <a:pPr algn="l">
              <a:lnSpc>
                <a:spcPct val="115000"/>
              </a:lnSpc>
            </a:pPr>
            <a:r>
              <a:rPr sz="6372" spc="-75">
                <a:solidFill>
                  <a:srgbClr val="99E6D9"/>
                </a:solidFill>
                <a:latin typeface="Ibarra Real Nova Italics"/>
              </a:rPr>
              <a:t>every dollar</a:t>
            </a:r>
          </a:p>
        </p:txBody>
      </p:sp>
      <p:sp>
        <p:nvSpPr>
          <p:cNvPr id="6" name="TextBox 5"/>
          <p:cNvSpPr txBox="1"/>
          <p:nvPr/>
        </p:nvSpPr>
        <p:spPr>
          <a:xfrm>
            <a:off x="7492682" y="1699869"/>
            <a:ext cx="3113643" cy="1075620"/>
          </a:xfrm>
          <a:prstGeom prst="rect">
            <a:avLst/>
          </a:prstGeom>
          <a:noFill/>
        </p:spPr>
        <p:txBody>
          <a:bodyPr wrap="none" lIns="0" rIns="0" tIns="0" bIns="0">
            <a:spAutoFit/>
          </a:bodyPr>
          <a:lstStyle/>
          <a:p>
            <a:pPr algn="l">
              <a:lnSpc>
                <a:spcPct val="115000"/>
              </a:lnSpc>
            </a:pPr>
            <a:r>
              <a:rPr sz="5841" spc="-79">
                <a:solidFill>
                  <a:srgbClr val="F4EAD8"/>
                </a:solidFill>
                <a:latin typeface="Todes 1"/>
              </a:rPr>
              <a:t> goes.</a:t>
            </a:r>
          </a:p>
        </p:txBody>
      </p:sp>
      <p:sp>
        <p:nvSpPr>
          <p:cNvPr id="7" name="Rounded Rectangle 6"/>
          <p:cNvSpPr/>
          <p:nvPr/>
        </p:nvSpPr>
        <p:spPr>
          <a:xfrm>
            <a:off x="822959" y="3566160"/>
            <a:ext cx="5349240" cy="4690872"/>
          </a:xfrm>
          <a:prstGeom prst="roundRect">
            <a:avLst>
              <a:gd name="adj" fmla="val 6000"/>
            </a:avLst>
          </a:prstGeom>
          <a:solidFill>
            <a:srgbClr val="0D3E40"/>
          </a:solidFill>
          <a:ln w="19050">
            <a:solidFill>
              <a:srgbClr val="99E6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34439" y="3867911"/>
            <a:ext cx="4663440" cy="411479"/>
          </a:xfrm>
          <a:prstGeom prst="rect">
            <a:avLst/>
          </a:prstGeom>
          <a:noFill/>
        </p:spPr>
        <p:txBody>
          <a:bodyPr wrap="none" lIns="0" rIns="0" tIns="0" bIns="0">
            <a:spAutoFit/>
          </a:bodyPr>
          <a:lstStyle/>
          <a:p>
            <a:pPr algn="l">
              <a:lnSpc>
                <a:spcPct val="115000"/>
              </a:lnSpc>
            </a:pPr>
            <a:r>
              <a:rPr sz="1575" spc="330">
                <a:solidFill>
                  <a:srgbClr val="9FE8DC"/>
                </a:solidFill>
                <a:latin typeface="Todes 1"/>
              </a:rPr>
              <a:t>FEE SURPLUS</a:t>
            </a:r>
          </a:p>
        </p:txBody>
      </p:sp>
      <p:sp>
        <p:nvSpPr>
          <p:cNvPr id="9" name="TextBox 8"/>
          <p:cNvSpPr txBox="1"/>
          <p:nvPr/>
        </p:nvSpPr>
        <p:spPr>
          <a:xfrm>
            <a:off x="1234439" y="4306824"/>
            <a:ext cx="4663440" cy="411479"/>
          </a:xfrm>
          <a:prstGeom prst="rect">
            <a:avLst/>
          </a:prstGeom>
          <a:noFill/>
        </p:spPr>
        <p:txBody>
          <a:bodyPr wrap="square" lIns="0" rIns="0" tIns="0" bIns="0">
            <a:spAutoFit/>
          </a:bodyPr>
          <a:lstStyle/>
          <a:p>
            <a:pPr algn="l">
              <a:lnSpc>
                <a:spcPct val="115000"/>
              </a:lnSpc>
            </a:pPr>
            <a:r>
              <a:rPr sz="1425">
                <a:solidFill>
                  <a:srgbClr val="AFC4C2"/>
                </a:solidFill>
                <a:latin typeface="TT Commons Pro"/>
              </a:rPr>
              <a:t>platform + transaction fees</a:t>
            </a:r>
          </a:p>
        </p:txBody>
      </p:sp>
      <p:sp>
        <p:nvSpPr>
          <p:cNvPr id="10" name="Rounded Rectangle 9"/>
          <p:cNvSpPr/>
          <p:nvPr/>
        </p:nvSpPr>
        <p:spPr>
          <a:xfrm>
            <a:off x="1234439" y="4828032"/>
            <a:ext cx="2263139" cy="411479"/>
          </a:xfrm>
          <a:prstGeom prst="roundRect">
            <a:avLst>
              <a:gd name="adj" fmla="val 18000"/>
            </a:avLst>
          </a:prstGeom>
          <a:solidFill>
            <a:srgbClr val="99E6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39" y="5294376"/>
            <a:ext cx="4663440" cy="411479"/>
          </a:xfrm>
          <a:prstGeom prst="rect">
            <a:avLst/>
          </a:prstGeom>
          <a:noFill/>
        </p:spPr>
        <p:txBody>
          <a:bodyPr wrap="none" lIns="0" rIns="0" tIns="0" bIns="0">
            <a:spAutoFit/>
          </a:bodyPr>
          <a:lstStyle/>
          <a:p>
            <a:pPr algn="l">
              <a:lnSpc>
                <a:spcPct val="115000"/>
              </a:lnSpc>
            </a:pPr>
            <a:r>
              <a:rPr sz="1800">
                <a:solidFill>
                  <a:srgbClr val="9FE8DC"/>
                </a:solidFill>
                <a:latin typeface="TT Commons Pro Bold"/>
              </a:rPr>
              <a:t>50%  </a:t>
            </a:r>
            <a:r>
              <a:rPr sz="1800">
                <a:solidFill>
                  <a:srgbClr val="F2ECDD"/>
                </a:solidFill>
                <a:latin typeface="TT Commons Pro"/>
              </a:rPr>
              <a:t>Association</a:t>
            </a:r>
          </a:p>
        </p:txBody>
      </p:sp>
      <p:sp>
        <p:nvSpPr>
          <p:cNvPr id="12" name="Rounded Rectangle 11"/>
          <p:cNvSpPr/>
          <p:nvPr/>
        </p:nvSpPr>
        <p:spPr>
          <a:xfrm>
            <a:off x="1234439" y="5678423"/>
            <a:ext cx="1131569" cy="411479"/>
          </a:xfrm>
          <a:prstGeom prst="roundRect">
            <a:avLst>
              <a:gd name="adj" fmla="val 18000"/>
            </a:avLst>
          </a:prstGeom>
          <a:solidFill>
            <a:srgbClr val="99E6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4439" y="6144767"/>
            <a:ext cx="4663440" cy="411479"/>
          </a:xfrm>
          <a:prstGeom prst="rect">
            <a:avLst/>
          </a:prstGeom>
          <a:noFill/>
        </p:spPr>
        <p:txBody>
          <a:bodyPr wrap="none" lIns="0" rIns="0" tIns="0" bIns="0">
            <a:spAutoFit/>
          </a:bodyPr>
          <a:lstStyle/>
          <a:p>
            <a:pPr algn="l">
              <a:lnSpc>
                <a:spcPct val="115000"/>
              </a:lnSpc>
            </a:pPr>
            <a:r>
              <a:rPr sz="1800">
                <a:solidFill>
                  <a:srgbClr val="9FE8DC"/>
                </a:solidFill>
                <a:latin typeface="TT Commons Pro Bold"/>
              </a:rPr>
              <a:t>25%  </a:t>
            </a:r>
            <a:r>
              <a:rPr sz="1800">
                <a:solidFill>
                  <a:srgbClr val="F2ECDD"/>
                </a:solidFill>
                <a:latin typeface="TT Commons Pro"/>
              </a:rPr>
              <a:t>Fee-paying member</a:t>
            </a:r>
          </a:p>
        </p:txBody>
      </p:sp>
      <p:sp>
        <p:nvSpPr>
          <p:cNvPr id="14" name="Rounded Rectangle 13"/>
          <p:cNvSpPr/>
          <p:nvPr/>
        </p:nvSpPr>
        <p:spPr>
          <a:xfrm>
            <a:off x="1234439" y="6528816"/>
            <a:ext cx="1131569" cy="411479"/>
          </a:xfrm>
          <a:prstGeom prst="roundRect">
            <a:avLst>
              <a:gd name="adj" fmla="val 18000"/>
            </a:avLst>
          </a:prstGeom>
          <a:solidFill>
            <a:srgbClr val="99E6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34439" y="6995159"/>
            <a:ext cx="4663440" cy="411479"/>
          </a:xfrm>
          <a:prstGeom prst="rect">
            <a:avLst/>
          </a:prstGeom>
          <a:noFill/>
        </p:spPr>
        <p:txBody>
          <a:bodyPr wrap="none" lIns="0" rIns="0" tIns="0" bIns="0">
            <a:spAutoFit/>
          </a:bodyPr>
          <a:lstStyle/>
          <a:p>
            <a:pPr algn="l">
              <a:lnSpc>
                <a:spcPct val="115000"/>
              </a:lnSpc>
            </a:pPr>
            <a:r>
              <a:rPr sz="1800">
                <a:solidFill>
                  <a:srgbClr val="9FE8DC"/>
                </a:solidFill>
                <a:latin typeface="TT Commons Pro Bold"/>
              </a:rPr>
              <a:t>25%  </a:t>
            </a:r>
            <a:r>
              <a:rPr sz="1800">
                <a:solidFill>
                  <a:srgbClr val="F2ECDD"/>
                </a:solidFill>
                <a:latin typeface="TT Commons Pro"/>
              </a:rPr>
              <a:t>Chapter</a:t>
            </a:r>
          </a:p>
        </p:txBody>
      </p:sp>
      <p:sp>
        <p:nvSpPr>
          <p:cNvPr id="16" name="TextBox 15"/>
          <p:cNvSpPr txBox="1"/>
          <p:nvPr/>
        </p:nvSpPr>
        <p:spPr>
          <a:xfrm>
            <a:off x="1234439" y="7269479"/>
            <a:ext cx="4663440" cy="685800"/>
          </a:xfrm>
          <a:prstGeom prst="rect">
            <a:avLst/>
          </a:prstGeom>
          <a:noFill/>
        </p:spPr>
        <p:txBody>
          <a:bodyPr wrap="square" lIns="0" rIns="0" tIns="0" bIns="0">
            <a:spAutoFit/>
          </a:bodyPr>
          <a:lstStyle/>
          <a:p>
            <a:pPr algn="l">
              <a:lnSpc>
                <a:spcPct val="135000"/>
              </a:lnSpc>
            </a:pPr>
            <a:r>
              <a:rPr sz="1575" spc="20">
                <a:solidFill>
                  <a:srgbClr val="F2ECDD"/>
                </a:solidFill>
                <a:latin typeface="Alike Italics"/>
              </a:rPr>
              <a:t>Patronage goes only to the members who generated the fees.</a:t>
            </a:r>
          </a:p>
        </p:txBody>
      </p:sp>
      <p:sp>
        <p:nvSpPr>
          <p:cNvPr id="17" name="Rounded Rectangle 16"/>
          <p:cNvSpPr/>
          <p:nvPr/>
        </p:nvSpPr>
        <p:spPr>
          <a:xfrm>
            <a:off x="6473952" y="3566160"/>
            <a:ext cx="5349240" cy="4690872"/>
          </a:xfrm>
          <a:prstGeom prst="roundRect">
            <a:avLst>
              <a:gd name="adj" fmla="val 6000"/>
            </a:avLst>
          </a:prstGeom>
          <a:solidFill>
            <a:srgbClr val="0D3E40"/>
          </a:solidFill>
          <a:ln w="19050">
            <a:solidFill>
              <a:srgbClr val="99E6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85431" y="3867911"/>
            <a:ext cx="4663440" cy="411479"/>
          </a:xfrm>
          <a:prstGeom prst="rect">
            <a:avLst/>
          </a:prstGeom>
          <a:noFill/>
        </p:spPr>
        <p:txBody>
          <a:bodyPr wrap="none" lIns="0" rIns="0" tIns="0" bIns="0">
            <a:spAutoFit/>
          </a:bodyPr>
          <a:lstStyle/>
          <a:p>
            <a:pPr algn="l">
              <a:lnSpc>
                <a:spcPct val="115000"/>
              </a:lnSpc>
            </a:pPr>
            <a:r>
              <a:rPr sz="1575" spc="330">
                <a:solidFill>
                  <a:srgbClr val="9FE8DC"/>
                </a:solidFill>
                <a:latin typeface="Todes 1"/>
              </a:rPr>
              <a:t>NON-FEE SURPLUS</a:t>
            </a:r>
          </a:p>
        </p:txBody>
      </p:sp>
      <p:sp>
        <p:nvSpPr>
          <p:cNvPr id="19" name="TextBox 18"/>
          <p:cNvSpPr txBox="1"/>
          <p:nvPr/>
        </p:nvSpPr>
        <p:spPr>
          <a:xfrm>
            <a:off x="6885431" y="4306824"/>
            <a:ext cx="4663440" cy="411479"/>
          </a:xfrm>
          <a:prstGeom prst="rect">
            <a:avLst/>
          </a:prstGeom>
          <a:noFill/>
        </p:spPr>
        <p:txBody>
          <a:bodyPr wrap="square" lIns="0" rIns="0" tIns="0" bIns="0">
            <a:spAutoFit/>
          </a:bodyPr>
          <a:lstStyle/>
          <a:p>
            <a:pPr algn="l">
              <a:lnSpc>
                <a:spcPct val="115000"/>
              </a:lnSpc>
            </a:pPr>
            <a:r>
              <a:rPr sz="1425">
                <a:solidFill>
                  <a:srgbClr val="AFC4C2"/>
                </a:solidFill>
                <a:latin typeface="TT Commons Pro"/>
              </a:rPr>
              <a:t>dues · ads · invested reserves</a:t>
            </a:r>
          </a:p>
        </p:txBody>
      </p:sp>
      <p:sp>
        <p:nvSpPr>
          <p:cNvPr id="20" name="Rounded Rectangle 19"/>
          <p:cNvSpPr/>
          <p:nvPr/>
        </p:nvSpPr>
        <p:spPr>
          <a:xfrm>
            <a:off x="6885431" y="4828032"/>
            <a:ext cx="4526279" cy="411479"/>
          </a:xfrm>
          <a:prstGeom prst="roundRect">
            <a:avLst>
              <a:gd name="adj" fmla="val 18000"/>
            </a:avLst>
          </a:prstGeom>
          <a:solidFill>
            <a:srgbClr val="99E6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85431" y="5294376"/>
            <a:ext cx="4663440" cy="411479"/>
          </a:xfrm>
          <a:prstGeom prst="rect">
            <a:avLst/>
          </a:prstGeom>
          <a:noFill/>
        </p:spPr>
        <p:txBody>
          <a:bodyPr wrap="none" lIns="0" rIns="0" tIns="0" bIns="0">
            <a:spAutoFit/>
          </a:bodyPr>
          <a:lstStyle/>
          <a:p>
            <a:pPr algn="l">
              <a:lnSpc>
                <a:spcPct val="115000"/>
              </a:lnSpc>
            </a:pPr>
            <a:r>
              <a:rPr sz="1800">
                <a:solidFill>
                  <a:srgbClr val="9FE8DC"/>
                </a:solidFill>
                <a:latin typeface="TT Commons Pro Bold"/>
              </a:rPr>
              <a:t>100%  </a:t>
            </a:r>
            <a:r>
              <a:rPr sz="1800">
                <a:solidFill>
                  <a:srgbClr val="F2ECDD"/>
                </a:solidFill>
                <a:latin typeface="TT Commons Pro"/>
              </a:rPr>
              <a:t>Association</a:t>
            </a:r>
          </a:p>
        </p:txBody>
      </p:sp>
      <p:sp>
        <p:nvSpPr>
          <p:cNvPr id="22" name="TextBox 21"/>
          <p:cNvSpPr txBox="1"/>
          <p:nvPr/>
        </p:nvSpPr>
        <p:spPr>
          <a:xfrm>
            <a:off x="6885431" y="7269479"/>
            <a:ext cx="4663440" cy="685800"/>
          </a:xfrm>
          <a:prstGeom prst="rect">
            <a:avLst/>
          </a:prstGeom>
          <a:noFill/>
        </p:spPr>
        <p:txBody>
          <a:bodyPr wrap="square" lIns="0" rIns="0" tIns="0" bIns="0">
            <a:spAutoFit/>
          </a:bodyPr>
          <a:lstStyle/>
          <a:p>
            <a:pPr algn="l">
              <a:lnSpc>
                <a:spcPct val="135000"/>
              </a:lnSpc>
            </a:pPr>
            <a:r>
              <a:rPr sz="1575" spc="20">
                <a:solidFill>
                  <a:srgbClr val="F2ECDD"/>
                </a:solidFill>
                <a:latin typeface="Alike Italics"/>
              </a:rPr>
              <a:t>Retained by the Association to fund the mission.</a:t>
            </a:r>
          </a:p>
        </p:txBody>
      </p:sp>
      <p:sp>
        <p:nvSpPr>
          <p:cNvPr id="23" name="Rounded Rectangle 22"/>
          <p:cNvSpPr/>
          <p:nvPr/>
        </p:nvSpPr>
        <p:spPr>
          <a:xfrm>
            <a:off x="12124944" y="3566160"/>
            <a:ext cx="5349240" cy="4690872"/>
          </a:xfrm>
          <a:prstGeom prst="roundRect">
            <a:avLst>
              <a:gd name="adj" fmla="val 6000"/>
            </a:avLst>
          </a:prstGeom>
          <a:solidFill>
            <a:srgbClr val="0D3E40"/>
          </a:solidFill>
          <a:ln w="21907">
            <a:solidFill>
              <a:srgbClr val="F0CC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536424" y="3867911"/>
            <a:ext cx="4663440" cy="411479"/>
          </a:xfrm>
          <a:prstGeom prst="rect">
            <a:avLst/>
          </a:prstGeom>
          <a:noFill/>
        </p:spPr>
        <p:txBody>
          <a:bodyPr wrap="none" lIns="0" rIns="0" tIns="0" bIns="0">
            <a:spAutoFit/>
          </a:bodyPr>
          <a:lstStyle/>
          <a:p>
            <a:pPr algn="l">
              <a:lnSpc>
                <a:spcPct val="115000"/>
              </a:lnSpc>
            </a:pPr>
            <a:r>
              <a:rPr sz="1575" spc="330">
                <a:solidFill>
                  <a:srgbClr val="EBCF9E"/>
                </a:solidFill>
                <a:latin typeface="Todes 1"/>
              </a:rPr>
              <a:t>RETAINED PROFIT</a:t>
            </a:r>
          </a:p>
        </p:txBody>
      </p:sp>
      <p:sp>
        <p:nvSpPr>
          <p:cNvPr id="25" name="TextBox 24"/>
          <p:cNvSpPr txBox="1"/>
          <p:nvPr/>
        </p:nvSpPr>
        <p:spPr>
          <a:xfrm>
            <a:off x="12536424" y="4306824"/>
            <a:ext cx="4663440" cy="411479"/>
          </a:xfrm>
          <a:prstGeom prst="rect">
            <a:avLst/>
          </a:prstGeom>
          <a:noFill/>
        </p:spPr>
        <p:txBody>
          <a:bodyPr wrap="square" lIns="0" rIns="0" tIns="0" bIns="0">
            <a:spAutoFit/>
          </a:bodyPr>
          <a:lstStyle/>
          <a:p>
            <a:pPr algn="l">
              <a:lnSpc>
                <a:spcPct val="115000"/>
              </a:lnSpc>
            </a:pPr>
            <a:r>
              <a:rPr sz="1425">
                <a:solidFill>
                  <a:srgbClr val="AFC4C2"/>
                </a:solidFill>
                <a:latin typeface="TT Commons Pro"/>
              </a:rPr>
              <a:t>after corporate tax</a:t>
            </a:r>
          </a:p>
        </p:txBody>
      </p:sp>
      <p:sp>
        <p:nvSpPr>
          <p:cNvPr id="26" name="Rounded Rectangle 25"/>
          <p:cNvSpPr/>
          <p:nvPr/>
        </p:nvSpPr>
        <p:spPr>
          <a:xfrm>
            <a:off x="12536424" y="4828032"/>
            <a:ext cx="1538935" cy="411479"/>
          </a:xfrm>
          <a:prstGeom prst="roundRect">
            <a:avLst>
              <a:gd name="adj" fmla="val 18000"/>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536424" y="5294376"/>
            <a:ext cx="4663440" cy="411479"/>
          </a:xfrm>
          <a:prstGeom prst="rect">
            <a:avLst/>
          </a:prstGeom>
          <a:noFill/>
        </p:spPr>
        <p:txBody>
          <a:bodyPr wrap="none" lIns="0" rIns="0" tIns="0" bIns="0">
            <a:spAutoFit/>
          </a:bodyPr>
          <a:lstStyle/>
          <a:p>
            <a:pPr algn="l">
              <a:lnSpc>
                <a:spcPct val="115000"/>
              </a:lnSpc>
            </a:pPr>
            <a:r>
              <a:rPr sz="1800">
                <a:solidFill>
                  <a:srgbClr val="EBCF9E"/>
                </a:solidFill>
                <a:latin typeface="TT Commons Pro Bold"/>
              </a:rPr>
              <a:t>33%  </a:t>
            </a:r>
            <a:r>
              <a:rPr sz="1800">
                <a:solidFill>
                  <a:srgbClr val="F2ECDD"/>
                </a:solidFill>
                <a:latin typeface="TT Commons Pro"/>
              </a:rPr>
              <a:t>Stewards</a:t>
            </a:r>
          </a:p>
        </p:txBody>
      </p:sp>
      <p:sp>
        <p:nvSpPr>
          <p:cNvPr id="28" name="Rounded Rectangle 27"/>
          <p:cNvSpPr/>
          <p:nvPr/>
        </p:nvSpPr>
        <p:spPr>
          <a:xfrm>
            <a:off x="12536424" y="5678423"/>
            <a:ext cx="1493672" cy="411479"/>
          </a:xfrm>
          <a:prstGeom prst="roundRect">
            <a:avLst>
              <a:gd name="adj" fmla="val 18000"/>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2536424" y="6144767"/>
            <a:ext cx="4663440" cy="411479"/>
          </a:xfrm>
          <a:prstGeom prst="rect">
            <a:avLst/>
          </a:prstGeom>
          <a:noFill/>
        </p:spPr>
        <p:txBody>
          <a:bodyPr wrap="none" lIns="0" rIns="0" tIns="0" bIns="0">
            <a:spAutoFit/>
          </a:bodyPr>
          <a:lstStyle/>
          <a:p>
            <a:pPr algn="l">
              <a:lnSpc>
                <a:spcPct val="115000"/>
              </a:lnSpc>
            </a:pPr>
            <a:r>
              <a:rPr sz="1800">
                <a:solidFill>
                  <a:srgbClr val="EBCF9E"/>
                </a:solidFill>
                <a:latin typeface="TT Commons Pro Bold"/>
              </a:rPr>
              <a:t>33%  </a:t>
            </a:r>
            <a:r>
              <a:rPr sz="1800">
                <a:solidFill>
                  <a:srgbClr val="F2ECDD"/>
                </a:solidFill>
                <a:latin typeface="TT Commons Pro"/>
              </a:rPr>
              <a:t>Workers</a:t>
            </a:r>
          </a:p>
        </p:txBody>
      </p:sp>
      <p:sp>
        <p:nvSpPr>
          <p:cNvPr id="30" name="Rounded Rectangle 29"/>
          <p:cNvSpPr/>
          <p:nvPr/>
        </p:nvSpPr>
        <p:spPr>
          <a:xfrm>
            <a:off x="12536424" y="6528816"/>
            <a:ext cx="1493672" cy="411479"/>
          </a:xfrm>
          <a:prstGeom prst="roundRect">
            <a:avLst>
              <a:gd name="adj" fmla="val 18000"/>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2536424" y="6995159"/>
            <a:ext cx="4663440" cy="411479"/>
          </a:xfrm>
          <a:prstGeom prst="rect">
            <a:avLst/>
          </a:prstGeom>
          <a:noFill/>
        </p:spPr>
        <p:txBody>
          <a:bodyPr wrap="none" lIns="0" rIns="0" tIns="0" bIns="0">
            <a:spAutoFit/>
          </a:bodyPr>
          <a:lstStyle/>
          <a:p>
            <a:pPr algn="l">
              <a:lnSpc>
                <a:spcPct val="115000"/>
              </a:lnSpc>
            </a:pPr>
            <a:r>
              <a:rPr sz="1800">
                <a:solidFill>
                  <a:srgbClr val="EBCF9E"/>
                </a:solidFill>
                <a:latin typeface="TT Commons Pro Bold"/>
              </a:rPr>
              <a:t>33%  </a:t>
            </a:r>
            <a:r>
              <a:rPr sz="1800">
                <a:solidFill>
                  <a:srgbClr val="F2ECDD"/>
                </a:solidFill>
                <a:latin typeface="TT Commons Pro"/>
              </a:rPr>
              <a:t>Reserves</a:t>
            </a:r>
          </a:p>
        </p:txBody>
      </p:sp>
      <p:sp>
        <p:nvSpPr>
          <p:cNvPr id="32" name="TextBox 31"/>
          <p:cNvSpPr txBox="1"/>
          <p:nvPr/>
        </p:nvSpPr>
        <p:spPr>
          <a:xfrm>
            <a:off x="12536424" y="7269479"/>
            <a:ext cx="4663440" cy="685800"/>
          </a:xfrm>
          <a:prstGeom prst="rect">
            <a:avLst/>
          </a:prstGeom>
          <a:noFill/>
        </p:spPr>
        <p:txBody>
          <a:bodyPr wrap="square" lIns="0" rIns="0" tIns="0" bIns="0">
            <a:spAutoFit/>
          </a:bodyPr>
          <a:lstStyle/>
          <a:p>
            <a:pPr algn="l">
              <a:lnSpc>
                <a:spcPct val="135000"/>
              </a:lnSpc>
            </a:pPr>
            <a:r>
              <a:rPr sz="1575" spc="20">
                <a:solidFill>
                  <a:srgbClr val="F2ECDD"/>
                </a:solidFill>
                <a:latin typeface="Alike Italics"/>
              </a:rPr>
              <a:t>Investors, labor, and the commons share the upside evenly.</a:t>
            </a:r>
          </a:p>
        </p:txBody>
      </p:sp>
      <p:sp>
        <p:nvSpPr>
          <p:cNvPr id="33" name="Rounded Rectangle 32"/>
          <p:cNvSpPr/>
          <p:nvPr/>
        </p:nvSpPr>
        <p:spPr>
          <a:xfrm>
            <a:off x="822959" y="8366759"/>
            <a:ext cx="16664940" cy="932688"/>
          </a:xfrm>
          <a:prstGeom prst="roundRect">
            <a:avLst>
              <a:gd name="adj" fmla="val 6000"/>
            </a:avLst>
          </a:prstGeom>
          <a:solidFill>
            <a:srgbClr val="084B4D"/>
          </a:solidFill>
          <a:ln w="20955">
            <a:solidFill>
              <a:srgbClr val="F0CC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234440" y="8613648"/>
            <a:ext cx="15910559" cy="548640"/>
          </a:xfrm>
          <a:prstGeom prst="rect">
            <a:avLst/>
          </a:prstGeom>
          <a:noFill/>
        </p:spPr>
        <p:txBody>
          <a:bodyPr wrap="square" lIns="0" rIns="0" tIns="0" bIns="0">
            <a:spAutoFit/>
          </a:bodyPr>
          <a:lstStyle/>
          <a:p>
            <a:pPr algn="ctr">
              <a:lnSpc>
                <a:spcPct val="115000"/>
              </a:lnSpc>
            </a:pPr>
            <a:r>
              <a:rPr sz="1875">
                <a:solidFill>
                  <a:srgbClr val="F2ECDD"/>
                </a:solidFill>
                <a:latin typeface="TT Commons Pro"/>
              </a:rPr>
              <a:t>Every patronage refund arrives </a:t>
            </a:r>
            <a:r>
              <a:rPr sz="1875">
                <a:solidFill>
                  <a:srgbClr val="EBCF9E"/>
                </a:solidFill>
                <a:latin typeface="TT Commons Pro Bold"/>
              </a:rPr>
              <a:t>20% cash + 80% member capital</a:t>
            </a:r>
            <a:r>
              <a:rPr sz="1875">
                <a:solidFill>
                  <a:srgbClr val="F2ECDD"/>
                </a:solidFill>
                <a:latin typeface="TT Commons Pro"/>
              </a:rPr>
              <a:t> — members build equity with every sale.</a:t>
            </a:r>
          </a:p>
        </p:txBody>
      </p:sp>
      <p:pic>
        <p:nvPicPr>
          <p:cNvPr id="35" name="Picture 34" descr="rivr-symbol-light.png"/>
          <p:cNvPicPr>
            <a:picLocks noChangeAspect="1"/>
          </p:cNvPicPr>
          <p:nvPr/>
        </p:nvPicPr>
        <p:blipFill>
          <a:blip r:embed="rId4"/>
          <a:stretch>
            <a:fillRect/>
          </a:stretch>
        </p:blipFill>
        <p:spPr>
          <a:xfrm>
            <a:off x="576072" y="9518904"/>
            <a:ext cx="521208" cy="521208"/>
          </a:xfrm>
          <a:prstGeom prst="rect">
            <a:avLst/>
          </a:prstGeom>
        </p:spPr>
      </p:pic>
      <p:sp>
        <p:nvSpPr>
          <p:cNvPr id="36" name="TextBox 35"/>
          <p:cNvSpPr txBox="1"/>
          <p:nvPr/>
        </p:nvSpPr>
        <p:spPr>
          <a:xfrm>
            <a:off x="1371600" y="9724644"/>
            <a:ext cx="5486400" cy="301752"/>
          </a:xfrm>
          <a:prstGeom prst="rect">
            <a:avLst/>
          </a:prstGeom>
          <a:noFill/>
        </p:spPr>
        <p:txBody>
          <a:bodyPr wrap="none" lIns="0" rIns="0" tIns="0" bIns="0">
            <a:spAutoFit/>
          </a:bodyPr>
          <a:lstStyle/>
          <a:p>
            <a:pPr algn="l">
              <a:lnSpc>
                <a:spcPct val="115000"/>
              </a:lnSpc>
            </a:pPr>
            <a:r>
              <a:rPr sz="1350" spc="150">
                <a:solidFill>
                  <a:srgbClr val="AFC4C2"/>
                </a:solidFill>
                <a:latin typeface="TT Commons Pro"/>
              </a:rPr>
              <a:t>Rivr · Seed Round 2026</a:t>
            </a:r>
          </a:p>
        </p:txBody>
      </p:sp>
      <p:sp>
        <p:nvSpPr>
          <p:cNvPr id="37" name="TextBox 36"/>
          <p:cNvSpPr txBox="1"/>
          <p:nvPr/>
        </p:nvSpPr>
        <p:spPr>
          <a:xfrm>
            <a:off x="16870680" y="9724644"/>
            <a:ext cx="960119" cy="301752"/>
          </a:xfrm>
          <a:prstGeom prst="rect">
            <a:avLst/>
          </a:prstGeom>
          <a:noFill/>
        </p:spPr>
        <p:txBody>
          <a:bodyPr wrap="none" lIns="0" rIns="0" tIns="0" bIns="0">
            <a:spAutoFit/>
          </a:bodyPr>
          <a:lstStyle/>
          <a:p>
            <a:pPr algn="r">
              <a:lnSpc>
                <a:spcPct val="115000"/>
              </a:lnSpc>
            </a:pPr>
            <a:r>
              <a:rPr sz="1350" spc="150">
                <a:solidFill>
                  <a:srgbClr val="AFC4C2"/>
                </a:solidFill>
                <a:latin typeface="TT Commons Pro"/>
              </a:rPr>
              <a:t>43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03333"/>
        </a:solidFill>
        <a:effectLst/>
      </p:bgPr>
    </p:bg>
    <p:spTree>
      <p:nvGrpSpPr>
        <p:cNvPr id="1" name=""/>
        <p:cNvGrpSpPr/>
        <p:nvPr/>
      </p:nvGrpSpPr>
      <p:grpSpPr/>
      <p:pic>
        <p:nvPicPr>
          <p:cNvPr id="2" name="Picture 1" descr="bg_c40.jpg"/>
          <p:cNvPicPr>
            <a:picLocks noChangeAspect="1"/>
          </p:cNvPicPr>
          <p:nvPr/>
        </p:nvPicPr>
        <p:blipFill>
          <a:blip r:embed="rId2"/>
          <a:stretch>
            <a:fillRect/>
          </a:stretch>
        </p:blipFill>
        <p:spPr>
          <a:xfrm>
            <a:off x="0" y="0"/>
            <a:ext cx="18287542" cy="10287000"/>
          </a:xfrm>
          <a:prstGeom prst="rect">
            <a:avLst/>
          </a:prstGeom>
        </p:spPr>
      </p:pic>
      <p:sp>
        <p:nvSpPr>
          <p:cNvPr id="3" name="TextBox 2"/>
          <p:cNvSpPr txBox="1"/>
          <p:nvPr/>
        </p:nvSpPr>
        <p:spPr>
          <a:xfrm>
            <a:off x="822959" y="822959"/>
            <a:ext cx="16733519" cy="384048"/>
          </a:xfrm>
          <a:prstGeom prst="rect">
            <a:avLst/>
          </a:prstGeom>
          <a:noFill/>
        </p:spPr>
        <p:txBody>
          <a:bodyPr wrap="none" lIns="0" rIns="0" tIns="0" bIns="0">
            <a:spAutoFit/>
          </a:bodyPr>
          <a:lstStyle/>
          <a:p>
            <a:pPr algn="l">
              <a:lnSpc>
                <a:spcPct val="115000"/>
              </a:lnSpc>
            </a:pPr>
            <a:r>
              <a:rPr sz="1650" spc="330">
                <a:solidFill>
                  <a:srgbClr val="9FE8DC"/>
                </a:solidFill>
                <a:latin typeface="Todes 1"/>
              </a:rPr>
              <a:t>SCALE</a:t>
            </a:r>
          </a:p>
        </p:txBody>
      </p:sp>
      <p:sp>
        <p:nvSpPr>
          <p:cNvPr id="4" name="TextBox 3"/>
          <p:cNvSpPr txBox="1"/>
          <p:nvPr/>
        </p:nvSpPr>
        <p:spPr>
          <a:xfrm>
            <a:off x="822959" y="1699869"/>
            <a:ext cx="11448018" cy="1043025"/>
          </a:xfrm>
          <a:prstGeom prst="rect">
            <a:avLst/>
          </a:prstGeom>
          <a:noFill/>
        </p:spPr>
        <p:txBody>
          <a:bodyPr wrap="none" lIns="0" rIns="0" tIns="0" bIns="0">
            <a:spAutoFit/>
          </a:bodyPr>
          <a:lstStyle/>
          <a:p>
            <a:pPr algn="l">
              <a:lnSpc>
                <a:spcPct val="115000"/>
              </a:lnSpc>
            </a:pPr>
            <a:r>
              <a:rPr sz="5664" spc="-76">
                <a:solidFill>
                  <a:srgbClr val="F4EAD8"/>
                </a:solidFill>
                <a:latin typeface="Todes 1"/>
              </a:rPr>
              <a:t>Market share becomes </a:t>
            </a:r>
          </a:p>
        </p:txBody>
      </p:sp>
      <p:sp>
        <p:nvSpPr>
          <p:cNvPr id="5" name="TextBox 4"/>
          <p:cNvSpPr txBox="1"/>
          <p:nvPr/>
        </p:nvSpPr>
        <p:spPr>
          <a:xfrm>
            <a:off x="9816782" y="1645919"/>
            <a:ext cx="8968740" cy="1140809"/>
          </a:xfrm>
          <a:prstGeom prst="rect">
            <a:avLst/>
          </a:prstGeom>
          <a:noFill/>
        </p:spPr>
        <p:txBody>
          <a:bodyPr wrap="none" lIns="0" rIns="0" tIns="0" bIns="0">
            <a:spAutoFit/>
          </a:bodyPr>
          <a:lstStyle/>
          <a:p>
            <a:pPr algn="l">
              <a:lnSpc>
                <a:spcPct val="115000"/>
              </a:lnSpc>
            </a:pPr>
            <a:r>
              <a:rPr sz="6195" spc="-75">
                <a:solidFill>
                  <a:srgbClr val="EBCF9E"/>
                </a:solidFill>
                <a:latin typeface="Ibarra Real Nova Italics"/>
              </a:rPr>
              <a:t>coordination capacity.</a:t>
            </a:r>
          </a:p>
        </p:txBody>
      </p:sp>
      <p:sp>
        <p:nvSpPr>
          <p:cNvPr id="6" name="Rounded Rectangle 5"/>
          <p:cNvSpPr/>
          <p:nvPr/>
        </p:nvSpPr>
        <p:spPr>
          <a:xfrm>
            <a:off x="2194560" y="4114800"/>
            <a:ext cx="2990087" cy="1577339"/>
          </a:xfrm>
          <a:prstGeom prst="roundRect">
            <a:avLst>
              <a:gd name="adj" fmla="val 14000"/>
            </a:avLst>
          </a:prstGeom>
          <a:solidFill>
            <a:srgbClr val="0D3E40"/>
          </a:solidFill>
          <a:ln w="1270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person.png"/>
          <p:cNvPicPr>
            <a:picLocks noChangeAspect="1"/>
          </p:cNvPicPr>
          <p:nvPr/>
        </p:nvPicPr>
        <p:blipFill>
          <a:blip r:embed="rId4"/>
          <a:stretch>
            <a:fillRect/>
          </a:stretch>
        </p:blipFill>
        <p:spPr>
          <a:xfrm>
            <a:off x="3483864" y="4183380"/>
            <a:ext cx="411479" cy="411479"/>
          </a:xfrm>
          <a:prstGeom prst="rect">
            <a:avLst/>
          </a:prstGeom>
        </p:spPr>
      </p:pic>
      <p:sp>
        <p:nvSpPr>
          <p:cNvPr id="8" name="TextBox 7"/>
          <p:cNvSpPr txBox="1"/>
          <p:nvPr/>
        </p:nvSpPr>
        <p:spPr>
          <a:xfrm>
            <a:off x="2029967" y="4636008"/>
            <a:ext cx="3319272" cy="411479"/>
          </a:xfrm>
          <a:prstGeom prst="rect">
            <a:avLst/>
          </a:prstGeom>
          <a:noFill/>
        </p:spPr>
        <p:txBody>
          <a:bodyPr wrap="none" lIns="0" rIns="0" tIns="0" bIns="0">
            <a:spAutoFit/>
          </a:bodyPr>
          <a:lstStyle/>
          <a:p>
            <a:pPr algn="ctr">
              <a:lnSpc>
                <a:spcPct val="115000"/>
              </a:lnSpc>
            </a:pPr>
            <a:r>
              <a:rPr sz="1500" spc="330">
                <a:solidFill>
                  <a:srgbClr val="9FE8DC"/>
                </a:solidFill>
                <a:latin typeface="Todes 1"/>
              </a:rPr>
              <a:t>PARTICIPATION</a:t>
            </a:r>
          </a:p>
        </p:txBody>
      </p:sp>
      <p:sp>
        <p:nvSpPr>
          <p:cNvPr id="9" name="TextBox 8"/>
          <p:cNvSpPr txBox="1"/>
          <p:nvPr/>
        </p:nvSpPr>
        <p:spPr>
          <a:xfrm>
            <a:off x="2331720" y="5047488"/>
            <a:ext cx="2715768" cy="411479"/>
          </a:xfrm>
          <a:prstGeom prst="rect">
            <a:avLst/>
          </a:prstGeom>
          <a:noFill/>
        </p:spPr>
        <p:txBody>
          <a:bodyPr wrap="square" lIns="0" rIns="0" tIns="0" bIns="0">
            <a:spAutoFit/>
          </a:bodyPr>
          <a:lstStyle/>
          <a:p>
            <a:pPr algn="ctr">
              <a:lnSpc>
                <a:spcPct val="115000"/>
              </a:lnSpc>
            </a:pPr>
            <a:r>
              <a:rPr sz="1275" spc="150">
                <a:solidFill>
                  <a:srgbClr val="AFC4C2"/>
                </a:solidFill>
                <a:latin typeface="TT Commons Pro"/>
              </a:rPr>
              <a:t>people join</a:t>
            </a:r>
          </a:p>
        </p:txBody>
      </p:sp>
      <p:sp>
        <p:nvSpPr>
          <p:cNvPr id="10" name="Right Arrow 9"/>
          <p:cNvSpPr/>
          <p:nvPr/>
        </p:nvSpPr>
        <p:spPr>
          <a:xfrm>
            <a:off x="5321808" y="4800600"/>
            <a:ext cx="356616" cy="205739"/>
          </a:xfrm>
          <a:prstGeom prst="rightArrow">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815584" y="4114800"/>
            <a:ext cx="2990087" cy="1577339"/>
          </a:xfrm>
          <a:prstGeom prst="roundRect">
            <a:avLst>
              <a:gd name="adj" fmla="val 14000"/>
            </a:avLst>
          </a:prstGeom>
          <a:solidFill>
            <a:srgbClr val="0D3E40"/>
          </a:solidFill>
          <a:ln w="1270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earch.png"/>
          <p:cNvPicPr>
            <a:picLocks noChangeAspect="1"/>
          </p:cNvPicPr>
          <p:nvPr/>
        </p:nvPicPr>
        <p:blipFill>
          <a:blip r:embed="rId5"/>
          <a:stretch>
            <a:fillRect/>
          </a:stretch>
        </p:blipFill>
        <p:spPr>
          <a:xfrm>
            <a:off x="7104888" y="4183380"/>
            <a:ext cx="411479" cy="411479"/>
          </a:xfrm>
          <a:prstGeom prst="rect">
            <a:avLst/>
          </a:prstGeom>
        </p:spPr>
      </p:pic>
      <p:sp>
        <p:nvSpPr>
          <p:cNvPr id="13" name="TextBox 12"/>
          <p:cNvSpPr txBox="1"/>
          <p:nvPr/>
        </p:nvSpPr>
        <p:spPr>
          <a:xfrm>
            <a:off x="5650992" y="4636008"/>
            <a:ext cx="3319272" cy="411479"/>
          </a:xfrm>
          <a:prstGeom prst="rect">
            <a:avLst/>
          </a:prstGeom>
          <a:noFill/>
        </p:spPr>
        <p:txBody>
          <a:bodyPr wrap="none" lIns="0" rIns="0" tIns="0" bIns="0">
            <a:spAutoFit/>
          </a:bodyPr>
          <a:lstStyle/>
          <a:p>
            <a:pPr algn="ctr">
              <a:lnSpc>
                <a:spcPct val="115000"/>
              </a:lnSpc>
            </a:pPr>
            <a:r>
              <a:rPr sz="1500" spc="330">
                <a:solidFill>
                  <a:srgbClr val="9FE8DC"/>
                </a:solidFill>
                <a:latin typeface="Todes 1"/>
              </a:rPr>
              <a:t>VISIBILITY</a:t>
            </a:r>
          </a:p>
        </p:txBody>
      </p:sp>
      <p:sp>
        <p:nvSpPr>
          <p:cNvPr id="14" name="TextBox 13"/>
          <p:cNvSpPr txBox="1"/>
          <p:nvPr/>
        </p:nvSpPr>
        <p:spPr>
          <a:xfrm>
            <a:off x="5952744" y="5047488"/>
            <a:ext cx="2715768" cy="411479"/>
          </a:xfrm>
          <a:prstGeom prst="rect">
            <a:avLst/>
          </a:prstGeom>
          <a:noFill/>
        </p:spPr>
        <p:txBody>
          <a:bodyPr wrap="square" lIns="0" rIns="0" tIns="0" bIns="0">
            <a:spAutoFit/>
          </a:bodyPr>
          <a:lstStyle/>
          <a:p>
            <a:pPr algn="ctr">
              <a:lnSpc>
                <a:spcPct val="115000"/>
              </a:lnSpc>
            </a:pPr>
            <a:r>
              <a:rPr sz="1275" spc="150">
                <a:solidFill>
                  <a:srgbClr val="AFC4C2"/>
                </a:solidFill>
                <a:latin typeface="TT Commons Pro"/>
              </a:rPr>
              <a:t>it becomes legible</a:t>
            </a:r>
          </a:p>
        </p:txBody>
      </p:sp>
      <p:sp>
        <p:nvSpPr>
          <p:cNvPr id="15" name="Right Arrow 14"/>
          <p:cNvSpPr/>
          <p:nvPr/>
        </p:nvSpPr>
        <p:spPr>
          <a:xfrm>
            <a:off x="8942832" y="4800600"/>
            <a:ext cx="356616" cy="205739"/>
          </a:xfrm>
          <a:prstGeom prst="rightArrow">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436607" y="4114800"/>
            <a:ext cx="2990087" cy="1577339"/>
          </a:xfrm>
          <a:prstGeom prst="roundRect">
            <a:avLst>
              <a:gd name="adj" fmla="val 14000"/>
            </a:avLst>
          </a:prstGeom>
          <a:solidFill>
            <a:srgbClr val="0D3E40"/>
          </a:solidFill>
          <a:ln w="1270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quest.png"/>
          <p:cNvPicPr>
            <a:picLocks noChangeAspect="1"/>
          </p:cNvPicPr>
          <p:nvPr/>
        </p:nvPicPr>
        <p:blipFill>
          <a:blip r:embed="rId6"/>
          <a:stretch>
            <a:fillRect/>
          </a:stretch>
        </p:blipFill>
        <p:spPr>
          <a:xfrm>
            <a:off x="10725911" y="4183380"/>
            <a:ext cx="411479" cy="411479"/>
          </a:xfrm>
          <a:prstGeom prst="rect">
            <a:avLst/>
          </a:prstGeom>
        </p:spPr>
      </p:pic>
      <p:sp>
        <p:nvSpPr>
          <p:cNvPr id="18" name="TextBox 17"/>
          <p:cNvSpPr txBox="1"/>
          <p:nvPr/>
        </p:nvSpPr>
        <p:spPr>
          <a:xfrm>
            <a:off x="9272015" y="4636008"/>
            <a:ext cx="3319272" cy="411479"/>
          </a:xfrm>
          <a:prstGeom prst="rect">
            <a:avLst/>
          </a:prstGeom>
          <a:noFill/>
        </p:spPr>
        <p:txBody>
          <a:bodyPr wrap="none" lIns="0" rIns="0" tIns="0" bIns="0">
            <a:spAutoFit/>
          </a:bodyPr>
          <a:lstStyle/>
          <a:p>
            <a:pPr algn="ctr">
              <a:lnSpc>
                <a:spcPct val="115000"/>
              </a:lnSpc>
            </a:pPr>
            <a:r>
              <a:rPr sz="1500" spc="330">
                <a:solidFill>
                  <a:srgbClr val="9FE8DC"/>
                </a:solidFill>
                <a:latin typeface="Todes 1"/>
              </a:rPr>
              <a:t>DEMAND</a:t>
            </a:r>
          </a:p>
        </p:txBody>
      </p:sp>
      <p:sp>
        <p:nvSpPr>
          <p:cNvPr id="19" name="TextBox 18"/>
          <p:cNvSpPr txBox="1"/>
          <p:nvPr/>
        </p:nvSpPr>
        <p:spPr>
          <a:xfrm>
            <a:off x="9573767" y="5047488"/>
            <a:ext cx="2715768" cy="411479"/>
          </a:xfrm>
          <a:prstGeom prst="rect">
            <a:avLst/>
          </a:prstGeom>
          <a:noFill/>
        </p:spPr>
        <p:txBody>
          <a:bodyPr wrap="square" lIns="0" rIns="0" tIns="0" bIns="0">
            <a:spAutoFit/>
          </a:bodyPr>
          <a:lstStyle/>
          <a:p>
            <a:pPr algn="ctr">
              <a:lnSpc>
                <a:spcPct val="115000"/>
              </a:lnSpc>
            </a:pPr>
            <a:r>
              <a:rPr sz="1275" spc="150">
                <a:solidFill>
                  <a:srgbClr val="AFC4C2"/>
                </a:solidFill>
                <a:latin typeface="TT Commons Pro"/>
              </a:rPr>
              <a:t>it aggregates</a:t>
            </a:r>
          </a:p>
        </p:txBody>
      </p:sp>
      <p:sp>
        <p:nvSpPr>
          <p:cNvPr id="20" name="Right Arrow 19"/>
          <p:cNvSpPr/>
          <p:nvPr/>
        </p:nvSpPr>
        <p:spPr>
          <a:xfrm>
            <a:off x="12563855" y="4800600"/>
            <a:ext cx="356616" cy="205739"/>
          </a:xfrm>
          <a:prstGeom prst="rightArrow">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3057632" y="4114800"/>
            <a:ext cx="2990087" cy="1577339"/>
          </a:xfrm>
          <a:prstGeom prst="roundRect">
            <a:avLst>
              <a:gd name="adj" fmla="val 14000"/>
            </a:avLst>
          </a:prstGeom>
          <a:solidFill>
            <a:srgbClr val="0D3E40"/>
          </a:solidFill>
          <a:ln w="1270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org.png"/>
          <p:cNvPicPr>
            <a:picLocks noChangeAspect="1"/>
          </p:cNvPicPr>
          <p:nvPr/>
        </p:nvPicPr>
        <p:blipFill>
          <a:blip r:embed="rId7"/>
          <a:stretch>
            <a:fillRect/>
          </a:stretch>
        </p:blipFill>
        <p:spPr>
          <a:xfrm>
            <a:off x="14346935" y="4183380"/>
            <a:ext cx="411479" cy="411479"/>
          </a:xfrm>
          <a:prstGeom prst="rect">
            <a:avLst/>
          </a:prstGeom>
        </p:spPr>
      </p:pic>
      <p:sp>
        <p:nvSpPr>
          <p:cNvPr id="23" name="TextBox 22"/>
          <p:cNvSpPr txBox="1"/>
          <p:nvPr/>
        </p:nvSpPr>
        <p:spPr>
          <a:xfrm>
            <a:off x="12893040" y="4636008"/>
            <a:ext cx="3319272" cy="411479"/>
          </a:xfrm>
          <a:prstGeom prst="rect">
            <a:avLst/>
          </a:prstGeom>
          <a:noFill/>
        </p:spPr>
        <p:txBody>
          <a:bodyPr wrap="none" lIns="0" rIns="0" tIns="0" bIns="0">
            <a:spAutoFit/>
          </a:bodyPr>
          <a:lstStyle/>
          <a:p>
            <a:pPr algn="ctr">
              <a:lnSpc>
                <a:spcPct val="115000"/>
              </a:lnSpc>
            </a:pPr>
            <a:r>
              <a:rPr sz="1500" spc="330">
                <a:solidFill>
                  <a:srgbClr val="9FE8DC"/>
                </a:solidFill>
                <a:latin typeface="Todes 1"/>
              </a:rPr>
              <a:t>CAPACITY</a:t>
            </a:r>
          </a:p>
        </p:txBody>
      </p:sp>
      <p:sp>
        <p:nvSpPr>
          <p:cNvPr id="24" name="TextBox 23"/>
          <p:cNvSpPr txBox="1"/>
          <p:nvPr/>
        </p:nvSpPr>
        <p:spPr>
          <a:xfrm>
            <a:off x="13194792" y="5047488"/>
            <a:ext cx="2715768" cy="411479"/>
          </a:xfrm>
          <a:prstGeom prst="rect">
            <a:avLst/>
          </a:prstGeom>
          <a:noFill/>
        </p:spPr>
        <p:txBody>
          <a:bodyPr wrap="square" lIns="0" rIns="0" tIns="0" bIns="0">
            <a:spAutoFit/>
          </a:bodyPr>
          <a:lstStyle/>
          <a:p>
            <a:pPr algn="ctr">
              <a:lnSpc>
                <a:spcPct val="115000"/>
              </a:lnSpc>
            </a:pPr>
            <a:r>
              <a:rPr sz="1275" spc="150">
                <a:solidFill>
                  <a:srgbClr val="AFC4C2"/>
                </a:solidFill>
                <a:latin typeface="TT Commons Pro"/>
              </a:rPr>
              <a:t>it becomes buildable</a:t>
            </a:r>
          </a:p>
        </p:txBody>
      </p:sp>
      <p:sp>
        <p:nvSpPr>
          <p:cNvPr id="25" name="TextBox 24"/>
          <p:cNvSpPr txBox="1"/>
          <p:nvPr/>
        </p:nvSpPr>
        <p:spPr>
          <a:xfrm>
            <a:off x="822959" y="6377940"/>
            <a:ext cx="15773400" cy="411479"/>
          </a:xfrm>
          <a:prstGeom prst="rect">
            <a:avLst/>
          </a:prstGeom>
          <a:noFill/>
        </p:spPr>
        <p:txBody>
          <a:bodyPr wrap="none" lIns="0" rIns="0" tIns="0" bIns="0">
            <a:spAutoFit/>
          </a:bodyPr>
          <a:lstStyle/>
          <a:p>
            <a:pPr algn="l">
              <a:lnSpc>
                <a:spcPct val="115000"/>
              </a:lnSpc>
            </a:pPr>
            <a:r>
              <a:rPr sz="1800" spc="180">
                <a:solidFill>
                  <a:srgbClr val="9FE8DC"/>
                </a:solidFill>
                <a:latin typeface="Todes 1"/>
              </a:rPr>
              <a:t>WHAT AGGREGATED DEMAND CAN DO</a:t>
            </a:r>
          </a:p>
        </p:txBody>
      </p:sp>
      <p:sp>
        <p:nvSpPr>
          <p:cNvPr id="26" name="TextBox 25"/>
          <p:cNvSpPr txBox="1"/>
          <p:nvPr/>
        </p:nvSpPr>
        <p:spPr>
          <a:xfrm>
            <a:off x="822959" y="6926579"/>
            <a:ext cx="5486400" cy="411479"/>
          </a:xfrm>
          <a:prstGeom prst="rect">
            <a:avLst/>
          </a:prstGeom>
          <a:noFill/>
        </p:spPr>
        <p:txBody>
          <a:bodyPr wrap="none" lIns="0" rIns="0" tIns="0" bIns="0">
            <a:spAutoFit/>
          </a:bodyPr>
          <a:lstStyle/>
          <a:p>
            <a:pPr algn="l">
              <a:lnSpc>
                <a:spcPct val="115000"/>
              </a:lnSpc>
            </a:pPr>
            <a:r>
              <a:rPr sz="1800">
                <a:solidFill>
                  <a:srgbClr val="F0CC8B"/>
                </a:solidFill>
                <a:latin typeface="TT Commons Pro Bold"/>
              </a:rPr>
              <a:t>·  </a:t>
            </a:r>
            <a:r>
              <a:rPr sz="1800">
                <a:solidFill>
                  <a:srgbClr val="F2ECDD"/>
                </a:solidFill>
                <a:latin typeface="TT Commons Pro"/>
              </a:rPr>
              <a:t>direct attention toward local providers</a:t>
            </a:r>
          </a:p>
        </p:txBody>
      </p:sp>
      <p:sp>
        <p:nvSpPr>
          <p:cNvPr id="27" name="TextBox 26"/>
          <p:cNvSpPr txBox="1"/>
          <p:nvPr/>
        </p:nvSpPr>
        <p:spPr>
          <a:xfrm>
            <a:off x="6473952" y="6926579"/>
            <a:ext cx="5486400" cy="411479"/>
          </a:xfrm>
          <a:prstGeom prst="rect">
            <a:avLst/>
          </a:prstGeom>
          <a:noFill/>
        </p:spPr>
        <p:txBody>
          <a:bodyPr wrap="none" lIns="0" rIns="0" tIns="0" bIns="0">
            <a:spAutoFit/>
          </a:bodyPr>
          <a:lstStyle/>
          <a:p>
            <a:pPr algn="l">
              <a:lnSpc>
                <a:spcPct val="115000"/>
              </a:lnSpc>
            </a:pPr>
            <a:r>
              <a:rPr sz="1800">
                <a:solidFill>
                  <a:srgbClr val="F0CC8B"/>
                </a:solidFill>
                <a:latin typeface="TT Commons Pro Bold"/>
              </a:rPr>
              <a:t>·  </a:t>
            </a:r>
            <a:r>
              <a:rPr sz="1800">
                <a:solidFill>
                  <a:srgbClr val="F2ECDD"/>
                </a:solidFill>
                <a:latin typeface="TT Commons Pro"/>
              </a:rPr>
              <a:t>coordinate purchasing</a:t>
            </a:r>
          </a:p>
        </p:txBody>
      </p:sp>
      <p:sp>
        <p:nvSpPr>
          <p:cNvPr id="28" name="TextBox 27"/>
          <p:cNvSpPr txBox="1"/>
          <p:nvPr/>
        </p:nvSpPr>
        <p:spPr>
          <a:xfrm>
            <a:off x="12124944" y="6926579"/>
            <a:ext cx="5486400" cy="411479"/>
          </a:xfrm>
          <a:prstGeom prst="rect">
            <a:avLst/>
          </a:prstGeom>
          <a:noFill/>
        </p:spPr>
        <p:txBody>
          <a:bodyPr wrap="none" lIns="0" rIns="0" tIns="0" bIns="0">
            <a:spAutoFit/>
          </a:bodyPr>
          <a:lstStyle/>
          <a:p>
            <a:pPr algn="l">
              <a:lnSpc>
                <a:spcPct val="115000"/>
              </a:lnSpc>
            </a:pPr>
            <a:r>
              <a:rPr sz="1800">
                <a:solidFill>
                  <a:srgbClr val="F0CC8B"/>
                </a:solidFill>
                <a:latin typeface="TT Commons Pro Bold"/>
              </a:rPr>
              <a:t>·  </a:t>
            </a:r>
            <a:r>
              <a:rPr sz="1800">
                <a:solidFill>
                  <a:srgbClr val="F2ECDD"/>
                </a:solidFill>
                <a:latin typeface="TT Commons Pro"/>
              </a:rPr>
              <a:t>launch campaigns</a:t>
            </a:r>
          </a:p>
        </p:txBody>
      </p:sp>
      <p:sp>
        <p:nvSpPr>
          <p:cNvPr id="29" name="TextBox 28"/>
          <p:cNvSpPr txBox="1"/>
          <p:nvPr/>
        </p:nvSpPr>
        <p:spPr>
          <a:xfrm>
            <a:off x="822959" y="7680959"/>
            <a:ext cx="5486400" cy="411479"/>
          </a:xfrm>
          <a:prstGeom prst="rect">
            <a:avLst/>
          </a:prstGeom>
          <a:noFill/>
        </p:spPr>
        <p:txBody>
          <a:bodyPr wrap="none" lIns="0" rIns="0" tIns="0" bIns="0">
            <a:spAutoFit/>
          </a:bodyPr>
          <a:lstStyle/>
          <a:p>
            <a:pPr algn="l">
              <a:lnSpc>
                <a:spcPct val="115000"/>
              </a:lnSpc>
            </a:pPr>
            <a:r>
              <a:rPr sz="1800">
                <a:solidFill>
                  <a:srgbClr val="F0CC8B"/>
                </a:solidFill>
                <a:latin typeface="TT Commons Pro Bold"/>
              </a:rPr>
              <a:t>·  </a:t>
            </a:r>
            <a:r>
              <a:rPr sz="1800">
                <a:solidFill>
                  <a:srgbClr val="F2ECDD"/>
                </a:solidFill>
                <a:latin typeface="TT Commons Pro"/>
              </a:rPr>
              <a:t>reveal missing services</a:t>
            </a:r>
          </a:p>
        </p:txBody>
      </p:sp>
      <p:sp>
        <p:nvSpPr>
          <p:cNvPr id="30" name="TextBox 29"/>
          <p:cNvSpPr txBox="1"/>
          <p:nvPr/>
        </p:nvSpPr>
        <p:spPr>
          <a:xfrm>
            <a:off x="6473952" y="7680959"/>
            <a:ext cx="5486400" cy="411479"/>
          </a:xfrm>
          <a:prstGeom prst="rect">
            <a:avLst/>
          </a:prstGeom>
          <a:noFill/>
        </p:spPr>
        <p:txBody>
          <a:bodyPr wrap="none" lIns="0" rIns="0" tIns="0" bIns="0">
            <a:spAutoFit/>
          </a:bodyPr>
          <a:lstStyle/>
          <a:p>
            <a:pPr algn="l">
              <a:lnSpc>
                <a:spcPct val="115000"/>
              </a:lnSpc>
            </a:pPr>
            <a:r>
              <a:rPr sz="1800">
                <a:solidFill>
                  <a:srgbClr val="F0CC8B"/>
                </a:solidFill>
                <a:latin typeface="TT Commons Pro Bold"/>
              </a:rPr>
              <a:t>·  </a:t>
            </a:r>
            <a:r>
              <a:rPr sz="1800">
                <a:solidFill>
                  <a:srgbClr val="F2ECDD"/>
                </a:solidFill>
                <a:latin typeface="TT Commons Pro"/>
              </a:rPr>
              <a:t>bootstrap infrastructure</a:t>
            </a:r>
          </a:p>
        </p:txBody>
      </p:sp>
      <p:sp>
        <p:nvSpPr>
          <p:cNvPr id="31" name="TextBox 30"/>
          <p:cNvSpPr txBox="1"/>
          <p:nvPr/>
        </p:nvSpPr>
        <p:spPr>
          <a:xfrm>
            <a:off x="822959" y="8915400"/>
            <a:ext cx="16596359" cy="1097280"/>
          </a:xfrm>
          <a:prstGeom prst="rect">
            <a:avLst/>
          </a:prstGeom>
          <a:noFill/>
        </p:spPr>
        <p:txBody>
          <a:bodyPr wrap="square" lIns="0" rIns="0" tIns="0" bIns="0">
            <a:spAutoFit/>
          </a:bodyPr>
          <a:lstStyle/>
          <a:p>
            <a:pPr algn="ctr">
              <a:lnSpc>
                <a:spcPct val="140000"/>
              </a:lnSpc>
            </a:pPr>
            <a:r>
              <a:rPr sz="1950">
                <a:solidFill>
                  <a:srgbClr val="EBCF9E"/>
                </a:solidFill>
                <a:latin typeface="TT Commons Pro Bold"/>
              </a:rPr>
              <a:t>Demand that supports local businesses, services, jobs, cooperative purchasing, and new markets.</a:t>
            </a:r>
          </a:p>
        </p:txBody>
      </p:sp>
      <p:pic>
        <p:nvPicPr>
          <p:cNvPr id="32" name="Picture 31" descr="rivr-symbol-light.png"/>
          <p:cNvPicPr>
            <a:picLocks noChangeAspect="1"/>
          </p:cNvPicPr>
          <p:nvPr/>
        </p:nvPicPr>
        <p:blipFill>
          <a:blip r:embed="rId8"/>
          <a:stretch>
            <a:fillRect/>
          </a:stretch>
        </p:blipFill>
        <p:spPr>
          <a:xfrm>
            <a:off x="576072" y="9518904"/>
            <a:ext cx="521208" cy="521208"/>
          </a:xfrm>
          <a:prstGeom prst="rect">
            <a:avLst/>
          </a:prstGeom>
        </p:spPr>
      </p:pic>
      <p:sp>
        <p:nvSpPr>
          <p:cNvPr id="33" name="TextBox 32"/>
          <p:cNvSpPr txBox="1"/>
          <p:nvPr/>
        </p:nvSpPr>
        <p:spPr>
          <a:xfrm>
            <a:off x="1371600" y="9724644"/>
            <a:ext cx="5486400" cy="301752"/>
          </a:xfrm>
          <a:prstGeom prst="rect">
            <a:avLst/>
          </a:prstGeom>
          <a:noFill/>
        </p:spPr>
        <p:txBody>
          <a:bodyPr wrap="none" lIns="0" rIns="0" tIns="0" bIns="0">
            <a:spAutoFit/>
          </a:bodyPr>
          <a:lstStyle/>
          <a:p>
            <a:pPr algn="l">
              <a:lnSpc>
                <a:spcPct val="115000"/>
              </a:lnSpc>
            </a:pPr>
            <a:r>
              <a:rPr sz="1350" spc="150">
                <a:solidFill>
                  <a:srgbClr val="AFC4C2"/>
                </a:solidFill>
                <a:latin typeface="TT Commons Pro"/>
              </a:rPr>
              <a:t>Rivr · Seed Round 2026</a:t>
            </a:r>
          </a:p>
        </p:txBody>
      </p:sp>
      <p:sp>
        <p:nvSpPr>
          <p:cNvPr id="34" name="TextBox 33"/>
          <p:cNvSpPr txBox="1"/>
          <p:nvPr/>
        </p:nvSpPr>
        <p:spPr>
          <a:xfrm>
            <a:off x="16870680" y="9724644"/>
            <a:ext cx="960119" cy="301752"/>
          </a:xfrm>
          <a:prstGeom prst="rect">
            <a:avLst/>
          </a:prstGeom>
          <a:noFill/>
        </p:spPr>
        <p:txBody>
          <a:bodyPr wrap="none" lIns="0" rIns="0" tIns="0" bIns="0">
            <a:spAutoFit/>
          </a:bodyPr>
          <a:lstStyle/>
          <a:p>
            <a:pPr algn="r">
              <a:lnSpc>
                <a:spcPct val="115000"/>
              </a:lnSpc>
            </a:pPr>
            <a:r>
              <a:rPr sz="1350" spc="150">
                <a:solidFill>
                  <a:srgbClr val="AFC4C2"/>
                </a:solidFill>
                <a:latin typeface="TT Commons Pro"/>
              </a:rPr>
              <a:t>44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03333"/>
        </a:solidFill>
        <a:effectLst/>
      </p:bgPr>
    </p:bg>
    <p:spTree>
      <p:nvGrpSpPr>
        <p:cNvPr id="1" name=""/>
        <p:cNvGrpSpPr/>
        <p:nvPr/>
      </p:nvGrpSpPr>
      <p:grpSpPr/>
      <p:pic>
        <p:nvPicPr>
          <p:cNvPr id="2" name="Picture 1" descr="bg_c41.jpg"/>
          <p:cNvPicPr>
            <a:picLocks noChangeAspect="1"/>
          </p:cNvPicPr>
          <p:nvPr/>
        </p:nvPicPr>
        <p:blipFill>
          <a:blip r:embed="rId2"/>
          <a:stretch>
            <a:fillRect/>
          </a:stretch>
        </p:blipFill>
        <p:spPr>
          <a:xfrm>
            <a:off x="0" y="0"/>
            <a:ext cx="18287542" cy="10287000"/>
          </a:xfrm>
          <a:prstGeom prst="rect">
            <a:avLst/>
          </a:prstGeom>
        </p:spPr>
      </p:pic>
      <p:sp>
        <p:nvSpPr>
          <p:cNvPr id="3" name="TextBox 2"/>
          <p:cNvSpPr txBox="1"/>
          <p:nvPr/>
        </p:nvSpPr>
        <p:spPr>
          <a:xfrm>
            <a:off x="822959" y="822959"/>
            <a:ext cx="16733519" cy="384048"/>
          </a:xfrm>
          <a:prstGeom prst="rect">
            <a:avLst/>
          </a:prstGeom>
          <a:noFill/>
        </p:spPr>
        <p:txBody>
          <a:bodyPr wrap="none" lIns="0" rIns="0" tIns="0" bIns="0">
            <a:spAutoFit/>
          </a:bodyPr>
          <a:lstStyle/>
          <a:p>
            <a:pPr algn="l">
              <a:lnSpc>
                <a:spcPct val="115000"/>
              </a:lnSpc>
            </a:pPr>
            <a:r>
              <a:rPr sz="1650" spc="330">
                <a:solidFill>
                  <a:srgbClr val="9FE8DC"/>
                </a:solidFill>
                <a:latin typeface="Todes 1"/>
              </a:rPr>
              <a:t>COOPERATIVE LEAD FIRM</a:t>
            </a:r>
          </a:p>
        </p:txBody>
      </p:sp>
      <p:sp>
        <p:nvSpPr>
          <p:cNvPr id="4" name="TextBox 3"/>
          <p:cNvSpPr txBox="1"/>
          <p:nvPr/>
        </p:nvSpPr>
        <p:spPr>
          <a:xfrm>
            <a:off x="822959" y="1698498"/>
            <a:ext cx="2649696" cy="952976"/>
          </a:xfrm>
          <a:prstGeom prst="rect">
            <a:avLst/>
          </a:prstGeom>
          <a:noFill/>
        </p:spPr>
        <p:txBody>
          <a:bodyPr wrap="none" lIns="0" rIns="0" tIns="0" bIns="0">
            <a:spAutoFit/>
          </a:bodyPr>
          <a:lstStyle/>
          <a:p>
            <a:pPr algn="l">
              <a:lnSpc>
                <a:spcPct val="115000"/>
              </a:lnSpc>
            </a:pPr>
            <a:r>
              <a:rPr sz="5175" spc="-70">
                <a:solidFill>
                  <a:srgbClr val="F4EAD8"/>
                </a:solidFill>
                <a:latin typeface="Todes 1"/>
              </a:rPr>
              <a:t>Take </a:t>
            </a:r>
          </a:p>
        </p:txBody>
      </p:sp>
      <p:sp>
        <p:nvSpPr>
          <p:cNvPr id="5" name="TextBox 4"/>
          <p:cNvSpPr txBox="1"/>
          <p:nvPr/>
        </p:nvSpPr>
        <p:spPr>
          <a:xfrm>
            <a:off x="2778125" y="1645919"/>
            <a:ext cx="7718583" cy="1048273"/>
          </a:xfrm>
          <a:prstGeom prst="rect">
            <a:avLst/>
          </a:prstGeom>
          <a:noFill/>
        </p:spPr>
        <p:txBody>
          <a:bodyPr wrap="none" lIns="0" rIns="0" tIns="0" bIns="0">
            <a:spAutoFit/>
          </a:bodyPr>
          <a:lstStyle/>
          <a:p>
            <a:pPr algn="l">
              <a:lnSpc>
                <a:spcPct val="115000"/>
              </a:lnSpc>
            </a:pPr>
            <a:r>
              <a:rPr sz="5692" spc="-75">
                <a:solidFill>
                  <a:srgbClr val="99E6D9"/>
                </a:solidFill>
                <a:latin typeface="Ibarra Real Nova Italics"/>
              </a:rPr>
              <a:t>enough of the market</a:t>
            </a:r>
          </a:p>
        </p:txBody>
      </p:sp>
      <p:sp>
        <p:nvSpPr>
          <p:cNvPr id="6" name="TextBox 5"/>
          <p:cNvSpPr txBox="1"/>
          <p:nvPr/>
        </p:nvSpPr>
        <p:spPr>
          <a:xfrm>
            <a:off x="822959" y="2696165"/>
            <a:ext cx="12108021" cy="952976"/>
          </a:xfrm>
          <a:prstGeom prst="rect">
            <a:avLst/>
          </a:prstGeom>
          <a:noFill/>
        </p:spPr>
        <p:txBody>
          <a:bodyPr wrap="none" lIns="0" rIns="0" tIns="0" bIns="0">
            <a:spAutoFit/>
          </a:bodyPr>
          <a:lstStyle/>
          <a:p>
            <a:pPr algn="l">
              <a:lnSpc>
                <a:spcPct val="115000"/>
              </a:lnSpc>
            </a:pPr>
            <a:r>
              <a:rPr sz="5175" spc="-70">
                <a:solidFill>
                  <a:srgbClr val="F4EAD8"/>
                </a:solidFill>
                <a:latin typeface="Todes 1"/>
              </a:rPr>
              <a:t>to change what the market </a:t>
            </a:r>
          </a:p>
        </p:txBody>
      </p:sp>
      <p:sp>
        <p:nvSpPr>
          <p:cNvPr id="7" name="TextBox 6"/>
          <p:cNvSpPr txBox="1"/>
          <p:nvPr/>
        </p:nvSpPr>
        <p:spPr>
          <a:xfrm>
            <a:off x="10344785" y="2643587"/>
            <a:ext cx="3396615" cy="1048273"/>
          </a:xfrm>
          <a:prstGeom prst="rect">
            <a:avLst/>
          </a:prstGeom>
          <a:noFill/>
        </p:spPr>
        <p:txBody>
          <a:bodyPr wrap="none" lIns="0" rIns="0" tIns="0" bIns="0">
            <a:spAutoFit/>
          </a:bodyPr>
          <a:lstStyle/>
          <a:p>
            <a:pPr algn="l">
              <a:lnSpc>
                <a:spcPct val="115000"/>
              </a:lnSpc>
            </a:pPr>
            <a:r>
              <a:rPr sz="5692" spc="-75">
                <a:solidFill>
                  <a:srgbClr val="EBCF9E"/>
                </a:solidFill>
                <a:latin typeface="Ibarra Real Nova Italics"/>
              </a:rPr>
              <a:t>rewards.</a:t>
            </a:r>
          </a:p>
        </p:txBody>
      </p:sp>
      <p:sp>
        <p:nvSpPr>
          <p:cNvPr id="8" name="TextBox 7"/>
          <p:cNvSpPr txBox="1"/>
          <p:nvPr/>
        </p:nvSpPr>
        <p:spPr>
          <a:xfrm>
            <a:off x="822959" y="4869179"/>
            <a:ext cx="16596359" cy="1097280"/>
          </a:xfrm>
          <a:prstGeom prst="rect">
            <a:avLst/>
          </a:prstGeom>
          <a:noFill/>
        </p:spPr>
        <p:txBody>
          <a:bodyPr wrap="square" lIns="0" rIns="0" tIns="0" bIns="0">
            <a:spAutoFit/>
          </a:bodyPr>
          <a:lstStyle/>
          <a:p>
            <a:pPr algn="l">
              <a:lnSpc>
                <a:spcPct val="155000"/>
              </a:lnSpc>
            </a:pPr>
            <a:r>
              <a:rPr sz="1875" spc="40">
                <a:solidFill>
                  <a:srgbClr val="F2ECDD"/>
                </a:solidFill>
                <a:latin typeface="Todes 1"/>
              </a:rPr>
              <a:t>The goal is not a tiny alternative for people who already agree.</a:t>
            </a:r>
          </a:p>
          <a:p>
            <a:pPr algn="l">
              <a:lnSpc>
                <a:spcPct val="155000"/>
              </a:lnSpc>
            </a:pPr>
            <a:r>
              <a:rPr sz="1875" spc="40">
                <a:solidFill>
                  <a:srgbClr val="F2ECDD"/>
                </a:solidFill>
                <a:latin typeface="Todes 1"/>
              </a:rPr>
              <a:t>A values-aligned alternative cannot remain permanently marginal if it wants to change the industry.</a:t>
            </a:r>
          </a:p>
        </p:txBody>
      </p:sp>
      <p:sp>
        <p:nvSpPr>
          <p:cNvPr id="9" name="Rounded Rectangle 8"/>
          <p:cNvSpPr/>
          <p:nvPr/>
        </p:nvSpPr>
        <p:spPr>
          <a:xfrm>
            <a:off x="822959" y="6309359"/>
            <a:ext cx="3977639" cy="1577339"/>
          </a:xfrm>
          <a:prstGeom prst="roundRect">
            <a:avLst>
              <a:gd name="adj" fmla="val 16000"/>
            </a:avLst>
          </a:prstGeom>
          <a:solidFill>
            <a:srgbClr val="0D3E40"/>
          </a:solidFill>
          <a:ln w="16192">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erson.png"/>
          <p:cNvPicPr>
            <a:picLocks noChangeAspect="1"/>
          </p:cNvPicPr>
          <p:nvPr/>
        </p:nvPicPr>
        <p:blipFill>
          <a:blip r:embed="rId4"/>
          <a:stretch>
            <a:fillRect/>
          </a:stretch>
        </p:blipFill>
        <p:spPr>
          <a:xfrm>
            <a:off x="2606039" y="6652259"/>
            <a:ext cx="411479" cy="411479"/>
          </a:xfrm>
          <a:prstGeom prst="rect">
            <a:avLst/>
          </a:prstGeom>
        </p:spPr>
      </p:pic>
      <p:sp>
        <p:nvSpPr>
          <p:cNvPr id="11" name="TextBox 10"/>
          <p:cNvSpPr txBox="1"/>
          <p:nvPr/>
        </p:nvSpPr>
        <p:spPr>
          <a:xfrm>
            <a:off x="822959" y="7296912"/>
            <a:ext cx="3977639" cy="411479"/>
          </a:xfrm>
          <a:prstGeom prst="rect">
            <a:avLst/>
          </a:prstGeom>
          <a:noFill/>
        </p:spPr>
        <p:txBody>
          <a:bodyPr wrap="square" lIns="0" rIns="0" tIns="0" bIns="0">
            <a:spAutoFit/>
          </a:bodyPr>
          <a:lstStyle/>
          <a:p>
            <a:pPr algn="ctr">
              <a:lnSpc>
                <a:spcPct val="115000"/>
              </a:lnSpc>
            </a:pPr>
            <a:r>
              <a:rPr sz="1575">
                <a:solidFill>
                  <a:srgbClr val="F2ECDD"/>
                </a:solidFill>
                <a:latin typeface="TT Commons Pro"/>
              </a:rPr>
              <a:t>change user expectations</a:t>
            </a:r>
          </a:p>
        </p:txBody>
      </p:sp>
      <p:sp>
        <p:nvSpPr>
          <p:cNvPr id="12" name="Rounded Rectangle 11"/>
          <p:cNvSpPr/>
          <p:nvPr/>
        </p:nvSpPr>
        <p:spPr>
          <a:xfrm>
            <a:off x="5061204" y="6309359"/>
            <a:ext cx="3977639" cy="1577339"/>
          </a:xfrm>
          <a:prstGeom prst="roundRect">
            <a:avLst>
              <a:gd name="adj" fmla="val 16000"/>
            </a:avLst>
          </a:prstGeom>
          <a:solidFill>
            <a:srgbClr val="062A2C"/>
          </a:solidFill>
          <a:ln w="16192">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art.png"/>
          <p:cNvPicPr>
            <a:picLocks noChangeAspect="1"/>
          </p:cNvPicPr>
          <p:nvPr/>
        </p:nvPicPr>
        <p:blipFill>
          <a:blip r:embed="rId5"/>
          <a:stretch>
            <a:fillRect/>
          </a:stretch>
        </p:blipFill>
        <p:spPr>
          <a:xfrm>
            <a:off x="6844283" y="6652259"/>
            <a:ext cx="411479" cy="411479"/>
          </a:xfrm>
          <a:prstGeom prst="rect">
            <a:avLst/>
          </a:prstGeom>
        </p:spPr>
      </p:pic>
      <p:sp>
        <p:nvSpPr>
          <p:cNvPr id="14" name="TextBox 13"/>
          <p:cNvSpPr txBox="1"/>
          <p:nvPr/>
        </p:nvSpPr>
        <p:spPr>
          <a:xfrm>
            <a:off x="5061204" y="7296912"/>
            <a:ext cx="3977639" cy="411479"/>
          </a:xfrm>
          <a:prstGeom prst="rect">
            <a:avLst/>
          </a:prstGeom>
          <a:noFill/>
        </p:spPr>
        <p:txBody>
          <a:bodyPr wrap="square" lIns="0" rIns="0" tIns="0" bIns="0">
            <a:spAutoFit/>
          </a:bodyPr>
          <a:lstStyle/>
          <a:p>
            <a:pPr algn="ctr">
              <a:lnSpc>
                <a:spcPct val="115000"/>
              </a:lnSpc>
            </a:pPr>
            <a:r>
              <a:rPr sz="1575">
                <a:solidFill>
                  <a:srgbClr val="F2ECDD"/>
                </a:solidFill>
                <a:latin typeface="TT Commons Pro"/>
              </a:rPr>
              <a:t>influence competitors</a:t>
            </a:r>
          </a:p>
        </p:txBody>
      </p:sp>
      <p:sp>
        <p:nvSpPr>
          <p:cNvPr id="15" name="Rounded Rectangle 14"/>
          <p:cNvSpPr/>
          <p:nvPr/>
        </p:nvSpPr>
        <p:spPr>
          <a:xfrm>
            <a:off x="9299447" y="6309359"/>
            <a:ext cx="3977639" cy="1577339"/>
          </a:xfrm>
          <a:prstGeom prst="roundRect">
            <a:avLst>
              <a:gd name="adj" fmla="val 16000"/>
            </a:avLst>
          </a:prstGeom>
          <a:solidFill>
            <a:srgbClr val="0D3E40"/>
          </a:solidFill>
          <a:ln w="16192">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badge.png"/>
          <p:cNvPicPr>
            <a:picLocks noChangeAspect="1"/>
          </p:cNvPicPr>
          <p:nvPr/>
        </p:nvPicPr>
        <p:blipFill>
          <a:blip r:embed="rId6"/>
          <a:stretch>
            <a:fillRect/>
          </a:stretch>
        </p:blipFill>
        <p:spPr>
          <a:xfrm>
            <a:off x="11082527" y="6652259"/>
            <a:ext cx="411479" cy="411479"/>
          </a:xfrm>
          <a:prstGeom prst="rect">
            <a:avLst/>
          </a:prstGeom>
        </p:spPr>
      </p:pic>
      <p:sp>
        <p:nvSpPr>
          <p:cNvPr id="17" name="TextBox 16"/>
          <p:cNvSpPr txBox="1"/>
          <p:nvPr/>
        </p:nvSpPr>
        <p:spPr>
          <a:xfrm>
            <a:off x="9299447" y="7296912"/>
            <a:ext cx="3977639" cy="411479"/>
          </a:xfrm>
          <a:prstGeom prst="rect">
            <a:avLst/>
          </a:prstGeom>
          <a:noFill/>
        </p:spPr>
        <p:txBody>
          <a:bodyPr wrap="square" lIns="0" rIns="0" tIns="0" bIns="0">
            <a:spAutoFit/>
          </a:bodyPr>
          <a:lstStyle/>
          <a:p>
            <a:pPr algn="ctr">
              <a:lnSpc>
                <a:spcPct val="115000"/>
              </a:lnSpc>
            </a:pPr>
            <a:r>
              <a:rPr sz="1575">
                <a:solidFill>
                  <a:srgbClr val="F2ECDD"/>
                </a:solidFill>
                <a:latin typeface="TT Commons Pro"/>
              </a:rPr>
              <a:t>raise standards</a:t>
            </a:r>
          </a:p>
        </p:txBody>
      </p:sp>
      <p:sp>
        <p:nvSpPr>
          <p:cNvPr id="18" name="Rounded Rectangle 17"/>
          <p:cNvSpPr/>
          <p:nvPr/>
        </p:nvSpPr>
        <p:spPr>
          <a:xfrm>
            <a:off x="13537692" y="6309359"/>
            <a:ext cx="3977639" cy="1577339"/>
          </a:xfrm>
          <a:prstGeom prst="roundRect">
            <a:avLst>
              <a:gd name="adj" fmla="val 16000"/>
            </a:avLst>
          </a:prstGeom>
          <a:solidFill>
            <a:srgbClr val="062A2C"/>
          </a:solidFill>
          <a:ln w="16192">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group.png"/>
          <p:cNvPicPr>
            <a:picLocks noChangeAspect="1"/>
          </p:cNvPicPr>
          <p:nvPr/>
        </p:nvPicPr>
        <p:blipFill>
          <a:blip r:embed="rId7"/>
          <a:stretch>
            <a:fillRect/>
          </a:stretch>
        </p:blipFill>
        <p:spPr>
          <a:xfrm>
            <a:off x="15320771" y="6652259"/>
            <a:ext cx="411479" cy="411479"/>
          </a:xfrm>
          <a:prstGeom prst="rect">
            <a:avLst/>
          </a:prstGeom>
        </p:spPr>
      </p:pic>
      <p:sp>
        <p:nvSpPr>
          <p:cNvPr id="20" name="TextBox 19"/>
          <p:cNvSpPr txBox="1"/>
          <p:nvPr/>
        </p:nvSpPr>
        <p:spPr>
          <a:xfrm>
            <a:off x="13537692" y="7296912"/>
            <a:ext cx="3977639" cy="411479"/>
          </a:xfrm>
          <a:prstGeom prst="rect">
            <a:avLst/>
          </a:prstGeom>
          <a:noFill/>
        </p:spPr>
        <p:txBody>
          <a:bodyPr wrap="square" lIns="0" rIns="0" tIns="0" bIns="0">
            <a:spAutoFit/>
          </a:bodyPr>
          <a:lstStyle/>
          <a:p>
            <a:pPr algn="ctr">
              <a:lnSpc>
                <a:spcPct val="115000"/>
              </a:lnSpc>
            </a:pPr>
            <a:r>
              <a:rPr sz="1575">
                <a:solidFill>
                  <a:srgbClr val="F2ECDD"/>
                </a:solidFill>
                <a:latin typeface="TT Commons Pro"/>
              </a:rPr>
              <a:t>prove ownership can differ</a:t>
            </a:r>
          </a:p>
        </p:txBody>
      </p:sp>
      <p:sp>
        <p:nvSpPr>
          <p:cNvPr id="21" name="TextBox 20"/>
          <p:cNvSpPr txBox="1"/>
          <p:nvPr/>
        </p:nvSpPr>
        <p:spPr>
          <a:xfrm>
            <a:off x="822959" y="8641080"/>
            <a:ext cx="16596359" cy="1097280"/>
          </a:xfrm>
          <a:prstGeom prst="rect">
            <a:avLst/>
          </a:prstGeom>
          <a:noFill/>
        </p:spPr>
        <p:txBody>
          <a:bodyPr wrap="square" lIns="0" rIns="0" tIns="0" bIns="0">
            <a:spAutoFit/>
          </a:bodyPr>
          <a:lstStyle/>
          <a:p>
            <a:pPr algn="ctr">
              <a:lnSpc>
                <a:spcPct val="140000"/>
              </a:lnSpc>
            </a:pPr>
            <a:r>
              <a:rPr sz="2250" spc="20">
                <a:solidFill>
                  <a:srgbClr val="EBCF9E"/>
                </a:solidFill>
                <a:latin typeface="Alike Italics"/>
              </a:rPr>
              <a:t>Play at a high enough level to change the game.</a:t>
            </a:r>
          </a:p>
        </p:txBody>
      </p:sp>
      <p:pic>
        <p:nvPicPr>
          <p:cNvPr id="22" name="Picture 21" descr="rivr-symbol-light.png"/>
          <p:cNvPicPr>
            <a:picLocks noChangeAspect="1"/>
          </p:cNvPicPr>
          <p:nvPr/>
        </p:nvPicPr>
        <p:blipFill>
          <a:blip r:embed="rId8"/>
          <a:stretch>
            <a:fillRect/>
          </a:stretch>
        </p:blipFill>
        <p:spPr>
          <a:xfrm>
            <a:off x="576072" y="9518904"/>
            <a:ext cx="521208" cy="521208"/>
          </a:xfrm>
          <a:prstGeom prst="rect">
            <a:avLst/>
          </a:prstGeom>
        </p:spPr>
      </p:pic>
      <p:sp>
        <p:nvSpPr>
          <p:cNvPr id="23" name="TextBox 22"/>
          <p:cNvSpPr txBox="1"/>
          <p:nvPr/>
        </p:nvSpPr>
        <p:spPr>
          <a:xfrm>
            <a:off x="1371600" y="9724644"/>
            <a:ext cx="5486400" cy="301752"/>
          </a:xfrm>
          <a:prstGeom prst="rect">
            <a:avLst/>
          </a:prstGeom>
          <a:noFill/>
        </p:spPr>
        <p:txBody>
          <a:bodyPr wrap="none" lIns="0" rIns="0" tIns="0" bIns="0">
            <a:spAutoFit/>
          </a:bodyPr>
          <a:lstStyle/>
          <a:p>
            <a:pPr algn="l">
              <a:lnSpc>
                <a:spcPct val="115000"/>
              </a:lnSpc>
            </a:pPr>
            <a:r>
              <a:rPr sz="1350" spc="150">
                <a:solidFill>
                  <a:srgbClr val="AFC4C2"/>
                </a:solidFill>
                <a:latin typeface="TT Commons Pro"/>
              </a:rPr>
              <a:t>Rivr · Seed Round 2026</a:t>
            </a:r>
          </a:p>
        </p:txBody>
      </p:sp>
      <p:sp>
        <p:nvSpPr>
          <p:cNvPr id="24" name="TextBox 23"/>
          <p:cNvSpPr txBox="1"/>
          <p:nvPr/>
        </p:nvSpPr>
        <p:spPr>
          <a:xfrm>
            <a:off x="16870680" y="9724644"/>
            <a:ext cx="960119" cy="301752"/>
          </a:xfrm>
          <a:prstGeom prst="rect">
            <a:avLst/>
          </a:prstGeom>
          <a:noFill/>
        </p:spPr>
        <p:txBody>
          <a:bodyPr wrap="none" lIns="0" rIns="0" tIns="0" bIns="0">
            <a:spAutoFit/>
          </a:bodyPr>
          <a:lstStyle/>
          <a:p>
            <a:pPr algn="r">
              <a:lnSpc>
                <a:spcPct val="115000"/>
              </a:lnSpc>
            </a:pPr>
            <a:r>
              <a:rPr sz="1350" spc="150">
                <a:solidFill>
                  <a:srgbClr val="AFC4C2"/>
                </a:solidFill>
                <a:latin typeface="TT Commons Pro"/>
              </a:rPr>
              <a:t>45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03333"/>
        </a:solidFill>
        <a:effectLst/>
      </p:bgPr>
    </p:bg>
    <p:spTree>
      <p:nvGrpSpPr>
        <p:cNvPr id="1" name=""/>
        <p:cNvGrpSpPr/>
        <p:nvPr/>
      </p:nvGrpSpPr>
      <p:grpSpPr/>
      <p:pic>
        <p:nvPicPr>
          <p:cNvPr id="2" name="Picture 1" descr="bg_c42.jpg"/>
          <p:cNvPicPr>
            <a:picLocks noChangeAspect="1"/>
          </p:cNvPicPr>
          <p:nvPr/>
        </p:nvPicPr>
        <p:blipFill>
          <a:blip r:embed="rId2"/>
          <a:stretch>
            <a:fillRect/>
          </a:stretch>
        </p:blipFill>
        <p:spPr>
          <a:xfrm>
            <a:off x="0" y="0"/>
            <a:ext cx="18287542" cy="10287000"/>
          </a:xfrm>
          <a:prstGeom prst="rect">
            <a:avLst/>
          </a:prstGeom>
        </p:spPr>
      </p:pic>
      <p:sp>
        <p:nvSpPr>
          <p:cNvPr id="3" name="TextBox 2"/>
          <p:cNvSpPr txBox="1"/>
          <p:nvPr/>
        </p:nvSpPr>
        <p:spPr>
          <a:xfrm>
            <a:off x="822959" y="822959"/>
            <a:ext cx="16733519" cy="384048"/>
          </a:xfrm>
          <a:prstGeom prst="rect">
            <a:avLst/>
          </a:prstGeom>
          <a:noFill/>
        </p:spPr>
        <p:txBody>
          <a:bodyPr wrap="none" lIns="0" rIns="0" tIns="0" bIns="0">
            <a:spAutoFit/>
          </a:bodyPr>
          <a:lstStyle/>
          <a:p>
            <a:pPr algn="l">
              <a:lnSpc>
                <a:spcPct val="115000"/>
              </a:lnSpc>
            </a:pPr>
            <a:r>
              <a:rPr sz="1650" spc="330">
                <a:solidFill>
                  <a:srgbClr val="9FE8DC"/>
                </a:solidFill>
                <a:latin typeface="Todes 1"/>
              </a:rPr>
              <a:t>HOW RIVR SCALES</a:t>
            </a:r>
          </a:p>
        </p:txBody>
      </p:sp>
      <p:sp>
        <p:nvSpPr>
          <p:cNvPr id="4" name="TextBox 3"/>
          <p:cNvSpPr txBox="1"/>
          <p:nvPr/>
        </p:nvSpPr>
        <p:spPr>
          <a:xfrm>
            <a:off x="822959" y="1699869"/>
            <a:ext cx="9969341" cy="1075620"/>
          </a:xfrm>
          <a:prstGeom prst="rect">
            <a:avLst/>
          </a:prstGeom>
          <a:noFill/>
        </p:spPr>
        <p:txBody>
          <a:bodyPr wrap="none" lIns="0" rIns="0" tIns="0" bIns="0">
            <a:spAutoFit/>
          </a:bodyPr>
          <a:lstStyle/>
          <a:p>
            <a:pPr algn="l">
              <a:lnSpc>
                <a:spcPct val="115000"/>
              </a:lnSpc>
            </a:pPr>
            <a:r>
              <a:rPr sz="5841" spc="-79">
                <a:solidFill>
                  <a:srgbClr val="F4EAD8"/>
                </a:solidFill>
                <a:latin typeface="Todes 1"/>
              </a:rPr>
              <a:t>Local doesn't mean </a:t>
            </a:r>
          </a:p>
        </p:txBody>
      </p:sp>
      <p:sp>
        <p:nvSpPr>
          <p:cNvPr id="5" name="TextBox 4"/>
          <p:cNvSpPr txBox="1"/>
          <p:nvPr/>
        </p:nvSpPr>
        <p:spPr>
          <a:xfrm>
            <a:off x="8633841" y="1645919"/>
            <a:ext cx="3557349" cy="1173403"/>
          </a:xfrm>
          <a:prstGeom prst="rect">
            <a:avLst/>
          </a:prstGeom>
          <a:noFill/>
        </p:spPr>
        <p:txBody>
          <a:bodyPr wrap="none" lIns="0" rIns="0" tIns="0" bIns="0">
            <a:spAutoFit/>
          </a:bodyPr>
          <a:lstStyle/>
          <a:p>
            <a:pPr algn="l">
              <a:lnSpc>
                <a:spcPct val="115000"/>
              </a:lnSpc>
            </a:pPr>
            <a:r>
              <a:rPr sz="6372" spc="-75">
                <a:solidFill>
                  <a:srgbClr val="99E6D9"/>
                </a:solidFill>
                <a:latin typeface="Ibarra Real Nova Italics"/>
              </a:rPr>
              <a:t>isolated.</a:t>
            </a:r>
          </a:p>
        </p:txBody>
      </p:sp>
      <p:sp>
        <p:nvSpPr>
          <p:cNvPr id="6" name="Rounded Rectangle 5"/>
          <p:cNvSpPr/>
          <p:nvPr/>
        </p:nvSpPr>
        <p:spPr>
          <a:xfrm>
            <a:off x="822959" y="3771900"/>
            <a:ext cx="5376672" cy="2674620"/>
          </a:xfrm>
          <a:prstGeom prst="roundRect">
            <a:avLst>
              <a:gd name="adj" fmla="val 6000"/>
            </a:avLst>
          </a:prstGeom>
          <a:solidFill>
            <a:srgbClr val="0D3E40"/>
          </a:solidFill>
          <a:ln w="1905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ap.png"/>
          <p:cNvPicPr>
            <a:picLocks noChangeAspect="1"/>
          </p:cNvPicPr>
          <p:nvPr/>
        </p:nvPicPr>
        <p:blipFill>
          <a:blip r:embed="rId4"/>
          <a:stretch>
            <a:fillRect/>
          </a:stretch>
        </p:blipFill>
        <p:spPr>
          <a:xfrm>
            <a:off x="1193292" y="4073652"/>
            <a:ext cx="411479" cy="411479"/>
          </a:xfrm>
          <a:prstGeom prst="rect">
            <a:avLst/>
          </a:prstGeom>
        </p:spPr>
      </p:pic>
      <p:sp>
        <p:nvSpPr>
          <p:cNvPr id="8" name="TextBox 7"/>
          <p:cNvSpPr txBox="1"/>
          <p:nvPr/>
        </p:nvSpPr>
        <p:spPr>
          <a:xfrm>
            <a:off x="1920239" y="4087368"/>
            <a:ext cx="4114800" cy="411479"/>
          </a:xfrm>
          <a:prstGeom prst="rect">
            <a:avLst/>
          </a:prstGeom>
          <a:noFill/>
        </p:spPr>
        <p:txBody>
          <a:bodyPr wrap="none" lIns="0" rIns="0" tIns="0" bIns="0">
            <a:spAutoFit/>
          </a:bodyPr>
          <a:lstStyle/>
          <a:p>
            <a:pPr algn="l">
              <a:lnSpc>
                <a:spcPct val="115000"/>
              </a:lnSpc>
            </a:pPr>
            <a:r>
              <a:rPr sz="1500" spc="330">
                <a:solidFill>
                  <a:srgbClr val="9FE8DC"/>
                </a:solidFill>
                <a:latin typeface="Todes 1"/>
              </a:rPr>
              <a:t>LOCALLY SCOPED</a:t>
            </a:r>
          </a:p>
        </p:txBody>
      </p:sp>
      <p:sp>
        <p:nvSpPr>
          <p:cNvPr id="9" name="TextBox 8"/>
          <p:cNvSpPr txBox="1"/>
          <p:nvPr/>
        </p:nvSpPr>
        <p:spPr>
          <a:xfrm>
            <a:off x="1234439" y="4800600"/>
            <a:ext cx="4663440" cy="1399032"/>
          </a:xfrm>
          <a:prstGeom prst="rect">
            <a:avLst/>
          </a:prstGeom>
          <a:noFill/>
        </p:spPr>
        <p:txBody>
          <a:bodyPr wrap="square" lIns="0" rIns="0" tIns="0" bIns="0">
            <a:spAutoFit/>
          </a:bodyPr>
          <a:lstStyle/>
          <a:p>
            <a:pPr algn="l">
              <a:lnSpc>
                <a:spcPct val="150000"/>
              </a:lnSpc>
            </a:pPr>
            <a:r>
              <a:rPr sz="1650">
                <a:solidFill>
                  <a:srgbClr val="F2ECDD"/>
                </a:solidFill>
                <a:latin typeface="TT Commons Pro"/>
              </a:rPr>
              <a:t>Each place develops around its own</a:t>
            </a:r>
          </a:p>
          <a:p>
            <a:pPr algn="l">
              <a:lnSpc>
                <a:spcPct val="150000"/>
              </a:lnSpc>
            </a:pPr>
            <a:r>
              <a:rPr sz="1650">
                <a:solidFill>
                  <a:srgbClr val="F2ECDD"/>
                </a:solidFill>
                <a:latin typeface="TT Commons Pro"/>
              </a:rPr>
              <a:t>people, culture, ecology, economy,</a:t>
            </a:r>
          </a:p>
          <a:p>
            <a:pPr algn="l">
              <a:lnSpc>
                <a:spcPct val="150000"/>
              </a:lnSpc>
            </a:pPr>
            <a:r>
              <a:rPr sz="1650">
                <a:solidFill>
                  <a:srgbClr val="F2ECDD"/>
                </a:solidFill>
                <a:latin typeface="TT Commons Pro"/>
              </a:rPr>
              <a:t>needs, and resources.</a:t>
            </a:r>
          </a:p>
        </p:txBody>
      </p:sp>
      <p:sp>
        <p:nvSpPr>
          <p:cNvPr id="10" name="Rounded Rectangle 9"/>
          <p:cNvSpPr/>
          <p:nvPr/>
        </p:nvSpPr>
        <p:spPr>
          <a:xfrm>
            <a:off x="6473952" y="3771900"/>
            <a:ext cx="5376672" cy="2674620"/>
          </a:xfrm>
          <a:prstGeom prst="roundRect">
            <a:avLst>
              <a:gd name="adj" fmla="val 6000"/>
            </a:avLst>
          </a:prstGeom>
          <a:solidFill>
            <a:srgbClr val="062A2C"/>
          </a:solidFill>
          <a:ln w="1905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png"/>
          <p:cNvPicPr>
            <a:picLocks noChangeAspect="1"/>
          </p:cNvPicPr>
          <p:nvPr/>
        </p:nvPicPr>
        <p:blipFill>
          <a:blip r:embed="rId5"/>
          <a:stretch>
            <a:fillRect/>
          </a:stretch>
        </p:blipFill>
        <p:spPr>
          <a:xfrm>
            <a:off x="6844283" y="4073652"/>
            <a:ext cx="411479" cy="411479"/>
          </a:xfrm>
          <a:prstGeom prst="rect">
            <a:avLst/>
          </a:prstGeom>
        </p:spPr>
      </p:pic>
      <p:sp>
        <p:nvSpPr>
          <p:cNvPr id="12" name="TextBox 11"/>
          <p:cNvSpPr txBox="1"/>
          <p:nvPr/>
        </p:nvSpPr>
        <p:spPr>
          <a:xfrm>
            <a:off x="7571231" y="4087368"/>
            <a:ext cx="4114800" cy="411479"/>
          </a:xfrm>
          <a:prstGeom prst="rect">
            <a:avLst/>
          </a:prstGeom>
          <a:noFill/>
        </p:spPr>
        <p:txBody>
          <a:bodyPr wrap="none" lIns="0" rIns="0" tIns="0" bIns="0">
            <a:spAutoFit/>
          </a:bodyPr>
          <a:lstStyle/>
          <a:p>
            <a:pPr algn="l">
              <a:lnSpc>
                <a:spcPct val="115000"/>
              </a:lnSpc>
            </a:pPr>
            <a:r>
              <a:rPr sz="1500" spc="330">
                <a:solidFill>
                  <a:srgbClr val="9FE8DC"/>
                </a:solidFill>
                <a:latin typeface="Todes 1"/>
              </a:rPr>
              <a:t>SOVEREIGN</a:t>
            </a:r>
          </a:p>
        </p:txBody>
      </p:sp>
      <p:sp>
        <p:nvSpPr>
          <p:cNvPr id="13" name="TextBox 12"/>
          <p:cNvSpPr txBox="1"/>
          <p:nvPr/>
        </p:nvSpPr>
        <p:spPr>
          <a:xfrm>
            <a:off x="6885431" y="4800600"/>
            <a:ext cx="4663440" cy="1399032"/>
          </a:xfrm>
          <a:prstGeom prst="rect">
            <a:avLst/>
          </a:prstGeom>
          <a:noFill/>
        </p:spPr>
        <p:txBody>
          <a:bodyPr wrap="square" lIns="0" rIns="0" tIns="0" bIns="0">
            <a:spAutoFit/>
          </a:bodyPr>
          <a:lstStyle/>
          <a:p>
            <a:pPr algn="l">
              <a:lnSpc>
                <a:spcPct val="150000"/>
              </a:lnSpc>
            </a:pPr>
            <a:r>
              <a:rPr sz="1650">
                <a:solidFill>
                  <a:srgbClr val="F2ECDD"/>
                </a:solidFill>
                <a:latin typeface="TT Commons Pro"/>
              </a:rPr>
              <a:t>Communities keep their identity,</a:t>
            </a:r>
          </a:p>
          <a:p>
            <a:pPr algn="l">
              <a:lnSpc>
                <a:spcPct val="150000"/>
              </a:lnSpc>
            </a:pPr>
            <a:r>
              <a:rPr sz="1650">
                <a:solidFill>
                  <a:srgbClr val="F2ECDD"/>
                </a:solidFill>
                <a:latin typeface="TT Commons Pro"/>
              </a:rPr>
              <a:t>rules, memory, and authority.</a:t>
            </a:r>
          </a:p>
          <a:p>
            <a:pPr algn="l">
              <a:lnSpc>
                <a:spcPct val="150000"/>
              </a:lnSpc>
            </a:pPr>
            <a:r>
              <a:rPr sz="1650">
                <a:solidFill>
                  <a:srgbClr val="F2ECDD"/>
                </a:solidFill>
                <a:latin typeface="TT Commons Pro"/>
              </a:rPr>
              <a:t>Even their data.</a:t>
            </a:r>
          </a:p>
        </p:txBody>
      </p:sp>
      <p:sp>
        <p:nvSpPr>
          <p:cNvPr id="14" name="Rounded Rectangle 13"/>
          <p:cNvSpPr/>
          <p:nvPr/>
        </p:nvSpPr>
        <p:spPr>
          <a:xfrm>
            <a:off x="12124944" y="3771900"/>
            <a:ext cx="5376672" cy="2674620"/>
          </a:xfrm>
          <a:prstGeom prst="roundRect">
            <a:avLst>
              <a:gd name="adj" fmla="val 6000"/>
            </a:avLst>
          </a:prstGeom>
          <a:solidFill>
            <a:srgbClr val="0D3E40"/>
          </a:solidFill>
          <a:ln w="1905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share.png"/>
          <p:cNvPicPr>
            <a:picLocks noChangeAspect="1"/>
          </p:cNvPicPr>
          <p:nvPr/>
        </p:nvPicPr>
        <p:blipFill>
          <a:blip r:embed="rId6"/>
          <a:stretch>
            <a:fillRect/>
          </a:stretch>
        </p:blipFill>
        <p:spPr>
          <a:xfrm>
            <a:off x="12495276" y="4073652"/>
            <a:ext cx="411479" cy="411479"/>
          </a:xfrm>
          <a:prstGeom prst="rect">
            <a:avLst/>
          </a:prstGeom>
        </p:spPr>
      </p:pic>
      <p:sp>
        <p:nvSpPr>
          <p:cNvPr id="16" name="TextBox 15"/>
          <p:cNvSpPr txBox="1"/>
          <p:nvPr/>
        </p:nvSpPr>
        <p:spPr>
          <a:xfrm>
            <a:off x="13222224" y="4087368"/>
            <a:ext cx="4114800" cy="411479"/>
          </a:xfrm>
          <a:prstGeom prst="rect">
            <a:avLst/>
          </a:prstGeom>
          <a:noFill/>
        </p:spPr>
        <p:txBody>
          <a:bodyPr wrap="none" lIns="0" rIns="0" tIns="0" bIns="0">
            <a:spAutoFit/>
          </a:bodyPr>
          <a:lstStyle/>
          <a:p>
            <a:pPr algn="l">
              <a:lnSpc>
                <a:spcPct val="115000"/>
              </a:lnSpc>
            </a:pPr>
            <a:r>
              <a:rPr sz="1500" spc="330">
                <a:solidFill>
                  <a:srgbClr val="9FE8DC"/>
                </a:solidFill>
                <a:latin typeface="Todes 1"/>
              </a:rPr>
              <a:t>INTEROPERABLE</a:t>
            </a:r>
          </a:p>
        </p:txBody>
      </p:sp>
      <p:sp>
        <p:nvSpPr>
          <p:cNvPr id="17" name="TextBox 16"/>
          <p:cNvSpPr txBox="1"/>
          <p:nvPr/>
        </p:nvSpPr>
        <p:spPr>
          <a:xfrm>
            <a:off x="12536424" y="4800600"/>
            <a:ext cx="4663440" cy="1399032"/>
          </a:xfrm>
          <a:prstGeom prst="rect">
            <a:avLst/>
          </a:prstGeom>
          <a:noFill/>
        </p:spPr>
        <p:txBody>
          <a:bodyPr wrap="square" lIns="0" rIns="0" tIns="0" bIns="0">
            <a:spAutoFit/>
          </a:bodyPr>
          <a:lstStyle/>
          <a:p>
            <a:pPr algn="l">
              <a:lnSpc>
                <a:spcPct val="150000"/>
              </a:lnSpc>
            </a:pPr>
            <a:r>
              <a:rPr sz="1650">
                <a:solidFill>
                  <a:srgbClr val="F2ECDD"/>
                </a:solidFill>
                <a:latin typeface="TT Commons Pro"/>
              </a:rPr>
              <a:t>Shared standards let systems work</a:t>
            </a:r>
          </a:p>
          <a:p>
            <a:pPr algn="l">
              <a:lnSpc>
                <a:spcPct val="150000"/>
              </a:lnSpc>
            </a:pPr>
            <a:r>
              <a:rPr sz="1650">
                <a:solidFill>
                  <a:srgbClr val="F2ECDD"/>
                </a:solidFill>
                <a:latin typeface="TT Commons Pro"/>
              </a:rPr>
              <a:t>together — connecting difference,</a:t>
            </a:r>
          </a:p>
          <a:p>
            <a:pPr algn="l">
              <a:lnSpc>
                <a:spcPct val="150000"/>
              </a:lnSpc>
            </a:pPr>
            <a:r>
              <a:rPr sz="1650">
                <a:solidFill>
                  <a:srgbClr val="F2ECDD"/>
                </a:solidFill>
                <a:latin typeface="TT Commons Pro"/>
              </a:rPr>
              <a:t>not erasing it.</a:t>
            </a:r>
          </a:p>
        </p:txBody>
      </p:sp>
      <p:cxnSp>
        <p:nvCxnSpPr>
          <p:cNvPr id="18" name="Connector 17"/>
          <p:cNvCxnSpPr/>
          <p:nvPr/>
        </p:nvCxnSpPr>
        <p:spPr>
          <a:xfrm>
            <a:off x="3566160" y="6761988"/>
            <a:ext cx="736461" cy="425196"/>
          </a:xfrm>
          <a:prstGeom prst="line">
            <a:avLst/>
          </a:prstGeom>
          <a:ln w="9525">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302621" y="7187184"/>
            <a:ext cx="0" cy="850391"/>
          </a:xfrm>
          <a:prstGeom prst="line">
            <a:avLst/>
          </a:prstGeom>
          <a:ln w="9525">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3566160" y="8037575"/>
            <a:ext cx="736461" cy="425197"/>
          </a:xfrm>
          <a:prstGeom prst="line">
            <a:avLst/>
          </a:prstGeom>
          <a:ln w="9525">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flipV="1">
            <a:off x="2829698" y="8037575"/>
            <a:ext cx="736462" cy="425197"/>
          </a:xfrm>
          <a:prstGeom prst="line">
            <a:avLst/>
          </a:prstGeom>
          <a:ln w="9525">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829698" y="7187184"/>
            <a:ext cx="0" cy="850391"/>
          </a:xfrm>
          <a:prstGeom prst="line">
            <a:avLst/>
          </a:prstGeom>
          <a:ln w="9525">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2829698" y="6761988"/>
            <a:ext cx="736462" cy="425196"/>
          </a:xfrm>
          <a:prstGeom prst="line">
            <a:avLst/>
          </a:prstGeom>
          <a:ln w="9525">
            <a:solidFill>
              <a:srgbClr val="99E6D9"/>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3401568" y="6597396"/>
            <a:ext cx="329184" cy="329184"/>
          </a:xfrm>
          <a:prstGeom prst="ellipse">
            <a:avLst/>
          </a:prstGeom>
          <a:solidFill>
            <a:srgbClr val="0D3E40"/>
          </a:solidFill>
          <a:ln w="1397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138029" y="7022592"/>
            <a:ext cx="329184" cy="329184"/>
          </a:xfrm>
          <a:prstGeom prst="ellipse">
            <a:avLst/>
          </a:prstGeom>
          <a:solidFill>
            <a:srgbClr val="0D3E40"/>
          </a:solidFill>
          <a:ln w="1397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138029" y="7872983"/>
            <a:ext cx="329184" cy="329184"/>
          </a:xfrm>
          <a:prstGeom prst="ellipse">
            <a:avLst/>
          </a:prstGeom>
          <a:solidFill>
            <a:srgbClr val="0D3E40"/>
          </a:solidFill>
          <a:ln w="1397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3401568" y="8298179"/>
            <a:ext cx="329184" cy="329184"/>
          </a:xfrm>
          <a:prstGeom prst="ellipse">
            <a:avLst/>
          </a:prstGeom>
          <a:solidFill>
            <a:srgbClr val="0D3E40"/>
          </a:solidFill>
          <a:ln w="1397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2665106" y="7872983"/>
            <a:ext cx="329184" cy="329184"/>
          </a:xfrm>
          <a:prstGeom prst="ellipse">
            <a:avLst/>
          </a:prstGeom>
          <a:solidFill>
            <a:srgbClr val="0D3E40"/>
          </a:solidFill>
          <a:ln w="1397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2665106" y="7022592"/>
            <a:ext cx="329184" cy="329184"/>
          </a:xfrm>
          <a:prstGeom prst="ellipse">
            <a:avLst/>
          </a:prstGeom>
          <a:solidFill>
            <a:srgbClr val="0D3E40"/>
          </a:solidFill>
          <a:ln w="1397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9134856" y="6761988"/>
            <a:ext cx="736461" cy="425196"/>
          </a:xfrm>
          <a:prstGeom prst="line">
            <a:avLst/>
          </a:prstGeom>
          <a:ln w="9525">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871317" y="7187184"/>
            <a:ext cx="0" cy="850391"/>
          </a:xfrm>
          <a:prstGeom prst="line">
            <a:avLst/>
          </a:prstGeom>
          <a:ln w="9525">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9134856" y="8037575"/>
            <a:ext cx="736461" cy="425197"/>
          </a:xfrm>
          <a:prstGeom prst="line">
            <a:avLst/>
          </a:prstGeom>
          <a:ln w="9525">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8398394" y="8037575"/>
            <a:ext cx="736462" cy="425197"/>
          </a:xfrm>
          <a:prstGeom prst="line">
            <a:avLst/>
          </a:prstGeom>
          <a:ln w="9525">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8398394" y="7187184"/>
            <a:ext cx="0" cy="850391"/>
          </a:xfrm>
          <a:prstGeom prst="line">
            <a:avLst/>
          </a:prstGeom>
          <a:ln w="9525">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8398394" y="6761988"/>
            <a:ext cx="736462" cy="425196"/>
          </a:xfrm>
          <a:prstGeom prst="line">
            <a:avLst/>
          </a:prstGeom>
          <a:ln w="9525">
            <a:solidFill>
              <a:srgbClr val="99E6D9"/>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8970264" y="6597396"/>
            <a:ext cx="329184" cy="329184"/>
          </a:xfrm>
          <a:prstGeom prst="ellipse">
            <a:avLst/>
          </a:prstGeom>
          <a:solidFill>
            <a:srgbClr val="0D3E40"/>
          </a:solidFill>
          <a:ln w="1397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9706725" y="7022592"/>
            <a:ext cx="329184" cy="329184"/>
          </a:xfrm>
          <a:prstGeom prst="ellipse">
            <a:avLst/>
          </a:prstGeom>
          <a:solidFill>
            <a:srgbClr val="0D3E40"/>
          </a:solidFill>
          <a:ln w="1397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9706725" y="7872983"/>
            <a:ext cx="329184" cy="329184"/>
          </a:xfrm>
          <a:prstGeom prst="ellipse">
            <a:avLst/>
          </a:prstGeom>
          <a:solidFill>
            <a:srgbClr val="0D3E40"/>
          </a:solidFill>
          <a:ln w="1397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8970264" y="8298179"/>
            <a:ext cx="329184" cy="329184"/>
          </a:xfrm>
          <a:prstGeom prst="ellipse">
            <a:avLst/>
          </a:prstGeom>
          <a:solidFill>
            <a:srgbClr val="0D3E40"/>
          </a:solidFill>
          <a:ln w="1397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233802" y="7872983"/>
            <a:ext cx="329184" cy="329184"/>
          </a:xfrm>
          <a:prstGeom prst="ellipse">
            <a:avLst/>
          </a:prstGeom>
          <a:solidFill>
            <a:srgbClr val="0D3E40"/>
          </a:solidFill>
          <a:ln w="1397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233802" y="7022592"/>
            <a:ext cx="329184" cy="329184"/>
          </a:xfrm>
          <a:prstGeom prst="ellipse">
            <a:avLst/>
          </a:prstGeom>
          <a:solidFill>
            <a:srgbClr val="0D3E40"/>
          </a:solidFill>
          <a:ln w="1397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2" name="Connector 41"/>
          <p:cNvCxnSpPr/>
          <p:nvPr/>
        </p:nvCxnSpPr>
        <p:spPr>
          <a:xfrm>
            <a:off x="14676119" y="6761988"/>
            <a:ext cx="736462" cy="425196"/>
          </a:xfrm>
          <a:prstGeom prst="line">
            <a:avLst/>
          </a:prstGeom>
          <a:ln w="9525">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5412581" y="7187184"/>
            <a:ext cx="0" cy="850391"/>
          </a:xfrm>
          <a:prstGeom prst="line">
            <a:avLst/>
          </a:prstGeom>
          <a:ln w="9525">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14676119" y="8037575"/>
            <a:ext cx="736462" cy="425197"/>
          </a:xfrm>
          <a:prstGeom prst="line">
            <a:avLst/>
          </a:prstGeom>
          <a:ln w="9525">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13939658" y="8037575"/>
            <a:ext cx="736461" cy="425197"/>
          </a:xfrm>
          <a:prstGeom prst="line">
            <a:avLst/>
          </a:prstGeom>
          <a:ln w="9525">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13939658" y="7187184"/>
            <a:ext cx="0" cy="850391"/>
          </a:xfrm>
          <a:prstGeom prst="line">
            <a:avLst/>
          </a:prstGeom>
          <a:ln w="9525">
            <a:solidFill>
              <a:srgbClr val="99E6D9"/>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3939658" y="6761988"/>
            <a:ext cx="736461" cy="425196"/>
          </a:xfrm>
          <a:prstGeom prst="line">
            <a:avLst/>
          </a:prstGeom>
          <a:ln w="9525">
            <a:solidFill>
              <a:srgbClr val="99E6D9"/>
            </a:solidFill>
          </a:ln>
        </p:spPr>
        <p:style>
          <a:lnRef idx="2">
            <a:schemeClr val="accent1"/>
          </a:lnRef>
          <a:fillRef idx="0">
            <a:schemeClr val="accent1"/>
          </a:fillRef>
          <a:effectRef idx="1">
            <a:schemeClr val="accent1"/>
          </a:effectRef>
          <a:fontRef idx="minor">
            <a:schemeClr val="tx1"/>
          </a:fontRef>
        </p:style>
      </p:cxnSp>
      <p:sp>
        <p:nvSpPr>
          <p:cNvPr id="48" name="Oval 47"/>
          <p:cNvSpPr/>
          <p:nvPr/>
        </p:nvSpPr>
        <p:spPr>
          <a:xfrm>
            <a:off x="14511528" y="6597396"/>
            <a:ext cx="329184" cy="329184"/>
          </a:xfrm>
          <a:prstGeom prst="ellipse">
            <a:avLst/>
          </a:prstGeom>
          <a:solidFill>
            <a:srgbClr val="0D3E40"/>
          </a:solidFill>
          <a:ln w="1397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5247989" y="7022592"/>
            <a:ext cx="329184" cy="329184"/>
          </a:xfrm>
          <a:prstGeom prst="ellipse">
            <a:avLst/>
          </a:prstGeom>
          <a:solidFill>
            <a:srgbClr val="0D3E40"/>
          </a:solidFill>
          <a:ln w="1397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15247989" y="7872983"/>
            <a:ext cx="329184" cy="329184"/>
          </a:xfrm>
          <a:prstGeom prst="ellipse">
            <a:avLst/>
          </a:prstGeom>
          <a:solidFill>
            <a:srgbClr val="0D3E40"/>
          </a:solidFill>
          <a:ln w="1397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4511528" y="8298179"/>
            <a:ext cx="329184" cy="329184"/>
          </a:xfrm>
          <a:prstGeom prst="ellipse">
            <a:avLst/>
          </a:prstGeom>
          <a:solidFill>
            <a:srgbClr val="0D3E40"/>
          </a:solidFill>
          <a:ln w="1397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3775066" y="7872983"/>
            <a:ext cx="329184" cy="329184"/>
          </a:xfrm>
          <a:prstGeom prst="ellipse">
            <a:avLst/>
          </a:prstGeom>
          <a:solidFill>
            <a:srgbClr val="0D3E40"/>
          </a:solidFill>
          <a:ln w="1397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3775066" y="7022592"/>
            <a:ext cx="329184" cy="329184"/>
          </a:xfrm>
          <a:prstGeom prst="ellipse">
            <a:avLst/>
          </a:prstGeom>
          <a:solidFill>
            <a:srgbClr val="0D3E40"/>
          </a:solidFill>
          <a:ln w="1397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4" name="Connector 53"/>
          <p:cNvCxnSpPr/>
          <p:nvPr/>
        </p:nvCxnSpPr>
        <p:spPr>
          <a:xfrm>
            <a:off x="4869179" y="7612379"/>
            <a:ext cx="2962657" cy="0"/>
          </a:xfrm>
          <a:prstGeom prst="line">
            <a:avLst/>
          </a:prstGeom>
          <a:ln w="15240">
            <a:solidFill>
              <a:srgbClr val="F0CC8B"/>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5116068" y="7242048"/>
            <a:ext cx="2468880" cy="411479"/>
          </a:xfrm>
          <a:prstGeom prst="rect">
            <a:avLst/>
          </a:prstGeom>
          <a:noFill/>
        </p:spPr>
        <p:txBody>
          <a:bodyPr wrap="none" lIns="0" rIns="0" tIns="0" bIns="0">
            <a:spAutoFit/>
          </a:bodyPr>
          <a:lstStyle/>
          <a:p>
            <a:pPr algn="ctr">
              <a:lnSpc>
                <a:spcPct val="115000"/>
              </a:lnSpc>
            </a:pPr>
            <a:r>
              <a:rPr sz="1950">
                <a:solidFill>
                  <a:srgbClr val="F0CC8B"/>
                </a:solidFill>
                <a:latin typeface="TT Commons Pro"/>
              </a:rPr>
              <a:t>↔</a:t>
            </a:r>
          </a:p>
        </p:txBody>
      </p:sp>
      <p:cxnSp>
        <p:nvCxnSpPr>
          <p:cNvPr id="56" name="Connector 55"/>
          <p:cNvCxnSpPr/>
          <p:nvPr/>
        </p:nvCxnSpPr>
        <p:spPr>
          <a:xfrm>
            <a:off x="10437876" y="7612379"/>
            <a:ext cx="2935224" cy="0"/>
          </a:xfrm>
          <a:prstGeom prst="line">
            <a:avLst/>
          </a:prstGeom>
          <a:ln w="15240">
            <a:solidFill>
              <a:srgbClr val="F0CC8B"/>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10671047" y="7242048"/>
            <a:ext cx="2468880" cy="411479"/>
          </a:xfrm>
          <a:prstGeom prst="rect">
            <a:avLst/>
          </a:prstGeom>
          <a:noFill/>
        </p:spPr>
        <p:txBody>
          <a:bodyPr wrap="none" lIns="0" rIns="0" tIns="0" bIns="0">
            <a:spAutoFit/>
          </a:bodyPr>
          <a:lstStyle/>
          <a:p>
            <a:pPr algn="ctr">
              <a:lnSpc>
                <a:spcPct val="115000"/>
              </a:lnSpc>
            </a:pPr>
            <a:r>
              <a:rPr sz="1950">
                <a:solidFill>
                  <a:srgbClr val="F0CC8B"/>
                </a:solidFill>
                <a:latin typeface="TT Commons Pro"/>
              </a:rPr>
              <a:t>↔</a:t>
            </a:r>
          </a:p>
        </p:txBody>
      </p:sp>
      <p:sp>
        <p:nvSpPr>
          <p:cNvPr id="58" name="TextBox 57"/>
          <p:cNvSpPr txBox="1"/>
          <p:nvPr/>
        </p:nvSpPr>
        <p:spPr>
          <a:xfrm>
            <a:off x="822959" y="8641080"/>
            <a:ext cx="16596359" cy="1097280"/>
          </a:xfrm>
          <a:prstGeom prst="rect">
            <a:avLst/>
          </a:prstGeom>
          <a:noFill/>
        </p:spPr>
        <p:txBody>
          <a:bodyPr wrap="square" lIns="0" rIns="0" tIns="0" bIns="0">
            <a:spAutoFit/>
          </a:bodyPr>
          <a:lstStyle/>
          <a:p>
            <a:pPr algn="ctr">
              <a:lnSpc>
                <a:spcPct val="140000"/>
              </a:lnSpc>
            </a:pPr>
            <a:r>
              <a:rPr sz="1875">
                <a:solidFill>
                  <a:srgbClr val="F2ECDD"/>
                </a:solidFill>
                <a:latin typeface="TT Commons Pro"/>
              </a:rPr>
              <a:t>Not one centralized global marketplace with dependent users everywhere —</a:t>
            </a:r>
          </a:p>
          <a:p>
            <a:pPr algn="ctr">
              <a:lnSpc>
                <a:spcPct val="140000"/>
              </a:lnSpc>
            </a:pPr>
            <a:r>
              <a:rPr sz="2100" spc="20">
                <a:solidFill>
                  <a:srgbClr val="EBCF9E"/>
                </a:solidFill>
                <a:latin typeface="Alike Italics"/>
              </a:rPr>
              <a:t>strong local networks ↔ connected to strong local networks.</a:t>
            </a:r>
          </a:p>
        </p:txBody>
      </p:sp>
      <p:pic>
        <p:nvPicPr>
          <p:cNvPr id="59" name="Picture 58" descr="rivr-symbol-light.png"/>
          <p:cNvPicPr>
            <a:picLocks noChangeAspect="1"/>
          </p:cNvPicPr>
          <p:nvPr/>
        </p:nvPicPr>
        <p:blipFill>
          <a:blip r:embed="rId7"/>
          <a:stretch>
            <a:fillRect/>
          </a:stretch>
        </p:blipFill>
        <p:spPr>
          <a:xfrm>
            <a:off x="576072" y="9518904"/>
            <a:ext cx="521208" cy="521208"/>
          </a:xfrm>
          <a:prstGeom prst="rect">
            <a:avLst/>
          </a:prstGeom>
        </p:spPr>
      </p:pic>
      <p:sp>
        <p:nvSpPr>
          <p:cNvPr id="60" name="TextBox 59"/>
          <p:cNvSpPr txBox="1"/>
          <p:nvPr/>
        </p:nvSpPr>
        <p:spPr>
          <a:xfrm>
            <a:off x="1371600" y="9724644"/>
            <a:ext cx="5486400" cy="301752"/>
          </a:xfrm>
          <a:prstGeom prst="rect">
            <a:avLst/>
          </a:prstGeom>
          <a:noFill/>
        </p:spPr>
        <p:txBody>
          <a:bodyPr wrap="none" lIns="0" rIns="0" tIns="0" bIns="0">
            <a:spAutoFit/>
          </a:bodyPr>
          <a:lstStyle/>
          <a:p>
            <a:pPr algn="l">
              <a:lnSpc>
                <a:spcPct val="115000"/>
              </a:lnSpc>
            </a:pPr>
            <a:r>
              <a:rPr sz="1350" spc="150">
                <a:solidFill>
                  <a:srgbClr val="AFC4C2"/>
                </a:solidFill>
                <a:latin typeface="TT Commons Pro"/>
              </a:rPr>
              <a:t>Rivr · Seed Round 2026</a:t>
            </a:r>
          </a:p>
        </p:txBody>
      </p:sp>
      <p:sp>
        <p:nvSpPr>
          <p:cNvPr id="61" name="TextBox 60"/>
          <p:cNvSpPr txBox="1"/>
          <p:nvPr/>
        </p:nvSpPr>
        <p:spPr>
          <a:xfrm>
            <a:off x="16870680" y="9724644"/>
            <a:ext cx="960119" cy="301752"/>
          </a:xfrm>
          <a:prstGeom prst="rect">
            <a:avLst/>
          </a:prstGeom>
          <a:noFill/>
        </p:spPr>
        <p:txBody>
          <a:bodyPr wrap="none" lIns="0" rIns="0" tIns="0" bIns="0">
            <a:spAutoFit/>
          </a:bodyPr>
          <a:lstStyle/>
          <a:p>
            <a:pPr algn="r">
              <a:lnSpc>
                <a:spcPct val="115000"/>
              </a:lnSpc>
            </a:pPr>
            <a:r>
              <a:rPr sz="1350" spc="150">
                <a:solidFill>
                  <a:srgbClr val="AFC4C2"/>
                </a:solidFill>
                <a:latin typeface="TT Commons Pro"/>
              </a:rPr>
              <a:t>46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03333"/>
        </a:solidFill>
        <a:effectLst/>
      </p:bgPr>
    </p:bg>
    <p:spTree>
      <p:nvGrpSpPr>
        <p:cNvPr id="1" name=""/>
        <p:cNvGrpSpPr/>
        <p:nvPr/>
      </p:nvGrpSpPr>
      <p:grpSpPr/>
      <p:pic>
        <p:nvPicPr>
          <p:cNvPr id="2" name="Picture 1" descr="bg_c43.jpg"/>
          <p:cNvPicPr>
            <a:picLocks noChangeAspect="1"/>
          </p:cNvPicPr>
          <p:nvPr/>
        </p:nvPicPr>
        <p:blipFill>
          <a:blip r:embed="rId2"/>
          <a:stretch>
            <a:fillRect/>
          </a:stretch>
        </p:blipFill>
        <p:spPr>
          <a:xfrm>
            <a:off x="0" y="0"/>
            <a:ext cx="18287542" cy="10287000"/>
          </a:xfrm>
          <a:prstGeom prst="rect">
            <a:avLst/>
          </a:prstGeom>
        </p:spPr>
      </p:pic>
      <p:sp>
        <p:nvSpPr>
          <p:cNvPr id="3" name="TextBox 2"/>
          <p:cNvSpPr txBox="1"/>
          <p:nvPr/>
        </p:nvSpPr>
        <p:spPr>
          <a:xfrm>
            <a:off x="822959" y="822959"/>
            <a:ext cx="16733519" cy="384048"/>
          </a:xfrm>
          <a:prstGeom prst="rect">
            <a:avLst/>
          </a:prstGeom>
          <a:noFill/>
        </p:spPr>
        <p:txBody>
          <a:bodyPr wrap="none" lIns="0" rIns="0" tIns="0" bIns="0">
            <a:spAutoFit/>
          </a:bodyPr>
          <a:lstStyle/>
          <a:p>
            <a:pPr algn="l">
              <a:lnSpc>
                <a:spcPct val="115000"/>
              </a:lnSpc>
            </a:pPr>
            <a:r>
              <a:rPr sz="1650" spc="330">
                <a:solidFill>
                  <a:srgbClr val="9FE8DC"/>
                </a:solidFill>
                <a:latin typeface="Todes 1"/>
              </a:rPr>
              <a:t>GROWTH MODEL</a:t>
            </a:r>
          </a:p>
        </p:txBody>
      </p:sp>
      <p:sp>
        <p:nvSpPr>
          <p:cNvPr id="4" name="TextBox 3"/>
          <p:cNvSpPr txBox="1"/>
          <p:nvPr/>
        </p:nvSpPr>
        <p:spPr>
          <a:xfrm>
            <a:off x="822959" y="1699869"/>
            <a:ext cx="3173809" cy="1075620"/>
          </a:xfrm>
          <a:prstGeom prst="rect">
            <a:avLst/>
          </a:prstGeom>
          <a:noFill/>
        </p:spPr>
        <p:txBody>
          <a:bodyPr wrap="none" lIns="0" rIns="0" tIns="0" bIns="0">
            <a:spAutoFit/>
          </a:bodyPr>
          <a:lstStyle/>
          <a:p>
            <a:pPr algn="l">
              <a:lnSpc>
                <a:spcPct val="115000"/>
              </a:lnSpc>
            </a:pPr>
            <a:r>
              <a:rPr sz="5841" spc="-79">
                <a:solidFill>
                  <a:srgbClr val="F4EAD8"/>
                </a:solidFill>
                <a:latin typeface="Todes 1"/>
              </a:rPr>
              <a:t>Grow </a:t>
            </a:r>
          </a:p>
        </p:txBody>
      </p:sp>
      <p:sp>
        <p:nvSpPr>
          <p:cNvPr id="5" name="TextBox 4"/>
          <p:cNvSpPr txBox="1"/>
          <p:nvPr/>
        </p:nvSpPr>
        <p:spPr>
          <a:xfrm>
            <a:off x="3197415" y="1645919"/>
            <a:ext cx="5688568" cy="1173403"/>
          </a:xfrm>
          <a:prstGeom prst="rect">
            <a:avLst/>
          </a:prstGeom>
          <a:noFill/>
        </p:spPr>
        <p:txBody>
          <a:bodyPr wrap="none" lIns="0" rIns="0" tIns="0" bIns="0">
            <a:spAutoFit/>
          </a:bodyPr>
          <a:lstStyle/>
          <a:p>
            <a:pPr algn="l">
              <a:lnSpc>
                <a:spcPct val="115000"/>
              </a:lnSpc>
            </a:pPr>
            <a:r>
              <a:rPr sz="6372" spc="-75">
                <a:solidFill>
                  <a:srgbClr val="EBCF9E"/>
                </a:solidFill>
                <a:latin typeface="Ibarra Real Nova Italics"/>
              </a:rPr>
              <a:t>one place deep</a:t>
            </a:r>
          </a:p>
        </p:txBody>
      </p:sp>
      <p:sp>
        <p:nvSpPr>
          <p:cNvPr id="6" name="TextBox 5"/>
          <p:cNvSpPr txBox="1"/>
          <p:nvPr/>
        </p:nvSpPr>
        <p:spPr>
          <a:xfrm>
            <a:off x="7583678" y="1699869"/>
            <a:ext cx="4890452" cy="1075620"/>
          </a:xfrm>
          <a:prstGeom prst="rect">
            <a:avLst/>
          </a:prstGeom>
          <a:noFill/>
        </p:spPr>
        <p:txBody>
          <a:bodyPr wrap="none" lIns="0" rIns="0" tIns="0" bIns="0">
            <a:spAutoFit/>
          </a:bodyPr>
          <a:lstStyle/>
          <a:p>
            <a:pPr algn="l">
              <a:lnSpc>
                <a:spcPct val="115000"/>
              </a:lnSpc>
            </a:pPr>
            <a:r>
              <a:rPr sz="5841" spc="-79">
                <a:solidFill>
                  <a:srgbClr val="F4EAD8"/>
                </a:solidFill>
                <a:latin typeface="Todes 1"/>
              </a:rPr>
              <a:t> at a time.</a:t>
            </a:r>
          </a:p>
        </p:txBody>
      </p:sp>
      <p:sp>
        <p:nvSpPr>
          <p:cNvPr id="7" name="Rounded Rectangle 6"/>
          <p:cNvSpPr/>
          <p:nvPr/>
        </p:nvSpPr>
        <p:spPr>
          <a:xfrm>
            <a:off x="822959" y="3771900"/>
            <a:ext cx="3977639" cy="2125980"/>
          </a:xfrm>
          <a:prstGeom prst="roundRect">
            <a:avLst>
              <a:gd name="adj" fmla="val 6000"/>
            </a:avLst>
          </a:prstGeom>
          <a:solidFill>
            <a:srgbClr val="0D3E40"/>
          </a:solidFill>
          <a:ln w="17145">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65860" y="4046220"/>
            <a:ext cx="960119" cy="548640"/>
          </a:xfrm>
          <a:prstGeom prst="rect">
            <a:avLst/>
          </a:prstGeom>
          <a:noFill/>
        </p:spPr>
        <p:txBody>
          <a:bodyPr wrap="square" lIns="0" rIns="0" tIns="0" bIns="0">
            <a:spAutoFit/>
          </a:bodyPr>
          <a:lstStyle/>
          <a:p>
            <a:pPr algn="l">
              <a:lnSpc>
                <a:spcPct val="115000"/>
              </a:lnSpc>
            </a:pPr>
            <a:r>
              <a:rPr sz="2850">
                <a:solidFill>
                  <a:srgbClr val="F0CC8B"/>
                </a:solidFill>
                <a:latin typeface="Ibarra Real Nova Italics"/>
              </a:rPr>
              <a:t>01</a:t>
            </a:r>
          </a:p>
        </p:txBody>
      </p:sp>
      <p:sp>
        <p:nvSpPr>
          <p:cNvPr id="9" name="TextBox 8"/>
          <p:cNvSpPr txBox="1"/>
          <p:nvPr/>
        </p:nvSpPr>
        <p:spPr>
          <a:xfrm>
            <a:off x="2125979" y="4155948"/>
            <a:ext cx="2606039" cy="411479"/>
          </a:xfrm>
          <a:prstGeom prst="rect">
            <a:avLst/>
          </a:prstGeom>
          <a:noFill/>
        </p:spPr>
        <p:txBody>
          <a:bodyPr wrap="none" lIns="0" rIns="0" tIns="0" bIns="0">
            <a:spAutoFit/>
          </a:bodyPr>
          <a:lstStyle/>
          <a:p>
            <a:pPr algn="l">
              <a:lnSpc>
                <a:spcPct val="115000"/>
              </a:lnSpc>
            </a:pPr>
            <a:r>
              <a:rPr sz="1575" spc="330">
                <a:solidFill>
                  <a:srgbClr val="9FE8DC"/>
                </a:solidFill>
                <a:latin typeface="Todes 1"/>
              </a:rPr>
              <a:t>SEED</a:t>
            </a:r>
          </a:p>
        </p:txBody>
      </p:sp>
      <p:sp>
        <p:nvSpPr>
          <p:cNvPr id="10" name="TextBox 9"/>
          <p:cNvSpPr txBox="1"/>
          <p:nvPr/>
        </p:nvSpPr>
        <p:spPr>
          <a:xfrm>
            <a:off x="1165860" y="4800600"/>
            <a:ext cx="3429000" cy="960119"/>
          </a:xfrm>
          <a:prstGeom prst="rect">
            <a:avLst/>
          </a:prstGeom>
          <a:noFill/>
        </p:spPr>
        <p:txBody>
          <a:bodyPr wrap="square" lIns="0" rIns="0" tIns="0" bIns="0">
            <a:spAutoFit/>
          </a:bodyPr>
          <a:lstStyle/>
          <a:p>
            <a:pPr algn="l">
              <a:lnSpc>
                <a:spcPct val="140000"/>
              </a:lnSpc>
            </a:pPr>
            <a:r>
              <a:rPr sz="1575">
                <a:solidFill>
                  <a:srgbClr val="F2ECDD"/>
                </a:solidFill>
                <a:latin typeface="TT Commons Pro"/>
              </a:rPr>
              <a:t>a strong local community</a:t>
            </a:r>
          </a:p>
        </p:txBody>
      </p:sp>
      <p:sp>
        <p:nvSpPr>
          <p:cNvPr id="11" name="Right Arrow 10"/>
          <p:cNvSpPr/>
          <p:nvPr/>
        </p:nvSpPr>
        <p:spPr>
          <a:xfrm>
            <a:off x="4869180" y="4732020"/>
            <a:ext cx="137160" cy="219456"/>
          </a:xfrm>
          <a:prstGeom prst="rightArrow">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061204" y="3771900"/>
            <a:ext cx="3977639" cy="2125980"/>
          </a:xfrm>
          <a:prstGeom prst="roundRect">
            <a:avLst>
              <a:gd name="adj" fmla="val 6000"/>
            </a:avLst>
          </a:prstGeom>
          <a:solidFill>
            <a:srgbClr val="062A2C"/>
          </a:solidFill>
          <a:ln w="17145">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04104" y="4046220"/>
            <a:ext cx="960119" cy="548640"/>
          </a:xfrm>
          <a:prstGeom prst="rect">
            <a:avLst/>
          </a:prstGeom>
          <a:noFill/>
        </p:spPr>
        <p:txBody>
          <a:bodyPr wrap="square" lIns="0" rIns="0" tIns="0" bIns="0">
            <a:spAutoFit/>
          </a:bodyPr>
          <a:lstStyle/>
          <a:p>
            <a:pPr algn="l">
              <a:lnSpc>
                <a:spcPct val="115000"/>
              </a:lnSpc>
            </a:pPr>
            <a:r>
              <a:rPr sz="2850">
                <a:solidFill>
                  <a:srgbClr val="F0CC8B"/>
                </a:solidFill>
                <a:latin typeface="Ibarra Real Nova Italics"/>
              </a:rPr>
              <a:t>02</a:t>
            </a:r>
          </a:p>
        </p:txBody>
      </p:sp>
      <p:sp>
        <p:nvSpPr>
          <p:cNvPr id="14" name="TextBox 13"/>
          <p:cNvSpPr txBox="1"/>
          <p:nvPr/>
        </p:nvSpPr>
        <p:spPr>
          <a:xfrm>
            <a:off x="6364223" y="4155948"/>
            <a:ext cx="2606039" cy="411479"/>
          </a:xfrm>
          <a:prstGeom prst="rect">
            <a:avLst/>
          </a:prstGeom>
          <a:noFill/>
        </p:spPr>
        <p:txBody>
          <a:bodyPr wrap="none" lIns="0" rIns="0" tIns="0" bIns="0">
            <a:spAutoFit/>
          </a:bodyPr>
          <a:lstStyle/>
          <a:p>
            <a:pPr algn="l">
              <a:lnSpc>
                <a:spcPct val="115000"/>
              </a:lnSpc>
            </a:pPr>
            <a:r>
              <a:rPr sz="1575" spc="330">
                <a:solidFill>
                  <a:srgbClr val="9FE8DC"/>
                </a:solidFill>
                <a:latin typeface="Todes 1"/>
              </a:rPr>
              <a:t>ANCHOR</a:t>
            </a:r>
          </a:p>
        </p:txBody>
      </p:sp>
      <p:sp>
        <p:nvSpPr>
          <p:cNvPr id="15" name="TextBox 14"/>
          <p:cNvSpPr txBox="1"/>
          <p:nvPr/>
        </p:nvSpPr>
        <p:spPr>
          <a:xfrm>
            <a:off x="5404104" y="4800600"/>
            <a:ext cx="3429000" cy="960119"/>
          </a:xfrm>
          <a:prstGeom prst="rect">
            <a:avLst/>
          </a:prstGeom>
          <a:noFill/>
        </p:spPr>
        <p:txBody>
          <a:bodyPr wrap="square" lIns="0" rIns="0" tIns="0" bIns="0">
            <a:spAutoFit/>
          </a:bodyPr>
          <a:lstStyle/>
          <a:p>
            <a:pPr algn="l">
              <a:lnSpc>
                <a:spcPct val="140000"/>
              </a:lnSpc>
            </a:pPr>
            <a:r>
              <a:rPr sz="1575">
                <a:solidFill>
                  <a:srgbClr val="F2ECDD"/>
                </a:solidFill>
                <a:latin typeface="TT Commons Pro"/>
              </a:rPr>
              <a:t>events, organizations, creators, trusted members</a:t>
            </a:r>
          </a:p>
        </p:txBody>
      </p:sp>
      <p:sp>
        <p:nvSpPr>
          <p:cNvPr id="16" name="Right Arrow 15"/>
          <p:cNvSpPr/>
          <p:nvPr/>
        </p:nvSpPr>
        <p:spPr>
          <a:xfrm>
            <a:off x="9107424" y="4732020"/>
            <a:ext cx="137160" cy="219456"/>
          </a:xfrm>
          <a:prstGeom prst="rightArrow">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299447" y="3771900"/>
            <a:ext cx="3977639" cy="2125980"/>
          </a:xfrm>
          <a:prstGeom prst="roundRect">
            <a:avLst>
              <a:gd name="adj" fmla="val 6000"/>
            </a:avLst>
          </a:prstGeom>
          <a:solidFill>
            <a:srgbClr val="0D3E40"/>
          </a:solidFill>
          <a:ln w="17145">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42347" y="4046220"/>
            <a:ext cx="960119" cy="548640"/>
          </a:xfrm>
          <a:prstGeom prst="rect">
            <a:avLst/>
          </a:prstGeom>
          <a:noFill/>
        </p:spPr>
        <p:txBody>
          <a:bodyPr wrap="square" lIns="0" rIns="0" tIns="0" bIns="0">
            <a:spAutoFit/>
          </a:bodyPr>
          <a:lstStyle/>
          <a:p>
            <a:pPr algn="l">
              <a:lnSpc>
                <a:spcPct val="115000"/>
              </a:lnSpc>
            </a:pPr>
            <a:r>
              <a:rPr sz="2850">
                <a:solidFill>
                  <a:srgbClr val="F0CC8B"/>
                </a:solidFill>
                <a:latin typeface="Ibarra Real Nova Italics"/>
              </a:rPr>
              <a:t>03</a:t>
            </a:r>
          </a:p>
        </p:txBody>
      </p:sp>
      <p:sp>
        <p:nvSpPr>
          <p:cNvPr id="19" name="TextBox 18"/>
          <p:cNvSpPr txBox="1"/>
          <p:nvPr/>
        </p:nvSpPr>
        <p:spPr>
          <a:xfrm>
            <a:off x="10602467" y="4155948"/>
            <a:ext cx="2606039" cy="411479"/>
          </a:xfrm>
          <a:prstGeom prst="rect">
            <a:avLst/>
          </a:prstGeom>
          <a:noFill/>
        </p:spPr>
        <p:txBody>
          <a:bodyPr wrap="none" lIns="0" rIns="0" tIns="0" bIns="0">
            <a:spAutoFit/>
          </a:bodyPr>
          <a:lstStyle/>
          <a:p>
            <a:pPr algn="l">
              <a:lnSpc>
                <a:spcPct val="115000"/>
              </a:lnSpc>
            </a:pPr>
            <a:r>
              <a:rPr sz="1575" spc="330">
                <a:solidFill>
                  <a:srgbClr val="9FE8DC"/>
                </a:solidFill>
                <a:latin typeface="Todes 1"/>
              </a:rPr>
              <a:t>DENSITY</a:t>
            </a:r>
          </a:p>
        </p:txBody>
      </p:sp>
      <p:sp>
        <p:nvSpPr>
          <p:cNvPr id="20" name="TextBox 19"/>
          <p:cNvSpPr txBox="1"/>
          <p:nvPr/>
        </p:nvSpPr>
        <p:spPr>
          <a:xfrm>
            <a:off x="9642347" y="4800600"/>
            <a:ext cx="3429000" cy="960119"/>
          </a:xfrm>
          <a:prstGeom prst="rect">
            <a:avLst/>
          </a:prstGeom>
          <a:noFill/>
        </p:spPr>
        <p:txBody>
          <a:bodyPr wrap="square" lIns="0" rIns="0" tIns="0" bIns="0">
            <a:spAutoFit/>
          </a:bodyPr>
          <a:lstStyle/>
          <a:p>
            <a:pPr algn="l">
              <a:lnSpc>
                <a:spcPct val="140000"/>
              </a:lnSpc>
            </a:pPr>
            <a:r>
              <a:rPr sz="1575">
                <a:solidFill>
                  <a:srgbClr val="F2ECDD"/>
                </a:solidFill>
                <a:latin typeface="TT Commons Pro"/>
              </a:rPr>
              <a:t>enough activity that the network becomes useful</a:t>
            </a:r>
          </a:p>
        </p:txBody>
      </p:sp>
      <p:sp>
        <p:nvSpPr>
          <p:cNvPr id="21" name="Right Arrow 20"/>
          <p:cNvSpPr/>
          <p:nvPr/>
        </p:nvSpPr>
        <p:spPr>
          <a:xfrm>
            <a:off x="13345668" y="4732020"/>
            <a:ext cx="137160" cy="219456"/>
          </a:xfrm>
          <a:prstGeom prst="rightArrow">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3537692" y="3771900"/>
            <a:ext cx="3977639" cy="2125980"/>
          </a:xfrm>
          <a:prstGeom prst="roundRect">
            <a:avLst>
              <a:gd name="adj" fmla="val 6000"/>
            </a:avLst>
          </a:prstGeom>
          <a:solidFill>
            <a:srgbClr val="062A2C"/>
          </a:solidFill>
          <a:ln w="17145">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3880592" y="4046220"/>
            <a:ext cx="960119" cy="548640"/>
          </a:xfrm>
          <a:prstGeom prst="rect">
            <a:avLst/>
          </a:prstGeom>
          <a:noFill/>
        </p:spPr>
        <p:txBody>
          <a:bodyPr wrap="square" lIns="0" rIns="0" tIns="0" bIns="0">
            <a:spAutoFit/>
          </a:bodyPr>
          <a:lstStyle/>
          <a:p>
            <a:pPr algn="l">
              <a:lnSpc>
                <a:spcPct val="115000"/>
              </a:lnSpc>
            </a:pPr>
            <a:r>
              <a:rPr sz="2850">
                <a:solidFill>
                  <a:srgbClr val="F0CC8B"/>
                </a:solidFill>
                <a:latin typeface="Ibarra Real Nova Italics"/>
              </a:rPr>
              <a:t>04</a:t>
            </a:r>
          </a:p>
        </p:txBody>
      </p:sp>
      <p:sp>
        <p:nvSpPr>
          <p:cNvPr id="24" name="TextBox 23"/>
          <p:cNvSpPr txBox="1"/>
          <p:nvPr/>
        </p:nvSpPr>
        <p:spPr>
          <a:xfrm>
            <a:off x="14840711" y="4155948"/>
            <a:ext cx="2606039" cy="411479"/>
          </a:xfrm>
          <a:prstGeom prst="rect">
            <a:avLst/>
          </a:prstGeom>
          <a:noFill/>
        </p:spPr>
        <p:txBody>
          <a:bodyPr wrap="none" lIns="0" rIns="0" tIns="0" bIns="0">
            <a:spAutoFit/>
          </a:bodyPr>
          <a:lstStyle/>
          <a:p>
            <a:pPr algn="l">
              <a:lnSpc>
                <a:spcPct val="115000"/>
              </a:lnSpc>
            </a:pPr>
            <a:r>
              <a:rPr sz="1575" spc="330">
                <a:solidFill>
                  <a:srgbClr val="9FE8DC"/>
                </a:solidFill>
                <a:latin typeface="Todes 1"/>
              </a:rPr>
              <a:t>REPLICATE</a:t>
            </a:r>
          </a:p>
        </p:txBody>
      </p:sp>
      <p:sp>
        <p:nvSpPr>
          <p:cNvPr id="25" name="TextBox 24"/>
          <p:cNvSpPr txBox="1"/>
          <p:nvPr/>
        </p:nvSpPr>
        <p:spPr>
          <a:xfrm>
            <a:off x="13880592" y="4800600"/>
            <a:ext cx="3429000" cy="960119"/>
          </a:xfrm>
          <a:prstGeom prst="rect">
            <a:avLst/>
          </a:prstGeom>
          <a:noFill/>
        </p:spPr>
        <p:txBody>
          <a:bodyPr wrap="square" lIns="0" rIns="0" tIns="0" bIns="0">
            <a:spAutoFit/>
          </a:bodyPr>
          <a:lstStyle/>
          <a:p>
            <a:pPr algn="l">
              <a:lnSpc>
                <a:spcPct val="140000"/>
              </a:lnSpc>
            </a:pPr>
            <a:r>
              <a:rPr sz="1575">
                <a:solidFill>
                  <a:srgbClr val="F2ECDD"/>
                </a:solidFill>
                <a:latin typeface="TT Commons Pro"/>
              </a:rPr>
              <a:t>aligned places, local stewards, partner networks</a:t>
            </a:r>
          </a:p>
        </p:txBody>
      </p:sp>
      <p:sp>
        <p:nvSpPr>
          <p:cNvPr id="26" name="Rounded Rectangle 25"/>
          <p:cNvSpPr/>
          <p:nvPr/>
        </p:nvSpPr>
        <p:spPr>
          <a:xfrm>
            <a:off x="822959" y="6309359"/>
            <a:ext cx="8161020" cy="2194560"/>
          </a:xfrm>
          <a:prstGeom prst="roundRect">
            <a:avLst>
              <a:gd name="adj" fmla="val 6000"/>
            </a:avLst>
          </a:prstGeom>
          <a:solidFill>
            <a:srgbClr val="0D3E40"/>
          </a:solidFill>
          <a:ln w="22859">
            <a:solidFill>
              <a:srgbClr val="F0CC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34440" y="6611112"/>
            <a:ext cx="7406640" cy="411479"/>
          </a:xfrm>
          <a:prstGeom prst="rect">
            <a:avLst/>
          </a:prstGeom>
          <a:noFill/>
        </p:spPr>
        <p:txBody>
          <a:bodyPr wrap="none" lIns="0" rIns="0" tIns="0" bIns="0">
            <a:spAutoFit/>
          </a:bodyPr>
          <a:lstStyle/>
          <a:p>
            <a:pPr algn="l">
              <a:lnSpc>
                <a:spcPct val="115000"/>
              </a:lnSpc>
            </a:pPr>
            <a:r>
              <a:rPr sz="1500" spc="330">
                <a:solidFill>
                  <a:srgbClr val="EBCF9E"/>
                </a:solidFill>
                <a:latin typeface="Todes 1"/>
              </a:rPr>
              <a:t>PROVEN BEFORE — ONE BOULDER 2020–2023</a:t>
            </a:r>
          </a:p>
        </p:txBody>
      </p:sp>
      <p:sp>
        <p:nvSpPr>
          <p:cNvPr id="28" name="TextBox 27"/>
          <p:cNvSpPr txBox="1"/>
          <p:nvPr/>
        </p:nvSpPr>
        <p:spPr>
          <a:xfrm>
            <a:off x="1234440" y="7159752"/>
            <a:ext cx="7406640" cy="1097280"/>
          </a:xfrm>
          <a:prstGeom prst="rect">
            <a:avLst/>
          </a:prstGeom>
          <a:noFill/>
        </p:spPr>
        <p:txBody>
          <a:bodyPr wrap="square" lIns="0" rIns="0" tIns="0" bIns="0">
            <a:spAutoFit/>
          </a:bodyPr>
          <a:lstStyle/>
          <a:p>
            <a:pPr algn="l">
              <a:lnSpc>
                <a:spcPct val="145000"/>
              </a:lnSpc>
            </a:pPr>
            <a:r>
              <a:rPr sz="1800">
                <a:solidFill>
                  <a:srgbClr val="F2ECDD"/>
                </a:solidFill>
                <a:latin typeface="TT Commons Pro"/>
              </a:rPr>
              <a:t>Nearly </a:t>
            </a:r>
            <a:r>
              <a:rPr sz="1800">
                <a:solidFill>
                  <a:srgbClr val="F4EAD8"/>
                </a:solidFill>
                <a:latin typeface="TT Commons Pro Bold"/>
              </a:rPr>
              <a:t>4,800 users</a:t>
            </a:r>
            <a:r>
              <a:rPr sz="1800">
                <a:solidFill>
                  <a:srgbClr val="F2ECDD"/>
                </a:solidFill>
                <a:latin typeface="TT Commons Pro"/>
              </a:rPr>
              <a:t> on one locale's events;</a:t>
            </a:r>
          </a:p>
          <a:p>
            <a:pPr algn="l">
              <a:lnSpc>
                <a:spcPct val="145000"/>
              </a:lnSpc>
            </a:pPr>
            <a:r>
              <a:rPr sz="1800">
                <a:solidFill>
                  <a:srgbClr val="F4EAD8"/>
                </a:solidFill>
                <a:latin typeface="TT Commons Pro Bold"/>
              </a:rPr>
              <a:t>42% of high-activity users</a:t>
            </a:r>
            <a:r>
              <a:rPr sz="1800">
                <a:solidFill>
                  <a:srgbClr val="F2ECDD"/>
                </a:solidFill>
                <a:latin typeface="TT Commons Pro"/>
              </a:rPr>
              <a:t> converted to paid</a:t>
            </a:r>
          </a:p>
          <a:p>
            <a:pPr algn="l">
              <a:lnSpc>
                <a:spcPct val="145000"/>
              </a:lnSpc>
            </a:pPr>
            <a:r>
              <a:rPr sz="1800">
                <a:solidFill>
                  <a:srgbClr val="F2ECDD"/>
                </a:solidFill>
                <a:latin typeface="TT Commons Pro"/>
              </a:rPr>
              <a:t>membership. The playbook Rivr now ships as software.</a:t>
            </a:r>
          </a:p>
        </p:txBody>
      </p:sp>
      <p:sp>
        <p:nvSpPr>
          <p:cNvPr id="29" name="Rounded Rectangle 28"/>
          <p:cNvSpPr/>
          <p:nvPr/>
        </p:nvSpPr>
        <p:spPr>
          <a:xfrm>
            <a:off x="9326880" y="6309359"/>
            <a:ext cx="8161020" cy="2194560"/>
          </a:xfrm>
          <a:prstGeom prst="roundRect">
            <a:avLst>
              <a:gd name="adj" fmla="val 6000"/>
            </a:avLst>
          </a:prstGeom>
          <a:solidFill>
            <a:srgbClr val="062A2C"/>
          </a:solidFill>
          <a:ln w="19050">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738359" y="6611112"/>
            <a:ext cx="7406640" cy="411479"/>
          </a:xfrm>
          <a:prstGeom prst="rect">
            <a:avLst/>
          </a:prstGeom>
          <a:noFill/>
        </p:spPr>
        <p:txBody>
          <a:bodyPr wrap="none" lIns="0" rIns="0" tIns="0" bIns="0">
            <a:spAutoFit/>
          </a:bodyPr>
          <a:lstStyle/>
          <a:p>
            <a:pPr algn="l">
              <a:lnSpc>
                <a:spcPct val="115000"/>
              </a:lnSpc>
            </a:pPr>
            <a:r>
              <a:rPr sz="1500" spc="330">
                <a:solidFill>
                  <a:srgbClr val="9FE8DC"/>
                </a:solidFill>
                <a:latin typeface="Todes 1"/>
              </a:rPr>
              <a:t>EXPANSION REGIONS MAPPED</a:t>
            </a:r>
          </a:p>
        </p:txBody>
      </p:sp>
      <p:sp>
        <p:nvSpPr>
          <p:cNvPr id="31" name="TextBox 30"/>
          <p:cNvSpPr txBox="1"/>
          <p:nvPr/>
        </p:nvSpPr>
        <p:spPr>
          <a:xfrm>
            <a:off x="9738359" y="7159752"/>
            <a:ext cx="7406640" cy="1399032"/>
          </a:xfrm>
          <a:prstGeom prst="rect">
            <a:avLst/>
          </a:prstGeom>
          <a:noFill/>
        </p:spPr>
        <p:txBody>
          <a:bodyPr wrap="square" lIns="0" rIns="0" tIns="0" bIns="0">
            <a:spAutoFit/>
          </a:bodyPr>
          <a:lstStyle/>
          <a:p>
            <a:pPr algn="l">
              <a:lnSpc>
                <a:spcPct val="150000"/>
              </a:lnSpc>
            </a:pPr>
            <a:r>
              <a:rPr sz="1725">
                <a:solidFill>
                  <a:srgbClr val="F2ECDD"/>
                </a:solidFill>
                <a:latin typeface="TT Commons Pro"/>
              </a:rPr>
              <a:t>Austin · Portland · Boston · Asheville · Nashville</a:t>
            </a:r>
          </a:p>
          <a:p>
            <a:pPr algn="l">
              <a:lnSpc>
                <a:spcPct val="150000"/>
              </a:lnSpc>
            </a:pPr>
            <a:r>
              <a:rPr sz="1725">
                <a:solidFill>
                  <a:srgbClr val="F2ECDD"/>
                </a:solidFill>
                <a:latin typeface="TT Commons Pro"/>
              </a:rPr>
              <a:t>San Diego · Sedona · Taos · Maui — and a variety</a:t>
            </a:r>
          </a:p>
          <a:p>
            <a:pPr algn="l">
              <a:lnSpc>
                <a:spcPct val="150000"/>
              </a:lnSpc>
            </a:pPr>
            <a:r>
              <a:rPr sz="1725">
                <a:solidFill>
                  <a:srgbClr val="F2ECDD"/>
                </a:solidFill>
                <a:latin typeface="TT Commons Pro"/>
              </a:rPr>
              <a:t>of cities in bioregions worldwide.</a:t>
            </a:r>
          </a:p>
        </p:txBody>
      </p:sp>
      <p:sp>
        <p:nvSpPr>
          <p:cNvPr id="32" name="TextBox 31"/>
          <p:cNvSpPr txBox="1"/>
          <p:nvPr/>
        </p:nvSpPr>
        <p:spPr>
          <a:xfrm>
            <a:off x="822959" y="8846820"/>
            <a:ext cx="16596359" cy="1097280"/>
          </a:xfrm>
          <a:prstGeom prst="rect">
            <a:avLst/>
          </a:prstGeom>
          <a:noFill/>
        </p:spPr>
        <p:txBody>
          <a:bodyPr wrap="square" lIns="0" rIns="0" tIns="0" bIns="0">
            <a:spAutoFit/>
          </a:bodyPr>
          <a:lstStyle/>
          <a:p>
            <a:pPr algn="ctr">
              <a:lnSpc>
                <a:spcPct val="140000"/>
              </a:lnSpc>
            </a:pPr>
            <a:r>
              <a:rPr sz="1950">
                <a:solidFill>
                  <a:srgbClr val="F2ECDD"/>
                </a:solidFill>
                <a:latin typeface="TT Commons Pro"/>
              </a:rPr>
              <a:t>Starting local, </a:t>
            </a:r>
            <a:r>
              <a:rPr sz="2100" spc="20">
                <a:solidFill>
                  <a:srgbClr val="EBCF9E"/>
                </a:solidFill>
                <a:latin typeface="Alike Italics"/>
              </a:rPr>
              <a:t>again</a:t>
            </a:r>
            <a:r>
              <a:rPr sz="1950">
                <a:solidFill>
                  <a:srgbClr val="F2ECDD"/>
                </a:solidFill>
                <a:latin typeface="TT Commons Pro"/>
              </a:rPr>
              <a:t>, in Boulder, Colorado.</a:t>
            </a:r>
          </a:p>
        </p:txBody>
      </p:sp>
      <p:pic>
        <p:nvPicPr>
          <p:cNvPr id="33" name="Picture 32" descr="rivr-symbol-light.png"/>
          <p:cNvPicPr>
            <a:picLocks noChangeAspect="1"/>
          </p:cNvPicPr>
          <p:nvPr/>
        </p:nvPicPr>
        <p:blipFill>
          <a:blip r:embed="rId4"/>
          <a:stretch>
            <a:fillRect/>
          </a:stretch>
        </p:blipFill>
        <p:spPr>
          <a:xfrm>
            <a:off x="576072" y="9518904"/>
            <a:ext cx="521208" cy="521208"/>
          </a:xfrm>
          <a:prstGeom prst="rect">
            <a:avLst/>
          </a:prstGeom>
        </p:spPr>
      </p:pic>
      <p:sp>
        <p:nvSpPr>
          <p:cNvPr id="34" name="TextBox 33"/>
          <p:cNvSpPr txBox="1"/>
          <p:nvPr/>
        </p:nvSpPr>
        <p:spPr>
          <a:xfrm>
            <a:off x="1371600" y="9724644"/>
            <a:ext cx="5486400" cy="301752"/>
          </a:xfrm>
          <a:prstGeom prst="rect">
            <a:avLst/>
          </a:prstGeom>
          <a:noFill/>
        </p:spPr>
        <p:txBody>
          <a:bodyPr wrap="none" lIns="0" rIns="0" tIns="0" bIns="0">
            <a:spAutoFit/>
          </a:bodyPr>
          <a:lstStyle/>
          <a:p>
            <a:pPr algn="l">
              <a:lnSpc>
                <a:spcPct val="115000"/>
              </a:lnSpc>
            </a:pPr>
            <a:r>
              <a:rPr sz="1350" spc="150">
                <a:solidFill>
                  <a:srgbClr val="AFC4C2"/>
                </a:solidFill>
                <a:latin typeface="TT Commons Pro"/>
              </a:rPr>
              <a:t>Rivr · Seed Round 2026</a:t>
            </a:r>
          </a:p>
        </p:txBody>
      </p:sp>
      <p:sp>
        <p:nvSpPr>
          <p:cNvPr id="35" name="TextBox 34"/>
          <p:cNvSpPr txBox="1"/>
          <p:nvPr/>
        </p:nvSpPr>
        <p:spPr>
          <a:xfrm>
            <a:off x="16870680" y="9724644"/>
            <a:ext cx="960119" cy="301752"/>
          </a:xfrm>
          <a:prstGeom prst="rect">
            <a:avLst/>
          </a:prstGeom>
          <a:noFill/>
        </p:spPr>
        <p:txBody>
          <a:bodyPr wrap="none" lIns="0" rIns="0" tIns="0" bIns="0">
            <a:spAutoFit/>
          </a:bodyPr>
          <a:lstStyle/>
          <a:p>
            <a:pPr algn="r">
              <a:lnSpc>
                <a:spcPct val="115000"/>
              </a:lnSpc>
            </a:pPr>
            <a:r>
              <a:rPr sz="1350" spc="150">
                <a:solidFill>
                  <a:srgbClr val="AFC4C2"/>
                </a:solidFill>
                <a:latin typeface="TT Commons Pro"/>
              </a:rPr>
              <a:t>47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03333"/>
        </a:solidFill>
        <a:effectLst/>
      </p:bgPr>
    </p:bg>
    <p:spTree>
      <p:nvGrpSpPr>
        <p:cNvPr id="1" name=""/>
        <p:cNvGrpSpPr/>
        <p:nvPr/>
      </p:nvGrpSpPr>
      <p:grpSpPr/>
      <p:pic>
        <p:nvPicPr>
          <p:cNvPr id="2" name="Picture 1" descr="bg_p04.jpg"/>
          <p:cNvPicPr>
            <a:picLocks noChangeAspect="1"/>
          </p:cNvPicPr>
          <p:nvPr/>
        </p:nvPicPr>
        <p:blipFill>
          <a:blip r:embed="rId2"/>
          <a:stretch>
            <a:fillRect/>
          </a:stretch>
        </p:blipFill>
        <p:spPr>
          <a:xfrm>
            <a:off x="0" y="0"/>
            <a:ext cx="18287542" cy="10287000"/>
          </a:xfrm>
          <a:prstGeom prst="rect">
            <a:avLst/>
          </a:prstGeom>
        </p:spPr>
      </p:pic>
      <p:sp>
        <p:nvSpPr>
          <p:cNvPr id="3" name="TextBox 2"/>
          <p:cNvSpPr txBox="1"/>
          <p:nvPr/>
        </p:nvSpPr>
        <p:spPr>
          <a:xfrm>
            <a:off x="822959" y="822959"/>
            <a:ext cx="16733519" cy="384048"/>
          </a:xfrm>
          <a:prstGeom prst="rect">
            <a:avLst/>
          </a:prstGeom>
          <a:noFill/>
        </p:spPr>
        <p:txBody>
          <a:bodyPr wrap="none" lIns="0" rIns="0" tIns="0" bIns="0">
            <a:spAutoFit/>
          </a:bodyPr>
          <a:lstStyle/>
          <a:p>
            <a:pPr algn="l">
              <a:lnSpc>
                <a:spcPct val="115000"/>
              </a:lnSpc>
            </a:pPr>
            <a:r>
              <a:rPr sz="1650" spc="330">
                <a:solidFill>
                  <a:srgbClr val="9FE8DC"/>
                </a:solidFill>
                <a:latin typeface="Todes 1"/>
              </a:rPr>
              <a:t>TEAM + TIMELINE</a:t>
            </a:r>
          </a:p>
        </p:txBody>
      </p:sp>
      <p:sp>
        <p:nvSpPr>
          <p:cNvPr id="4" name="TextBox 3"/>
          <p:cNvSpPr txBox="1"/>
          <p:nvPr/>
        </p:nvSpPr>
        <p:spPr>
          <a:xfrm>
            <a:off x="822959" y="1699869"/>
            <a:ext cx="10513218" cy="1043025"/>
          </a:xfrm>
          <a:prstGeom prst="rect">
            <a:avLst/>
          </a:prstGeom>
          <a:noFill/>
        </p:spPr>
        <p:txBody>
          <a:bodyPr wrap="none" lIns="0" rIns="0" tIns="0" bIns="0">
            <a:spAutoFit/>
          </a:bodyPr>
          <a:lstStyle/>
          <a:p>
            <a:pPr algn="l">
              <a:lnSpc>
                <a:spcPct val="115000"/>
              </a:lnSpc>
            </a:pPr>
            <a:r>
              <a:rPr sz="5664" spc="-76">
                <a:solidFill>
                  <a:srgbClr val="F4EAD8"/>
                </a:solidFill>
                <a:latin typeface="Todes 1"/>
              </a:rPr>
              <a:t>Building the software </a:t>
            </a:r>
          </a:p>
        </p:txBody>
      </p:sp>
      <p:sp>
        <p:nvSpPr>
          <p:cNvPr id="5" name="TextBox 4"/>
          <p:cNvSpPr txBox="1"/>
          <p:nvPr/>
        </p:nvSpPr>
        <p:spPr>
          <a:xfrm>
            <a:off x="9068943" y="1645919"/>
            <a:ext cx="7790021" cy="1140809"/>
          </a:xfrm>
          <a:prstGeom prst="rect">
            <a:avLst/>
          </a:prstGeom>
          <a:noFill/>
        </p:spPr>
        <p:txBody>
          <a:bodyPr wrap="none" lIns="0" rIns="0" tIns="0" bIns="0">
            <a:spAutoFit/>
          </a:bodyPr>
          <a:lstStyle/>
          <a:p>
            <a:pPr algn="l">
              <a:lnSpc>
                <a:spcPct val="115000"/>
              </a:lnSpc>
            </a:pPr>
            <a:r>
              <a:rPr sz="6195" spc="-75">
                <a:solidFill>
                  <a:srgbClr val="EBCF9E"/>
                </a:solidFill>
                <a:latin typeface="Ibarra Real Nova Italics"/>
              </a:rPr>
              <a:t>and the institution.</a:t>
            </a:r>
          </a:p>
        </p:txBody>
      </p:sp>
      <p:sp>
        <p:nvSpPr>
          <p:cNvPr id="6" name="Rounded Rectangle 5"/>
          <p:cNvSpPr/>
          <p:nvPr/>
        </p:nvSpPr>
        <p:spPr>
          <a:xfrm>
            <a:off x="822959" y="3703320"/>
            <a:ext cx="5376672" cy="1851660"/>
          </a:xfrm>
          <a:prstGeom prst="roundRect">
            <a:avLst>
              <a:gd name="adj" fmla="val 6000"/>
            </a:avLst>
          </a:prstGeom>
          <a:solidFill>
            <a:srgbClr val="0D3E40"/>
          </a:solidFill>
          <a:ln w="19050">
            <a:solidFill>
              <a:srgbClr val="99E6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person.png"/>
          <p:cNvPicPr>
            <a:picLocks noChangeAspect="1"/>
          </p:cNvPicPr>
          <p:nvPr/>
        </p:nvPicPr>
        <p:blipFill>
          <a:blip r:embed="rId4"/>
          <a:stretch>
            <a:fillRect/>
          </a:stretch>
        </p:blipFill>
        <p:spPr>
          <a:xfrm>
            <a:off x="1261872" y="4389120"/>
            <a:ext cx="493776" cy="493776"/>
          </a:xfrm>
          <a:prstGeom prst="rect">
            <a:avLst/>
          </a:prstGeom>
        </p:spPr>
      </p:pic>
      <p:sp>
        <p:nvSpPr>
          <p:cNvPr id="8" name="TextBox 7"/>
          <p:cNvSpPr txBox="1"/>
          <p:nvPr/>
        </p:nvSpPr>
        <p:spPr>
          <a:xfrm>
            <a:off x="2125979" y="4142232"/>
            <a:ext cx="3977639" cy="411479"/>
          </a:xfrm>
          <a:prstGeom prst="rect">
            <a:avLst/>
          </a:prstGeom>
          <a:noFill/>
        </p:spPr>
        <p:txBody>
          <a:bodyPr wrap="none" lIns="0" rIns="0" tIns="0" bIns="0">
            <a:spAutoFit/>
          </a:bodyPr>
          <a:lstStyle/>
          <a:p>
            <a:pPr algn="l">
              <a:lnSpc>
                <a:spcPct val="115000"/>
              </a:lnSpc>
            </a:pPr>
            <a:r>
              <a:rPr sz="1950">
                <a:solidFill>
                  <a:srgbClr val="F4EAD8"/>
                </a:solidFill>
                <a:latin typeface="TT Commons Pro Bold"/>
              </a:rPr>
              <a:t>Cameron Ely-Murdock</a:t>
            </a:r>
          </a:p>
        </p:txBody>
      </p:sp>
      <p:sp>
        <p:nvSpPr>
          <p:cNvPr id="9" name="TextBox 8"/>
          <p:cNvSpPr txBox="1"/>
          <p:nvPr/>
        </p:nvSpPr>
        <p:spPr>
          <a:xfrm>
            <a:off x="2125979" y="4636008"/>
            <a:ext cx="3977639" cy="411479"/>
          </a:xfrm>
          <a:prstGeom prst="rect">
            <a:avLst/>
          </a:prstGeom>
          <a:noFill/>
        </p:spPr>
        <p:txBody>
          <a:bodyPr wrap="none" lIns="0" rIns="0" tIns="0" bIns="0">
            <a:spAutoFit/>
          </a:bodyPr>
          <a:lstStyle/>
          <a:p>
            <a:pPr algn="l">
              <a:lnSpc>
                <a:spcPct val="115000"/>
              </a:lnSpc>
            </a:pPr>
            <a:r>
              <a:rPr sz="1725" spc="20">
                <a:solidFill>
                  <a:srgbClr val="EBCF9E"/>
                </a:solidFill>
                <a:latin typeface="Alike Italics"/>
              </a:rPr>
              <a:t>Strategy Director &amp; Development</a:t>
            </a:r>
          </a:p>
        </p:txBody>
      </p:sp>
      <p:sp>
        <p:nvSpPr>
          <p:cNvPr id="10" name="Rounded Rectangle 9"/>
          <p:cNvSpPr/>
          <p:nvPr/>
        </p:nvSpPr>
        <p:spPr>
          <a:xfrm>
            <a:off x="6473952" y="3703320"/>
            <a:ext cx="5376672" cy="1851660"/>
          </a:xfrm>
          <a:prstGeom prst="roundRect">
            <a:avLst>
              <a:gd name="adj" fmla="val 6000"/>
            </a:avLst>
          </a:prstGeom>
          <a:solidFill>
            <a:srgbClr val="0D3E40"/>
          </a:solidFill>
          <a:ln w="19050">
            <a:solidFill>
              <a:srgbClr val="99E6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rson.png"/>
          <p:cNvPicPr>
            <a:picLocks noChangeAspect="1"/>
          </p:cNvPicPr>
          <p:nvPr/>
        </p:nvPicPr>
        <p:blipFill>
          <a:blip r:embed="rId4"/>
          <a:stretch>
            <a:fillRect/>
          </a:stretch>
        </p:blipFill>
        <p:spPr>
          <a:xfrm>
            <a:off x="6912864" y="4389120"/>
            <a:ext cx="493776" cy="493776"/>
          </a:xfrm>
          <a:prstGeom prst="rect">
            <a:avLst/>
          </a:prstGeom>
        </p:spPr>
      </p:pic>
      <p:sp>
        <p:nvSpPr>
          <p:cNvPr id="12" name="TextBox 11"/>
          <p:cNvSpPr txBox="1"/>
          <p:nvPr/>
        </p:nvSpPr>
        <p:spPr>
          <a:xfrm>
            <a:off x="7776971" y="4142232"/>
            <a:ext cx="3977639" cy="411479"/>
          </a:xfrm>
          <a:prstGeom prst="rect">
            <a:avLst/>
          </a:prstGeom>
          <a:noFill/>
        </p:spPr>
        <p:txBody>
          <a:bodyPr wrap="none" lIns="0" rIns="0" tIns="0" bIns="0">
            <a:spAutoFit/>
          </a:bodyPr>
          <a:lstStyle/>
          <a:p>
            <a:pPr algn="l">
              <a:lnSpc>
                <a:spcPct val="115000"/>
              </a:lnSpc>
            </a:pPr>
            <a:r>
              <a:rPr sz="1950">
                <a:solidFill>
                  <a:srgbClr val="F4EAD8"/>
                </a:solidFill>
                <a:latin typeface="TT Commons Pro Bold"/>
              </a:rPr>
              <a:t>Kathleen Marie Rose</a:t>
            </a:r>
          </a:p>
        </p:txBody>
      </p:sp>
      <p:sp>
        <p:nvSpPr>
          <p:cNvPr id="13" name="TextBox 12"/>
          <p:cNvSpPr txBox="1"/>
          <p:nvPr/>
        </p:nvSpPr>
        <p:spPr>
          <a:xfrm>
            <a:off x="7776971" y="4636008"/>
            <a:ext cx="3977639" cy="411479"/>
          </a:xfrm>
          <a:prstGeom prst="rect">
            <a:avLst/>
          </a:prstGeom>
          <a:noFill/>
        </p:spPr>
        <p:txBody>
          <a:bodyPr wrap="none" lIns="0" rIns="0" tIns="0" bIns="0">
            <a:spAutoFit/>
          </a:bodyPr>
          <a:lstStyle/>
          <a:p>
            <a:pPr algn="l">
              <a:lnSpc>
                <a:spcPct val="115000"/>
              </a:lnSpc>
            </a:pPr>
            <a:r>
              <a:rPr sz="1725" spc="20">
                <a:solidFill>
                  <a:srgbClr val="EBCF9E"/>
                </a:solidFill>
                <a:latin typeface="Alike Italics"/>
              </a:rPr>
              <a:t>Design &amp; Community Outreach</a:t>
            </a:r>
          </a:p>
        </p:txBody>
      </p:sp>
      <p:sp>
        <p:nvSpPr>
          <p:cNvPr id="14" name="Rounded Rectangle 13"/>
          <p:cNvSpPr/>
          <p:nvPr/>
        </p:nvSpPr>
        <p:spPr>
          <a:xfrm>
            <a:off x="12124944" y="3703320"/>
            <a:ext cx="5376672" cy="1851660"/>
          </a:xfrm>
          <a:prstGeom prst="roundRect">
            <a:avLst>
              <a:gd name="adj" fmla="val 6000"/>
            </a:avLst>
          </a:prstGeom>
          <a:solidFill>
            <a:srgbClr val="0D3E40"/>
          </a:solidFill>
          <a:ln w="19050">
            <a:solidFill>
              <a:srgbClr val="99E6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person.png"/>
          <p:cNvPicPr>
            <a:picLocks noChangeAspect="1"/>
          </p:cNvPicPr>
          <p:nvPr/>
        </p:nvPicPr>
        <p:blipFill>
          <a:blip r:embed="rId4"/>
          <a:stretch>
            <a:fillRect/>
          </a:stretch>
        </p:blipFill>
        <p:spPr>
          <a:xfrm>
            <a:off x="12563856" y="4389120"/>
            <a:ext cx="493776" cy="493776"/>
          </a:xfrm>
          <a:prstGeom prst="rect">
            <a:avLst/>
          </a:prstGeom>
        </p:spPr>
      </p:pic>
      <p:sp>
        <p:nvSpPr>
          <p:cNvPr id="16" name="TextBox 15"/>
          <p:cNvSpPr txBox="1"/>
          <p:nvPr/>
        </p:nvSpPr>
        <p:spPr>
          <a:xfrm>
            <a:off x="13427963" y="4142232"/>
            <a:ext cx="3977639" cy="411479"/>
          </a:xfrm>
          <a:prstGeom prst="rect">
            <a:avLst/>
          </a:prstGeom>
          <a:noFill/>
        </p:spPr>
        <p:txBody>
          <a:bodyPr wrap="none" lIns="0" rIns="0" tIns="0" bIns="0">
            <a:spAutoFit/>
          </a:bodyPr>
          <a:lstStyle/>
          <a:p>
            <a:pPr algn="l">
              <a:lnSpc>
                <a:spcPct val="115000"/>
              </a:lnSpc>
            </a:pPr>
            <a:r>
              <a:rPr sz="1950">
                <a:solidFill>
                  <a:srgbClr val="F4EAD8"/>
                </a:solidFill>
                <a:latin typeface="TT Commons Pro Bold"/>
              </a:rPr>
              <a:t>Grig Bilham</a:t>
            </a:r>
          </a:p>
        </p:txBody>
      </p:sp>
      <p:sp>
        <p:nvSpPr>
          <p:cNvPr id="17" name="TextBox 16"/>
          <p:cNvSpPr txBox="1"/>
          <p:nvPr/>
        </p:nvSpPr>
        <p:spPr>
          <a:xfrm>
            <a:off x="13427963" y="4636008"/>
            <a:ext cx="3977639" cy="411479"/>
          </a:xfrm>
          <a:prstGeom prst="rect">
            <a:avLst/>
          </a:prstGeom>
          <a:noFill/>
        </p:spPr>
        <p:txBody>
          <a:bodyPr wrap="none" lIns="0" rIns="0" tIns="0" bIns="0">
            <a:spAutoFit/>
          </a:bodyPr>
          <a:lstStyle/>
          <a:p>
            <a:pPr algn="l">
              <a:lnSpc>
                <a:spcPct val="115000"/>
              </a:lnSpc>
            </a:pPr>
            <a:r>
              <a:rPr sz="1725" spc="20">
                <a:solidFill>
                  <a:srgbClr val="EBCF9E"/>
                </a:solidFill>
                <a:latin typeface="Alike Italics"/>
              </a:rPr>
              <a:t>Operations Management</a:t>
            </a:r>
          </a:p>
        </p:txBody>
      </p:sp>
      <p:cxnSp>
        <p:nvCxnSpPr>
          <p:cNvPr id="18" name="Connector 17"/>
          <p:cNvCxnSpPr/>
          <p:nvPr/>
        </p:nvCxnSpPr>
        <p:spPr>
          <a:xfrm>
            <a:off x="2468880" y="6926579"/>
            <a:ext cx="13304520" cy="0"/>
          </a:xfrm>
          <a:prstGeom prst="line">
            <a:avLst/>
          </a:prstGeom>
          <a:ln w="15240">
            <a:solidFill>
              <a:srgbClr val="084B4D"/>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2331720" y="6789420"/>
            <a:ext cx="274320" cy="274320"/>
          </a:xfrm>
          <a:prstGeom prst="ellipse">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6076188"/>
            <a:ext cx="3566160" cy="411479"/>
          </a:xfrm>
          <a:prstGeom prst="rect">
            <a:avLst/>
          </a:prstGeom>
          <a:noFill/>
        </p:spPr>
        <p:txBody>
          <a:bodyPr wrap="none" lIns="0" rIns="0" tIns="0" bIns="0">
            <a:spAutoFit/>
          </a:bodyPr>
          <a:lstStyle/>
          <a:p>
            <a:pPr algn="ctr">
              <a:lnSpc>
                <a:spcPct val="115000"/>
              </a:lnSpc>
            </a:pPr>
            <a:r>
              <a:rPr sz="1650" spc="330">
                <a:solidFill>
                  <a:srgbClr val="EBCF9E"/>
                </a:solidFill>
                <a:latin typeface="Todes 1"/>
              </a:rPr>
              <a:t>Q3 2026</a:t>
            </a:r>
          </a:p>
        </p:txBody>
      </p:sp>
      <p:sp>
        <p:nvSpPr>
          <p:cNvPr id="21" name="TextBox 20"/>
          <p:cNvSpPr txBox="1"/>
          <p:nvPr/>
        </p:nvSpPr>
        <p:spPr>
          <a:xfrm>
            <a:off x="480060" y="7283196"/>
            <a:ext cx="3977639" cy="822959"/>
          </a:xfrm>
          <a:prstGeom prst="rect">
            <a:avLst/>
          </a:prstGeom>
          <a:noFill/>
        </p:spPr>
        <p:txBody>
          <a:bodyPr wrap="square" lIns="0" rIns="0" tIns="0" bIns="0">
            <a:spAutoFit/>
          </a:bodyPr>
          <a:lstStyle/>
          <a:p>
            <a:pPr algn="ctr">
              <a:lnSpc>
                <a:spcPct val="115000"/>
              </a:lnSpc>
            </a:pPr>
            <a:r>
              <a:rPr sz="1575">
                <a:solidFill>
                  <a:srgbClr val="F2ECDD"/>
                </a:solidFill>
                <a:latin typeface="TT Commons Pro"/>
              </a:rPr>
              <a:t>Beta launch opens in Boulder — members sign up.</a:t>
            </a:r>
          </a:p>
        </p:txBody>
      </p:sp>
      <p:sp>
        <p:nvSpPr>
          <p:cNvPr id="22" name="Oval 21"/>
          <p:cNvSpPr/>
          <p:nvPr/>
        </p:nvSpPr>
        <p:spPr>
          <a:xfrm>
            <a:off x="8983980" y="6789420"/>
            <a:ext cx="274320" cy="274320"/>
          </a:xfrm>
          <a:prstGeom prst="ellipse">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38059" y="6076188"/>
            <a:ext cx="3566160" cy="411479"/>
          </a:xfrm>
          <a:prstGeom prst="rect">
            <a:avLst/>
          </a:prstGeom>
          <a:noFill/>
        </p:spPr>
        <p:txBody>
          <a:bodyPr wrap="none" lIns="0" rIns="0" tIns="0" bIns="0">
            <a:spAutoFit/>
          </a:bodyPr>
          <a:lstStyle/>
          <a:p>
            <a:pPr algn="ctr">
              <a:lnSpc>
                <a:spcPct val="115000"/>
              </a:lnSpc>
            </a:pPr>
            <a:r>
              <a:rPr sz="1650" spc="330">
                <a:solidFill>
                  <a:srgbClr val="EBCF9E"/>
                </a:solidFill>
                <a:latin typeface="Todes 1"/>
              </a:rPr>
              <a:t>2027</a:t>
            </a:r>
          </a:p>
        </p:txBody>
      </p:sp>
      <p:sp>
        <p:nvSpPr>
          <p:cNvPr id="24" name="TextBox 23"/>
          <p:cNvSpPr txBox="1"/>
          <p:nvPr/>
        </p:nvSpPr>
        <p:spPr>
          <a:xfrm>
            <a:off x="7132319" y="7283196"/>
            <a:ext cx="3977639" cy="822959"/>
          </a:xfrm>
          <a:prstGeom prst="rect">
            <a:avLst/>
          </a:prstGeom>
          <a:noFill/>
        </p:spPr>
        <p:txBody>
          <a:bodyPr wrap="square" lIns="0" rIns="0" tIns="0" bIns="0">
            <a:spAutoFit/>
          </a:bodyPr>
          <a:lstStyle/>
          <a:p>
            <a:pPr algn="ctr">
              <a:lnSpc>
                <a:spcPct val="115000"/>
              </a:lnSpc>
            </a:pPr>
            <a:r>
              <a:rPr sz="1575">
                <a:solidFill>
                  <a:srgbClr val="F2ECDD"/>
                </a:solidFill>
                <a:latin typeface="TT Commons Pro"/>
              </a:rPr>
              <a:t>Mobile app build-out · bioregional expansion.</a:t>
            </a:r>
          </a:p>
        </p:txBody>
      </p:sp>
      <p:sp>
        <p:nvSpPr>
          <p:cNvPr id="25" name="Oval 24"/>
          <p:cNvSpPr/>
          <p:nvPr/>
        </p:nvSpPr>
        <p:spPr>
          <a:xfrm>
            <a:off x="15636240" y="6789420"/>
            <a:ext cx="274320" cy="274320"/>
          </a:xfrm>
          <a:prstGeom prst="ellipse">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3990319" y="6076188"/>
            <a:ext cx="3566160" cy="411479"/>
          </a:xfrm>
          <a:prstGeom prst="rect">
            <a:avLst/>
          </a:prstGeom>
          <a:noFill/>
        </p:spPr>
        <p:txBody>
          <a:bodyPr wrap="none" lIns="0" rIns="0" tIns="0" bIns="0">
            <a:spAutoFit/>
          </a:bodyPr>
          <a:lstStyle/>
          <a:p>
            <a:pPr algn="ctr">
              <a:lnSpc>
                <a:spcPct val="115000"/>
              </a:lnSpc>
            </a:pPr>
            <a:r>
              <a:rPr sz="1650" spc="330">
                <a:solidFill>
                  <a:srgbClr val="EBCF9E"/>
                </a:solidFill>
                <a:latin typeface="Todes 1"/>
              </a:rPr>
              <a:t>END 2027</a:t>
            </a:r>
          </a:p>
        </p:txBody>
      </p:sp>
      <p:sp>
        <p:nvSpPr>
          <p:cNvPr id="27" name="TextBox 26"/>
          <p:cNvSpPr txBox="1"/>
          <p:nvPr/>
        </p:nvSpPr>
        <p:spPr>
          <a:xfrm>
            <a:off x="13784580" y="7283196"/>
            <a:ext cx="3977639" cy="822959"/>
          </a:xfrm>
          <a:prstGeom prst="rect">
            <a:avLst/>
          </a:prstGeom>
          <a:noFill/>
        </p:spPr>
        <p:txBody>
          <a:bodyPr wrap="square" lIns="0" rIns="0" tIns="0" bIns="0">
            <a:spAutoFit/>
          </a:bodyPr>
          <a:lstStyle/>
          <a:p>
            <a:pPr algn="ctr">
              <a:lnSpc>
                <a:spcPct val="115000"/>
              </a:lnSpc>
            </a:pPr>
            <a:r>
              <a:rPr sz="1575">
                <a:solidFill>
                  <a:srgbClr val="F2ECDD"/>
                </a:solidFill>
                <a:latin typeface="TT Commons Pro"/>
              </a:rPr>
              <a:t>~30 bioregions · ~200 organizations · 5,000+ members.</a:t>
            </a:r>
          </a:p>
        </p:txBody>
      </p:sp>
      <p:sp>
        <p:nvSpPr>
          <p:cNvPr id="28" name="TextBox 27"/>
          <p:cNvSpPr txBox="1"/>
          <p:nvPr/>
        </p:nvSpPr>
        <p:spPr>
          <a:xfrm>
            <a:off x="822959" y="8709659"/>
            <a:ext cx="16596359" cy="411479"/>
          </a:xfrm>
          <a:prstGeom prst="rect">
            <a:avLst/>
          </a:prstGeom>
          <a:noFill/>
        </p:spPr>
        <p:txBody>
          <a:bodyPr wrap="none" lIns="0" rIns="0" tIns="0" bIns="0">
            <a:spAutoFit/>
          </a:bodyPr>
          <a:lstStyle/>
          <a:p>
            <a:pPr algn="ctr">
              <a:lnSpc>
                <a:spcPct val="115000"/>
              </a:lnSpc>
            </a:pPr>
            <a:r>
              <a:rPr sz="1350" spc="330">
                <a:solidFill>
                  <a:srgbClr val="9FE8DC"/>
                </a:solidFill>
                <a:latin typeface="Todes 1"/>
              </a:rPr>
              <a:t>AFFILIATED ORGS</a:t>
            </a:r>
          </a:p>
        </p:txBody>
      </p:sp>
      <p:sp>
        <p:nvSpPr>
          <p:cNvPr id="29" name="TextBox 28"/>
          <p:cNvSpPr txBox="1"/>
          <p:nvPr/>
        </p:nvSpPr>
        <p:spPr>
          <a:xfrm>
            <a:off x="822959" y="9079992"/>
            <a:ext cx="16596359" cy="411479"/>
          </a:xfrm>
          <a:prstGeom prst="rect">
            <a:avLst/>
          </a:prstGeom>
          <a:noFill/>
        </p:spPr>
        <p:txBody>
          <a:bodyPr wrap="square" lIns="0" rIns="0" tIns="0" bIns="0">
            <a:spAutoFit/>
          </a:bodyPr>
          <a:lstStyle/>
          <a:p>
            <a:pPr algn="ctr">
              <a:lnSpc>
                <a:spcPct val="115000"/>
              </a:lnSpc>
            </a:pPr>
            <a:r>
              <a:rPr sz="1725" spc="20">
                <a:solidFill>
                  <a:srgbClr val="F2ECDD"/>
                </a:solidFill>
                <a:latin typeface="Alike Italics"/>
              </a:rPr>
              <a:t>SPIRIT of the Front Range · OpenCivics · The Riverside · regenhub.xyz · CoHere · The Mystery Works · Front Range Commons</a:t>
            </a:r>
          </a:p>
        </p:txBody>
      </p:sp>
      <p:pic>
        <p:nvPicPr>
          <p:cNvPr id="30" name="Picture 29" descr="rivr-symbol-light.png"/>
          <p:cNvPicPr>
            <a:picLocks noChangeAspect="1"/>
          </p:cNvPicPr>
          <p:nvPr/>
        </p:nvPicPr>
        <p:blipFill>
          <a:blip r:embed="rId5"/>
          <a:stretch>
            <a:fillRect/>
          </a:stretch>
        </p:blipFill>
        <p:spPr>
          <a:xfrm>
            <a:off x="576072" y="9518904"/>
            <a:ext cx="521208" cy="521208"/>
          </a:xfrm>
          <a:prstGeom prst="rect">
            <a:avLst/>
          </a:prstGeom>
        </p:spPr>
      </p:pic>
      <p:sp>
        <p:nvSpPr>
          <p:cNvPr id="31" name="TextBox 30"/>
          <p:cNvSpPr txBox="1"/>
          <p:nvPr/>
        </p:nvSpPr>
        <p:spPr>
          <a:xfrm>
            <a:off x="1371600" y="9724644"/>
            <a:ext cx="5486400" cy="301752"/>
          </a:xfrm>
          <a:prstGeom prst="rect">
            <a:avLst/>
          </a:prstGeom>
          <a:noFill/>
        </p:spPr>
        <p:txBody>
          <a:bodyPr wrap="none" lIns="0" rIns="0" tIns="0" bIns="0">
            <a:spAutoFit/>
          </a:bodyPr>
          <a:lstStyle/>
          <a:p>
            <a:pPr algn="l">
              <a:lnSpc>
                <a:spcPct val="115000"/>
              </a:lnSpc>
            </a:pPr>
            <a:r>
              <a:rPr sz="1350" spc="150">
                <a:solidFill>
                  <a:srgbClr val="AFC4C2"/>
                </a:solidFill>
                <a:latin typeface="TT Commons Pro"/>
              </a:rPr>
              <a:t>Rivr · Seed Round 2026</a:t>
            </a:r>
          </a:p>
        </p:txBody>
      </p:sp>
      <p:sp>
        <p:nvSpPr>
          <p:cNvPr id="32" name="TextBox 31"/>
          <p:cNvSpPr txBox="1"/>
          <p:nvPr/>
        </p:nvSpPr>
        <p:spPr>
          <a:xfrm>
            <a:off x="16870680" y="9724644"/>
            <a:ext cx="960119" cy="301752"/>
          </a:xfrm>
          <a:prstGeom prst="rect">
            <a:avLst/>
          </a:prstGeom>
          <a:noFill/>
        </p:spPr>
        <p:txBody>
          <a:bodyPr wrap="none" lIns="0" rIns="0" tIns="0" bIns="0">
            <a:spAutoFit/>
          </a:bodyPr>
          <a:lstStyle/>
          <a:p>
            <a:pPr algn="r">
              <a:lnSpc>
                <a:spcPct val="115000"/>
              </a:lnSpc>
            </a:pPr>
            <a:r>
              <a:rPr sz="1350" spc="150">
                <a:solidFill>
                  <a:srgbClr val="AFC4C2"/>
                </a:solidFill>
                <a:latin typeface="TT Commons Pro"/>
              </a:rPr>
              <a:t>48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03333"/>
        </a:solidFill>
        <a:effectLst/>
      </p:bgPr>
    </p:bg>
    <p:spTree>
      <p:nvGrpSpPr>
        <p:cNvPr id="1" name=""/>
        <p:cNvGrpSpPr/>
        <p:nvPr/>
      </p:nvGrpSpPr>
      <p:grpSpPr/>
      <p:pic>
        <p:nvPicPr>
          <p:cNvPr id="2" name="Picture 1" descr="bg_c44.jpg"/>
          <p:cNvPicPr>
            <a:picLocks noChangeAspect="1"/>
          </p:cNvPicPr>
          <p:nvPr/>
        </p:nvPicPr>
        <p:blipFill>
          <a:blip r:embed="rId2"/>
          <a:stretch>
            <a:fillRect/>
          </a:stretch>
        </p:blipFill>
        <p:spPr>
          <a:xfrm>
            <a:off x="0" y="0"/>
            <a:ext cx="18287542" cy="10287000"/>
          </a:xfrm>
          <a:prstGeom prst="rect">
            <a:avLst/>
          </a:prstGeom>
        </p:spPr>
      </p:pic>
      <p:sp>
        <p:nvSpPr>
          <p:cNvPr id="3" name="TextBox 2"/>
          <p:cNvSpPr txBox="1"/>
          <p:nvPr/>
        </p:nvSpPr>
        <p:spPr>
          <a:xfrm>
            <a:off x="822959" y="822959"/>
            <a:ext cx="16733519" cy="384048"/>
          </a:xfrm>
          <a:prstGeom prst="rect">
            <a:avLst/>
          </a:prstGeom>
          <a:noFill/>
        </p:spPr>
        <p:txBody>
          <a:bodyPr wrap="none" lIns="0" rIns="0" tIns="0" bIns="0">
            <a:spAutoFit/>
          </a:bodyPr>
          <a:lstStyle/>
          <a:p>
            <a:pPr algn="l">
              <a:lnSpc>
                <a:spcPct val="115000"/>
              </a:lnSpc>
            </a:pPr>
            <a:r>
              <a:rPr sz="1650" spc="330">
                <a:solidFill>
                  <a:srgbClr val="9FE8DC"/>
                </a:solidFill>
                <a:latin typeface="Todes 1"/>
              </a:rPr>
              <a:t>THE ASK · SEED ROUND 2026</a:t>
            </a:r>
          </a:p>
        </p:txBody>
      </p:sp>
      <p:sp>
        <p:nvSpPr>
          <p:cNvPr id="4" name="TextBox 3"/>
          <p:cNvSpPr txBox="1"/>
          <p:nvPr/>
        </p:nvSpPr>
        <p:spPr>
          <a:xfrm>
            <a:off x="822959" y="1645919"/>
            <a:ext cx="4087971" cy="1303781"/>
          </a:xfrm>
          <a:prstGeom prst="rect">
            <a:avLst/>
          </a:prstGeom>
          <a:noFill/>
        </p:spPr>
        <p:txBody>
          <a:bodyPr wrap="none" lIns="0" rIns="0" tIns="0" bIns="0">
            <a:spAutoFit/>
          </a:bodyPr>
          <a:lstStyle/>
          <a:p>
            <a:pPr algn="l">
              <a:lnSpc>
                <a:spcPct val="115000"/>
              </a:lnSpc>
            </a:pPr>
            <a:r>
              <a:rPr sz="7080" spc="20">
                <a:solidFill>
                  <a:srgbClr val="EBCF9E"/>
                </a:solidFill>
                <a:latin typeface="Todes 1"/>
              </a:rPr>
              <a:t>$500K</a:t>
            </a:r>
          </a:p>
        </p:txBody>
      </p:sp>
      <p:sp>
        <p:nvSpPr>
          <p:cNvPr id="5" name="TextBox 4"/>
          <p:cNvSpPr txBox="1"/>
          <p:nvPr/>
        </p:nvSpPr>
        <p:spPr>
          <a:xfrm>
            <a:off x="3928744" y="1789785"/>
            <a:ext cx="12327969" cy="1043025"/>
          </a:xfrm>
          <a:prstGeom prst="rect">
            <a:avLst/>
          </a:prstGeom>
          <a:noFill/>
        </p:spPr>
        <p:txBody>
          <a:bodyPr wrap="none" lIns="0" rIns="0" tIns="0" bIns="0">
            <a:spAutoFit/>
          </a:bodyPr>
          <a:lstStyle/>
          <a:p>
            <a:pPr algn="l">
              <a:lnSpc>
                <a:spcPct val="115000"/>
              </a:lnSpc>
            </a:pPr>
            <a:r>
              <a:rPr sz="5664" spc="-76">
                <a:solidFill>
                  <a:srgbClr val="F4EAD8"/>
                </a:solidFill>
                <a:latin typeface="Todes 1"/>
              </a:rPr>
              <a:t> to take the built platform </a:t>
            </a:r>
          </a:p>
        </p:txBody>
      </p:sp>
      <p:sp>
        <p:nvSpPr>
          <p:cNvPr id="6" name="TextBox 5"/>
          <p:cNvSpPr txBox="1"/>
          <p:nvPr/>
        </p:nvSpPr>
        <p:spPr>
          <a:xfrm>
            <a:off x="13626528" y="1735836"/>
            <a:ext cx="1926193" cy="1140809"/>
          </a:xfrm>
          <a:prstGeom prst="rect">
            <a:avLst/>
          </a:prstGeom>
          <a:noFill/>
        </p:spPr>
        <p:txBody>
          <a:bodyPr wrap="none" lIns="0" rIns="0" tIns="0" bIns="0">
            <a:spAutoFit/>
          </a:bodyPr>
          <a:lstStyle/>
          <a:p>
            <a:pPr algn="l">
              <a:lnSpc>
                <a:spcPct val="115000"/>
              </a:lnSpc>
            </a:pPr>
            <a:r>
              <a:rPr sz="6195" spc="-75">
                <a:solidFill>
                  <a:srgbClr val="99E6D9"/>
                </a:solidFill>
                <a:latin typeface="Ibarra Real Nova Italics"/>
              </a:rPr>
              <a:t>live.</a:t>
            </a:r>
          </a:p>
        </p:txBody>
      </p:sp>
      <p:sp>
        <p:nvSpPr>
          <p:cNvPr id="7" name="Rounded Rectangle 6"/>
          <p:cNvSpPr/>
          <p:nvPr/>
        </p:nvSpPr>
        <p:spPr>
          <a:xfrm>
            <a:off x="822959" y="3703320"/>
            <a:ext cx="8778240" cy="1920239"/>
          </a:xfrm>
          <a:prstGeom prst="roundRect">
            <a:avLst>
              <a:gd name="adj" fmla="val 6000"/>
            </a:avLst>
          </a:prstGeom>
          <a:solidFill>
            <a:srgbClr val="0D3E40"/>
          </a:solidFill>
          <a:ln w="19050">
            <a:solidFill>
              <a:srgbClr val="99E6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34440" y="3977640"/>
            <a:ext cx="7955279" cy="411479"/>
          </a:xfrm>
          <a:prstGeom prst="rect">
            <a:avLst/>
          </a:prstGeom>
          <a:noFill/>
        </p:spPr>
        <p:txBody>
          <a:bodyPr wrap="none" lIns="0" rIns="0" tIns="0" bIns="0">
            <a:spAutoFit/>
          </a:bodyPr>
          <a:lstStyle/>
          <a:p>
            <a:pPr algn="l">
              <a:lnSpc>
                <a:spcPct val="115000"/>
              </a:lnSpc>
            </a:pPr>
            <a:r>
              <a:rPr sz="1500" spc="330">
                <a:solidFill>
                  <a:srgbClr val="9FE8DC"/>
                </a:solidFill>
                <a:latin typeface="Todes 1"/>
              </a:rPr>
              <a:t>INSTRUMENT + TERMS</a:t>
            </a:r>
          </a:p>
        </p:txBody>
      </p:sp>
      <p:sp>
        <p:nvSpPr>
          <p:cNvPr id="9" name="TextBox 8"/>
          <p:cNvSpPr txBox="1"/>
          <p:nvPr/>
        </p:nvSpPr>
        <p:spPr>
          <a:xfrm>
            <a:off x="1234440" y="4416552"/>
            <a:ext cx="7955279" cy="1399032"/>
          </a:xfrm>
          <a:prstGeom prst="rect">
            <a:avLst/>
          </a:prstGeom>
          <a:noFill/>
        </p:spPr>
        <p:txBody>
          <a:bodyPr wrap="square" lIns="0" rIns="0" tIns="0" bIns="0">
            <a:spAutoFit/>
          </a:bodyPr>
          <a:lstStyle/>
          <a:p>
            <a:pPr algn="l">
              <a:lnSpc>
                <a:spcPct val="150000"/>
              </a:lnSpc>
            </a:pPr>
            <a:r>
              <a:rPr sz="1725">
                <a:solidFill>
                  <a:srgbClr val="F2ECDD"/>
                </a:solidFill>
                <a:latin typeface="TT Commons Pro"/>
              </a:rPr>
              <a:t>Cooperative SAFE — $4M cap · 20% discount →</a:t>
            </a:r>
          </a:p>
          <a:p>
            <a:pPr algn="l">
              <a:lnSpc>
                <a:spcPct val="150000"/>
              </a:lnSpc>
            </a:pPr>
            <a:r>
              <a:rPr sz="1725">
                <a:solidFill>
                  <a:srgbClr val="F2ECDD"/>
                </a:solidFill>
                <a:latin typeface="TT Commons Pro"/>
              </a:rPr>
              <a:t>Class D Steward Shares (accredited, 506b).</a:t>
            </a:r>
          </a:p>
          <a:p>
            <a:pPr algn="l">
              <a:lnSpc>
                <a:spcPct val="150000"/>
              </a:lnSpc>
            </a:pPr>
            <a:r>
              <a:rPr sz="1725">
                <a:solidFill>
                  <a:srgbClr val="F2ECDD"/>
                </a:solidFill>
                <a:latin typeface="TT Commons Pro"/>
              </a:rPr>
              <a:t>Colorado residents: direct Class R purchase (147A).</a:t>
            </a:r>
          </a:p>
        </p:txBody>
      </p:sp>
      <p:sp>
        <p:nvSpPr>
          <p:cNvPr id="10" name="Rounded Rectangle 9"/>
          <p:cNvSpPr/>
          <p:nvPr/>
        </p:nvSpPr>
        <p:spPr>
          <a:xfrm>
            <a:off x="822959" y="5952744"/>
            <a:ext cx="8778240" cy="1097280"/>
          </a:xfrm>
          <a:prstGeom prst="roundRect">
            <a:avLst>
              <a:gd name="adj" fmla="val 6000"/>
            </a:avLst>
          </a:prstGeom>
          <a:solidFill>
            <a:srgbClr val="0D3E40"/>
          </a:solidFill>
          <a:ln w="19050">
            <a:solidFill>
              <a:srgbClr val="99E6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6227064"/>
            <a:ext cx="7955279" cy="411479"/>
          </a:xfrm>
          <a:prstGeom prst="rect">
            <a:avLst/>
          </a:prstGeom>
          <a:noFill/>
        </p:spPr>
        <p:txBody>
          <a:bodyPr wrap="none" lIns="0" rIns="0" tIns="0" bIns="0">
            <a:spAutoFit/>
          </a:bodyPr>
          <a:lstStyle/>
          <a:p>
            <a:pPr algn="l">
              <a:lnSpc>
                <a:spcPct val="115000"/>
              </a:lnSpc>
            </a:pPr>
            <a:r>
              <a:rPr sz="1500" spc="330">
                <a:solidFill>
                  <a:srgbClr val="9FE8DC"/>
                </a:solidFill>
                <a:latin typeface="Todes 1"/>
              </a:rPr>
              <a:t>SHARE PRICE</a:t>
            </a:r>
          </a:p>
        </p:txBody>
      </p:sp>
      <p:sp>
        <p:nvSpPr>
          <p:cNvPr id="12" name="TextBox 11"/>
          <p:cNvSpPr txBox="1"/>
          <p:nvPr/>
        </p:nvSpPr>
        <p:spPr>
          <a:xfrm>
            <a:off x="1234440" y="6665975"/>
            <a:ext cx="7955279" cy="466344"/>
          </a:xfrm>
          <a:prstGeom prst="rect">
            <a:avLst/>
          </a:prstGeom>
          <a:noFill/>
        </p:spPr>
        <p:txBody>
          <a:bodyPr wrap="square" lIns="0" rIns="0" tIns="0" bIns="0">
            <a:spAutoFit/>
          </a:bodyPr>
          <a:lstStyle/>
          <a:p>
            <a:pPr algn="l">
              <a:lnSpc>
                <a:spcPct val="150000"/>
              </a:lnSpc>
            </a:pPr>
            <a:r>
              <a:rPr sz="1725">
                <a:solidFill>
                  <a:srgbClr val="F2ECDD"/>
                </a:solidFill>
                <a:latin typeface="TT Commons Pro"/>
              </a:rPr>
              <a:t>$0.20 per share.</a:t>
            </a:r>
          </a:p>
        </p:txBody>
      </p:sp>
      <p:sp>
        <p:nvSpPr>
          <p:cNvPr id="13" name="Rounded Rectangle 12"/>
          <p:cNvSpPr/>
          <p:nvPr/>
        </p:nvSpPr>
        <p:spPr>
          <a:xfrm>
            <a:off x="822959" y="7379208"/>
            <a:ext cx="8778240" cy="1508760"/>
          </a:xfrm>
          <a:prstGeom prst="roundRect">
            <a:avLst>
              <a:gd name="adj" fmla="val 6000"/>
            </a:avLst>
          </a:prstGeom>
          <a:solidFill>
            <a:srgbClr val="0D3E40"/>
          </a:solidFill>
          <a:ln w="19050">
            <a:solidFill>
              <a:srgbClr val="99E6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34440" y="7653528"/>
            <a:ext cx="7955279" cy="411479"/>
          </a:xfrm>
          <a:prstGeom prst="rect">
            <a:avLst/>
          </a:prstGeom>
          <a:noFill/>
        </p:spPr>
        <p:txBody>
          <a:bodyPr wrap="none" lIns="0" rIns="0" tIns="0" bIns="0">
            <a:spAutoFit/>
          </a:bodyPr>
          <a:lstStyle/>
          <a:p>
            <a:pPr algn="l">
              <a:lnSpc>
                <a:spcPct val="115000"/>
              </a:lnSpc>
            </a:pPr>
            <a:r>
              <a:rPr sz="1500" spc="330">
                <a:solidFill>
                  <a:srgbClr val="9FE8DC"/>
                </a:solidFill>
                <a:latin typeface="Todes 1"/>
              </a:rPr>
              <a:t>DIVIDEND RIGHT</a:t>
            </a:r>
          </a:p>
        </p:txBody>
      </p:sp>
      <p:sp>
        <p:nvSpPr>
          <p:cNvPr id="15" name="TextBox 14"/>
          <p:cNvSpPr txBox="1"/>
          <p:nvPr/>
        </p:nvSpPr>
        <p:spPr>
          <a:xfrm>
            <a:off x="1234440" y="8092440"/>
            <a:ext cx="7955279" cy="932688"/>
          </a:xfrm>
          <a:prstGeom prst="rect">
            <a:avLst/>
          </a:prstGeom>
          <a:noFill/>
        </p:spPr>
        <p:txBody>
          <a:bodyPr wrap="square" lIns="0" rIns="0" tIns="0" bIns="0">
            <a:spAutoFit/>
          </a:bodyPr>
          <a:lstStyle/>
          <a:p>
            <a:pPr algn="l">
              <a:lnSpc>
                <a:spcPct val="150000"/>
              </a:lnSpc>
            </a:pPr>
            <a:r>
              <a:rPr sz="1725">
                <a:solidFill>
                  <a:srgbClr val="F2ECDD"/>
                </a:solidFill>
                <a:latin typeface="TT Commons Pro"/>
              </a:rPr>
              <a:t>Steward Pool = 33% of after-tax retained profit,</a:t>
            </a:r>
          </a:p>
          <a:p>
            <a:pPr algn="l">
              <a:lnSpc>
                <a:spcPct val="150000"/>
              </a:lnSpc>
            </a:pPr>
            <a:r>
              <a:rPr sz="1725">
                <a:solidFill>
                  <a:srgbClr val="F2ECDD"/>
                </a:solidFill>
                <a:latin typeface="TT Commons Pro"/>
              </a:rPr>
              <a:t>pro-rata, from the first profitable year.</a:t>
            </a:r>
          </a:p>
        </p:txBody>
      </p:sp>
      <p:sp>
        <p:nvSpPr>
          <p:cNvPr id="16" name="Rounded Rectangle 15"/>
          <p:cNvSpPr/>
          <p:nvPr/>
        </p:nvSpPr>
        <p:spPr>
          <a:xfrm>
            <a:off x="10012680" y="3703320"/>
            <a:ext cx="7475220" cy="5102352"/>
          </a:xfrm>
          <a:prstGeom prst="roundRect">
            <a:avLst>
              <a:gd name="adj" fmla="val 6000"/>
            </a:avLst>
          </a:prstGeom>
          <a:solidFill>
            <a:srgbClr val="084B4D"/>
          </a:solidFill>
          <a:ln w="22859">
            <a:solidFill>
              <a:srgbClr val="F0CC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492740" y="4005072"/>
            <a:ext cx="6583679" cy="411479"/>
          </a:xfrm>
          <a:prstGeom prst="rect">
            <a:avLst/>
          </a:prstGeom>
          <a:noFill/>
        </p:spPr>
        <p:txBody>
          <a:bodyPr wrap="none" lIns="0" rIns="0" tIns="0" bIns="0">
            <a:spAutoFit/>
          </a:bodyPr>
          <a:lstStyle/>
          <a:p>
            <a:pPr algn="l">
              <a:lnSpc>
                <a:spcPct val="115000"/>
              </a:lnSpc>
            </a:pPr>
            <a:r>
              <a:rPr sz="1500" spc="330">
                <a:solidFill>
                  <a:srgbClr val="EBCF9E"/>
                </a:solidFill>
                <a:latin typeface="Todes 1"/>
              </a:rPr>
              <a:t>USE OF FUNDS</a:t>
            </a:r>
          </a:p>
        </p:txBody>
      </p:sp>
      <p:sp>
        <p:nvSpPr>
          <p:cNvPr id="18" name="Rounded Rectangle 17"/>
          <p:cNvSpPr/>
          <p:nvPr/>
        </p:nvSpPr>
        <p:spPr>
          <a:xfrm>
            <a:off x="10492740" y="4553712"/>
            <a:ext cx="1693926" cy="274320"/>
          </a:xfrm>
          <a:prstGeom prst="roundRect">
            <a:avLst>
              <a:gd name="adj" fmla="val 18000"/>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92740" y="4882896"/>
            <a:ext cx="6583679" cy="411479"/>
          </a:xfrm>
          <a:prstGeom prst="rect">
            <a:avLst/>
          </a:prstGeom>
          <a:noFill/>
        </p:spPr>
        <p:txBody>
          <a:bodyPr wrap="none" lIns="0" rIns="0" tIns="0" bIns="0">
            <a:spAutoFit/>
          </a:bodyPr>
          <a:lstStyle/>
          <a:p>
            <a:pPr algn="l">
              <a:lnSpc>
                <a:spcPct val="115000"/>
              </a:lnSpc>
            </a:pPr>
            <a:r>
              <a:rPr sz="1575">
                <a:solidFill>
                  <a:srgbClr val="F2ECDD"/>
                </a:solidFill>
                <a:latin typeface="TT Commons Pro"/>
              </a:rPr>
              <a:t>Live-money cutover + payment operations</a:t>
            </a:r>
          </a:p>
        </p:txBody>
      </p:sp>
      <p:sp>
        <p:nvSpPr>
          <p:cNvPr id="20" name="Rounded Rectangle 19"/>
          <p:cNvSpPr/>
          <p:nvPr/>
        </p:nvSpPr>
        <p:spPr>
          <a:xfrm>
            <a:off x="10492740" y="5294376"/>
            <a:ext cx="1954530" cy="274320"/>
          </a:xfrm>
          <a:prstGeom prst="roundRect">
            <a:avLst>
              <a:gd name="adj" fmla="val 18000"/>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492740" y="5623559"/>
            <a:ext cx="6583679" cy="411479"/>
          </a:xfrm>
          <a:prstGeom prst="rect">
            <a:avLst/>
          </a:prstGeom>
          <a:noFill/>
        </p:spPr>
        <p:txBody>
          <a:bodyPr wrap="none" lIns="0" rIns="0" tIns="0" bIns="0">
            <a:spAutoFit/>
          </a:bodyPr>
          <a:lstStyle/>
          <a:p>
            <a:pPr algn="l">
              <a:lnSpc>
                <a:spcPct val="115000"/>
              </a:lnSpc>
            </a:pPr>
            <a:r>
              <a:rPr sz="1575">
                <a:solidFill>
                  <a:srgbClr val="F2ECDD"/>
                </a:solidFill>
                <a:latin typeface="TT Commons Pro"/>
              </a:rPr>
              <a:t>Core team compensation + engineering</a:t>
            </a:r>
          </a:p>
        </p:txBody>
      </p:sp>
      <p:sp>
        <p:nvSpPr>
          <p:cNvPr id="22" name="Rounded Rectangle 21"/>
          <p:cNvSpPr/>
          <p:nvPr/>
        </p:nvSpPr>
        <p:spPr>
          <a:xfrm>
            <a:off x="10492740" y="6035040"/>
            <a:ext cx="1303020" cy="274320"/>
          </a:xfrm>
          <a:prstGeom prst="roundRect">
            <a:avLst>
              <a:gd name="adj" fmla="val 18000"/>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492740" y="6364224"/>
            <a:ext cx="6583679" cy="411479"/>
          </a:xfrm>
          <a:prstGeom prst="rect">
            <a:avLst/>
          </a:prstGeom>
          <a:noFill/>
        </p:spPr>
        <p:txBody>
          <a:bodyPr wrap="none" lIns="0" rIns="0" tIns="0" bIns="0">
            <a:spAutoFit/>
          </a:bodyPr>
          <a:lstStyle/>
          <a:p>
            <a:pPr algn="l">
              <a:lnSpc>
                <a:spcPct val="115000"/>
              </a:lnSpc>
            </a:pPr>
            <a:r>
              <a:rPr sz="1575">
                <a:solidFill>
                  <a:srgbClr val="F2ECDD"/>
                </a:solidFill>
                <a:latin typeface="TT Commons Pro"/>
              </a:rPr>
              <a:t>Community growth + chapter onboarding</a:t>
            </a:r>
          </a:p>
        </p:txBody>
      </p:sp>
      <p:sp>
        <p:nvSpPr>
          <p:cNvPr id="24" name="Rounded Rectangle 23"/>
          <p:cNvSpPr/>
          <p:nvPr/>
        </p:nvSpPr>
        <p:spPr>
          <a:xfrm>
            <a:off x="10492740" y="6775704"/>
            <a:ext cx="781812" cy="274320"/>
          </a:xfrm>
          <a:prstGeom prst="roundRect">
            <a:avLst>
              <a:gd name="adj" fmla="val 18000"/>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492740" y="7104888"/>
            <a:ext cx="6583679" cy="411479"/>
          </a:xfrm>
          <a:prstGeom prst="rect">
            <a:avLst/>
          </a:prstGeom>
          <a:noFill/>
        </p:spPr>
        <p:txBody>
          <a:bodyPr wrap="none" lIns="0" rIns="0" tIns="0" bIns="0">
            <a:spAutoFit/>
          </a:bodyPr>
          <a:lstStyle/>
          <a:p>
            <a:pPr algn="l">
              <a:lnSpc>
                <a:spcPct val="115000"/>
              </a:lnSpc>
            </a:pPr>
            <a:r>
              <a:rPr sz="1575">
                <a:solidFill>
                  <a:srgbClr val="F2ECDD"/>
                </a:solidFill>
                <a:latin typeface="TT Commons Pro"/>
              </a:rPr>
              <a:t>Legal, compliance + co-op formation</a:t>
            </a:r>
          </a:p>
        </p:txBody>
      </p:sp>
      <p:sp>
        <p:nvSpPr>
          <p:cNvPr id="26" name="Rounded Rectangle 25"/>
          <p:cNvSpPr/>
          <p:nvPr/>
        </p:nvSpPr>
        <p:spPr>
          <a:xfrm>
            <a:off x="10492740" y="7516368"/>
            <a:ext cx="781812" cy="274320"/>
          </a:xfrm>
          <a:prstGeom prst="roundRect">
            <a:avLst>
              <a:gd name="adj" fmla="val 18000"/>
            </a:avLst>
          </a:prstGeom>
          <a:solidFill>
            <a:srgbClr val="F0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492740" y="7845552"/>
            <a:ext cx="6583679" cy="411479"/>
          </a:xfrm>
          <a:prstGeom prst="rect">
            <a:avLst/>
          </a:prstGeom>
          <a:noFill/>
        </p:spPr>
        <p:txBody>
          <a:bodyPr wrap="none" lIns="0" rIns="0" tIns="0" bIns="0">
            <a:spAutoFit/>
          </a:bodyPr>
          <a:lstStyle/>
          <a:p>
            <a:pPr algn="l">
              <a:lnSpc>
                <a:spcPct val="115000"/>
              </a:lnSpc>
            </a:pPr>
            <a:r>
              <a:rPr sz="1575">
                <a:solidFill>
                  <a:srgbClr val="F2ECDD"/>
                </a:solidFill>
                <a:latin typeface="TT Commons Pro"/>
              </a:rPr>
              <a:t>Infrastructure + AI</a:t>
            </a:r>
          </a:p>
        </p:txBody>
      </p:sp>
      <p:sp>
        <p:nvSpPr>
          <p:cNvPr id="28" name="TextBox 27"/>
          <p:cNvSpPr txBox="1"/>
          <p:nvPr/>
        </p:nvSpPr>
        <p:spPr>
          <a:xfrm>
            <a:off x="10492740" y="8257031"/>
            <a:ext cx="6583679" cy="411479"/>
          </a:xfrm>
          <a:prstGeom prst="rect">
            <a:avLst/>
          </a:prstGeom>
          <a:noFill/>
        </p:spPr>
        <p:txBody>
          <a:bodyPr wrap="square" lIns="0" rIns="0" tIns="0" bIns="0">
            <a:spAutoFit/>
          </a:bodyPr>
          <a:lstStyle/>
          <a:p>
            <a:pPr algn="l">
              <a:lnSpc>
                <a:spcPct val="115000"/>
              </a:lnSpc>
            </a:pPr>
            <a:r>
              <a:rPr sz="1800" spc="20">
                <a:solidFill>
                  <a:srgbClr val="EBCF9E"/>
                </a:solidFill>
                <a:latin typeface="Alike Italics"/>
              </a:rPr>
              <a:t>Runway into the 2027 Crowd round.</a:t>
            </a:r>
          </a:p>
        </p:txBody>
      </p:sp>
      <p:sp>
        <p:nvSpPr>
          <p:cNvPr id="29" name="TextBox 28"/>
          <p:cNvSpPr txBox="1"/>
          <p:nvPr/>
        </p:nvSpPr>
        <p:spPr>
          <a:xfrm>
            <a:off x="822959" y="9217152"/>
            <a:ext cx="16596359" cy="411479"/>
          </a:xfrm>
          <a:prstGeom prst="rect">
            <a:avLst/>
          </a:prstGeom>
          <a:noFill/>
        </p:spPr>
        <p:txBody>
          <a:bodyPr wrap="square" lIns="0" rIns="0" tIns="0" bIns="0">
            <a:spAutoFit/>
          </a:bodyPr>
          <a:lstStyle/>
          <a:p>
            <a:pPr algn="ctr">
              <a:lnSpc>
                <a:spcPct val="115000"/>
              </a:lnSpc>
            </a:pPr>
            <a:r>
              <a:rPr sz="1350" spc="150">
                <a:solidFill>
                  <a:srgbClr val="AFC4C2"/>
                </a:solidFill>
                <a:latin typeface="TT Commons Pro"/>
              </a:rPr>
              <a:t>Informational only. Not an offer to sell securities. See governing documents and membership agreements for binding terms.</a:t>
            </a:r>
          </a:p>
        </p:txBody>
      </p:sp>
      <p:pic>
        <p:nvPicPr>
          <p:cNvPr id="30" name="Picture 29" descr="rivr-symbol-light.png"/>
          <p:cNvPicPr>
            <a:picLocks noChangeAspect="1"/>
          </p:cNvPicPr>
          <p:nvPr/>
        </p:nvPicPr>
        <p:blipFill>
          <a:blip r:embed="rId4"/>
          <a:stretch>
            <a:fillRect/>
          </a:stretch>
        </p:blipFill>
        <p:spPr>
          <a:xfrm>
            <a:off x="576072" y="9518904"/>
            <a:ext cx="521208" cy="521208"/>
          </a:xfrm>
          <a:prstGeom prst="rect">
            <a:avLst/>
          </a:prstGeom>
        </p:spPr>
      </p:pic>
      <p:sp>
        <p:nvSpPr>
          <p:cNvPr id="31" name="TextBox 30"/>
          <p:cNvSpPr txBox="1"/>
          <p:nvPr/>
        </p:nvSpPr>
        <p:spPr>
          <a:xfrm>
            <a:off x="1371600" y="9724644"/>
            <a:ext cx="5486400" cy="301752"/>
          </a:xfrm>
          <a:prstGeom prst="rect">
            <a:avLst/>
          </a:prstGeom>
          <a:noFill/>
        </p:spPr>
        <p:txBody>
          <a:bodyPr wrap="none" lIns="0" rIns="0" tIns="0" bIns="0">
            <a:spAutoFit/>
          </a:bodyPr>
          <a:lstStyle/>
          <a:p>
            <a:pPr algn="l">
              <a:lnSpc>
                <a:spcPct val="115000"/>
              </a:lnSpc>
            </a:pPr>
            <a:r>
              <a:rPr sz="1350" spc="150">
                <a:solidFill>
                  <a:srgbClr val="AFC4C2"/>
                </a:solidFill>
                <a:latin typeface="TT Commons Pro"/>
              </a:rPr>
              <a:t>Rivr · Seed Round 2026</a:t>
            </a:r>
          </a:p>
        </p:txBody>
      </p:sp>
      <p:sp>
        <p:nvSpPr>
          <p:cNvPr id="32" name="TextBox 31"/>
          <p:cNvSpPr txBox="1"/>
          <p:nvPr/>
        </p:nvSpPr>
        <p:spPr>
          <a:xfrm>
            <a:off x="16870680" y="9724644"/>
            <a:ext cx="960119" cy="301752"/>
          </a:xfrm>
          <a:prstGeom prst="rect">
            <a:avLst/>
          </a:prstGeom>
          <a:noFill/>
        </p:spPr>
        <p:txBody>
          <a:bodyPr wrap="none" lIns="0" rIns="0" tIns="0" bIns="0">
            <a:spAutoFit/>
          </a:bodyPr>
          <a:lstStyle/>
          <a:p>
            <a:pPr algn="r">
              <a:lnSpc>
                <a:spcPct val="115000"/>
              </a:lnSpc>
            </a:pPr>
            <a:r>
              <a:rPr sz="1350" spc="150">
                <a:solidFill>
                  <a:srgbClr val="AFC4C2"/>
                </a:solidFill>
                <a:latin typeface="TT Commons Pro"/>
              </a:rPr>
              <a:t>49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03333"/>
        </a:solidFill>
        <a:effectLst/>
      </p:bgPr>
    </p:bg>
    <p:spTree>
      <p:nvGrpSpPr>
        <p:cNvPr id="1" name=""/>
        <p:cNvGrpSpPr/>
        <p:nvPr/>
      </p:nvGrpSpPr>
      <p:grpSpPr/>
      <p:pic>
        <p:nvPicPr>
          <p:cNvPr id="2" name="Picture 1" descr="bg_c45.jpg"/>
          <p:cNvPicPr>
            <a:picLocks noChangeAspect="1"/>
          </p:cNvPicPr>
          <p:nvPr/>
        </p:nvPicPr>
        <p:blipFill>
          <a:blip r:embed="rId2"/>
          <a:stretch>
            <a:fillRect/>
          </a:stretch>
        </p:blipFill>
        <p:spPr>
          <a:xfrm>
            <a:off x="0" y="0"/>
            <a:ext cx="18287542" cy="10287000"/>
          </a:xfrm>
          <a:prstGeom prst="rect">
            <a:avLst/>
          </a:prstGeom>
        </p:spPr>
      </p:pic>
      <p:sp>
        <p:nvSpPr>
          <p:cNvPr id="3" name="TextBox 2"/>
          <p:cNvSpPr txBox="1"/>
          <p:nvPr/>
        </p:nvSpPr>
        <p:spPr>
          <a:xfrm>
            <a:off x="822959" y="822959"/>
            <a:ext cx="16733519" cy="384048"/>
          </a:xfrm>
          <a:prstGeom prst="rect">
            <a:avLst/>
          </a:prstGeom>
          <a:noFill/>
        </p:spPr>
        <p:txBody>
          <a:bodyPr wrap="none" lIns="0" rIns="0" tIns="0" bIns="0">
            <a:spAutoFit/>
          </a:bodyPr>
          <a:lstStyle/>
          <a:p>
            <a:pPr algn="l">
              <a:lnSpc>
                <a:spcPct val="115000"/>
              </a:lnSpc>
            </a:pPr>
            <a:r>
              <a:rPr sz="1650" spc="330">
                <a:solidFill>
                  <a:srgbClr val="9FE8DC"/>
                </a:solidFill>
                <a:latin typeface="Todes 1"/>
              </a:rPr>
              <a:t>VALUES-BASED WORLD OUTCOMES</a:t>
            </a:r>
          </a:p>
        </p:txBody>
      </p:sp>
      <p:sp>
        <p:nvSpPr>
          <p:cNvPr id="4" name="TextBox 3"/>
          <p:cNvSpPr txBox="1"/>
          <p:nvPr/>
        </p:nvSpPr>
        <p:spPr>
          <a:xfrm>
            <a:off x="822959" y="1699869"/>
            <a:ext cx="7744142" cy="1075620"/>
          </a:xfrm>
          <a:prstGeom prst="rect">
            <a:avLst/>
          </a:prstGeom>
          <a:noFill/>
        </p:spPr>
        <p:txBody>
          <a:bodyPr wrap="none" lIns="0" rIns="0" tIns="0" bIns="0">
            <a:spAutoFit/>
          </a:bodyPr>
          <a:lstStyle/>
          <a:p>
            <a:pPr algn="l">
              <a:lnSpc>
                <a:spcPct val="115000"/>
              </a:lnSpc>
            </a:pPr>
            <a:r>
              <a:rPr sz="5841" spc="-79">
                <a:solidFill>
                  <a:srgbClr val="F4EAD8"/>
                </a:solidFill>
                <a:latin typeface="Todes 1"/>
              </a:rPr>
              <a:t>Public benefits, </a:t>
            </a:r>
          </a:p>
        </p:txBody>
      </p:sp>
      <p:sp>
        <p:nvSpPr>
          <p:cNvPr id="5" name="TextBox 4"/>
          <p:cNvSpPr txBox="1"/>
          <p:nvPr/>
        </p:nvSpPr>
        <p:spPr>
          <a:xfrm>
            <a:off x="6853682" y="1645919"/>
            <a:ext cx="3587115" cy="1173403"/>
          </a:xfrm>
          <a:prstGeom prst="rect">
            <a:avLst/>
          </a:prstGeom>
          <a:noFill/>
        </p:spPr>
        <p:txBody>
          <a:bodyPr wrap="none" lIns="0" rIns="0" tIns="0" bIns="0">
            <a:spAutoFit/>
          </a:bodyPr>
          <a:lstStyle/>
          <a:p>
            <a:pPr algn="l">
              <a:lnSpc>
                <a:spcPct val="115000"/>
              </a:lnSpc>
            </a:pPr>
            <a:r>
              <a:rPr sz="6372" spc="-75">
                <a:solidFill>
                  <a:srgbClr val="EBCF9E"/>
                </a:solidFill>
                <a:latin typeface="Ibarra Real Nova Italics"/>
              </a:rPr>
              <a:t>codified.</a:t>
            </a:r>
          </a:p>
        </p:txBody>
      </p:sp>
      <p:sp>
        <p:nvSpPr>
          <p:cNvPr id="6" name="Rounded Rectangle 5"/>
          <p:cNvSpPr/>
          <p:nvPr/>
        </p:nvSpPr>
        <p:spPr>
          <a:xfrm>
            <a:off x="822959" y="3771900"/>
            <a:ext cx="5376672" cy="2194560"/>
          </a:xfrm>
          <a:prstGeom prst="roundRect">
            <a:avLst>
              <a:gd name="adj" fmla="val 6000"/>
            </a:avLst>
          </a:prstGeom>
          <a:solidFill>
            <a:srgbClr val="0D3E40"/>
          </a:solidFill>
          <a:ln w="17145">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oney.png"/>
          <p:cNvPicPr>
            <a:picLocks noChangeAspect="1"/>
          </p:cNvPicPr>
          <p:nvPr/>
        </p:nvPicPr>
        <p:blipFill>
          <a:blip r:embed="rId4"/>
          <a:stretch>
            <a:fillRect/>
          </a:stretch>
        </p:blipFill>
        <p:spPr>
          <a:xfrm>
            <a:off x="1193292" y="4142232"/>
            <a:ext cx="411479" cy="411479"/>
          </a:xfrm>
          <a:prstGeom prst="rect">
            <a:avLst/>
          </a:prstGeom>
        </p:spPr>
      </p:pic>
      <p:sp>
        <p:nvSpPr>
          <p:cNvPr id="8" name="TextBox 7"/>
          <p:cNvSpPr txBox="1"/>
          <p:nvPr/>
        </p:nvSpPr>
        <p:spPr>
          <a:xfrm>
            <a:off x="1920239" y="4155948"/>
            <a:ext cx="4114800" cy="411479"/>
          </a:xfrm>
          <a:prstGeom prst="rect">
            <a:avLst/>
          </a:prstGeom>
          <a:noFill/>
        </p:spPr>
        <p:txBody>
          <a:bodyPr wrap="none" lIns="0" rIns="0" tIns="0" bIns="0">
            <a:spAutoFit/>
          </a:bodyPr>
          <a:lstStyle/>
          <a:p>
            <a:pPr algn="l">
              <a:lnSpc>
                <a:spcPct val="115000"/>
              </a:lnSpc>
            </a:pPr>
            <a:r>
              <a:rPr sz="1425" spc="330">
                <a:solidFill>
                  <a:srgbClr val="9FE8DC"/>
                </a:solidFill>
                <a:latin typeface="Todes 1"/>
              </a:rPr>
              <a:t>ECONOMIC RESILIENCE</a:t>
            </a:r>
          </a:p>
        </p:txBody>
      </p:sp>
      <p:sp>
        <p:nvSpPr>
          <p:cNvPr id="9" name="TextBox 8"/>
          <p:cNvSpPr txBox="1"/>
          <p:nvPr/>
        </p:nvSpPr>
        <p:spPr>
          <a:xfrm>
            <a:off x="1234439" y="4800600"/>
            <a:ext cx="4594860" cy="960119"/>
          </a:xfrm>
          <a:prstGeom prst="rect">
            <a:avLst/>
          </a:prstGeom>
          <a:noFill/>
        </p:spPr>
        <p:txBody>
          <a:bodyPr wrap="square" lIns="0" rIns="0" tIns="0" bIns="0">
            <a:spAutoFit/>
          </a:bodyPr>
          <a:lstStyle/>
          <a:p>
            <a:pPr algn="l">
              <a:lnSpc>
                <a:spcPct val="140000"/>
              </a:lnSpc>
            </a:pPr>
            <a:r>
              <a:rPr sz="1575">
                <a:solidFill>
                  <a:srgbClr val="F2ECDD"/>
                </a:solidFill>
                <a:latin typeface="TT Commons Pro"/>
              </a:rPr>
              <a:t>Local economic thriving — cooperative commerce, resource sharing, community building.</a:t>
            </a:r>
          </a:p>
        </p:txBody>
      </p:sp>
      <p:sp>
        <p:nvSpPr>
          <p:cNvPr id="10" name="Rounded Rectangle 9"/>
          <p:cNvSpPr/>
          <p:nvPr/>
        </p:nvSpPr>
        <p:spPr>
          <a:xfrm>
            <a:off x="6473952" y="3771900"/>
            <a:ext cx="5376672" cy="2194560"/>
          </a:xfrm>
          <a:prstGeom prst="roundRect">
            <a:avLst>
              <a:gd name="adj" fmla="val 6000"/>
            </a:avLst>
          </a:prstGeom>
          <a:solidFill>
            <a:srgbClr val="062A2C"/>
          </a:solidFill>
          <a:ln w="17145">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map.png"/>
          <p:cNvPicPr>
            <a:picLocks noChangeAspect="1"/>
          </p:cNvPicPr>
          <p:nvPr/>
        </p:nvPicPr>
        <p:blipFill>
          <a:blip r:embed="rId5"/>
          <a:stretch>
            <a:fillRect/>
          </a:stretch>
        </p:blipFill>
        <p:spPr>
          <a:xfrm>
            <a:off x="6844283" y="4142232"/>
            <a:ext cx="411479" cy="411479"/>
          </a:xfrm>
          <a:prstGeom prst="rect">
            <a:avLst/>
          </a:prstGeom>
        </p:spPr>
      </p:pic>
      <p:sp>
        <p:nvSpPr>
          <p:cNvPr id="12" name="TextBox 11"/>
          <p:cNvSpPr txBox="1"/>
          <p:nvPr/>
        </p:nvSpPr>
        <p:spPr>
          <a:xfrm>
            <a:off x="7571231" y="4155948"/>
            <a:ext cx="4114800" cy="411479"/>
          </a:xfrm>
          <a:prstGeom prst="rect">
            <a:avLst/>
          </a:prstGeom>
          <a:noFill/>
        </p:spPr>
        <p:txBody>
          <a:bodyPr wrap="none" lIns="0" rIns="0" tIns="0" bIns="0">
            <a:spAutoFit/>
          </a:bodyPr>
          <a:lstStyle/>
          <a:p>
            <a:pPr algn="l">
              <a:lnSpc>
                <a:spcPct val="115000"/>
              </a:lnSpc>
            </a:pPr>
            <a:r>
              <a:rPr sz="1425" spc="330">
                <a:solidFill>
                  <a:srgbClr val="9FE8DC"/>
                </a:solidFill>
                <a:latin typeface="Todes 1"/>
              </a:rPr>
              <a:t>REGENERATIVE IMPACT</a:t>
            </a:r>
          </a:p>
        </p:txBody>
      </p:sp>
      <p:sp>
        <p:nvSpPr>
          <p:cNvPr id="13" name="TextBox 12"/>
          <p:cNvSpPr txBox="1"/>
          <p:nvPr/>
        </p:nvSpPr>
        <p:spPr>
          <a:xfrm>
            <a:off x="6885431" y="4800600"/>
            <a:ext cx="4594860" cy="960119"/>
          </a:xfrm>
          <a:prstGeom prst="rect">
            <a:avLst/>
          </a:prstGeom>
          <a:noFill/>
        </p:spPr>
        <p:txBody>
          <a:bodyPr wrap="square" lIns="0" rIns="0" tIns="0" bIns="0">
            <a:spAutoFit/>
          </a:bodyPr>
          <a:lstStyle/>
          <a:p>
            <a:pPr algn="l">
              <a:lnSpc>
                <a:spcPct val="140000"/>
              </a:lnSpc>
            </a:pPr>
            <a:r>
              <a:rPr sz="1575">
                <a:solidFill>
                  <a:srgbClr val="F2ECDD"/>
                </a:solidFill>
                <a:latin typeface="TT Commons Pro"/>
              </a:rPr>
              <a:t>Environmentally regenerative practice through education, technology, and transparency.</a:t>
            </a:r>
          </a:p>
        </p:txBody>
      </p:sp>
      <p:sp>
        <p:nvSpPr>
          <p:cNvPr id="14" name="Rounded Rectangle 13"/>
          <p:cNvSpPr/>
          <p:nvPr/>
        </p:nvSpPr>
        <p:spPr>
          <a:xfrm>
            <a:off x="12124944" y="3771900"/>
            <a:ext cx="5376672" cy="2194560"/>
          </a:xfrm>
          <a:prstGeom prst="roundRect">
            <a:avLst>
              <a:gd name="adj" fmla="val 6000"/>
            </a:avLst>
          </a:prstGeom>
          <a:solidFill>
            <a:srgbClr val="0D3E40"/>
          </a:solidFill>
          <a:ln w="17145">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governance.png"/>
          <p:cNvPicPr>
            <a:picLocks noChangeAspect="1"/>
          </p:cNvPicPr>
          <p:nvPr/>
        </p:nvPicPr>
        <p:blipFill>
          <a:blip r:embed="rId6"/>
          <a:stretch>
            <a:fillRect/>
          </a:stretch>
        </p:blipFill>
        <p:spPr>
          <a:xfrm>
            <a:off x="12495276" y="4142232"/>
            <a:ext cx="411479" cy="411479"/>
          </a:xfrm>
          <a:prstGeom prst="rect">
            <a:avLst/>
          </a:prstGeom>
        </p:spPr>
      </p:pic>
      <p:sp>
        <p:nvSpPr>
          <p:cNvPr id="16" name="TextBox 15"/>
          <p:cNvSpPr txBox="1"/>
          <p:nvPr/>
        </p:nvSpPr>
        <p:spPr>
          <a:xfrm>
            <a:off x="13222224" y="4155948"/>
            <a:ext cx="4114800" cy="411479"/>
          </a:xfrm>
          <a:prstGeom prst="rect">
            <a:avLst/>
          </a:prstGeom>
          <a:noFill/>
        </p:spPr>
        <p:txBody>
          <a:bodyPr wrap="none" lIns="0" rIns="0" tIns="0" bIns="0">
            <a:spAutoFit/>
          </a:bodyPr>
          <a:lstStyle/>
          <a:p>
            <a:pPr algn="l">
              <a:lnSpc>
                <a:spcPct val="115000"/>
              </a:lnSpc>
            </a:pPr>
            <a:r>
              <a:rPr sz="1425" spc="330">
                <a:solidFill>
                  <a:srgbClr val="9FE8DC"/>
                </a:solidFill>
                <a:latin typeface="Todes 1"/>
              </a:rPr>
              <a:t>CIVIC ENGAGEMENT</a:t>
            </a:r>
          </a:p>
        </p:txBody>
      </p:sp>
      <p:sp>
        <p:nvSpPr>
          <p:cNvPr id="17" name="TextBox 16"/>
          <p:cNvSpPr txBox="1"/>
          <p:nvPr/>
        </p:nvSpPr>
        <p:spPr>
          <a:xfrm>
            <a:off x="12536424" y="4800600"/>
            <a:ext cx="4594860" cy="960119"/>
          </a:xfrm>
          <a:prstGeom prst="rect">
            <a:avLst/>
          </a:prstGeom>
          <a:noFill/>
        </p:spPr>
        <p:txBody>
          <a:bodyPr wrap="square" lIns="0" rIns="0" tIns="0" bIns="0">
            <a:spAutoFit/>
          </a:bodyPr>
          <a:lstStyle/>
          <a:p>
            <a:pPr algn="l">
              <a:lnSpc>
                <a:spcPct val="140000"/>
              </a:lnSpc>
            </a:pPr>
            <a:r>
              <a:rPr sz="1575">
                <a:solidFill>
                  <a:srgbClr val="F2ECDD"/>
                </a:solidFill>
                <a:latin typeface="TT Commons Pro"/>
              </a:rPr>
              <a:t>Democratic participation through accessible cooperative ownership.</a:t>
            </a:r>
          </a:p>
        </p:txBody>
      </p:sp>
      <p:sp>
        <p:nvSpPr>
          <p:cNvPr id="18" name="Rounded Rectangle 17"/>
          <p:cNvSpPr/>
          <p:nvPr/>
        </p:nvSpPr>
        <p:spPr>
          <a:xfrm>
            <a:off x="822959" y="6309359"/>
            <a:ext cx="5376672" cy="2194560"/>
          </a:xfrm>
          <a:prstGeom prst="roundRect">
            <a:avLst>
              <a:gd name="adj" fmla="val 6000"/>
            </a:avLst>
          </a:prstGeom>
          <a:solidFill>
            <a:srgbClr val="062A2C"/>
          </a:solidFill>
          <a:ln w="17145">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role.png"/>
          <p:cNvPicPr>
            <a:picLocks noChangeAspect="1"/>
          </p:cNvPicPr>
          <p:nvPr/>
        </p:nvPicPr>
        <p:blipFill>
          <a:blip r:embed="rId7"/>
          <a:stretch>
            <a:fillRect/>
          </a:stretch>
        </p:blipFill>
        <p:spPr>
          <a:xfrm>
            <a:off x="1193292" y="6679691"/>
            <a:ext cx="411479" cy="411479"/>
          </a:xfrm>
          <a:prstGeom prst="rect">
            <a:avLst/>
          </a:prstGeom>
        </p:spPr>
      </p:pic>
      <p:sp>
        <p:nvSpPr>
          <p:cNvPr id="20" name="TextBox 19"/>
          <p:cNvSpPr txBox="1"/>
          <p:nvPr/>
        </p:nvSpPr>
        <p:spPr>
          <a:xfrm>
            <a:off x="1920239" y="6693408"/>
            <a:ext cx="4114800" cy="411479"/>
          </a:xfrm>
          <a:prstGeom prst="rect">
            <a:avLst/>
          </a:prstGeom>
          <a:noFill/>
        </p:spPr>
        <p:txBody>
          <a:bodyPr wrap="none" lIns="0" rIns="0" tIns="0" bIns="0">
            <a:spAutoFit/>
          </a:bodyPr>
          <a:lstStyle/>
          <a:p>
            <a:pPr algn="l">
              <a:lnSpc>
                <a:spcPct val="115000"/>
              </a:lnSpc>
            </a:pPr>
            <a:r>
              <a:rPr sz="1425" spc="330">
                <a:solidFill>
                  <a:srgbClr val="9FE8DC"/>
                </a:solidFill>
                <a:latin typeface="Todes 1"/>
              </a:rPr>
              <a:t>PERSONAL LIBERTY</a:t>
            </a:r>
          </a:p>
        </p:txBody>
      </p:sp>
      <p:sp>
        <p:nvSpPr>
          <p:cNvPr id="21" name="TextBox 20"/>
          <p:cNvSpPr txBox="1"/>
          <p:nvPr/>
        </p:nvSpPr>
        <p:spPr>
          <a:xfrm>
            <a:off x="1234439" y="7338059"/>
            <a:ext cx="4594860" cy="960119"/>
          </a:xfrm>
          <a:prstGeom prst="rect">
            <a:avLst/>
          </a:prstGeom>
          <a:noFill/>
        </p:spPr>
        <p:txBody>
          <a:bodyPr wrap="square" lIns="0" rIns="0" tIns="0" bIns="0">
            <a:spAutoFit/>
          </a:bodyPr>
          <a:lstStyle/>
          <a:p>
            <a:pPr algn="l">
              <a:lnSpc>
                <a:spcPct val="140000"/>
              </a:lnSpc>
            </a:pPr>
            <a:r>
              <a:rPr sz="1575">
                <a:solidFill>
                  <a:srgbClr val="F2ECDD"/>
                </a:solidFill>
                <a:latin typeface="TT Commons Pro"/>
              </a:rPr>
              <a:t>Data sovereignty and open tools — an opt-in ecosystem of vibrant social organisms.</a:t>
            </a:r>
          </a:p>
        </p:txBody>
      </p:sp>
      <p:sp>
        <p:nvSpPr>
          <p:cNvPr id="22" name="Rounded Rectangle 21"/>
          <p:cNvSpPr/>
          <p:nvPr/>
        </p:nvSpPr>
        <p:spPr>
          <a:xfrm>
            <a:off x="6473952" y="6309359"/>
            <a:ext cx="5376672" cy="2194560"/>
          </a:xfrm>
          <a:prstGeom prst="roundRect">
            <a:avLst>
              <a:gd name="adj" fmla="val 6000"/>
            </a:avLst>
          </a:prstGeom>
          <a:solidFill>
            <a:srgbClr val="0D3E40"/>
          </a:solidFill>
          <a:ln w="17145">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care.png"/>
          <p:cNvPicPr>
            <a:picLocks noChangeAspect="1"/>
          </p:cNvPicPr>
          <p:nvPr/>
        </p:nvPicPr>
        <p:blipFill>
          <a:blip r:embed="rId8"/>
          <a:stretch>
            <a:fillRect/>
          </a:stretch>
        </p:blipFill>
        <p:spPr>
          <a:xfrm>
            <a:off x="6844283" y="6679691"/>
            <a:ext cx="411479" cy="411479"/>
          </a:xfrm>
          <a:prstGeom prst="rect">
            <a:avLst/>
          </a:prstGeom>
        </p:spPr>
      </p:pic>
      <p:sp>
        <p:nvSpPr>
          <p:cNvPr id="24" name="TextBox 23"/>
          <p:cNvSpPr txBox="1"/>
          <p:nvPr/>
        </p:nvSpPr>
        <p:spPr>
          <a:xfrm>
            <a:off x="7571231" y="6693408"/>
            <a:ext cx="4114800" cy="411479"/>
          </a:xfrm>
          <a:prstGeom prst="rect">
            <a:avLst/>
          </a:prstGeom>
          <a:noFill/>
        </p:spPr>
        <p:txBody>
          <a:bodyPr wrap="none" lIns="0" rIns="0" tIns="0" bIns="0">
            <a:spAutoFit/>
          </a:bodyPr>
          <a:lstStyle/>
          <a:p>
            <a:pPr algn="l">
              <a:lnSpc>
                <a:spcPct val="115000"/>
              </a:lnSpc>
            </a:pPr>
            <a:r>
              <a:rPr sz="1425" spc="330">
                <a:solidFill>
                  <a:srgbClr val="9FE8DC"/>
                </a:solidFill>
                <a:latin typeface="Todes 1"/>
              </a:rPr>
              <a:t>LOCAL CULTURE &amp; ECOLOGY</a:t>
            </a:r>
          </a:p>
        </p:txBody>
      </p:sp>
      <p:sp>
        <p:nvSpPr>
          <p:cNvPr id="25" name="TextBox 24"/>
          <p:cNvSpPr txBox="1"/>
          <p:nvPr/>
        </p:nvSpPr>
        <p:spPr>
          <a:xfrm>
            <a:off x="6885431" y="7338059"/>
            <a:ext cx="4594860" cy="960119"/>
          </a:xfrm>
          <a:prstGeom prst="rect">
            <a:avLst/>
          </a:prstGeom>
          <a:noFill/>
        </p:spPr>
        <p:txBody>
          <a:bodyPr wrap="square" lIns="0" rIns="0" tIns="0" bIns="0">
            <a:spAutoFit/>
          </a:bodyPr>
          <a:lstStyle/>
          <a:p>
            <a:pPr algn="l">
              <a:lnSpc>
                <a:spcPct val="140000"/>
              </a:lnSpc>
            </a:pPr>
            <a:r>
              <a:rPr sz="1575">
                <a:solidFill>
                  <a:srgbClr val="F2ECDD"/>
                </a:solidFill>
                <a:latin typeface="TT Commons Pro"/>
              </a:rPr>
              <a:t>The vitality of each place: water, land, food, art, music, business, care.</a:t>
            </a:r>
          </a:p>
        </p:txBody>
      </p:sp>
      <p:sp>
        <p:nvSpPr>
          <p:cNvPr id="26" name="Rounded Rectangle 25"/>
          <p:cNvSpPr/>
          <p:nvPr/>
        </p:nvSpPr>
        <p:spPr>
          <a:xfrm>
            <a:off x="12124944" y="6309359"/>
            <a:ext cx="5376672" cy="2194560"/>
          </a:xfrm>
          <a:prstGeom prst="roundRect">
            <a:avLst>
              <a:gd name="adj" fmla="val 6000"/>
            </a:avLst>
          </a:prstGeom>
          <a:solidFill>
            <a:srgbClr val="062A2C"/>
          </a:solidFill>
          <a:ln w="17145">
            <a:solidFill>
              <a:srgbClr val="9FE8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ring.png"/>
          <p:cNvPicPr>
            <a:picLocks noChangeAspect="1"/>
          </p:cNvPicPr>
          <p:nvPr/>
        </p:nvPicPr>
        <p:blipFill>
          <a:blip r:embed="rId9"/>
          <a:stretch>
            <a:fillRect/>
          </a:stretch>
        </p:blipFill>
        <p:spPr>
          <a:xfrm>
            <a:off x="12495276" y="6679691"/>
            <a:ext cx="411479" cy="411479"/>
          </a:xfrm>
          <a:prstGeom prst="rect">
            <a:avLst/>
          </a:prstGeom>
        </p:spPr>
      </p:pic>
      <p:sp>
        <p:nvSpPr>
          <p:cNvPr id="28" name="TextBox 27"/>
          <p:cNvSpPr txBox="1"/>
          <p:nvPr/>
        </p:nvSpPr>
        <p:spPr>
          <a:xfrm>
            <a:off x="13222224" y="6693408"/>
            <a:ext cx="4114800" cy="411479"/>
          </a:xfrm>
          <a:prstGeom prst="rect">
            <a:avLst/>
          </a:prstGeom>
          <a:noFill/>
        </p:spPr>
        <p:txBody>
          <a:bodyPr wrap="none" lIns="0" rIns="0" tIns="0" bIns="0">
            <a:spAutoFit/>
          </a:bodyPr>
          <a:lstStyle/>
          <a:p>
            <a:pPr algn="l">
              <a:lnSpc>
                <a:spcPct val="115000"/>
              </a:lnSpc>
            </a:pPr>
            <a:r>
              <a:rPr sz="1425" spc="330">
                <a:solidFill>
                  <a:srgbClr val="9FE8DC"/>
                </a:solidFill>
                <a:latin typeface="Todes 1"/>
              </a:rPr>
              <a:t>THRIVING BIOREGIONS</a:t>
            </a:r>
          </a:p>
        </p:txBody>
      </p:sp>
      <p:sp>
        <p:nvSpPr>
          <p:cNvPr id="29" name="TextBox 28"/>
          <p:cNvSpPr txBox="1"/>
          <p:nvPr/>
        </p:nvSpPr>
        <p:spPr>
          <a:xfrm>
            <a:off x="12536424" y="7338059"/>
            <a:ext cx="4594860" cy="960119"/>
          </a:xfrm>
          <a:prstGeom prst="rect">
            <a:avLst/>
          </a:prstGeom>
          <a:noFill/>
        </p:spPr>
        <p:txBody>
          <a:bodyPr wrap="square" lIns="0" rIns="0" tIns="0" bIns="0">
            <a:spAutoFit/>
          </a:bodyPr>
          <a:lstStyle/>
          <a:p>
            <a:pPr algn="l">
              <a:lnSpc>
                <a:spcPct val="140000"/>
              </a:lnSpc>
            </a:pPr>
            <a:r>
              <a:rPr sz="1575">
                <a:solidFill>
                  <a:srgbClr val="F2ECDD"/>
                </a:solidFill>
                <a:latin typeface="TT Commons Pro"/>
              </a:rPr>
              <a:t>~30 active bioregions and ~200 living organizations by end of 2027 — and beyond.</a:t>
            </a:r>
          </a:p>
        </p:txBody>
      </p:sp>
      <p:sp>
        <p:nvSpPr>
          <p:cNvPr id="30" name="TextBox 29"/>
          <p:cNvSpPr txBox="1"/>
          <p:nvPr/>
        </p:nvSpPr>
        <p:spPr>
          <a:xfrm>
            <a:off x="822959" y="8778240"/>
            <a:ext cx="16596359" cy="1097280"/>
          </a:xfrm>
          <a:prstGeom prst="rect">
            <a:avLst/>
          </a:prstGeom>
          <a:noFill/>
        </p:spPr>
        <p:txBody>
          <a:bodyPr wrap="square" lIns="0" rIns="0" tIns="0" bIns="0">
            <a:spAutoFit/>
          </a:bodyPr>
          <a:lstStyle/>
          <a:p>
            <a:pPr algn="ctr">
              <a:lnSpc>
                <a:spcPct val="140000"/>
              </a:lnSpc>
            </a:pPr>
            <a:r>
              <a:rPr sz="1875">
                <a:solidFill>
                  <a:srgbClr val="F2ECDD"/>
                </a:solidFill>
                <a:latin typeface="TT Commons Pro"/>
              </a:rPr>
              <a:t>The bigger vision is capable places — able to see and care for themselves</a:t>
            </a:r>
          </a:p>
          <a:p>
            <a:pPr algn="ctr">
              <a:lnSpc>
                <a:spcPct val="140000"/>
              </a:lnSpc>
            </a:pPr>
            <a:r>
              <a:rPr sz="2100" spc="20">
                <a:solidFill>
                  <a:srgbClr val="9FE8DC"/>
                </a:solidFill>
                <a:latin typeface="Alike Italics"/>
              </a:rPr>
              <a:t>without cutting themselves off from the rest of the world.</a:t>
            </a:r>
          </a:p>
        </p:txBody>
      </p:sp>
      <p:pic>
        <p:nvPicPr>
          <p:cNvPr id="31" name="Picture 30" descr="rivr-symbol-light.png"/>
          <p:cNvPicPr>
            <a:picLocks noChangeAspect="1"/>
          </p:cNvPicPr>
          <p:nvPr/>
        </p:nvPicPr>
        <p:blipFill>
          <a:blip r:embed="rId10"/>
          <a:stretch>
            <a:fillRect/>
          </a:stretch>
        </p:blipFill>
        <p:spPr>
          <a:xfrm>
            <a:off x="576072" y="9518904"/>
            <a:ext cx="521208" cy="521208"/>
          </a:xfrm>
          <a:prstGeom prst="rect">
            <a:avLst/>
          </a:prstGeom>
        </p:spPr>
      </p:pic>
      <p:sp>
        <p:nvSpPr>
          <p:cNvPr id="32" name="TextBox 31"/>
          <p:cNvSpPr txBox="1"/>
          <p:nvPr/>
        </p:nvSpPr>
        <p:spPr>
          <a:xfrm>
            <a:off x="1371600" y="9724644"/>
            <a:ext cx="5486400" cy="301752"/>
          </a:xfrm>
          <a:prstGeom prst="rect">
            <a:avLst/>
          </a:prstGeom>
          <a:noFill/>
        </p:spPr>
        <p:txBody>
          <a:bodyPr wrap="none" lIns="0" rIns="0" tIns="0" bIns="0">
            <a:spAutoFit/>
          </a:bodyPr>
          <a:lstStyle/>
          <a:p>
            <a:pPr algn="l">
              <a:lnSpc>
                <a:spcPct val="115000"/>
              </a:lnSpc>
            </a:pPr>
            <a:r>
              <a:rPr sz="1350" spc="150">
                <a:solidFill>
                  <a:srgbClr val="AFC4C2"/>
                </a:solidFill>
                <a:latin typeface="TT Commons Pro"/>
              </a:rPr>
              <a:t>Rivr · Seed Round 2026</a:t>
            </a:r>
          </a:p>
        </p:txBody>
      </p:sp>
      <p:sp>
        <p:nvSpPr>
          <p:cNvPr id="33" name="TextBox 32"/>
          <p:cNvSpPr txBox="1"/>
          <p:nvPr/>
        </p:nvSpPr>
        <p:spPr>
          <a:xfrm>
            <a:off x="16870680" y="9724644"/>
            <a:ext cx="960119" cy="301752"/>
          </a:xfrm>
          <a:prstGeom prst="rect">
            <a:avLst/>
          </a:prstGeom>
          <a:noFill/>
        </p:spPr>
        <p:txBody>
          <a:bodyPr wrap="none" lIns="0" rIns="0" tIns="0" bIns="0">
            <a:spAutoFit/>
          </a:bodyPr>
          <a:lstStyle/>
          <a:p>
            <a:pPr algn="r">
              <a:lnSpc>
                <a:spcPct val="115000"/>
              </a:lnSpc>
            </a:pPr>
            <a:r>
              <a:rPr sz="1350" spc="150">
                <a:solidFill>
                  <a:srgbClr val="AFC4C2"/>
                </a:solidFill>
                <a:latin typeface="TT Commons Pro"/>
              </a:rPr>
              <a:t>50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03333"/>
        </a:solidFill>
        <a:effectLst/>
      </p:bgPr>
    </p:bg>
    <p:spTree>
      <p:nvGrpSpPr>
        <p:cNvPr id="1" name=""/>
        <p:cNvGrpSpPr/>
        <p:nvPr/>
      </p:nvGrpSpPr>
      <p:grpSpPr/>
      <p:pic>
        <p:nvPicPr>
          <p:cNvPr id="2" name="Picture 1" descr="bg_p05.jpg"/>
          <p:cNvPicPr>
            <a:picLocks noChangeAspect="1"/>
          </p:cNvPicPr>
          <p:nvPr/>
        </p:nvPicPr>
        <p:blipFill>
          <a:blip r:embed="rId2"/>
          <a:stretch>
            <a:fillRect/>
          </a:stretch>
        </p:blipFill>
        <p:spPr>
          <a:xfrm>
            <a:off x="0" y="0"/>
            <a:ext cx="18287542" cy="10287000"/>
          </a:xfrm>
          <a:prstGeom prst="rect">
            <a:avLst/>
          </a:prstGeom>
        </p:spPr>
      </p:pic>
      <p:sp>
        <p:nvSpPr>
          <p:cNvPr id="3" name="TextBox 2"/>
          <p:cNvSpPr txBox="1"/>
          <p:nvPr/>
        </p:nvSpPr>
        <p:spPr>
          <a:xfrm>
            <a:off x="822959" y="822959"/>
            <a:ext cx="16733519" cy="384048"/>
          </a:xfrm>
          <a:prstGeom prst="rect">
            <a:avLst/>
          </a:prstGeom>
          <a:noFill/>
        </p:spPr>
        <p:txBody>
          <a:bodyPr wrap="none" lIns="0" rIns="0" tIns="0" bIns="0">
            <a:spAutoFit/>
          </a:bodyPr>
          <a:lstStyle/>
          <a:p>
            <a:pPr algn="l">
              <a:lnSpc>
                <a:spcPct val="115000"/>
              </a:lnSpc>
            </a:pPr>
            <a:r>
              <a:rPr sz="1650" spc="330">
                <a:solidFill>
                  <a:srgbClr val="EBCF9E"/>
                </a:solidFill>
                <a:latin typeface="Todes 1"/>
              </a:rPr>
              <a:t>CLOSING · FLOW LOCAL. CONNECT GLOBAL.</a:t>
            </a:r>
          </a:p>
        </p:txBody>
      </p:sp>
      <p:sp>
        <p:nvSpPr>
          <p:cNvPr id="4" name="TextBox 3"/>
          <p:cNvSpPr txBox="1"/>
          <p:nvPr/>
        </p:nvSpPr>
        <p:spPr>
          <a:xfrm>
            <a:off x="1234440" y="3017520"/>
            <a:ext cx="15773400" cy="2057400"/>
          </a:xfrm>
          <a:prstGeom prst="rect">
            <a:avLst/>
          </a:prstGeom>
          <a:noFill/>
        </p:spPr>
        <p:txBody>
          <a:bodyPr wrap="square" lIns="0" rIns="0" tIns="0" bIns="0">
            <a:spAutoFit/>
          </a:bodyPr>
          <a:lstStyle/>
          <a:p>
            <a:pPr algn="ctr">
              <a:lnSpc>
                <a:spcPct val="140000"/>
              </a:lnSpc>
            </a:pPr>
            <a:r>
              <a:rPr sz="4500" spc="-75">
                <a:solidFill>
                  <a:srgbClr val="F4EAD8"/>
                </a:solidFill>
                <a:latin typeface="Ibarra Real Nova Italics"/>
              </a:rPr>
              <a:t>The best Rivr interaction may end</a:t>
            </a:r>
          </a:p>
          <a:p>
            <a:pPr algn="ctr">
              <a:lnSpc>
                <a:spcPct val="140000"/>
              </a:lnSpc>
            </a:pPr>
            <a:r>
              <a:rPr sz="4500" spc="-75">
                <a:solidFill>
                  <a:srgbClr val="F4EAD8"/>
                </a:solidFill>
                <a:latin typeface="Ibarra Real Nova Italics"/>
              </a:rPr>
              <a:t>with you </a:t>
            </a:r>
            <a:r>
              <a:rPr sz="4500" spc="-75">
                <a:solidFill>
                  <a:srgbClr val="EBCF9E"/>
                </a:solidFill>
                <a:latin typeface="Ibarra Real Nova Italics"/>
              </a:rPr>
              <a:t>leaving Rivr.</a:t>
            </a:r>
          </a:p>
        </p:txBody>
      </p:sp>
      <p:sp>
        <p:nvSpPr>
          <p:cNvPr id="5" name="TextBox 4"/>
          <p:cNvSpPr txBox="1"/>
          <p:nvPr/>
        </p:nvSpPr>
        <p:spPr>
          <a:xfrm>
            <a:off x="1234440" y="5486400"/>
            <a:ext cx="15773400" cy="1234440"/>
          </a:xfrm>
          <a:prstGeom prst="rect">
            <a:avLst/>
          </a:prstGeom>
          <a:noFill/>
        </p:spPr>
        <p:txBody>
          <a:bodyPr wrap="square" lIns="0" rIns="0" tIns="0" bIns="0">
            <a:spAutoFit/>
          </a:bodyPr>
          <a:lstStyle/>
          <a:p>
            <a:pPr algn="ctr">
              <a:lnSpc>
                <a:spcPct val="155000"/>
              </a:lnSpc>
            </a:pPr>
            <a:r>
              <a:rPr sz="2025">
                <a:solidFill>
                  <a:srgbClr val="F2ECDD"/>
                </a:solidFill>
                <a:latin typeface="TT Commons Pro"/>
              </a:rPr>
              <a:t>Find the thing. Find the person. Make the agreement. Join the project.</a:t>
            </a:r>
          </a:p>
          <a:p>
            <a:pPr algn="ctr">
              <a:lnSpc>
                <a:spcPct val="155000"/>
              </a:lnSpc>
            </a:pPr>
            <a:r>
              <a:rPr sz="2025">
                <a:solidFill>
                  <a:srgbClr val="F2ECDD"/>
                </a:solidFill>
                <a:latin typeface="TT Commons Pro"/>
              </a:rPr>
              <a:t>Go meet them. Go do the work. </a:t>
            </a:r>
            <a:r>
              <a:rPr sz="2025">
                <a:solidFill>
                  <a:srgbClr val="9FE8DC"/>
                </a:solidFill>
                <a:latin typeface="TT Commons Pro Bold"/>
              </a:rPr>
              <a:t>Put the phone away.</a:t>
            </a:r>
          </a:p>
        </p:txBody>
      </p:sp>
      <p:sp>
        <p:nvSpPr>
          <p:cNvPr id="6" name="Rounded Rectangle 5"/>
          <p:cNvSpPr/>
          <p:nvPr/>
        </p:nvSpPr>
        <p:spPr>
          <a:xfrm>
            <a:off x="3154679" y="6926579"/>
            <a:ext cx="11932919" cy="1645919"/>
          </a:xfrm>
          <a:prstGeom prst="roundRect">
            <a:avLst>
              <a:gd name="adj" fmla="val 6000"/>
            </a:avLst>
          </a:prstGeom>
          <a:solidFill>
            <a:srgbClr val="0D3E40"/>
          </a:solidFill>
          <a:ln w="20955">
            <a:solidFill>
              <a:srgbClr val="F0CC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66160" y="7159752"/>
            <a:ext cx="11109959" cy="754380"/>
          </a:xfrm>
          <a:prstGeom prst="rect">
            <a:avLst/>
          </a:prstGeom>
          <a:noFill/>
        </p:spPr>
        <p:txBody>
          <a:bodyPr wrap="square" lIns="0" rIns="0" tIns="0" bIns="0">
            <a:spAutoFit/>
          </a:bodyPr>
          <a:lstStyle/>
          <a:p>
            <a:pPr algn="ctr">
              <a:lnSpc>
                <a:spcPct val="145000"/>
              </a:lnSpc>
            </a:pPr>
            <a:r>
              <a:rPr sz="1800">
                <a:solidFill>
                  <a:srgbClr val="F2ECDD"/>
                </a:solidFill>
                <a:latin typeface="TT Commons Pro"/>
              </a:rPr>
              <a:t>We don't need to abandon modern technology to remember how to live together —</a:t>
            </a:r>
          </a:p>
          <a:p>
            <a:pPr algn="ctr">
              <a:lnSpc>
                <a:spcPct val="145000"/>
              </a:lnSpc>
            </a:pPr>
            <a:r>
              <a:rPr sz="1800">
                <a:solidFill>
                  <a:srgbClr val="F2ECDD"/>
                </a:solidFill>
                <a:latin typeface="TT Commons Pro"/>
              </a:rPr>
              <a:t>we can build </a:t>
            </a:r>
            <a:r>
              <a:rPr sz="1950" spc="20">
                <a:solidFill>
                  <a:srgbClr val="EBCF9E"/>
                </a:solidFill>
                <a:latin typeface="Alike Italics"/>
              </a:rPr>
              <a:t>better technology</a:t>
            </a:r>
            <a:r>
              <a:rPr sz="1800">
                <a:solidFill>
                  <a:srgbClr val="F2ECDD"/>
                </a:solidFill>
                <a:latin typeface="TT Commons Pro"/>
              </a:rPr>
              <a:t> for it.</a:t>
            </a:r>
          </a:p>
        </p:txBody>
      </p:sp>
      <p:sp>
        <p:nvSpPr>
          <p:cNvPr id="8" name="TextBox 7"/>
          <p:cNvSpPr txBox="1"/>
          <p:nvPr/>
        </p:nvSpPr>
        <p:spPr>
          <a:xfrm>
            <a:off x="3566160" y="8037576"/>
            <a:ext cx="11109959" cy="411479"/>
          </a:xfrm>
          <a:prstGeom prst="rect">
            <a:avLst/>
          </a:prstGeom>
          <a:noFill/>
        </p:spPr>
        <p:txBody>
          <a:bodyPr wrap="square" lIns="0" rIns="0" tIns="0" bIns="0">
            <a:spAutoFit/>
          </a:bodyPr>
          <a:lstStyle/>
          <a:p>
            <a:pPr algn="ctr">
              <a:lnSpc>
                <a:spcPct val="115000"/>
              </a:lnSpc>
            </a:pPr>
            <a:r>
              <a:rPr sz="1875">
                <a:solidFill>
                  <a:srgbClr val="9FE8DC"/>
                </a:solidFill>
                <a:latin typeface="TT Commons Pro Bold"/>
              </a:rPr>
              <a:t>admin@rivr.social    ·    app.rivr.social    ·    invest.rivr.social</a:t>
            </a:r>
          </a:p>
        </p:txBody>
      </p:sp>
      <p:sp>
        <p:nvSpPr>
          <p:cNvPr id="9" name="TextBox 8"/>
          <p:cNvSpPr txBox="1"/>
          <p:nvPr/>
        </p:nvSpPr>
        <p:spPr>
          <a:xfrm>
            <a:off x="822959" y="8915400"/>
            <a:ext cx="16596359" cy="1097280"/>
          </a:xfrm>
          <a:prstGeom prst="rect">
            <a:avLst/>
          </a:prstGeom>
          <a:noFill/>
        </p:spPr>
        <p:txBody>
          <a:bodyPr wrap="square" lIns="0" rIns="0" tIns="0" bIns="0">
            <a:spAutoFit/>
          </a:bodyPr>
          <a:lstStyle/>
          <a:p>
            <a:pPr algn="ctr">
              <a:lnSpc>
                <a:spcPct val="140000"/>
              </a:lnSpc>
            </a:pPr>
            <a:r>
              <a:rPr sz="2100" spc="20">
                <a:solidFill>
                  <a:srgbClr val="F2ECDD"/>
                </a:solidFill>
                <a:latin typeface="Alike Italics"/>
              </a:rPr>
              <a:t>Flow local. Connect global.  </a:t>
            </a:r>
            <a:r>
              <a:rPr sz="2100" spc="20">
                <a:solidFill>
                  <a:srgbClr val="EBCF9E"/>
                </a:solidFill>
                <a:latin typeface="Alike Italics"/>
              </a:rPr>
              <a:t>A Rivr made of many rivers.</a:t>
            </a:r>
          </a:p>
        </p:txBody>
      </p:sp>
      <p:pic>
        <p:nvPicPr>
          <p:cNvPr id="10" name="Picture 9" descr="rivr-symbol-light.png"/>
          <p:cNvPicPr>
            <a:picLocks noChangeAspect="1"/>
          </p:cNvPicPr>
          <p:nvPr/>
        </p:nvPicPr>
        <p:blipFill>
          <a:blip r:embed="rId4"/>
          <a:stretch>
            <a:fillRect/>
          </a:stretch>
        </p:blipFill>
        <p:spPr>
          <a:xfrm>
            <a:off x="576072" y="9518904"/>
            <a:ext cx="521208" cy="521208"/>
          </a:xfrm>
          <a:prstGeom prst="rect">
            <a:avLst/>
          </a:prstGeom>
        </p:spPr>
      </p:pic>
      <p:sp>
        <p:nvSpPr>
          <p:cNvPr id="11" name="TextBox 10"/>
          <p:cNvSpPr txBox="1"/>
          <p:nvPr/>
        </p:nvSpPr>
        <p:spPr>
          <a:xfrm>
            <a:off x="1371600" y="9724644"/>
            <a:ext cx="5486400" cy="301752"/>
          </a:xfrm>
          <a:prstGeom prst="rect">
            <a:avLst/>
          </a:prstGeom>
          <a:noFill/>
        </p:spPr>
        <p:txBody>
          <a:bodyPr wrap="none" lIns="0" rIns="0" tIns="0" bIns="0">
            <a:spAutoFit/>
          </a:bodyPr>
          <a:lstStyle/>
          <a:p>
            <a:pPr algn="l">
              <a:lnSpc>
                <a:spcPct val="115000"/>
              </a:lnSpc>
            </a:pPr>
            <a:r>
              <a:rPr sz="1350" spc="150">
                <a:solidFill>
                  <a:srgbClr val="AFC4C2"/>
                </a:solidFill>
                <a:latin typeface="TT Commons Pro"/>
              </a:rPr>
              <a:t>Rivr · Seed Round 2026</a:t>
            </a:r>
          </a:p>
        </p:txBody>
      </p:sp>
      <p:sp>
        <p:nvSpPr>
          <p:cNvPr id="12" name="TextBox 11"/>
          <p:cNvSpPr txBox="1"/>
          <p:nvPr/>
        </p:nvSpPr>
        <p:spPr>
          <a:xfrm>
            <a:off x="16870680" y="9724644"/>
            <a:ext cx="960119" cy="301752"/>
          </a:xfrm>
          <a:prstGeom prst="rect">
            <a:avLst/>
          </a:prstGeom>
          <a:noFill/>
        </p:spPr>
        <p:txBody>
          <a:bodyPr wrap="none" lIns="0" rIns="0" tIns="0" bIns="0">
            <a:spAutoFit/>
          </a:bodyPr>
          <a:lstStyle/>
          <a:p>
            <a:pPr algn="r">
              <a:lnSpc>
                <a:spcPct val="115000"/>
              </a:lnSpc>
            </a:pPr>
            <a:r>
              <a:rPr sz="1350" spc="150">
                <a:solidFill>
                  <a:srgbClr val="AFC4C2"/>
                </a:solidFill>
                <a:latin typeface="TT Commons Pro"/>
              </a:rPr>
              <a:t>51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